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0.svg" ContentType="image/svg+xml"/>
  <Override PartName="/ppt/media/image12.svg" ContentType="image/svg+xml"/>
  <Override PartName="/ppt/media/image14.svg" ContentType="image/svg+xml"/>
  <Override PartName="/ppt/media/image16.svg" ContentType="image/svg+xml"/>
  <Override PartName="/ppt/media/image2.svg" ContentType="image/svg+xml"/>
  <Override PartName="/ppt/media/image20.svg" ContentType="image/svg+xml"/>
  <Override PartName="/ppt/media/image22.svg" ContentType="image/svg+xml"/>
  <Override PartName="/ppt/media/image24.svg" ContentType="image/svg+xml"/>
  <Override PartName="/ppt/media/image25.svg" ContentType="image/svg+xml"/>
  <Override PartName="/ppt/media/image33.svg" ContentType="image/svg+xml"/>
  <Override PartName="/ppt/media/image35.svg" ContentType="image/svg+xml"/>
  <Override PartName="/ppt/media/image36.svg" ContentType="image/svg+xml"/>
  <Override PartName="/ppt/media/image4.svg" ContentType="image/svg+xml"/>
  <Override PartName="/ppt/media/image40.svg" ContentType="image/svg+xml"/>
  <Override PartName="/ppt/media/image41.svg" ContentType="image/svg+xml"/>
  <Override PartName="/ppt/media/image42.svg" ContentType="image/svg+xml"/>
  <Override PartName="/ppt/media/image43.svg" ContentType="image/svg+xml"/>
  <Override PartName="/ppt/media/image45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media/image8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3" r:id="rId39"/>
    <p:sldId id="294" r:id="rId40"/>
    <p:sldId id="295" r:id="rId41"/>
    <p:sldId id="298" r:id="rId42"/>
    <p:sldId id="300" r:id="rId43"/>
    <p:sldId id="302" r:id="rId44"/>
    <p:sldId id="308" r:id="rId45"/>
    <p:sldId id="305" r:id="rId46"/>
    <p:sldId id="306" r:id="rId47"/>
    <p:sldId id="310" r:id="rId48"/>
    <p:sldId id="303" r:id="rId49"/>
    <p:sldId id="311" r:id="rId50"/>
    <p:sldId id="312" r:id="rId51"/>
    <p:sldId id="313" r:id="rId52"/>
    <p:sldId id="320" r:id="rId53"/>
    <p:sldId id="324" r:id="rId54"/>
    <p:sldId id="328" r:id="rId55"/>
    <p:sldId id="329" r:id="rId56"/>
    <p:sldId id="330" r:id="rId57"/>
  </p:sldIdLst>
  <p:sldSz cx="12191365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1" d="1"/>
          <a:sy n="1" d="1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0" Type="http://schemas.openxmlformats.org/officeDocument/2006/relationships/tableStyles" Target="tableStyles.xml"/><Relationship Id="rId6" Type="http://schemas.openxmlformats.org/officeDocument/2006/relationships/slide" Target="slides/slide3.xml"/><Relationship Id="rId59" Type="http://schemas.openxmlformats.org/officeDocument/2006/relationships/viewProps" Target="viewProps.xml"/><Relationship Id="rId58" Type="http://schemas.openxmlformats.org/officeDocument/2006/relationships/presProps" Target="presProps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2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6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7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8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9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0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2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3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大家好。今天想跟大家聊的，是我们怎么把 AI Agent 真的放进跨境电商客服的流程里。</a:t>
            </a:r>
          </a:p>
          <a:p/>
          <a:p>
            <a:r>
              <a:t>先把范围说清楚。今天不比较模型，也不放回复截图，主要讲这套系统在生产环境里是怎么跑起来的，业务方又是怎么一步一步把事情交给它的。</a:t>
            </a:r>
          </a:p>
          <a:p/>
          <a:p>
            <a:r>
              <a:t>架构先放一放。我们从一个特别普通的客户诉求开始，改收货地址。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先把今天的路线交代一下。</a:t>
            </a:r>
          </a:p>
          <a:p/>
          <a:p>
            <a:r>
              <a:t>上面三块是今天的大致顺序：业务现状、系统怎么建、最后是兜底和证据。中间这条线标出了七块内容各自的位置。</a:t>
            </a:r>
          </a:p>
          <a:p/>
          <a:p>
            <a:r>
              <a:t>下面这个四步图是今天的主线。理解、查询、决策、执行，人工和 AI 走的都是这四步。但查询和执行这两步系统本来就有，客服是在界面上点，AI 是调同一批接口，变的只是谁来调用；真正要新建的是理解和决策这两步。</a:t>
            </a:r>
          </a:p>
          <a:p/>
          <a:p>
            <a:r>
              <a:t>所以工程量分布很不均：中间三块都在做理解和决策，第六块是既有能力换了调用方之后要补的控制，第七块之所以存在，是因为理解和决策出的错很难被发现。</a:t>
            </a:r>
          </a:p>
          <a:p/>
          <a:p>
            <a:r>
              <a:t>每块开头都有一张隔页，会写清这块回答什么问题、服务四步里的哪一步。大家不用记页码，每章开头的隔页会带着走。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客户说的可能就一句话：“订单还没收到，我想换个收货地址。”</a:t>
            </a:r>
          </a:p>
          <a:p/>
          <a:p>
            <a:r>
              <a:t>如果把这个当成知识问题，最省事的做法是回一篇帮助文章。文章内容可能没错，但客户点进去一看，订单已经过了自助修改的窗口，他还得回来再问一遍。等工单转到人工，订单号、新地址、履约状态，又要重新收集。系统确实回复了，但客户的地址还是没改成。</a:t>
            </a:r>
          </a:p>
          <a:p/>
          <a:p>
            <a:r>
              <a:t>Agent 这条路不一样。它先确认这是个地址变更任务，把订单和地址信息提取出来，去查订单和履约状态。条件满足，就把要改哪一单、改成什么地址明确告诉客户，等客户确认，再通过受控能力去更新，最后回写工单。条件不满足呢——比如已经发货了、地址缺字段、或者状态有冲突——就停在这儿，把已经拿到的事实和不能往下走的原因一起交给人工。</a:t>
            </a:r>
          </a:p>
          <a:p/>
          <a:p>
            <a:r>
              <a:t>所以这两条路的差别不在话术上：左边只是回答了问题，右边是在推进办理。后面几个小时讲的，就是右边这条链路要在生产环境里稳定运行，需要哪些东西。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这张图可以当成整场分享的总览，后面每一章都对应图上的一段。后面凡是冒出一个新名词，都能放回这条链上来理解。</a:t>
            </a:r>
          </a:p>
          <a:p/>
          <a:p>
            <a:r>
              <a:t>客户消息进来，系统先识别场景，同时读这个场景的处理权：能自动回复，还是确认后才能执行，还是只能人工来。然后准备上下文，把订单、履约、政策、客户确认状态这些本次要用的事实取齐。Agent 拿到这些，再去选能力、排步骤，顺便判断这一票要不要让人工介入。</a:t>
            </a:r>
          </a:p>
          <a:p/>
          <a:p>
            <a:r>
              <a:t>到执行这一侧，Skill 的活是把边界讲清楚：要什么输入，能用哪些工具，什么情况下必须停。查询和修改都得走统一能力出口，服务端在那儿还要再查一遍权限、参数、幂等和业务状态。最后，回复、执行结果、原因、责任归属，全都回到工单和审计记录里。</a:t>
            </a:r>
          </a:p>
          <a:p/>
          <a:p>
            <a:r>
              <a:t>图下面那四项不是收尾动作。确认、人工接管、权限幂等、Trace 审计，这四个是从头到尾一直在工作的控制面。</a:t>
            </a:r>
          </a:p>
          <a:p/>
          <a:p>
            <a:r>
              <a:t>后面要是某一页技术细节比较密，大家心里问一句“它在这条链上解决什么问题”，就不会被名词绕住。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第一章讲业务现状，先看清客服今天是怎么干活的，复杂度在哪。</a:t>
            </a:r>
          </a:p>
          <a:p/>
          <a:p>
            <a:r>
              <a:t>这一块共 5 页，大约 12 分钟。</a:t>
            </a:r>
          </a:p>
          <a:p/>
          <a:p>
            <a:r>
              <a:t>- 处理一张工单的四步：哪两步是新增的</a:t>
            </a:r>
          </a:p>
          <a:p>
            <a:r>
              <a:t>- 项目全貌：六类能力</a:t>
            </a:r>
          </a:p>
          <a:p>
            <a:r>
              <a:t>- 150+ 人分布三地：跨时区协作与工单周期</a:t>
            </a:r>
          </a:p>
          <a:p>
            <a:r>
              <a:t>- 客户入口、客服队列与四类业务系统</a:t>
            </a:r>
          </a:p>
          <a:p>
            <a:r>
              <a:t>- 一张工单的九步与两处分岔</a:t>
            </a:r>
          </a:p>
          <a:p/>
          <a:p>
            <a:r>
              <a:t>对应四步主线，这一章里四步都还在人手里，我们先看人是怎么走完这四步的，卡在哪。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这一页是今天的地基，后面每一块都能挂回这四步。</a:t>
            </a:r>
          </a:p>
          <a:p/>
          <a:p>
            <a:r>
              <a:t>我们先去看成熟客服到底怎么干活。一张工单进来，客服做四件事：读客户来信判断他要办什么，去订单履约系统和商城后台里查证据，判断这事能不能做、要不要再确认，最后在系统里操作并回复客户。</a:t>
            </a:r>
          </a:p>
          <a:p/>
          <a:p>
            <a:r>
              <a:t>理解、查询、决策、执行，现在 AI 做的还是这四步。</a:t>
            </a:r>
          </a:p>
          <a:p/>
          <a:p>
            <a:r>
              <a:t>但你把这四步分开看，会发现有两步早就自动化了。查询和执行，能力一直在系统里——过去是客服在界面上点按钮，现在是 Agent 调同一批接口。变的只是调用方，能力本身没变。</a:t>
            </a:r>
          </a:p>
          <a:p/>
          <a:p>
            <a:r>
              <a:t>从零建的是理解和决策。理解那一步，系统要做场景识别、上下文准备、多诉求拆分。决策那一步，要有 Skill 契约、规则校验、Plan–Execute、Guard。这两步人靠经验就能带过去，系统必须把输入、边界和退出条件都写出来。</a:t>
            </a:r>
          </a:p>
          <a:p/>
          <a:p>
            <a:r>
              <a:t>这个判断直接决定钱花在哪。理解和决策是从零建：上下文、知识治理、Skill 契约、编排、评测。查询和执行要补的是护栏：权限、客户确认、幂等、写配额、审计、发送裁决。</a:t>
            </a:r>
          </a:p>
          <a:p/>
          <a:p>
            <a:r>
              <a:t>后面第六块单独用一章讲受控执行，就是因为要补的东西不少。「换个调用方」听起来简单，做起来不简单。</a:t>
            </a:r>
          </a:p>
          <a:p/>
          <a:p>
            <a:r>
              <a:t>最后说一句，四步之外还有一类活不会因为接了 AI 就消失：投诉协商、规则冲突、高风险资金动作、异常订单、跨团队协同。这些还是由人来判断。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先看项目全貌。核心 Agent 只是其中一层，这套东西要在生产里跑起来，至少还得有另外五类能力配合。</a:t>
            </a:r>
          </a:p>
          <a:p/>
          <a:p>
            <a:r>
              <a:t>最左边渠道接入，承接 chat、email、voice 的事件、任务和实时消息。往后是 Agent 运行时，管路由、Context、Skill 和 Plan–Execute。知识与附件这一层，提供政策、检索证据、实时状态，还有从图片、扫描件、PDF 里解出来的事实。</a:t>
            </a:r>
          </a:p>
          <a:p/>
          <a:p>
            <a:r>
              <a:t>业务执行层接的是统一能力出口、Workflow 和工单回写。治理与安全管权限、确认、幂等、Guard 和审计。最右边运营与演进，把单票 Trace、日报、评测、发布 Gate 串起来，决定哪些场景可以继续往外放。</a:t>
            </a:r>
          </a:p>
          <a:p/>
          <a:p>
            <a:r>
              <a:t>下面这三块特别容易被忽略：数据同步、缓存、调度、告警、性能、人工协作。它们不直接生成回复，但这套系统能不能长期稳定，就看它们。另外，没接入、没验证、或者还在业务确认里的能力，我们只放在 Backlog 里。画在架构图上的能力和线上已验证的能力，我们分开标记。</a:t>
            </a:r>
          </a:p>
          <a:p/>
          <a:p>
            <a:r>
              <a:t>这一页就是后面七块内容的总索引。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先说人力规模。客服体系现在一百五十多人，分布在三个地方：中国、菲律宾、美国。</a:t>
            </a:r>
          </a:p>
          <a:p/>
          <a:p>
            <a:r>
              <a:t>中国和菲律宾是同一个时区，分界在中美之间。一线受理和查询主要在中国和菲律宾这一侧，部分业务环节在美国那一侧。</a:t>
            </a:r>
          </a:p>
          <a:p/>
          <a:p>
            <a:r>
              <a:t>大家看这两条时段，中间只有很小一段重叠。一张工单如果从头到尾一个人能做完，时区不构成问题。拖慢周期的是需要两方协作的工单。</a:t>
            </a:r>
          </a:p>
          <a:p/>
          <a:p>
            <a:r>
              <a:t>一线先受理、查询，做到需要业务侧确认或者执行的那一步，就得停下来等——等美国那边上班。对方处理完回传，又得等中国这边上班。一张工单里可能出现两次这样的等待，每一次都是跨过时区间隔。</a:t>
            </a:r>
          </a:p>
          <a:p/>
          <a:p>
            <a:r>
              <a:t>所以周期长的主因是每次交接都要等对方上班，单次处理本身很快。交接次数越多，等待段就越多。</a:t>
            </a:r>
          </a:p>
          <a:p/>
          <a:p>
            <a:r>
              <a:t>这也决定了我们优先自动化什么。信息收集、状态查询、结果整理和回写这些不需要高强度判断的动作，让系统在任何时段都能做，就能把等待段压掉。复杂判断、线下协同和客户沟通继续人来。</a:t>
            </a:r>
          </a:p>
          <a:p/>
          <a:p>
            <a:r>
              <a:t>我们优化的是人力结构：让这一百五十多人的时间更多花在异常处理和责任判断上，少耗在等对方上班和重复流转里。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上一页说跨时区交接把周期拉长了。这一页看客服那一侧，一个人同时要管多少东西。</a:t>
            </a:r>
          </a:p>
          <a:p/>
          <a:p>
            <a:r>
              <a:t>先看客户那边，其实特别简单。客户只有三个入口：发邮件、开在线聊天、自己上官网查。电话一线不受理，直接升级二线。客户看不到后面的系统和团队，他就知道自己发了一封邮件出去。</a:t>
            </a:r>
          </a:p>
          <a:p/>
          <a:p>
            <a:r>
              <a:t>客服这边不一样。所有来信都进工单平台，一线客服在里面同时盯六个队列。邮件队列按新到旧领单，不能撞单。待处理是客户已经回了的，当天要清空。待客户这一条，系统第 3、5 天自动提醒，第 7 天还没回就自动关。内部挂起是在等其他团队，到期跳回待处理。外联队列是别的团队要求联系客户的，当天清。最后还有升级到二线三线的客诉。</a:t>
            </a:r>
          </a:p>
          <a:p/>
          <a:p>
            <a:r>
              <a:t>光队列就六条。平台上还有一串固定动作：回复模板、订单号必填、超 12 小时没回标红、重复来信要合并、跨部门协同单、关闭之后发满意度调查。</a:t>
            </a:r>
          </a:p>
          <a:p/>
          <a:p>
            <a:r>
              <a:t>再看右边这四类系统。订单履约系统里查单、改收件信息、发退货面单、提退款申请。商城后台管订单和账号。官网加内部知识库是对外政策的唯一口径，客服不能凭记忆答。承运商和仓储那边看物流轨迹、签收凭证和入库记录。一个人一天要在这四类系统之间来回切。</a:t>
            </a:r>
          </a:p>
          <a:p/>
          <a:p>
            <a:r>
              <a:t>底下这四个去向也很关键。凡是订单变更和退款，客服自己做不了，必须发跨部门协同单交订单组。物流异常和入库确认直接找物流或者海外仓。退款到账走财务，而且财务是三步审核的最后一步。客户不满或者要求打电话，升级二线三线。</a:t>
            </a:r>
          </a:p>
          <a:p/>
          <a:p>
            <a:r>
              <a:t>所以瓶颈不在回复怎么写。一个人同时管四类系统、四个下游团队，这段协同就是我们做自动化时要先接的。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上一页讲客服同时要管多少东西，这一页换个方向，跟着一张工单从进来走到关闭，一共九步。</a:t>
            </a:r>
          </a:p>
          <a:p/>
          <a:p>
            <a:r>
              <a:t>领单，从邮件队列按新到旧拿，不能撞单。识别，归类咨询类型，把订单号和邮箱取出来。查证，在两套业务系统里查品类、状态和支付。判断，时效乘上政策口径，得出能做、需要审批还是给补偿。</a:t>
            </a:r>
          </a:p>
          <a:p/>
          <a:p>
            <a:r>
              <a:t>第五步动作，这是第一个分岔，按谁来做分流。客服自己能做的，在订单履约系统或者商城后台改收件信息、发退货面单、重发邮件、加备注。做不了的，发跨部门协同单交订单组，取消、改色码、退款都在这一类，发完工单转内部挂起。物流异常和入库确认直接找物流或者仓，也可以发起外联联系客户。</a:t>
            </a:r>
          </a:p>
          <a:p/>
          <a:p>
            <a:r>
              <a:t>第六步回复，用回复模板，订单号必填，标题沿用原来那封。</a:t>
            </a:r>
          </a:p>
          <a:p/>
          <a:p>
            <a:r>
              <a:t>第七步状态，这是第二个分岔，按在等谁分流。等客户就挂待客户，第 3、5 天自动提醒，第 7 天没回自动关闭。等内部就挂内部挂起，设一个跳回时间，默认次日，到期回到待处理。已经解决又不着急的，可以先挂待客户，等它自然关闭。</a:t>
            </a:r>
          </a:p>
          <a:p/>
          <a:p>
            <a:r>
              <a:t>第八步跟进，待处理当天要清，超过 12 小时没回系统标红。第九步关闭，之后 2 到 3 个工作日发满意度调查。</a:t>
            </a:r>
          </a:p>
          <a:p/>
          <a:p>
            <a:r>
              <a:t>这里有两条硬性要求。第一条，能取消、能修改的必须发变更通知单，只回复客户不算完成。这是最常见的失误，客服跟客户说了可以取消，但通知单没发，订单继续往外发货。第二条，内部流程节点和后台信息不外发，含别人信息的界面也不给第三方。</a:t>
            </a:r>
          </a:p>
          <a:p/>
          <a:p>
            <a:r>
              <a:t>最后说一下这个结构。九步里七步是固定顺序，分岔只有第五步和第七步两处。路径能数清楚，是系统能接手的前提。</a:t>
            </a:r>
          </a:p>
          <a:p/>
          <a:p>
            <a:r>
              <a:t>这九步压成四步，就是第六页那四步：识别是理解，查证是查询，判断是决策，动作到关闭这五步都是执行。这样第一章的两条线就对上了。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第二章讲场景与移交边界，也就是哪些事能交给 AI，四步里能交出去几步。</a:t>
            </a:r>
          </a:p>
          <a:p/>
          <a:p>
            <a:r>
              <a:t>这一块共 6 页，大约 14 分钟。</a:t>
            </a:r>
          </a:p>
          <a:p/>
          <a:p>
            <a:r>
              <a:t>- 四类工单与风险等级</a:t>
            </a:r>
          </a:p>
          <a:p>
            <a:r>
              <a:t>- 26 个场景的技术分类：五种类型</a:t>
            </a:r>
          </a:p>
          <a:p>
            <a:r>
              <a:t>- 类型 × 风险矩阵</a:t>
            </a:r>
          </a:p>
          <a:p>
            <a:r>
              <a:t>- 处理权评估的六个维度</a:t>
            </a:r>
          </a:p>
          <a:p>
            <a:r>
              <a:t>- 场景地图与意图体系</a:t>
            </a:r>
          </a:p>
          <a:p>
            <a:r>
              <a:t>- 处理权配置：谁判断、谁确认、谁执行</a:t>
            </a:r>
          </a:p>
          <a:p/>
          <a:p>
            <a:r>
              <a:t>对应四步主线，这一章决定每个场景里这四步能交出去几步。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先跟第六页那四步区分一下。四步说的是处理任何一张工单都要走的顺序。这一页说的是另一件事：工单本身分几类，风险差多少。</a:t>
            </a:r>
          </a:p>
          <a:p/>
          <a:p>
            <a:r>
              <a:t>客服工单大致分四类：回答类、查询类、判断类、执行类。它们都在同一个对话框里发生，客户看不出区别，但对我们来说风险差得很远。</a:t>
            </a:r>
          </a:p>
          <a:p/>
          <a:p>
            <a:r>
              <a:t>回答政策、尺码、护理，靠的是受控知识。这类答错了，基本上是口径问题、体验问题。查订单、查物流、查退款，靠的是实时状态——事实一过期，客户直接被误导。再往后，能不能取消、能不能退、能不能改地址，这已经是在做业务判断。最后一类，真去改订单、改退款、改退货状态，这就是写操作。</a:t>
            </a:r>
          </a:p>
          <a:p/>
          <a:p>
            <a:r>
              <a:t>大家能感觉到，从第一类走到第四类，错了越来越难撤回。所以保护也得跟着加：低风险问答可以放开自动，实时查询要校验事实，业务判断要补一道确认，写操作得进受控流程。</a:t>
            </a:r>
          </a:p>
          <a:p/>
          <a:p>
            <a:r>
              <a:t>我们内部后来就不太问「AI 能不能做客服」了，这个问题太大，没法回答。我们问的是：这一类工单，在当前这个状态下，四步里能交出去几步。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业务团队看场景，是按订单、物流、售后这些领域来的。技术侧还得再问一句：这个场景到底需要什么权限？</a:t>
            </a:r>
          </a:p>
          <a:p/>
          <a:p>
            <a:r>
              <a:t>现在这二十六个场景，分五类。八个知识类查询，靠受控知识。六个系统类查询，只读订单、物流和退款状态。三个无工具分诊，负责把模糊诉求问清楚，或者接一下情绪表达。还有七个系统类执行，涉及地址、取消订单、联系方式这些真实的业务修改。第五类是两个附属增强场景，跟着主任务生效。</a:t>
            </a:r>
          </a:p>
          <a:p/>
          <a:p>
            <a:r>
              <a:t>这套分类直接决定系统给这个场景开哪一组能力。只读场景可以在文字里提到某个写动作，但模型不会因为提了就拿到写工具。有没有权限，只看场景类型和工具白名单。</a:t>
            </a:r>
          </a:p>
          <a:p/>
          <a:p>
            <a:r>
              <a:t>文档描述和系统授权是两件事，分开管理。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同一个技术类型，跑起来也可能落在不同的风险区间。</a:t>
            </a:r>
          </a:p>
          <a:p/>
          <a:p>
            <a:r>
              <a:t>知识问答、标准状态查询，一般可以自动处理。地址修改、取消订单这类执行任务，如果订单状态正常、字段齐、客户确认得也清楚，可以走确认后执行。高额退款、异常订单、投诉升级、跨系统协同，直接交人工。</a:t>
            </a:r>
          </a:p>
          <a:p/>
          <a:p>
            <a:r>
              <a:t>决定位置的是下面这几项动态事实：订单状态、金额、客户确认、异常信号。地址修改平时可能算中风险，可一旦进了履约锁定，或者身份没确认，它就不是原来那条路径了。</a:t>
            </a:r>
          </a:p>
          <a:p/>
          <a:p>
            <a:r>
              <a:t>风险等级在每张工单运行时重新计算，上线时的标签只是初始值。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一个场景能不能拿到自动处理权，我们主要看六件事。</a:t>
            </a:r>
          </a:p>
          <a:p/>
          <a:p>
            <a:r>
              <a:t>出错能不能撤回。有没有明确的证据能验证结果。客户能等多久。路径能不能枚举。出异常的时候人工能不能顺利接上。还有它涉及什么权限、合规和资金风险。</a:t>
            </a:r>
          </a:p>
          <a:p/>
          <a:p>
            <a:r>
              <a:t>这六项合在一起，决定它是自动处理、确认后执行，还是人工负责。模型理解得准，只说明它满足了一个必要条件。要是没有验证信号、没有退出路径，或者后果不可逆，执行权照样不能开。</a:t>
            </a:r>
          </a:p>
          <a:p/>
          <a:p>
            <a:r>
              <a:t>评估处理权时看业务后果和控制条件，模型能力只是其中一项。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评估结果最后要落到一张能运营的场景地图上。我们的路由分两级：上面是业务域，用来隔离知识、工具和责任范围。下面是具体场景，承载真正的处理任务。现在是八个业务域加一个兜底类，再往下拆成二十六个场景。</a:t>
            </a:r>
          </a:p>
          <a:p/>
          <a:p>
            <a:r>
              <a:t>举几个例子。订单变更域里有修改地址、取消订单。订单状态域里有物流和退款进度。售后域里有退货资格、退款方式、商品异常。同一个业务域里的场景，处理权也可以各不相同。</a:t>
            </a:r>
          </a:p>
          <a:p/>
          <a:p>
            <a:r>
              <a:t>另外，每个场景在系统里都挂着一整套东西。它要绑处理方式、所需上下文、Skill 契约、可见工具和运营指标。识别不够确定，或者诉求超出当前授权范围，就进兜底。</a:t>
            </a:r>
          </a:p>
          <a:p/>
          <a:p>
            <a:r>
              <a:t>进了兜底，系统还能继续追问，收必要字段，或者把已经拿到的信息交给人工，只是不会带着一个模糊判断去碰写操作。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这张象限图把两种权力分开看：判断能有多自由，执行能放多开。</a:t>
            </a:r>
          </a:p>
          <a:p/>
          <a:p>
            <a:r>
              <a:t>Workflow 的判断空间比较窄，但规则一旦枚举清楚，它可以稳定地自动执行。人工工作台插件能帮客服理解复杂表达、组织信息，最终动作还是人来确认。AI Agent 在两者之间：它理解诉求、拼上下文、判断风险，再决定是自动回复、打标进 Workflow，还是转人工。</a:t>
            </a:r>
          </a:p>
          <a:p/>
          <a:p>
            <a:r>
              <a:t>有一点容易混：理解自由度高的系统，执行权限未必跟着高。一个模型可以很会理解，但我们只给它只读工具。一条很窄的确定性规则，只要校验充分，也可以自动执行。</a:t>
            </a:r>
          </a:p>
          <a:p/>
          <a:p>
            <a:r>
              <a:t>有这个前提，再看三个渠道进同一个中枢，就不会把“都用 Agent”听成“都走同一条流程”。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第三章讲系统蓝图：这套系统怎么搭，每一层各管什么。</a:t>
            </a:r>
          </a:p>
          <a:p/>
          <a:p>
            <a:r>
              <a:t>这一块共 7 页，大约 21 分钟。</a:t>
            </a:r>
          </a:p>
          <a:p/>
          <a:p>
            <a:r>
              <a:t>- 一个中枢，三种承接</a:t>
            </a:r>
          </a:p>
          <a:p>
            <a:r>
              <a:t>- 统一能力出口</a:t>
            </a:r>
          </a:p>
          <a:p>
            <a:r>
              <a:t>- 从客服平台到业务系统的五层架构</a:t>
            </a:r>
          </a:p>
          <a:p>
            <a:r>
              <a:t>- 三条渠道链路的共享与隔离</a:t>
            </a:r>
          </a:p>
          <a:p>
            <a:r>
              <a:t>- 数据同步、调度与性能保障</a:t>
            </a:r>
          </a:p>
          <a:p>
            <a:r>
              <a:t>- 一个客服场景的完整组成</a:t>
            </a:r>
          </a:p>
          <a:p>
            <a:r>
              <a:t>- LLM 选型与降级链路</a:t>
            </a:r>
          </a:p>
          <a:p/>
          <a:p>
            <a:r>
              <a:t>对应四步主线，这一章看四步分别落在系统的哪一层。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这页最容易看串，我先把两个“三”分开。</a:t>
            </a:r>
          </a:p>
          <a:p/>
          <a:p>
            <a:r>
              <a:t>左边是三个来源：chat、email、voice。它们都先进客服平台，再交给同一个 AI Agent 中枢。中枢负责识别意图、准备上下文、选 Skill、判断风险，最后决定是该回复、该打标，还是该把责任交给人。</a:t>
            </a:r>
          </a:p>
          <a:p/>
          <a:p>
            <a:r>
              <a:t>规模上，chat 每周一万以上，email 每周六千以上，voice 是电话渠道，也已经上线，语音平台用的是 Cartesia，按通话计。三个统计单位不一样，不能简单相加。到黑五、春节这种旺季，峰值会更集中，这也是为什么前面那些数据工程和限流设计必须存在。</a:t>
            </a:r>
          </a:p>
          <a:p/>
          <a:p>
            <a:r>
              <a:t>右边这三个是承接结果，入口只有左边一个。低风险问题，Agent 直接生成回复。一部分 chat 标准工单，Agent 打完标，交给 Workflow 定时执行。复杂的、异常的、需要协商的，人工在工作台处理，浏览器插件也会调同一个 Agent，帮着查询和整理信息。</a:t>
            </a:r>
          </a:p>
          <a:p/>
          <a:p>
            <a:r>
              <a:t>所以 Agent、Workflow、插件不是三条平级的处理通道。所有来源都先过 Agent，Workflow 依赖 Agent 的标记，插件依赖 Agent 的辅助。它们后面还共用同一套能力出口、权限、幂等、审计和评测。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Agent 是中枢，但它不应该变成一个能直连所有业务系统的万能账号。</a:t>
            </a:r>
          </a:p>
          <a:p/>
          <a:p>
            <a:r>
              <a:t>不管请求是从 Agent 来的、从定时 Workflow 来的，还是从人工工作台来的，查订单、判断资格、改地址、取消订单，最后都走同一个能力出口。调用方只说“我要做什么”，底层系统、参数转换、失败语义、重试规则，都由能力出口统一处理。</a:t>
            </a:r>
          </a:p>
          <a:p/>
          <a:p>
            <a:r>
              <a:t>这么做有两个好处。一个是复用，同一项业务能力只封一次。另一个更重要，治理口径不会分裂。工具白名单、客户确认、幂等键、写配额、风险校验、审计记录，全集中在这一层。</a:t>
            </a:r>
          </a:p>
          <a:p/>
          <a:p>
            <a:r>
              <a:t>如果三种承接方式各自去直连订单、履约、仓储、退款系统，那“修改地址”很快就会有三套校验逻辑、三种错误码，还有三份说不清的责任记录。统一出口就是为了避免这种情况。</a:t>
            </a:r>
          </a:p>
          <a:p/>
          <a:p>
            <a:r>
              <a:t>只读和写操作走同一套协议，但控制等级不一样。订单、物流、退款状态这类只读调用，主要查数据权限和新鲜度。地址修改、取消订单这类写调用，还要查确认记录、业务状态、写配额和幂等键。底层订单、履约、物流、退款、工单系统的差异都被这一层吸收掉，上游没有旁路可以绕过去直接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这张架构图，从上往下看请求，从下往上看结果和证据。</a:t>
            </a:r>
          </a:p>
          <a:p/>
          <a:p>
            <a:r>
              <a:t>入口层承接 chat、email、voice，把事件交给 Agent。Workflow 和插件是后续的承接方式，渠道来源只有 chat、email、voice 三个。上下文层负责拿会话、知识证据和实时业务状态，再做选择、压缩和隔离。决策编排层做场景识别、多诉求拆分、风险判断、Skill 选择和执行计划。</a:t>
            </a:r>
          </a:p>
          <a:p/>
          <a:p>
            <a:r>
              <a:t>再往下才是能力与执行层。Skill 说明边界，Workflow 固化稳定步骤，工具白名单和统一能力出口控制真实调用。最底下是订单、履约、仓储物流、退款和工单系统。</a:t>
            </a:r>
          </a:p>
          <a:p/>
          <a:p>
            <a:r>
              <a:t>对回目录那四步：上下文层服务理解，决策编排层服务理解和决策，能力执行层和业务系统层就是查询和执行。</a:t>
            </a:r>
          </a:p>
          <a:p/>
          <a:p>
            <a:r>
              <a:t>右侧的权限、确认、幂等、监控和审计，五层全都要穿过。这里没有哪一层能单独拿到全权执行。上面的模型判断错了，下面还有确定性校验挡着。执行完成之后，结果还要反向回写工单、Trace 和评测样本。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三个渠道共用一个中枢，但各有各的 Pipeline。</a:t>
            </a:r>
          </a:p>
          <a:p/>
          <a:p>
            <a:r>
              <a:t>三条渠道共享意图识别、Context、Skill、工具授权、风险判断和人工交接判断，这些能力没必要按渠道重做三套。但真跑起来，email、chat、voice 的节奏差别很大。</a:t>
            </a:r>
          </a:p>
          <a:p/>
          <a:p>
            <a:r>
              <a:t>Email 是工单型链路，消息长，多意图也多，可以先审核再发送，还要支持客户补充或确认之后接着跑。Chat 更在意实时性和会话归属，人工一旦接管，自动回复得立刻停。Voice 的语音平台是 Cartesia。这条链一边有低时延要求，一边要处理身份核验、简短决策、通话归档，还有明确的转人工。</a:t>
            </a:r>
          </a:p>
          <a:p/>
          <a:p>
            <a:r>
              <a:t>三条链可以共用 Skill、Tool、Guard、幂等、Trace 和评测。但触发方式、Pending 状态（等客户回复时的挂起）和发送路径不能混。一旦混了，邮件那套批处理逻辑会跑进实时会话，Chat 或者 Voice 也可能误入邮件审核链路。</a:t>
            </a:r>
          </a:p>
          <a:p/>
          <a:p>
            <a:r>
              <a:t>到这儿主链就搭起来了，接下来要补的是让它在峰值和故障下还能继续工作的数据工程。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Agent 链路真跑到生产以后，很多故障其实跟模型会不会答没关系。是消息重复了、状态没同步、任务卡住了，或者峰值时候队列被拖垮了。</a:t>
            </a:r>
          </a:p>
          <a:p/>
          <a:p>
            <a:r>
              <a:t>这页把背后的支撑分四层。实时入口接新会话、新评论和通话变化，先做来源过滤和去重。批量调度管历史工单同步、待处理与超时扫描、知识刷新、报表生成，这类任务得支持限流、重放、dry-run 和断点续跑。</a:t>
            </a:r>
          </a:p>
          <a:p/>
          <a:p>
            <a:r>
              <a:t>中间的事实与证据层，是把工单、评论、发送结果、Trace、审计、缓存、幂等、认领状态放进同一套口径里。没有这一层，我们只知道“这张票没成功”，说不清它到底停在哪一步。</a:t>
            </a:r>
          </a:p>
          <a:p/>
          <a:p>
            <a:r>
              <a:t>最下面是韧性和性能：分队列、前置过滤、分布式锁、配额、退避、单票超时、异常票隔离、分级告警。黑五、春节这种峰值期，我们不会一上来就粗暴放大并发。先减少无效调用，隔离不同队列，提高缓存复用，等单票账本是完整的，再加吞吐。</a:t>
            </a:r>
          </a:p>
          <a:p/>
          <a:p>
            <a:r>
              <a:t>性能优化有一条底线：不能为了快，把顺序、幂等、审计或者人工接管能力丢掉。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回到“修改地址”这个例子。一个能上线的场景，至少得同时有四组资产。</a:t>
            </a:r>
          </a:p>
          <a:p/>
          <a:p>
            <a:r>
              <a:t>场景定义告诉系统要解决什么、风险多高、走哪种处理方式。上下文资源列清楚需要哪些订单、履约、地址规则和客户确认。业务能力包含 Skill、Workflow、查询、修改和工单回写。质量运营管 Trace、审计、失败原因、人工反馈、评测用例和指标。</a:t>
            </a:r>
          </a:p>
          <a:p/>
          <a:p>
            <a:r>
              <a:t>这四组缺一块，场景就是残的。路由命中了，但没拿到实时事实，判断不出来。工具接通了，但没有权限和评测，不敢执行。只去改 Prompt，又不清楚问题出在哪一层，修完很容易反复。</a:t>
            </a:r>
          </a:p>
          <a:p/>
          <a:p>
            <a:r>
              <a:t>所以线上出问题以后，我们先找它属于哪一类资产，在对应的位置修，再补一条能长期复现的回归用例。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模型这一层的目标有三个：统一接入、可替换、降级可追溯。</a:t>
            </a:r>
          </a:p>
          <a:p/>
          <a:p>
            <a:r>
              <a:t>业务侧只面对一套兼容协议。主力模型、温度、超时、解析方式都由配置管，换模型不用去改每个场景和业务能力。</a:t>
            </a:r>
          </a:p>
          <a:p/>
          <a:p>
            <a:r>
              <a:t>通道故障的时候，系统按主通道、备用一、备用二逐级切。每次切换都记原因。同一个处理过程一旦切了通道，就尽量保持一致，来回切换会让输出不稳定。今天上台前如果线上顺序还没最终确认，我就只讲这三个通用名称，不讲供应商排序。</a:t>
            </a:r>
          </a:p>
          <a:p/>
          <a:p>
            <a:r>
              <a:t>另外，我们现在没有把自训练或者微调设成必要前提。这个阶段效果主要来自 Prompt、检索、场景契约和结构化校验。以后要不要做模型分层，依据是冻结评测、成本、延迟和解析失败率，公开榜单不作为依据。</a:t>
            </a:r>
          </a:p>
          <a:p/>
          <a:p>
            <a:r>
              <a:t>模型通道讲完了，下面进入它收到请求之前的那一步，上下文。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第四章讲上下文与知识：模型能看到什么事实，这些事实从哪来。</a:t>
            </a:r>
          </a:p>
          <a:p/>
          <a:p>
            <a:r>
              <a:t>这一块共 10 页，大约 28 分钟。</a:t>
            </a:r>
          </a:p>
          <a:p/>
          <a:p>
            <a:r>
              <a:t>- 上下文设计总览</a:t>
            </a:r>
          </a:p>
          <a:p>
            <a:r>
              <a:t>- 知识资产与可信等级</a:t>
            </a:r>
          </a:p>
          <a:p>
            <a:r>
              <a:t>- 知识供给方式</a:t>
            </a:r>
          </a:p>
          <a:p>
            <a:r>
              <a:t>- RAG 在上下文链路中的位置</a:t>
            </a:r>
          </a:p>
          <a:p>
            <a:r>
              <a:t>- 知识发布链路：版本、切换与失效</a:t>
            </a:r>
          </a:p>
          <a:p>
            <a:r>
              <a:t>- 附件先变成事实，再进入 Agent 上下文</a:t>
            </a:r>
          </a:p>
          <a:p>
            <a:r>
              <a:t>- Context 组装与 Prompt 请求</a:t>
            </a:r>
          </a:p>
          <a:p>
            <a:r>
              <a:t>- Prompt 设计：稳定前缀 + 变动后缀</a:t>
            </a:r>
          </a:p>
          <a:p>
            <a:r>
              <a:t>- 路由治理：正例、负例与 Badcase 回流</a:t>
            </a:r>
          </a:p>
          <a:p>
            <a:r>
              <a:t>- Badcase 回流：把线上路由错误固化为负例</a:t>
            </a:r>
          </a:p>
          <a:p/>
          <a:p>
            <a:r>
              <a:t>对应四步主线，这一章服务理解这一步：模型看到什么事实，路由怎么判断客户要办什么。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很多人做上下文，第一反应是“还能再塞点什么进去”。我们先问的是反过来那句：这次任务，不该看到什么？</a:t>
            </a:r>
          </a:p>
          <a:p/>
          <a:p>
            <a:r>
              <a:t>一张长工单里往往混着客户当前的问题、已经解决的旧问题、系统通知、内部备注，还有其他业务域的规则。全都送给模型，它不会因此更准，反而容易串场。</a:t>
            </a:r>
          </a:p>
          <a:p/>
          <a:p>
            <a:r>
              <a:t>我们对候选信息做三件事。选择，只留这次任务要用的。压缩，把长会话、附件和检索结果整理成结构化摘要，同时把来源留住。隔离，按场景、权限和多意图 worker 分开，别互相污染。</a:t>
            </a:r>
          </a:p>
          <a:p/>
          <a:p>
            <a:r>
              <a:t>最后得到一个任务上下文包，顺序是固定的：当前问题、会话摘要、实时事实、知识证据、已确认信息、权限和风险状态。再把它跟稳定指令、输出合同拼成模型请求。</a:t>
            </a:r>
          </a:p>
          <a:p/>
          <a:p>
            <a:r>
              <a:t>语言、国家和地区也是这个包里的固定字段：回复语言跟客户来信，政策按国家取对应版本，地址和配送规则按地区解析。跨境场景里这三项都要从数据里取，不能靠模型猜。</a:t>
            </a:r>
          </a:p>
          <a:p/>
          <a:p>
            <a:r>
              <a:t>RAG 在这儿就是一个证据来源。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客服 Agent 用到的“知识”，不是一个大仓库里的同一种东西。</a:t>
            </a:r>
          </a:p>
          <a:p/>
          <a:p>
            <a:r>
              <a:t>客户可见的政策、产品和护理说明，可以用来回复，也应该把引用来源留住。内部风控、审核和补偿边界，只能用来判断，不能原样告诉客户。订单、物流、退款是实时业务状态，必须查，不能靠长期缓存。客户确认、人工审核、已经执行的动作，是当前工单状态，跟着这张票保存。</a:t>
            </a:r>
          </a:p>
          <a:p/>
          <a:p>
            <a:r>
              <a:t>不管哪一类知识，至少得知道四件事：来源和负责人是谁，谁可以看，哪个版本、什么时候失效，适用于哪些场景。</a:t>
            </a:r>
          </a:p>
          <a:p/>
          <a:p>
            <a:r>
              <a:t>从来源确认、内容审核、版本发布、场景授权到过期下线，这一整条就是知识治理。知识治理管的是哪条事实、在什么条件下可以影响这次判断。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这张象限图之前容易讲混，我把两个轴说简单一点。</a:t>
            </a:r>
          </a:p>
          <a:p/>
          <a:p>
            <a:r>
              <a:t>纵向看知识对决策的约束程度和结构化程度。横向看供给时机，左边是预置、版本化，右边是运行时按需获取。页面上标的高频、长尾、变化只是帮助理解的特征，坐标轴还是那两根。</a:t>
            </a:r>
          </a:p>
          <a:p/>
          <a:p>
            <a:r>
              <a:t>左上角是版本化规则包，比如金额阈值、状态限制、权限规则。这些内容约束强，要逐字稳定。右上角是实时业务查询，订单、履约、物流、退款都以运行时系统为准。左下角是审核过、相对稳定的白名单知识源。右下角才是 RAG，适合长尾、非结构化、没法全部预置的内容。</a:t>
            </a:r>
          </a:p>
          <a:p/>
          <a:p>
            <a:r>
              <a:t>实际上一个场景通常会混用。修改地址要实时订单状态、版本化规则，加上当前客户确认。护理咨询可以先用白名单知识，再拿检索补长尾材料。</a:t>
            </a:r>
          </a:p>
          <a:p/>
          <a:p>
            <a:r>
              <a:t>所以设计时按信息类型选供给方式，RAG 是其中一种。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RAG 的输入只有客户当前还没解决的那个问题，整张工单不会都送进去。</a:t>
            </a:r>
          </a:p>
          <a:p/>
          <a:p>
            <a:r>
              <a:t>系统先判断这个场景需不需要检索，再限定业务范围和读取权限，然后才去召回候选片段。召回完还要检查相关性、可信度和证据冲突，最后只把够支持这次回答的内容放进 Context。</a:t>
            </a:r>
          </a:p>
          <a:p/>
          <a:p>
            <a:r>
              <a:t>这里有三种结果是很正常的：没找到相关证据，证据之间冲突，或者当前场景没权限。碰上这些，系统会补问、请人工判断或者拒绝读取。它不会拿模型记忆补一个听起来像真的答案出来。</a:t>
            </a:r>
          </a:p>
          <a:p/>
          <a:p>
            <a:r>
              <a:t>top-k 取多少只是实现参数，跟着场景评测调就行。要守住的标准只有一条：最后发给客户的话，能不能被当前有效的证据支持。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客服政策会改，文章会撤，索引也可能刷新失败。所以知识也需要一条持续运转的发布链。</a:t>
            </a:r>
          </a:p>
          <a:p/>
          <a:p>
            <a:r>
              <a:t>内容先登记来源、负责人和可见范围，再去抓真正变了的那部分。分块的时候补齐 scope、出处、有效期这些信息，然后在独立空间里构建候选版本，拿检索、引用和冲突用例回放一遍。验证通过了再切活动版本；政策撤销或者过期的要明确下线。</a:t>
            </a:r>
          </a:p>
          <a:p/>
          <a:p>
            <a:r>
              <a:t>有一个细节要分开：刷新失败和知识失效是两种情况。刷新任务失败了，可以暂时继续用上一个已验证的版本。但当前政策已经过期，就必须停用，不能因为旧片段还躺在向量库里就拿它继续回答。</a:t>
            </a:r>
          </a:p>
          <a:p/>
          <a:p>
            <a:r>
              <a:t>整条链会留下版本清单、内容指纹、可见范围、切换结果和失败告警。有了这些记录，某一句回复当时依据的是哪一版知识就查得到。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客户发来的图片、扫描件、PDF 首先是外部输入，不能直接当一段可信文本塞给模型。</a:t>
            </a:r>
          </a:p>
          <a:p/>
          <a:p>
            <a:r>
              <a:t>系统会先检查文件类型、大小和来源，再受控下载，限制域名、跳转、体积和超时，别让附件链路变成一个任意网络访问的入口。能直接提文本的文档，优先走文本解析。图片和扫描件才用视觉理解。相同内容靠指纹去重和缓存，重试的时候不重复花钱。</a:t>
            </a:r>
          </a:p>
          <a:p/>
          <a:p>
            <a:r>
              <a:t>解析结果不会以整份原文进 Prompt，是整理成结构化摘要和关键事实。场景还得明确声明自己需要附件，没有 opt-in 就不能读。每条事实保留来源、解析方式和时间。附件内容跟业务系统状态冲突的时候，以实时业务事实为准。</a:t>
            </a:r>
          </a:p>
          <a:p/>
          <a:p>
            <a:r>
              <a:t>解析失败，或者证据不够，正常结果就是补问或者转人工。附件处理的目标，是把文件变成来源清楚、可以引用和追溯的事实。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现在把一次模型调用完整走一遍。</a:t>
            </a:r>
          </a:p>
          <a:p/>
          <a:p>
            <a:r>
              <a:t>输入侧有当前诉求、去噪之后的会话摘要、订单和履约这些实时事实、知识证据、客户确认和风险状态。每一项都要能说清来源。没验证过的画像和无关历史不放进去。</a:t>
            </a:r>
          </a:p>
          <a:p/>
          <a:p>
            <a:r>
              <a:t>请求组装器把这些动态信息和稳定指令合在一起。稳定指令说明安全规则、当前任务和允许的能力，输出合同规定模型必须返回什么结构。</a:t>
            </a:r>
          </a:p>
          <a:p/>
          <a:p>
            <a:r>
              <a:t>模型给出来的，只是候选结构和候选回复。系统先解析合同，再检查字段、状态、权限和参数跟客户确认的是不是一致。通过了才调能力。信息不全就继续补问。风险不满足就转人工。解析失败的时候走确定性兜底，不让模型再写一段自由文本把错误盖过去。</a:t>
            </a:r>
          </a:p>
          <a:p/>
          <a:p>
            <a:r>
              <a:t>模型输出只是候选，执行由后面的校验决定。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Prompt 拆成两部分有两个实际原因：好维护，以及让前缀缓存真的稳定。</a:t>
            </a:r>
          </a:p>
          <a:p/>
          <a:p>
            <a:r>
              <a:t>安全护栏、场景契约、固定输出要求，放稳定前缀。日期、工单号、会话、实时状态，放变动后缀。我们踩过一个坑：只要把时间戳塞进系统提示词，每天一过零点整段前缀就变了，缓存也就整体失效。</a:t>
            </a:r>
          </a:p>
          <a:p/>
          <a:p>
            <a:r>
              <a:t>输出侧现在拿到的是原始结构对象，再做抽取、类型化反序列化和确定性降级。因为没有依赖某一种强制响应格式，解析失败率就得当成生产指标一直看着。</a:t>
            </a:r>
          </a:p>
          <a:p/>
          <a:p>
            <a:r>
              <a:t>这一页的要点有两个：把稳定规则和运行事实放在正确的位置；别把“模型说它符合格式”当成系统真的解析成功了。</a:t>
            </a:r>
          </a:p>
          <a:p/>
          <a:p>
            <a:r>
              <a:t>上下文这条线到这里讲完了。但理解还差一环：系统得先判断客户到底要办什么，才知道该取哪些事实，这一步就是路由，下面两页讲它。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路由边界需要长期维护，正例、负例和 Badcase 都是它的资产。</a:t>
            </a:r>
          </a:p>
          <a:p/>
          <a:p>
            <a:r>
              <a:t>正例告诉系统哪些表达该进这个场景。负例专门说明哪些看起来很像的表达不能进。拿不准就去兜底，别为了命中率硬挑一个最像的。</a:t>
            </a:r>
          </a:p>
          <a:p/>
          <a:p>
            <a:r>
              <a:t>线上一旦发生误路由，我们会把错误拆开看：是正例没覆盖到，还是相邻场景缺了排除条件。修完之后，这张工单还要进冻结评测集，后面每次变更都重新跑。</a:t>
            </a:r>
          </a:p>
          <a:p/>
          <a:p>
            <a:r>
              <a:t>评测口径也要严。场景路径必须精确匹配，弃权算失败，兜底不算答对。要不然系统什么都不敢做，准确率反而好看。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第五章讲能力与编排：系统能做什么，一封邮件里有好几件事的时候怎么排。</a:t>
            </a:r>
          </a:p>
          <a:p/>
          <a:p>
            <a:r>
              <a:t>这一块共 8 页，大约 21 分钟。</a:t>
            </a:r>
          </a:p>
          <a:p/>
          <a:p>
            <a:r>
              <a:t>- Skill：可复用的业务能力单元</a:t>
            </a:r>
          </a:p>
          <a:p>
            <a:r>
              <a:t>- 一个 Skill 的完整定义</a:t>
            </a:r>
          </a:p>
          <a:p>
            <a:r>
              <a:t>- 地址变更 Skill 的实际写法</a:t>
            </a:r>
          </a:p>
          <a:p>
            <a:r>
              <a:t>- Workflow：已迁走的七条与四条判据</a:t>
            </a:r>
          </a:p>
          <a:p>
            <a:r>
              <a:t>- Plan–Execute：计划与执行分开</a:t>
            </a:r>
          </a:p>
          <a:p>
            <a:r>
              <a:t>- 一次真实的 Plan–Execute：改地址走了 12 步</a:t>
            </a:r>
          </a:p>
          <a:p>
            <a:r>
              <a:t>- 多意图编排流程</a:t>
            </a:r>
          </a:p>
          <a:p>
            <a:r>
              <a:t>- 多意图实例：一封邮件，两个诉求</a:t>
            </a:r>
          </a:p>
          <a:p/>
          <a:p>
            <a:r>
              <a:t>对应四步主线，这一章服务决策这一步。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路由命中之后，系统得知道这个场景到底能做什么，这份定义就是 Skill。</a:t>
            </a:r>
          </a:p>
          <a:p/>
          <a:p>
            <a:r>
              <a:t>拿地址变更举例。输入包括订单标识、新地址、客户身份、实时订单和履约状态、规则和确认信息。目标是在允许的状态下完成更新并回写工单。</a:t>
            </a:r>
          </a:p>
          <a:p/>
          <a:p>
            <a:r>
              <a:t>Skill 同时会写明风险、负责人、只读子流程和可见工具。结果是几类标准状态：可以执行、需要补信息、等待客户确认、不可执行。不可执行的时候，要带上原因交给人工，不能自己绕过条件继续试。</a:t>
            </a:r>
          </a:p>
          <a:p/>
          <a:p>
            <a:r>
              <a:t>Agent 负责选 Skill，Skill 负责划边界，真正的写入还是走统一能力出口。这三个职责分开了，出问题才知道该修哪儿。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一份 Skill 之所以写成结构化文档，是因为读它的除了模型，还有路由、权限、评测和运营。</a:t>
            </a:r>
          </a:p>
          <a:p/>
          <a:p>
            <a:r>
              <a:t>最前面的机器可读信息放摘要、正例和负例。Identity 说清唯一职责和不处理的范围。上下文依赖列出运行时必须拿到的事实。前置条件规定什么时候能往下走。权限与工具明确可见能力。流程步骤写状态推进和退出。输出合同限制结果结构。最后写停止条件和人工交接。</a:t>
            </a:r>
          </a:p>
          <a:p/>
          <a:p>
            <a:r>
              <a:t>同一份定义，路由、执行、工具授权、离线回归和运营看板都在用。所以线上出错的时候，我们能定位到是“路由边界不对”“前置条件漏了”还是“工具授权给太宽了”，不用每次都去一个巨大的 Prompt 里猜。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对那些还没固化、又可能涉及写操作的任务，我们把“想怎么做”和“真的去做”拆开。</a:t>
            </a:r>
          </a:p>
          <a:p/>
          <a:p>
            <a:r>
              <a:t>Planner 先读 Context 和 Skill，生成一份结构化计划。计划里要写明验证步骤、工具顺序、哪些是查询、哪一步会写、什么情况下停止或者转人工。</a:t>
            </a:r>
          </a:p>
          <a:p/>
          <a:p>
            <a:r>
              <a:t>Executor 只按这份计划去调已经授权的能力。它不能执行到一半突然加一个新的写动作。服务端也可以在真执行之前先查一遍：一共几个写步骤，权限对不对，状态有没有变。</a:t>
            </a:r>
          </a:p>
          <a:p/>
          <a:p>
            <a:r>
              <a:t>代价是多一次计划过程，换来的是执行前审查、失败归因和受控重规划，对写操作来说是划算的。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真实客户不会照着我们的场景目录提问。一封邮件里同时问物流、改地址、再问个优惠，这太正常了。</a:t>
            </a:r>
          </a:p>
          <a:p/>
          <a:p>
            <a:r>
              <a:t>系统先识别平级诉求，再由独立复核检查这个拆分合不合理。两边意见不一致，这一轮就不勉强执行。拆分确认了才生成计划，然后用确定性方式把写操作数清楚。</a:t>
            </a:r>
          </a:p>
          <a:p/>
          <a:p>
            <a:r>
              <a:t>如果全是只读，可以并发。只有一个写诉求，就指定唯一的写负责人，其他任务按规则组合。出现两个独立写诉求，整轮转人工。合并器没有工具权限，也拿不到完整的客户原文，它只接收有限的安全字段。</a:t>
            </a:r>
          </a:p>
          <a:p/>
          <a:p>
            <a:r>
              <a:t>还有一个硬条件：worker 在文字里说“已经完成”不算完成，得有真实的工具记录。并发数量和总超时也有限制，不能因为来了一封复杂邮件就无限拆分。</a:t>
            </a:r>
          </a:p>
          <a:p/>
          <a:p>
            <a:r>
              <a:t>多意图编排要处理的是拆分、权限、顺序、合并和失败这五件事怎么一起受控。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第六章讲受控执行：真去改业务状态的时候，靠什么控制风险。</a:t>
            </a:r>
          </a:p>
          <a:p/>
          <a:p>
            <a:r>
              <a:t>这一块共 8 页，大约 24 分钟。先看六个阶段的总览，再一个个看控制点。</a:t>
            </a:r>
          </a:p>
          <a:p/>
          <a:p>
            <a:r>
              <a:t>- 安全控制覆盖六个阶段</a:t>
            </a:r>
          </a:p>
          <a:p>
            <a:r>
              <a:t>- 业务能力的定义与调用校验</a:t>
            </a:r>
          </a:p>
          <a:p>
            <a:r>
              <a:t>- 写操作的三项公共控制</a:t>
            </a:r>
          </a:p>
          <a:p>
            <a:r>
              <a:t>- 三类 Guard 与拦截原因码</a:t>
            </a:r>
          </a:p>
          <a:p>
            <a:r>
              <a:t>- 发送裁决：22 个原因码</a:t>
            </a:r>
          </a:p>
          <a:p>
            <a:r>
              <a:t>- 错误恢复路径</a:t>
            </a:r>
          </a:p>
          <a:p>
            <a:r>
              <a:t>- 有状态续跑与人工回交</a:t>
            </a:r>
          </a:p>
          <a:p>
            <a:r>
              <a:t>- 人工介入策略</a:t>
            </a:r>
          </a:p>
          <a:p/>
          <a:p>
            <a:r>
              <a:t>对应四步主线，这一章服务查询和执行：换成 AI 调用之后要补哪些控制。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这一章先看总览。如果安全只放在发送前做一次敏感词检查，那前面的风险已经漏得差不多了。</a:t>
            </a:r>
          </a:p>
          <a:p/>
          <a:p>
            <a:r>
              <a:t>入口处先防客户消息里伪造的系统指令和工具结果。进了场景，正负边界继续检查有没有误路由。生成阶段约束不实承诺、内部信息和不安全内容。执行阶段用确认、权限、幂等、配额和业务状态限制写操作。发送前再检查人工是否接管、事实有没有过期、是不是重复回复。投诉、规则冲突和责任敏感的问题，进人工兜底。</a:t>
            </a:r>
          </a:p>
          <a:p/>
          <a:p>
            <a:r>
              <a:t>这六个控制不是重复建设。路由正确不能替代工具权限，工具有权限也不能替代发送裁决。可见范围和执行权一层层收窄，某一层犯了错，不会直接变成业务事故。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一项业务能力不能只起个名字叫“修改地址”，它需要一份完整的合同。</a:t>
            </a:r>
          </a:p>
          <a:p/>
          <a:p>
            <a:r>
              <a:t>合同里要写业务目标、必要输入、前置条件、允许影响的范围、幂等规则，还有成功、缺信息、不可修改、系统异常分别怎么返回。举个例子，地址能力只能改收货地址，不能顺手去碰付款和账户信息。</a:t>
            </a:r>
          </a:p>
          <a:p/>
          <a:p>
            <a:r>
              <a:t>真写入之前还有四层检查。当前这个 Skill 有没有权限看到它。计划里的写步骤数量和顺序正不正常。客户确认、订单状态、业务资格，现在是不是还成立。最后服务端再查一遍参数、权限、幂等、配额和审计。</a:t>
            </a:r>
          </a:p>
          <a:p/>
          <a:p>
            <a:r>
              <a:t>四层全过了才执行。任何一层失败，都返回明确的业务状态。模型不能把“服务端拒绝”换个说法讲成“已经成功”。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所有写操作都绕不开三件事：确认、幂等、审计。</a:t>
            </a:r>
          </a:p>
          <a:p/>
          <a:p>
            <a:r>
              <a:t>确认记录的是客户到底同意了什么：系统要把对象、范围和关键字段说清楚，最终参数得跟确认内容一致。幂等保证同一个请求不会被做两遍：同一个业务键再提交一次，只返回已有的结果。审计记下这件事是怎么发生的，把输入、确认、状态校验、工具调用和最终责任都留住。</a:t>
            </a:r>
          </a:p>
          <a:p/>
          <a:p>
            <a:r>
              <a:t>顺序也不能反。客户确认之后，系统还要在执行前重新查一遍状态，因为这段时间里订单可能已经变了，确认只对确认那一刻的状态有效。</a:t>
            </a:r>
          </a:p>
          <a:p/>
          <a:p>
            <a:r>
              <a:t>这三项少哪一项，写操作都是不完整的。它们各自解决一个不同的风险，不能互相代替。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生产系统不会没有错误。我们要求的是每种错误都能被检测到，知道怎么恢复，最后能落到一个明确状态。</a:t>
            </a:r>
          </a:p>
          <a:p/>
          <a:p>
            <a:r>
              <a:t>模型通道故障，切备用，记原因。结构解析失败，走确定性兜底，不让模型不停重写。生成质量不够可以重跑一次，但重跑固定是 dry-run。工具失败或者超时，按场景契约停止或者转人工。</a:t>
            </a:r>
          </a:p>
          <a:p/>
          <a:p>
            <a:r>
              <a:t>重复写入由幂等键拦住。这里有一种情况特别容易误判：业务系统已经接受了修改，但下游页面还没同步。这时候应该告诉系统“已接受，显示同步中”，不能对客户说失败——说失败他可能会再提交一遍同样的动作。</a:t>
            </a:r>
          </a:p>
          <a:p/>
          <a:p>
            <a:r>
              <a:t>多意图里只要有 worker 降级或者合并失败，整轮结果作废，不拼半个答案。所有故障最后只能落到补问、等待确认、转人工或者明确终止。恢复最多重试一次，而且状态不确定的时候绝不再写。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这页我要先避免一个过度表述：项目里现在还不是一套统一状态机。补问、确认、Pending、人工接管、超时释放，这些是分别落在不同渠道链路里的。我们现在做的事，是把这些机制收拢成同一套讲法。</a:t>
            </a:r>
          </a:p>
          <a:p/>
          <a:p>
            <a:r>
              <a:t>等客户补信息的时候，要保存已经拿到的事实、还缺什么、回来之后从哪儿继续。等客户确认的时候，可以保存计划，但不能提前产生副作用。执行阶段有幂等键，重试不会再写一次。</a:t>
            </a:r>
          </a:p>
          <a:p/>
          <a:p>
            <a:r>
              <a:t>进了 Pending 观察以后，系统保留冷却窗口和处理事实。真人一旦公开回复或者明确接手，AI 自动发送就停。AI 超过服务阈值还没有公开回复，要把归属释放回人工队列。认领租约过期，或者工单来了新动态，也要重新确认 owner 和上下文。</a:t>
            </a:r>
          </a:p>
          <a:p/>
          <a:p>
            <a:r>
              <a:t>不管底层分散在哪条 Pipeline 上，状态记录都要能说清三件事：现在在等谁，下一步是什么，还允不允许续跑。这三件事由状态记录回答，不能等模型临时猜。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人工介入分三种时机。</a:t>
            </a:r>
          </a:p>
          <a:p/>
          <a:p>
            <a:r>
              <a:t>新场景或者中高风险任务，可以在动作发生之前让人审批回复和计划。运行中碰上投诉、规则冲突、系统异常，或者客户主动要人工，就进事中接管。已经自动处理完的工单，通过事后抽检检查事实、语气和业务结果。</a:t>
            </a:r>
          </a:p>
          <a:p/>
          <a:p>
            <a:r>
              <a:t>人工接手的时候不应该从零开始。交接包里要有客户诉求、已经提取的字段、订单和履约状态、AI 的判断依据、已经执行的动作，还有下一步建议。这样客户不用再解释一遍，客服也知道系统有没有做过写操作。</a:t>
            </a:r>
          </a:p>
          <a:p/>
          <a:p>
            <a:r>
              <a:t>人工比例跟着风险和成熟度变。冷启动多做事前审批，稳定场景减少审核但保留抽检，高风险协商长期人工主导。这里没有一个适用于所有场景的固定比例。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第七章讲证据、评测与价值：怎么证明它做对了，做这件事值不值。</a:t>
            </a:r>
          </a:p>
          <a:p/>
          <a:p>
            <a:r>
              <a:t>这一块共 10 页，大约 29 分钟。</a:t>
            </a:r>
          </a:p>
          <a:p/>
          <a:p>
            <a:r>
              <a:t>- 单票 Trace：需要记录的六类信息</a:t>
            </a:r>
          </a:p>
          <a:p>
            <a:r>
              <a:t>- Skill 日报看板与改进闭环</a:t>
            </a:r>
          </a:p>
          <a:p>
            <a:r>
              <a:t>- 能力缺口到新能力：候选、验证与放行</a:t>
            </a:r>
          </a:p>
          <a:p>
            <a:r>
              <a:t>- 评测集：159 个冻结用例</a:t>
            </a:r>
          </a:p>
          <a:p>
            <a:r>
              <a:t>- AI Gate：候选版本与基线的对比回放</a:t>
            </a:r>
          </a:p>
          <a:p>
            <a:r>
              <a:t>- QA 影子打分：独立评审，不参与放行</a:t>
            </a:r>
          </a:p>
          <a:p>
            <a:r>
              <a:t>- 评测与发布验证闭环</a:t>
            </a:r>
          </a:p>
          <a:p>
            <a:r>
              <a:t>- 运营漏斗：从 100 到约 7</a:t>
            </a:r>
          </a:p>
          <a:p>
            <a:r>
              <a:t>- 阶段价值与全成本</a:t>
            </a:r>
          </a:p>
          <a:p>
            <a:r>
              <a:t>- 成熟度演进：按场景逐步开放处理权</a:t>
            </a:r>
          </a:p>
          <a:p/>
          <a:p>
            <a:r>
              <a:t>对应四步主线，理解和决策的错最难被发现，这一章讲怎么用证据和评测把它们找出来。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从这一页开始看证据。我们希望的是，任何一张工单出了问题，都能把当时的决策过程还原出来，而不是只看到一串接口耗时。</a:t>
            </a:r>
          </a:p>
          <a:p/>
          <a:p>
            <a:r>
              <a:t>一份完整的 Trace 会记下模型、Prompt 和 Skill 版本。客户输入、实时事实和知识证据。路由、置信度和执行计划。工具、参数、结果和幂等信息。审核结论和第一次偏离。最后还要记消息有没有真发出去，业务动作有没有真完成，责任最后落在系统还是人工。</a:t>
            </a:r>
          </a:p>
          <a:p/>
          <a:p>
            <a:r>
              <a:t>右边选中的是一次地址更新调用。我们能看到它为什么被允许执行，调了什么，返回了什么，花了多久，由谁负责。</a:t>
            </a:r>
          </a:p>
          <a:p/>
          <a:p>
            <a:r>
              <a:t>同一份记录，运营、工程、发布、管理各看各的切面，但底层只存一份，四张报表就不会给出四个答案。</a:t>
            </a:r>
          </a:p>
          <a:p/>
          <a:p>
            <a:r>
              <a:t>有了这些记录，排障时可以具体回答：它当时看到了什么，在哪一步做的判断，哪条证据允许它写入，工具有没有成功，客户最后到底收到了什么。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前两页处理的是已上线能力怎么修。这页看另一类信号：系统现在接不住的那些工单，怎么变成下一项能力。</a:t>
            </a:r>
          </a:p>
          <a:p/>
          <a:p>
            <a:r>
              <a:t>机会可能来自未命中、弃答、反复补问、能力缺口原因码，也可能是人工已经有稳定做法但系统还没覆盖。系统可以定期把这些问题聚类，不过聚类结果只能算候选，不能直接算成可提升的覆盖率。</a:t>
            </a:r>
          </a:p>
          <a:p/>
          <a:p>
            <a:r>
              <a:t>候选先做 Preflight，判断缺的到底是 Skill 边界、知识、实时查询，还是业务 API。然后生成候选契约和验证矩阵，用真实样本全程 dry-run 回放，再由业务、客服和技术一起确认风险、口径和客户体验。</a:t>
            </a:r>
          </a:p>
          <a:p/>
          <a:p>
            <a:r>
              <a:t>证据够了，再进正式发布 Gate。证据不够，继续留在候选或者能力缺口里。模型生成了一份 Skill 草稿，这项能力并不会因此自动获得生产权限。</a:t>
            </a:r>
          </a:p>
          <a:p/>
          <a:p>
            <a:r>
              <a:t>这里还有一条治理原则：能扩展现有能力的，就不新建平行 Skill。只读事实优先。副作用说不清的接口不接。高风险协商可以长期留给人工。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把 Gate 和影子评分放回完整的发布流程，就能看清它们各自的位置。</a:t>
            </a:r>
          </a:p>
          <a:p/>
          <a:p>
            <a:r>
              <a:t>不管改的是模型、Prompt、Context、知识、Skill、Workflow、工具还是业务规则，都先准备冻结样本，做离线回放，再让业务核对政策、风险和体验。过了以后按场景小范围灰度，继续观察线上质量、成本和异常。低于基线，或者线上出了异常，就回滚并归因。</a:t>
            </a:r>
          </a:p>
          <a:p/>
          <a:p>
            <a:r>
              <a:t>离线指标看候选版本在固定条件下有没有退步，线上指标看真实流程有没有产生价值。场景路径、字段、多意图集合属于前者。覆盖率、审核通过率、实际发送率、业务闭环、转人工和重问属于后者。</a:t>
            </a:r>
          </a:p>
          <a:p/>
          <a:p>
            <a:r>
              <a:t>这两个口径不能混。审核通过率会受白名单、人工策略和运行边界影响，它不是模型准确率。每个指标都要带公式、分母、来源、时间窗口和决策用途。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项目不会在某一天整体从 L2 升到 L3，成熟度是按场景算的。</a:t>
            </a:r>
          </a:p>
          <a:p/>
          <a:p>
            <a:r>
              <a:t>L1 是人工增强，AI 做查询和建议，人来判断、执行，同时积累 Trace 和真实样本。L2 让 AI 承担路由和业务判断，客户或者人工确认之后再执行。L3 才是在评测、幂等、审计、回退和线上指标都稳定的边界内，由确定性 Workflow 完成低风险闭环。L4 是形成场景运营平台，能持续发现机会、评估、建设、灰度和运营。</a:t>
            </a:r>
          </a:p>
          <a:p/>
          <a:p>
            <a:r>
              <a:t>同一个时间点，物流查询可以在 L3，地址修改可能停在 L2，投诉协商长期保留在 L1，这是正常状态。</a:t>
            </a:r>
          </a:p>
          <a:p/>
          <a:p>
            <a:r>
              <a:t>场景晋级只看运行证据和治理成熟度。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最后把前面的内容收回到那四步上。页面上这六个环节就是按四步排的：场景与移交边界、上下文准备服务理解；Agent 决策、Skill 与 Workflow 服务决策；受控执行对应查询和执行；最后一个环节是证据。</a:t>
            </a:r>
          </a:p>
          <a:p/>
          <a:p>
            <a:r>
              <a:t>理解这一步，靠场景定义、上下文准备和知识治理，把这次任务需要的事实、规则和证据准备齐。决策这一步，靠 Skill 契约划边界、Workflow 接住已经稳定的路径、Plan–Execute 处理还没固化的部分，这两步是从零建起来的。</a:t>
            </a:r>
          </a:p>
          <a:p/>
          <a:p>
            <a:r>
              <a:t>查询和执行这两步，能力一直都在。我们做的是换了调用方之后补控制：统一能力出口、权限、客户确认、幂等、审计。</a:t>
            </a:r>
          </a:p>
          <a:p/>
          <a:p>
            <a:r>
              <a:t>然后是证据。理解和决策的错最难被发现：查询错了会报错，执行错了有回执，理解偏了、决策松了，系统看起来一切正常。所以 Trace、评测、运营漏斗和人工反馈必须存在，它们决定下一轮修什么、要不要扩大授权。</a:t>
            </a:r>
          </a:p>
          <a:p/>
          <a:p>
            <a:r>
              <a:t>建设按场景推进；核心资产是上下文、场景契约、可复用能力、确定性流程和运行证据。</a:t>
            </a:r>
          </a:p>
          <a:p/>
          <a:p>
            <a:r>
              <a:t>最后补三个教训。第一，假订单号那条，我们先在出口过滤，反复复发，改到源头不生成才收敛：治标位置错了会一直复发。第二，退货 label 那条误路由，根因是历史回复污染了当前意图，模型没有变差：排障先看上下文，再看模型。第三，审核通过率和发送率是运行结果，受白名单和人工策略影响，它们不是模型准确率：指标要带分母和用途，否则会被误读。</a:t>
            </a:r>
          </a:p>
          <a:p/>
          <a:p>
            <a:r>
              <a:t>查询和执行的能力早就有了。能不能继续放开，取决于理解和决策的稳定性能不能被证据证明。下一阶段还是同一个方向：让更多场景的理解和决策能被识别、能被审计，人工出口保持清楚。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主体内容就到这儿，谢谢大家。</a:t>
            </a:r>
          </a:p>
          <a:p/>
          <a:p>
            <a:r>
              <a:t>如果想从某个具体角度聊，可以从这四类问题进。第一，场景和移交边界怎么定。第二，Context、知识和 RAG 怎么分工。第三，Skill、Workflow 和业务能力怎么落地。第四，写安全、人工介入、Trace、评测和成本怎么运营。</a:t>
            </a:r>
          </a:p>
          <a:p/>
          <a:p>
            <a:r>
              <a:t>现场要是一时没问题，我们可以从下面几个常问的开始。</a:t>
            </a:r>
          </a:p>
          <a:p/>
          <a:p>
            <a:r>
              <a:t>### 为什么不让 Agent 直接调用所有业务接口？</a:t>
            </a:r>
          </a:p>
          <a:p/>
          <a:p>
            <a:r>
              <a:t>因为理解客户和获得业务授权是两件事。工具按场景白名单开放，写操作还要过确认、状态复核、幂等和服务端校验。模型就算判断错了，也只能在很小的授权范围内试。</a:t>
            </a:r>
          </a:p>
          <a:p/>
          <a:p>
            <a:r>
              <a:t>### 已经有 Agent，为什么还需要 Workflow？</a:t>
            </a:r>
          </a:p>
          <a:p/>
          <a:p>
            <a:r>
              <a:t>客户表达是开放的，这块适合 Agent。稳定的执行路径是可枚举的，这块适合 Workflow。新场景先在护栏里验证，稳定的部分再迁成代码。这样既能发现路径，也能慢慢把成本和不确定性降下来。</a:t>
            </a:r>
          </a:p>
          <a:p/>
          <a:p>
            <a:r>
              <a:t>### 为什么不能把所有知识都放进 RAG？</a:t>
            </a:r>
          </a:p>
          <a:p/>
          <a:p>
            <a:r>
              <a:t>高约束的规则需要版本化。订单和退款状态必须实时查。稳定的客户知识可以走白名单。只有长尾非结构化内容才适合检索。RAG 只是供给方式之一，不能当成所有知识的统一答案。</a:t>
            </a:r>
          </a:p>
          <a:p/>
          <a:p>
            <a:r>
              <a:t>### 怎样防提示注入和伪造授权？</a:t>
            </a:r>
          </a:p>
          <a:p/>
          <a:p>
            <a:r>
              <a:t>不靠一段 Prompt 单独解决。客户粘贴的系统指令、工具结果和审批文本不能创造授权。工具由白名单控制。写入由服务端检查。发送前还有一道独立裁决。每一层只相信自己负责的那部分证据。</a:t>
            </a:r>
          </a:p>
          <a:p/>
          <a:p>
            <a:r>
              <a:t>### 为什么评测用基线比较，而不是只看固定总分？</a:t>
            </a:r>
          </a:p>
          <a:p/>
          <a:p>
            <a:r>
              <a:t>因为不同场景的难度和分母不一样，总分很容易把关键退步盖掉。基线比较能直接回答一个问题：这次改动让哪一条核心边界变差了。QA 影子评分提供另一份质量观察，但不替代正式 Gate。</a:t>
            </a:r>
          </a:p>
          <a:p/>
          <a:p>
            <a:r>
              <a:t>### AI 会不会替代客服？</a:t>
            </a:r>
          </a:p>
          <a:p/>
          <a:p>
            <a:r>
              <a:t>现在更准确的说法是分工变了。系统承接高频查询、标准判断和已经验证过的低风险闭环。人工继续处理投诉、异常、规则冲突和责任敏感场景，同时承担审核、抽检、Badcase 和场景运营。以后能扩到哪儿，还是要看证据。</a:t>
            </a:r>
          </a:p>
          <a:p/>
          <a:p>
            <a:r>
              <a:t>### 多语言怎么处理？</a:t>
            </a:r>
          </a:p>
          <a:p/>
          <a:p>
            <a:r>
              <a:t>语言和地区是上下文包里的固定字段。回复语言跟客户来信，政策按国家取对应版本，地址和配送规则按地区解析。路由的正例和负例本来就用客户原文写，多语言样本会直接进入冻结评测集。</a:t>
            </a:r>
          </a:p>
          <a:p/>
          <a:p>
            <a:r>
              <a:t>### 单票的模型成本大概多少？</a:t>
            </a:r>
          </a:p>
          <a:p/>
          <a:p>
            <a:r>
              <a:t>对外只讲结构，不讲绝对值。全成本里模型调用只是一项，还有重试、审核抽检、网关、检索存储、观测评测和人工兜底。控制成本的顺序是先消除无效调用和重复重试，再提高缓存和复用，然后降低人工审核成本，最后才考虑模型分层。</a:t>
            </a:r>
          </a:p>
          <a:p/>
          <a:p>
            <a:r>
              <a:t>### 客户数据和隐私怎么保护？</a:t>
            </a:r>
          </a:p>
          <a:p/>
          <a:p>
            <a:r>
              <a:t>三条边界。画像和摘要不保存客户正文、完整邮箱、电话、地址和附件链接；附件先受控下载再解析，域名、体积、超时都有限制；内部流程节点和后台信息不外发，审计记录只保存脱敏后的标识。所有对客输出还要过发送前裁决。</a:t>
            </a:r>
          </a:p>
          <a:p/>
          <a:p>
            <a:r>
              <a:t>后面要是想讨论某一个具体场景，可以沿用今天这套框架：先讲业务目标和风险，再列事实和能力，然后设计确认、幂等、审计和退出，最后补上评测与运营。谢谢大家。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 defTabSz="914400">
        <a:spcBef>
          <a:spcPct val="20000"/>
        </a:spcBef>
        <a:buFont typeface="Arial" panose="020B0604020202090204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 defTabSz="914400">
        <a:spcBef>
          <a:spcPct val="20000"/>
        </a:spcBef>
        <a:buFont typeface="Arial" panose="020B0604020202090204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spcBef>
          <a:spcPct val="20000"/>
        </a:spcBef>
        <a:buFont typeface="Arial" panose="020B0604020202090204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spcBef>
          <a:spcPct val="20000"/>
        </a:spcBef>
        <a:buFont typeface="Arial" panose="020B0604020202090204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spcBef>
          <a:spcPct val="20000"/>
        </a:spcBef>
        <a:buFont typeface="Arial" panose="020B0604020202090204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svg"/><Relationship Id="rId8" Type="http://schemas.openxmlformats.org/officeDocument/2006/relationships/image" Target="../media/image8.svg"/><Relationship Id="rId7" Type="http://schemas.openxmlformats.org/officeDocument/2006/relationships/image" Target="../media/image7.svg"/><Relationship Id="rId6" Type="http://schemas.openxmlformats.org/officeDocument/2006/relationships/image" Target="../media/image6.svg"/><Relationship Id="rId5" Type="http://schemas.openxmlformats.org/officeDocument/2006/relationships/image" Target="../media/image5.svg"/><Relationship Id="rId4" Type="http://schemas.openxmlformats.org/officeDocument/2006/relationships/image" Target="../media/image4.svg"/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2" Type="http://schemas.openxmlformats.org/officeDocument/2006/relationships/notesSlide" Target="../notesSlides/notesSlide3.xml"/><Relationship Id="rId11" Type="http://schemas.openxmlformats.org/officeDocument/2006/relationships/slideLayout" Target="../slideLayouts/slideLayout1.xml"/><Relationship Id="rId10" Type="http://schemas.openxmlformats.org/officeDocument/2006/relationships/image" Target="../media/image10.sv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image" Target="../media/image18.png"/><Relationship Id="rId8" Type="http://schemas.openxmlformats.org/officeDocument/2006/relationships/image" Target="../media/image7.svg"/><Relationship Id="rId7" Type="http://schemas.openxmlformats.org/officeDocument/2006/relationships/image" Target="../media/image17.png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14.svg"/><Relationship Id="rId3" Type="http://schemas.openxmlformats.org/officeDocument/2006/relationships/image" Target="../media/image13.png"/><Relationship Id="rId2" Type="http://schemas.openxmlformats.org/officeDocument/2006/relationships/image" Target="../media/image12.svg"/><Relationship Id="rId18" Type="http://schemas.openxmlformats.org/officeDocument/2006/relationships/notesSlide" Target="../notesSlides/notesSlide15.xml"/><Relationship Id="rId17" Type="http://schemas.openxmlformats.org/officeDocument/2006/relationships/slideLayout" Target="../slideLayouts/slideLayout1.xml"/><Relationship Id="rId16" Type="http://schemas.openxmlformats.org/officeDocument/2006/relationships/image" Target="../media/image8.svg"/><Relationship Id="rId15" Type="http://schemas.openxmlformats.org/officeDocument/2006/relationships/image" Target="../media/image23.png"/><Relationship Id="rId14" Type="http://schemas.openxmlformats.org/officeDocument/2006/relationships/image" Target="../media/image22.svg"/><Relationship Id="rId13" Type="http://schemas.openxmlformats.org/officeDocument/2006/relationships/image" Target="../media/image21.png"/><Relationship Id="rId12" Type="http://schemas.openxmlformats.org/officeDocument/2006/relationships/image" Target="../media/image20.svg"/><Relationship Id="rId11" Type="http://schemas.openxmlformats.org/officeDocument/2006/relationships/image" Target="../media/image19.png"/><Relationship Id="rId10" Type="http://schemas.openxmlformats.org/officeDocument/2006/relationships/image" Target="../media/image6.svg"/><Relationship Id="rId1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7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25.svg"/><Relationship Id="rId4" Type="http://schemas.openxmlformats.org/officeDocument/2006/relationships/image" Target="../media/image22.svg"/><Relationship Id="rId3" Type="http://schemas.openxmlformats.org/officeDocument/2006/relationships/image" Target="../media/image21.png"/><Relationship Id="rId2" Type="http://schemas.openxmlformats.org/officeDocument/2006/relationships/image" Target="../media/image24.svg"/><Relationship Id="rId1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9.xml"/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32.png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image" Target="../media/image26.png"/></Relationships>
</file>

<file path=ppt/slides/_rels/slide2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0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image" Target="../media/image30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22.xml"/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32.png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image" Target="../media/image26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9" Type="http://schemas.openxmlformats.org/officeDocument/2006/relationships/image" Target="../media/image20.svg"/><Relationship Id="rId8" Type="http://schemas.openxmlformats.org/officeDocument/2006/relationships/image" Target="../media/image19.png"/><Relationship Id="rId7" Type="http://schemas.openxmlformats.org/officeDocument/2006/relationships/image" Target="../media/image33.svg"/><Relationship Id="rId6" Type="http://schemas.openxmlformats.org/officeDocument/2006/relationships/image" Target="../media/image26.png"/><Relationship Id="rId5" Type="http://schemas.openxmlformats.org/officeDocument/2006/relationships/image" Target="../media/image25.svg"/><Relationship Id="rId4" Type="http://schemas.openxmlformats.org/officeDocument/2006/relationships/image" Target="../media/image24.svg"/><Relationship Id="rId3" Type="http://schemas.openxmlformats.org/officeDocument/2006/relationships/image" Target="../media/image3.png"/><Relationship Id="rId2" Type="http://schemas.openxmlformats.org/officeDocument/2006/relationships/image" Target="../media/image22.svg"/><Relationship Id="rId15" Type="http://schemas.openxmlformats.org/officeDocument/2006/relationships/notesSlide" Target="../notesSlides/notesSlide25.xml"/><Relationship Id="rId14" Type="http://schemas.openxmlformats.org/officeDocument/2006/relationships/slideLayout" Target="../slideLayouts/slideLayout1.xml"/><Relationship Id="rId13" Type="http://schemas.openxmlformats.org/officeDocument/2006/relationships/image" Target="../media/image35.svg"/><Relationship Id="rId12" Type="http://schemas.openxmlformats.org/officeDocument/2006/relationships/image" Target="../media/image27.png"/><Relationship Id="rId11" Type="http://schemas.openxmlformats.org/officeDocument/2006/relationships/image" Target="../media/image10.svg"/><Relationship Id="rId10" Type="http://schemas.openxmlformats.org/officeDocument/2006/relationships/image" Target="../media/image34.png"/><Relationship Id="rId1" Type="http://schemas.openxmlformats.org/officeDocument/2006/relationships/image" Target="../media/image21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9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9.svg"/><Relationship Id="rId3" Type="http://schemas.openxmlformats.org/officeDocument/2006/relationships/image" Target="../media/image37.png"/><Relationship Id="rId2" Type="http://schemas.openxmlformats.org/officeDocument/2006/relationships/image" Target="../media/image36.svg"/><Relationship Id="rId1" Type="http://schemas.openxmlformats.org/officeDocument/2006/relationships/image" Target="../media/image28.png"/></Relationships>
</file>

<file path=ppt/slides/_rels/slide40.xml.rels><?xml version="1.0" encoding="UTF-8" standalone="yes"?>
<Relationships xmlns="http://schemas.openxmlformats.org/package/2006/relationships"><Relationship Id="rId9" Type="http://schemas.openxmlformats.org/officeDocument/2006/relationships/image" Target="../media/image31.png"/><Relationship Id="rId8" Type="http://schemas.openxmlformats.org/officeDocument/2006/relationships/image" Target="../media/image41.svg"/><Relationship Id="rId7" Type="http://schemas.openxmlformats.org/officeDocument/2006/relationships/image" Target="../media/image30.png"/><Relationship Id="rId6" Type="http://schemas.openxmlformats.org/officeDocument/2006/relationships/image" Target="../media/image40.svg"/><Relationship Id="rId5" Type="http://schemas.openxmlformats.org/officeDocument/2006/relationships/image" Target="../media/image29.png"/><Relationship Id="rId4" Type="http://schemas.openxmlformats.org/officeDocument/2006/relationships/image" Target="../media/image4.svg"/><Relationship Id="rId3" Type="http://schemas.openxmlformats.org/officeDocument/2006/relationships/image" Target="../media/image39.png"/><Relationship Id="rId20" Type="http://schemas.openxmlformats.org/officeDocument/2006/relationships/notesSlide" Target="../notesSlides/notesSlide40.xml"/><Relationship Id="rId2" Type="http://schemas.openxmlformats.org/officeDocument/2006/relationships/image" Target="../media/image2.svg"/><Relationship Id="rId19" Type="http://schemas.openxmlformats.org/officeDocument/2006/relationships/slideLayout" Target="../slideLayouts/slideLayout1.xml"/><Relationship Id="rId18" Type="http://schemas.openxmlformats.org/officeDocument/2006/relationships/image" Target="../media/image45.svg"/><Relationship Id="rId17" Type="http://schemas.openxmlformats.org/officeDocument/2006/relationships/image" Target="../media/image44.png"/><Relationship Id="rId16" Type="http://schemas.openxmlformats.org/officeDocument/2006/relationships/image" Target="../media/image9.svg"/><Relationship Id="rId15" Type="http://schemas.openxmlformats.org/officeDocument/2006/relationships/image" Target="../media/image37.png"/><Relationship Id="rId14" Type="http://schemas.openxmlformats.org/officeDocument/2006/relationships/image" Target="../media/image43.svg"/><Relationship Id="rId13" Type="http://schemas.openxmlformats.org/officeDocument/2006/relationships/image" Target="../media/image32.png"/><Relationship Id="rId12" Type="http://schemas.openxmlformats.org/officeDocument/2006/relationships/image" Target="../media/image33.svg"/><Relationship Id="rId11" Type="http://schemas.openxmlformats.org/officeDocument/2006/relationships/image" Target="../media/image26.png"/><Relationship Id="rId10" Type="http://schemas.openxmlformats.org/officeDocument/2006/relationships/image" Target="../media/image42.svg"/><Relationship Id="rId1" Type="http://schemas.openxmlformats.org/officeDocument/2006/relationships/image" Target="../media/image38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36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1841480" y="6638544"/>
            <a:ext cx="329184" cy="201168"/>
          </a:xfrm>
          <a:prstGeom prst="rect">
            <a:avLst/>
          </a:prstGeom>
          <a:solidFill>
            <a:srgbClr val="F7F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hape 0"/>
          <p:cNvSpPr>
            <a:spLocks noGrp="1"/>
          </p:cNvSpPr>
          <p:nvPr/>
        </p:nvSpPr>
        <p:spPr>
          <a:xfrm>
            <a:off x="16459" y="16459"/>
            <a:ext cx="38405" cy="6825082"/>
          </a:xfrm>
          <a:prstGeom prst="rect">
            <a:avLst/>
          </a:prstGeom>
          <a:solidFill>
            <a:srgbClr val="0A8F6A"/>
          </a:solidFill>
          <a:ln w="12700">
            <a:solidFill>
              <a:srgbClr val="12B07D"/>
            </a:solidFill>
            <a:prstDash val="solid"/>
          </a:ln>
        </p:spPr>
        <p:txBody>
          <a:bodyPr/>
          <a:lstStyle/>
          <a:p/>
        </p:txBody>
      </p:sp>
      <p:sp>
        <p:nvSpPr>
          <p:cNvPr id="4" name="Shape 2"/>
          <p:cNvSpPr>
            <a:spLocks noGrp="1"/>
          </p:cNvSpPr>
          <p:nvPr/>
        </p:nvSpPr>
        <p:spPr>
          <a:xfrm>
            <a:off x="10104120" y="73152"/>
            <a:ext cx="1874520" cy="1353312"/>
          </a:xfrm>
          <a:prstGeom prst="ellipse">
            <a:avLst/>
          </a:prstGeom>
          <a:solidFill>
            <a:srgbClr val="E8F7F1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/>
        </p:txBody>
      </p:sp>
      <p:sp>
        <p:nvSpPr>
          <p:cNvPr id="5" name="Shape 3"/>
          <p:cNvSpPr>
            <a:spLocks noGrp="1"/>
          </p:cNvSpPr>
          <p:nvPr/>
        </p:nvSpPr>
        <p:spPr>
          <a:xfrm>
            <a:off x="91440" y="5596128"/>
            <a:ext cx="1719072" cy="1051560"/>
          </a:xfrm>
          <a:prstGeom prst="ellipse">
            <a:avLst/>
          </a:prstGeom>
          <a:solidFill>
            <a:srgbClr val="FFF2E8">
              <a:alpha val="68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/>
        </p:txBody>
      </p:sp>
      <p:sp>
        <p:nvSpPr>
          <p:cNvPr id="6" name="Shape 4"/>
          <p:cNvSpPr>
            <a:spLocks noGrp="1"/>
          </p:cNvSpPr>
          <p:nvPr/>
        </p:nvSpPr>
        <p:spPr>
          <a:xfrm>
            <a:off x="658368" y="393192"/>
            <a:ext cx="68580" cy="68580"/>
          </a:xfrm>
          <a:prstGeom prst="ellipse">
            <a:avLst/>
          </a:prstGeom>
          <a:solidFill>
            <a:srgbClr val="0A8F6A"/>
          </a:solidFill>
          <a:ln w="12700">
            <a:solidFill>
              <a:srgbClr val="12B07D"/>
            </a:solidFill>
            <a:prstDash val="solid"/>
          </a:ln>
        </p:spPr>
        <p:txBody>
          <a:bodyPr/>
          <a:lstStyle/>
          <a:p/>
        </p:txBody>
      </p:sp>
      <p:sp>
        <p:nvSpPr>
          <p:cNvPr id="7" name="Shape 5"/>
          <p:cNvSpPr>
            <a:spLocks noGrp="1"/>
          </p:cNvSpPr>
          <p:nvPr/>
        </p:nvSpPr>
        <p:spPr>
          <a:xfrm>
            <a:off x="768096" y="427939"/>
            <a:ext cx="411480" cy="0"/>
          </a:xfrm>
          <a:prstGeom prst="line">
            <a:avLst/>
          </a:prstGeom>
          <a:noFill/>
          <a:ln w="15875">
            <a:solidFill>
              <a:srgbClr val="0A8F6A"/>
            </a:solidFill>
            <a:prstDash val="solid"/>
          </a:ln>
        </p:spPr>
        <p:txBody>
          <a:bodyPr/>
          <a:lstStyle/>
          <a:p/>
        </p:txBody>
      </p:sp>
      <p:sp>
        <p:nvSpPr>
          <p:cNvPr id="8" name="Text 6"/>
          <p:cNvSpPr>
            <a:spLocks noGrp="1"/>
          </p:cNvSpPr>
          <p:nvPr/>
        </p:nvSpPr>
        <p:spPr>
          <a:xfrm>
            <a:off x="1234440" y="265176"/>
            <a:ext cx="2331720" cy="31089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r>
              <a:rPr sz="1050" b="1">
                <a:solidFill>
                  <a:srgbClr val="076B50"/>
                </a:solidFill>
                <a:latin typeface="Noto Sans CJK SC"/>
                <a:ea typeface="Noto Sans CJK SC"/>
                <a:cs typeface="Noto Sans CJK SC"/>
              </a:rPr>
              <a:t>AGENDA</a:t>
            </a:r>
            <a:endParaRPr sz="1050" b="1">
              <a:solidFill>
                <a:srgbClr val="0A8F6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7" name="Text 15"/>
          <p:cNvSpPr>
            <a:spLocks noGrp="1"/>
          </p:cNvSpPr>
          <p:nvPr/>
        </p:nvSpPr>
        <p:spPr>
          <a:xfrm>
            <a:off x="658368" y="713232"/>
            <a:ext cx="10652760" cy="49377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2550" b="1">
                <a:solidFill>
                  <a:srgbClr val="14383E"/>
                </a:solidFill>
                <a:latin typeface="Noto Sans CJK SC"/>
                <a:ea typeface="Noto Sans CJK SC"/>
                <a:cs typeface="Noto Sans CJK SC"/>
              </a:rPr>
              <a:t>目录</a:t>
            </a:r>
            <a:endParaRPr sz="2550"/>
          </a:p>
        </p:txBody>
      </p:sp>
      <p:sp>
        <p:nvSpPr>
          <p:cNvPr id="18" name="Text 16"/>
          <p:cNvSpPr>
            <a:spLocks noGrp="1"/>
          </p:cNvSpPr>
          <p:nvPr/>
        </p:nvSpPr>
        <p:spPr>
          <a:xfrm>
            <a:off x="658368" y="1197864"/>
            <a:ext cx="10469880" cy="29260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r>
              <a:rPr sz="1170">
                <a:solidFill>
                  <a:srgbClr val="44585C"/>
                </a:solidFill>
                <a:latin typeface="Noto Sans CJK SC"/>
                <a:ea typeface="Noto Sans CJK SC"/>
                <a:cs typeface="Noto Sans CJK SC"/>
              </a:rPr>
              <a:t>理解、查询、决策、执行——人工和 AI 走的都是这四步。今天按这四步讲：哪两步是新建的，哪两步只是换了调用方。</a:t>
            </a:r>
            <a:endParaRPr sz="1170">
              <a:solidFill>
                <a:srgbClr val="6B8185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9" name="Shape 17"/>
          <p:cNvSpPr>
            <a:spLocks noGrp="1"/>
          </p:cNvSpPr>
          <p:nvPr/>
        </p:nvSpPr>
        <p:spPr>
          <a:xfrm>
            <a:off x="658368" y="6510528"/>
            <a:ext cx="10835640" cy="0"/>
          </a:xfrm>
          <a:prstGeom prst="line">
            <a:avLst/>
          </a:prstGeom>
          <a:noFill/>
          <a:ln w="11430">
            <a:solidFill>
              <a:srgbClr val="D7E7E3"/>
            </a:solidFill>
            <a:prstDash val="solid"/>
          </a:ln>
        </p:spPr>
        <p:txBody>
          <a:bodyPr/>
          <a:lstStyle/>
          <a:p/>
        </p:txBody>
      </p:sp>
      <p:sp>
        <p:nvSpPr>
          <p:cNvPr id="20" name="Text 18"/>
          <p:cNvSpPr>
            <a:spLocks noGrp="1"/>
          </p:cNvSpPr>
          <p:nvPr/>
        </p:nvSpPr>
        <p:spPr>
          <a:xfrm>
            <a:off x="658368" y="6556248"/>
            <a:ext cx="2103120" cy="16459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750" b="1" spc="40">
                <a:solidFill>
                  <a:srgbClr val="5C7276"/>
                </a:solidFill>
                <a:latin typeface="Noto Sans CJK SC"/>
                <a:ea typeface="Noto Sans CJK SC"/>
                <a:cs typeface="Noto Sans CJK SC"/>
              </a:rPr>
              <a:t>CUSTOMER SERVICE AI AGENT</a:t>
            </a:r>
            <a:endParaRPr sz="750"/>
          </a:p>
        </p:txBody>
      </p:sp>
      <p:sp>
        <p:nvSpPr>
          <p:cNvPr id="63" name="Rectangle 62"/>
          <p:cNvSpPr>
            <a:spLocks noGrp="1"/>
          </p:cNvSpPr>
          <p:nvPr/>
        </p:nvSpPr>
        <p:spPr>
          <a:xfrm>
            <a:off x="0" y="0"/>
            <a:ext cx="41148" cy="6858000"/>
          </a:xfrm>
          <a:prstGeom prst="rect">
            <a:avLst/>
          </a:prstGeom>
          <a:solidFill>
            <a:srgbClr val="0A8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64" name="圆角矩形 63"/>
          <p:cNvSpPr>
            <a:spLocks noGrp="1"/>
          </p:cNvSpPr>
          <p:nvPr/>
        </p:nvSpPr>
        <p:spPr>
          <a:xfrm>
            <a:off x="657225" y="1695450"/>
            <a:ext cx="2905125" cy="628650"/>
          </a:xfrm>
          <a:prstGeom prst="roundRect">
            <a:avLst>
              <a:gd name="adj" fmla="val 12121"/>
            </a:avLst>
          </a:prstGeom>
          <a:solidFill>
            <a:srgbClr val="E8F6F0"/>
          </a:solidFill>
          <a:ln w="12668">
            <a:solidFill>
              <a:srgbClr val="0A8F6A"/>
            </a:solidFill>
            <a:prstDash val="solid"/>
          </a:ln>
        </p:spPr>
        <p:txBody>
          <a:bodyPr/>
          <a:p/>
        </p:txBody>
      </p:sp>
      <p:sp>
        <p:nvSpPr>
          <p:cNvPr id="65" name="矩形 64"/>
          <p:cNvSpPr>
            <a:spLocks noGrp="1"/>
          </p:cNvSpPr>
          <p:nvPr/>
        </p:nvSpPr>
        <p:spPr>
          <a:xfrm>
            <a:off x="828675" y="1771650"/>
            <a:ext cx="2562225" cy="228600"/>
          </a:xfrm>
          <a:prstGeom prst="rect">
            <a:avLst/>
          </a:prstGeom>
        </p:spPr>
        <p:txBody>
          <a:bodyPr anchor="ctr"/>
          <a:lstStyle/>
          <a:p>
            <a:pPr algn="l">
              <a:defRPr sz="1000" b="1">
                <a:solidFill>
                  <a:srgbClr val="14383E"/>
                </a:solidFill>
              </a:defRPr>
            </a:pPr>
            <a:r>
              <a:t>先看业务</a:t>
            </a:r>
          </a:p>
        </p:txBody>
      </p:sp>
      <p:sp>
        <p:nvSpPr>
          <p:cNvPr id="66" name="矩形 65"/>
          <p:cNvSpPr>
            <a:spLocks noGrp="1"/>
          </p:cNvSpPr>
          <p:nvPr/>
        </p:nvSpPr>
        <p:spPr>
          <a:xfrm>
            <a:off x="828675" y="2000250"/>
            <a:ext cx="2562225" cy="247650"/>
          </a:xfrm>
          <a:prstGeom prst="rect">
            <a:avLst/>
          </a:prstGeom>
        </p:spPr>
        <p:txBody>
          <a:bodyPr anchor="ctr"/>
          <a:lstStyle/>
          <a:p>
            <a:pPr algn="l">
              <a:defRPr sz="740" b="0">
                <a:solidFill>
                  <a:srgbClr val="44585C"/>
                </a:solidFill>
              </a:defRPr>
            </a:pPr>
            <a:r>
              <a:t>现在怎么走这四步，哪几步能交出去</a:t>
            </a:r>
          </a:p>
        </p:txBody>
      </p:sp>
      <p:sp>
        <p:nvSpPr>
          <p:cNvPr id="67" name="圆角矩形 66"/>
          <p:cNvSpPr>
            <a:spLocks noGrp="1"/>
          </p:cNvSpPr>
          <p:nvPr/>
        </p:nvSpPr>
        <p:spPr>
          <a:xfrm>
            <a:off x="3562350" y="1695450"/>
            <a:ext cx="4657725" cy="628650"/>
          </a:xfrm>
          <a:prstGeom prst="roundRect">
            <a:avLst>
              <a:gd name="adj" fmla="val 12121"/>
            </a:avLst>
          </a:prstGeom>
          <a:solidFill>
            <a:srgbClr val="E6F7F6"/>
          </a:solidFill>
          <a:ln w="12668">
            <a:solidFill>
              <a:srgbClr val="00A7A7"/>
            </a:solidFill>
            <a:prstDash val="solid"/>
          </a:ln>
        </p:spPr>
        <p:txBody>
          <a:bodyPr/>
          <a:p/>
        </p:txBody>
      </p:sp>
      <p:sp>
        <p:nvSpPr>
          <p:cNvPr id="68" name="矩形 67"/>
          <p:cNvSpPr>
            <a:spLocks noGrp="1"/>
          </p:cNvSpPr>
          <p:nvPr/>
        </p:nvSpPr>
        <p:spPr>
          <a:xfrm>
            <a:off x="3733800" y="1771650"/>
            <a:ext cx="4314825" cy="228600"/>
          </a:xfrm>
          <a:prstGeom prst="rect">
            <a:avLst/>
          </a:prstGeom>
        </p:spPr>
        <p:txBody>
          <a:bodyPr anchor="ctr"/>
          <a:lstStyle/>
          <a:p>
            <a:pPr algn="l">
              <a:defRPr sz="1000" b="1">
                <a:solidFill>
                  <a:srgbClr val="14383E"/>
                </a:solidFill>
              </a:defRPr>
            </a:pPr>
            <a:r>
              <a:t>再看系统</a:t>
            </a:r>
          </a:p>
        </p:txBody>
      </p:sp>
      <p:sp>
        <p:nvSpPr>
          <p:cNvPr id="69" name="矩形 68"/>
          <p:cNvSpPr>
            <a:spLocks noGrp="1"/>
          </p:cNvSpPr>
          <p:nvPr/>
        </p:nvSpPr>
        <p:spPr>
          <a:xfrm>
            <a:off x="3733800" y="2000250"/>
            <a:ext cx="4314825" cy="247650"/>
          </a:xfrm>
          <a:prstGeom prst="rect">
            <a:avLst/>
          </a:prstGeom>
        </p:spPr>
        <p:txBody>
          <a:bodyPr anchor="ctr"/>
          <a:lstStyle/>
          <a:p>
            <a:pPr algn="l">
              <a:defRPr sz="740" b="0">
                <a:solidFill>
                  <a:srgbClr val="44585C"/>
                </a:solidFill>
              </a:defRPr>
            </a:pPr>
            <a:r>
              <a:t>理解和决策怎么从零建起来</a:t>
            </a:r>
          </a:p>
        </p:txBody>
      </p:sp>
      <p:sp>
        <p:nvSpPr>
          <p:cNvPr id="70" name="圆角矩形 69"/>
          <p:cNvSpPr>
            <a:spLocks noGrp="1"/>
          </p:cNvSpPr>
          <p:nvPr/>
        </p:nvSpPr>
        <p:spPr>
          <a:xfrm>
            <a:off x="8220075" y="1695450"/>
            <a:ext cx="3314700" cy="628650"/>
          </a:xfrm>
          <a:prstGeom prst="roundRect">
            <a:avLst>
              <a:gd name="adj" fmla="val 12121"/>
            </a:avLst>
          </a:prstGeom>
          <a:solidFill>
            <a:srgbClr val="FFF0E4"/>
          </a:solidFill>
          <a:ln w="12668">
            <a:solidFill>
              <a:srgbClr val="F28B36"/>
            </a:solidFill>
            <a:prstDash val="solid"/>
          </a:ln>
        </p:spPr>
        <p:txBody>
          <a:bodyPr/>
          <a:p/>
        </p:txBody>
      </p:sp>
      <p:sp>
        <p:nvSpPr>
          <p:cNvPr id="71" name="矩形 70"/>
          <p:cNvSpPr>
            <a:spLocks noGrp="1"/>
          </p:cNvSpPr>
          <p:nvPr/>
        </p:nvSpPr>
        <p:spPr>
          <a:xfrm>
            <a:off x="8391525" y="1771650"/>
            <a:ext cx="2971800" cy="228600"/>
          </a:xfrm>
          <a:prstGeom prst="rect">
            <a:avLst/>
          </a:prstGeom>
        </p:spPr>
        <p:txBody>
          <a:bodyPr anchor="ctr"/>
          <a:lstStyle/>
          <a:p>
            <a:pPr algn="l">
              <a:defRPr sz="1000" b="1">
                <a:solidFill>
                  <a:srgbClr val="14383E"/>
                </a:solidFill>
              </a:defRPr>
            </a:pPr>
            <a:r>
              <a:t>最后看兜底与证据</a:t>
            </a:r>
          </a:p>
        </p:txBody>
      </p:sp>
      <p:sp>
        <p:nvSpPr>
          <p:cNvPr id="72" name="矩形 71"/>
          <p:cNvSpPr>
            <a:spLocks noGrp="1"/>
          </p:cNvSpPr>
          <p:nvPr/>
        </p:nvSpPr>
        <p:spPr>
          <a:xfrm>
            <a:off x="8391525" y="2000250"/>
            <a:ext cx="2971800" cy="247650"/>
          </a:xfrm>
          <a:prstGeom prst="rect">
            <a:avLst/>
          </a:prstGeom>
        </p:spPr>
        <p:txBody>
          <a:bodyPr anchor="ctr"/>
          <a:lstStyle/>
          <a:p>
            <a:pPr algn="l">
              <a:defRPr sz="740" b="0">
                <a:solidFill>
                  <a:srgbClr val="44585C"/>
                </a:solidFill>
              </a:defRPr>
            </a:pPr>
            <a:r>
              <a:t>换 AI 调用后补什么护栏，凭什么放开</a:t>
            </a:r>
          </a:p>
        </p:txBody>
      </p:sp>
      <p:sp>
        <p:nvSpPr>
          <p:cNvPr id="73" name="矩形 72"/>
          <p:cNvSpPr>
            <a:spLocks noGrp="1"/>
          </p:cNvSpPr>
          <p:nvPr/>
        </p:nvSpPr>
        <p:spPr>
          <a:xfrm>
            <a:off x="1238250" y="2857500"/>
            <a:ext cx="9315450" cy="19050"/>
          </a:xfrm>
          <a:prstGeom prst="rect">
            <a:avLst/>
          </a:prstGeom>
          <a:solidFill>
            <a:srgbClr val="C7DAD6"/>
          </a:solidFill>
          <a:ln w="12668">
            <a:solidFill>
              <a:srgbClr val="C7DAD6"/>
            </a:solidFill>
            <a:prstDash val="solid"/>
          </a:ln>
        </p:spPr>
        <p:txBody>
          <a:bodyPr/>
          <a:p/>
        </p:txBody>
      </p:sp>
      <p:sp>
        <p:nvSpPr>
          <p:cNvPr id="74" name="椭圆 73"/>
          <p:cNvSpPr>
            <a:spLocks noGrp="1"/>
          </p:cNvSpPr>
          <p:nvPr/>
        </p:nvSpPr>
        <p:spPr>
          <a:xfrm>
            <a:off x="1028700" y="2657475"/>
            <a:ext cx="419100" cy="419100"/>
          </a:xfrm>
          <a:prstGeom prst="ellipse">
            <a:avLst/>
          </a:prstGeom>
          <a:solidFill>
            <a:srgbClr val="07714F"/>
          </a:solidFill>
          <a:ln w="20288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75" name="矩形 74"/>
          <p:cNvSpPr>
            <a:spLocks noGrp="1"/>
          </p:cNvSpPr>
          <p:nvPr/>
        </p:nvSpPr>
        <p:spPr>
          <a:xfrm>
            <a:off x="1028700" y="2657475"/>
            <a:ext cx="419100" cy="419100"/>
          </a:xfrm>
          <a:prstGeom prst="rect">
            <a:avLst/>
          </a:prstGeom>
        </p:spPr>
        <p:txBody>
          <a:bodyPr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6" name="矩形 75"/>
          <p:cNvSpPr>
            <a:spLocks noGrp="1"/>
          </p:cNvSpPr>
          <p:nvPr/>
        </p:nvSpPr>
        <p:spPr>
          <a:xfrm>
            <a:off x="495300" y="3219450"/>
            <a:ext cx="1485900" cy="228600"/>
          </a:xfrm>
          <a:prstGeom prst="rect">
            <a:avLst/>
          </a:prstGeom>
        </p:spPr>
        <p:txBody>
          <a:bodyPr anchor="ctr"/>
          <a:lstStyle/>
          <a:p>
            <a:pPr algn="ctr">
              <a:defRPr sz="930" b="1">
                <a:solidFill>
                  <a:srgbClr val="14383E"/>
                </a:solidFill>
              </a:defRPr>
            </a:pPr>
            <a:r>
              <a:t>业务现状</a:t>
            </a:r>
          </a:p>
        </p:txBody>
      </p:sp>
      <p:sp>
        <p:nvSpPr>
          <p:cNvPr id="77" name="矩形 76"/>
          <p:cNvSpPr>
            <a:spLocks noGrp="1"/>
          </p:cNvSpPr>
          <p:nvPr/>
        </p:nvSpPr>
        <p:spPr>
          <a:xfrm>
            <a:off x="495300" y="3467100"/>
            <a:ext cx="1485900" cy="381000"/>
          </a:xfrm>
          <a:prstGeom prst="rect">
            <a:avLst/>
          </a:prstGeom>
        </p:spPr>
        <p:txBody>
          <a:bodyPr anchor="t"/>
          <a:lstStyle/>
          <a:p>
            <a:pPr algn="ctr">
              <a:defRPr sz="680" b="0">
                <a:solidFill>
                  <a:srgbClr val="44585C"/>
                </a:solidFill>
              </a:defRPr>
            </a:pPr>
            <a:r>
              <a:t>客服现在怎么干活</a:t>
            </a:r>
          </a:p>
          <a:p>
            <a:pPr algn="ctr">
              <a:defRPr sz="680" b="0">
                <a:solidFill>
                  <a:srgbClr val="44585C"/>
                </a:solidFill>
              </a:defRPr>
            </a:pPr>
            <a:r>
              <a:t>复杂度在哪儿</a:t>
            </a:r>
          </a:p>
        </p:txBody>
      </p:sp>
      <p:sp>
        <p:nvSpPr>
          <p:cNvPr id="78" name="右箭头 77"/>
          <p:cNvSpPr>
            <a:spLocks noGrp="1"/>
          </p:cNvSpPr>
          <p:nvPr/>
        </p:nvSpPr>
        <p:spPr>
          <a:xfrm>
            <a:off x="1524000" y="2800350"/>
            <a:ext cx="142875" cy="133350"/>
          </a:xfrm>
          <a:prstGeom prst="rightArrow">
            <a:avLst/>
          </a:prstGeom>
          <a:solidFill>
            <a:srgbClr val="0A8F6A"/>
          </a:solidFill>
          <a:ln w="12668">
            <a:solidFill>
              <a:srgbClr val="0A8F6A"/>
            </a:solidFill>
            <a:prstDash val="solid"/>
          </a:ln>
        </p:spPr>
        <p:txBody>
          <a:bodyPr/>
          <a:p/>
        </p:txBody>
      </p:sp>
      <p:sp>
        <p:nvSpPr>
          <p:cNvPr id="79" name="椭圆 78"/>
          <p:cNvSpPr>
            <a:spLocks noGrp="1"/>
          </p:cNvSpPr>
          <p:nvPr/>
        </p:nvSpPr>
        <p:spPr>
          <a:xfrm>
            <a:off x="2581275" y="2657475"/>
            <a:ext cx="419100" cy="419100"/>
          </a:xfrm>
          <a:prstGeom prst="ellipse">
            <a:avLst/>
          </a:prstGeom>
          <a:solidFill>
            <a:srgbClr val="07714F"/>
          </a:solidFill>
          <a:ln w="20288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80" name="矩形 79"/>
          <p:cNvSpPr>
            <a:spLocks noGrp="1"/>
          </p:cNvSpPr>
          <p:nvPr/>
        </p:nvSpPr>
        <p:spPr>
          <a:xfrm>
            <a:off x="2581275" y="2657475"/>
            <a:ext cx="419100" cy="419100"/>
          </a:xfrm>
          <a:prstGeom prst="rect">
            <a:avLst/>
          </a:prstGeom>
        </p:spPr>
        <p:txBody>
          <a:bodyPr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81" name="矩形 80"/>
          <p:cNvSpPr>
            <a:spLocks noGrp="1"/>
          </p:cNvSpPr>
          <p:nvPr/>
        </p:nvSpPr>
        <p:spPr>
          <a:xfrm>
            <a:off x="2047875" y="3219450"/>
            <a:ext cx="1485900" cy="228600"/>
          </a:xfrm>
          <a:prstGeom prst="rect">
            <a:avLst/>
          </a:prstGeom>
        </p:spPr>
        <p:txBody>
          <a:bodyPr anchor="ctr"/>
          <a:lstStyle/>
          <a:p>
            <a:pPr algn="ctr">
              <a:defRPr sz="930" b="1">
                <a:solidFill>
                  <a:srgbClr val="14383E"/>
                </a:solidFill>
              </a:defRPr>
            </a:pPr>
            <a:r>
              <a:t>场景与移交边界</a:t>
            </a:r>
          </a:p>
        </p:txBody>
      </p:sp>
      <p:sp>
        <p:nvSpPr>
          <p:cNvPr id="82" name="矩形 81"/>
          <p:cNvSpPr>
            <a:spLocks noGrp="1"/>
          </p:cNvSpPr>
          <p:nvPr/>
        </p:nvSpPr>
        <p:spPr>
          <a:xfrm>
            <a:off x="2047875" y="3467100"/>
            <a:ext cx="1485900" cy="381000"/>
          </a:xfrm>
          <a:prstGeom prst="rect">
            <a:avLst/>
          </a:prstGeom>
        </p:spPr>
        <p:txBody>
          <a:bodyPr anchor="t"/>
          <a:lstStyle/>
          <a:p>
            <a:pPr algn="ctr">
              <a:defRPr sz="680" b="0">
                <a:solidFill>
                  <a:srgbClr val="44585C"/>
                </a:solidFill>
              </a:defRPr>
            </a:pPr>
            <a:r>
              <a:t>哪些事能交给 AI</a:t>
            </a:r>
          </a:p>
          <a:p>
            <a:pPr algn="ctr">
              <a:defRPr sz="680" b="0">
                <a:solidFill>
                  <a:srgbClr val="44585C"/>
                </a:solidFill>
              </a:defRPr>
            </a:pPr>
            <a:r>
              <a:t>四步里交出去几步</a:t>
            </a:r>
          </a:p>
        </p:txBody>
      </p:sp>
      <p:sp>
        <p:nvSpPr>
          <p:cNvPr id="83" name="右箭头 82"/>
          <p:cNvSpPr>
            <a:spLocks noGrp="1"/>
          </p:cNvSpPr>
          <p:nvPr/>
        </p:nvSpPr>
        <p:spPr>
          <a:xfrm>
            <a:off x="3076575" y="2800350"/>
            <a:ext cx="142875" cy="133350"/>
          </a:xfrm>
          <a:prstGeom prst="rightArrow">
            <a:avLst/>
          </a:prstGeom>
          <a:solidFill>
            <a:srgbClr val="0A8F6A"/>
          </a:solidFill>
          <a:ln w="12668">
            <a:solidFill>
              <a:srgbClr val="0A8F6A"/>
            </a:solidFill>
            <a:prstDash val="solid"/>
          </a:ln>
        </p:spPr>
        <p:txBody>
          <a:bodyPr/>
          <a:p/>
        </p:txBody>
      </p:sp>
      <p:sp>
        <p:nvSpPr>
          <p:cNvPr id="84" name="椭圆 83"/>
          <p:cNvSpPr>
            <a:spLocks noGrp="1"/>
          </p:cNvSpPr>
          <p:nvPr/>
        </p:nvSpPr>
        <p:spPr>
          <a:xfrm>
            <a:off x="4133850" y="2657475"/>
            <a:ext cx="419100" cy="419100"/>
          </a:xfrm>
          <a:prstGeom prst="ellipse">
            <a:avLst/>
          </a:prstGeom>
          <a:solidFill>
            <a:srgbClr val="007574"/>
          </a:solidFill>
          <a:ln w="20288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85" name="矩形 84"/>
          <p:cNvSpPr>
            <a:spLocks noGrp="1"/>
          </p:cNvSpPr>
          <p:nvPr/>
        </p:nvSpPr>
        <p:spPr>
          <a:xfrm>
            <a:off x="4133850" y="2657475"/>
            <a:ext cx="419100" cy="419100"/>
          </a:xfrm>
          <a:prstGeom prst="rect">
            <a:avLst/>
          </a:prstGeom>
        </p:spPr>
        <p:txBody>
          <a:bodyPr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86" name="矩形 85"/>
          <p:cNvSpPr>
            <a:spLocks noGrp="1"/>
          </p:cNvSpPr>
          <p:nvPr/>
        </p:nvSpPr>
        <p:spPr>
          <a:xfrm>
            <a:off x="3600450" y="3219450"/>
            <a:ext cx="1485900" cy="228600"/>
          </a:xfrm>
          <a:prstGeom prst="rect">
            <a:avLst/>
          </a:prstGeom>
        </p:spPr>
        <p:txBody>
          <a:bodyPr anchor="ctr"/>
          <a:lstStyle/>
          <a:p>
            <a:pPr algn="ctr">
              <a:defRPr sz="930" b="1">
                <a:solidFill>
                  <a:srgbClr val="14383E"/>
                </a:solidFill>
              </a:defRPr>
            </a:pPr>
            <a:r>
              <a:t>系统蓝图</a:t>
            </a:r>
          </a:p>
        </p:txBody>
      </p:sp>
      <p:sp>
        <p:nvSpPr>
          <p:cNvPr id="87" name="矩形 86"/>
          <p:cNvSpPr>
            <a:spLocks noGrp="1"/>
          </p:cNvSpPr>
          <p:nvPr/>
        </p:nvSpPr>
        <p:spPr>
          <a:xfrm>
            <a:off x="3600450" y="3467100"/>
            <a:ext cx="1485900" cy="381000"/>
          </a:xfrm>
          <a:prstGeom prst="rect">
            <a:avLst/>
          </a:prstGeom>
        </p:spPr>
        <p:txBody>
          <a:bodyPr anchor="t"/>
          <a:lstStyle/>
          <a:p>
            <a:pPr algn="ctr">
              <a:defRPr sz="680" b="0">
                <a:solidFill>
                  <a:srgbClr val="44585C"/>
                </a:solidFill>
              </a:defRPr>
            </a:pPr>
            <a:r>
              <a:t>这套系统怎么搭</a:t>
            </a:r>
          </a:p>
          <a:p>
            <a:pPr algn="ctr">
              <a:defRPr sz="680" b="0">
                <a:solidFill>
                  <a:srgbClr val="44585C"/>
                </a:solidFill>
              </a:defRPr>
            </a:pPr>
            <a:r>
              <a:t>各层各管什么</a:t>
            </a:r>
          </a:p>
        </p:txBody>
      </p:sp>
      <p:sp>
        <p:nvSpPr>
          <p:cNvPr id="88" name="右箭头 87"/>
          <p:cNvSpPr>
            <a:spLocks noGrp="1"/>
          </p:cNvSpPr>
          <p:nvPr/>
        </p:nvSpPr>
        <p:spPr>
          <a:xfrm>
            <a:off x="4629150" y="2800350"/>
            <a:ext cx="142875" cy="133350"/>
          </a:xfrm>
          <a:prstGeom prst="rightArrow">
            <a:avLst/>
          </a:prstGeom>
          <a:solidFill>
            <a:srgbClr val="00A7A7"/>
          </a:solidFill>
          <a:ln w="12668">
            <a:solidFill>
              <a:srgbClr val="00A7A7"/>
            </a:solidFill>
            <a:prstDash val="solid"/>
          </a:ln>
        </p:spPr>
        <p:txBody>
          <a:bodyPr/>
          <a:p/>
        </p:txBody>
      </p:sp>
      <p:sp>
        <p:nvSpPr>
          <p:cNvPr id="89" name="椭圆 88"/>
          <p:cNvSpPr>
            <a:spLocks noGrp="1"/>
          </p:cNvSpPr>
          <p:nvPr/>
        </p:nvSpPr>
        <p:spPr>
          <a:xfrm>
            <a:off x="5686425" y="2657475"/>
            <a:ext cx="419100" cy="419100"/>
          </a:xfrm>
          <a:prstGeom prst="ellipse">
            <a:avLst/>
          </a:prstGeom>
          <a:solidFill>
            <a:srgbClr val="007574"/>
          </a:solidFill>
          <a:ln w="20288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90" name="矩形 89"/>
          <p:cNvSpPr>
            <a:spLocks noGrp="1"/>
          </p:cNvSpPr>
          <p:nvPr/>
        </p:nvSpPr>
        <p:spPr>
          <a:xfrm>
            <a:off x="5686425" y="2657475"/>
            <a:ext cx="419100" cy="419100"/>
          </a:xfrm>
          <a:prstGeom prst="rect">
            <a:avLst/>
          </a:prstGeom>
        </p:spPr>
        <p:txBody>
          <a:bodyPr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91" name="矩形 90"/>
          <p:cNvSpPr>
            <a:spLocks noGrp="1"/>
          </p:cNvSpPr>
          <p:nvPr/>
        </p:nvSpPr>
        <p:spPr>
          <a:xfrm>
            <a:off x="5153025" y="3219450"/>
            <a:ext cx="1485900" cy="228600"/>
          </a:xfrm>
          <a:prstGeom prst="rect">
            <a:avLst/>
          </a:prstGeom>
        </p:spPr>
        <p:txBody>
          <a:bodyPr anchor="ctr"/>
          <a:lstStyle/>
          <a:p>
            <a:pPr algn="ctr">
              <a:defRPr sz="930" b="1">
                <a:solidFill>
                  <a:srgbClr val="14383E"/>
                </a:solidFill>
              </a:defRPr>
            </a:pPr>
            <a:r>
              <a:t>上下文与知识</a:t>
            </a:r>
          </a:p>
        </p:txBody>
      </p:sp>
      <p:sp>
        <p:nvSpPr>
          <p:cNvPr id="92" name="矩形 91"/>
          <p:cNvSpPr>
            <a:spLocks noGrp="1"/>
          </p:cNvSpPr>
          <p:nvPr/>
        </p:nvSpPr>
        <p:spPr>
          <a:xfrm>
            <a:off x="5153025" y="3467100"/>
            <a:ext cx="1485900" cy="381000"/>
          </a:xfrm>
          <a:prstGeom prst="rect">
            <a:avLst/>
          </a:prstGeom>
        </p:spPr>
        <p:txBody>
          <a:bodyPr anchor="t"/>
          <a:lstStyle/>
          <a:p>
            <a:pPr algn="ctr">
              <a:defRPr sz="680" b="0">
                <a:solidFill>
                  <a:srgbClr val="44585C"/>
                </a:solidFill>
              </a:defRPr>
            </a:pPr>
            <a:r>
              <a:t>模型看到什么事实</a:t>
            </a:r>
          </a:p>
          <a:p>
            <a:pPr algn="ctr">
              <a:defRPr sz="680" b="0">
                <a:solidFill>
                  <a:srgbClr val="44585C"/>
                </a:solidFill>
              </a:defRPr>
            </a:pPr>
            <a:r>
              <a:t>从哪来</a:t>
            </a:r>
          </a:p>
        </p:txBody>
      </p:sp>
      <p:sp>
        <p:nvSpPr>
          <p:cNvPr id="93" name="右箭头 92"/>
          <p:cNvSpPr>
            <a:spLocks noGrp="1"/>
          </p:cNvSpPr>
          <p:nvPr/>
        </p:nvSpPr>
        <p:spPr>
          <a:xfrm>
            <a:off x="6181725" y="2800350"/>
            <a:ext cx="142875" cy="133350"/>
          </a:xfrm>
          <a:prstGeom prst="rightArrow">
            <a:avLst/>
          </a:prstGeom>
          <a:solidFill>
            <a:srgbClr val="00A7A7"/>
          </a:solidFill>
          <a:ln w="12668">
            <a:solidFill>
              <a:srgbClr val="00A7A7"/>
            </a:solidFill>
            <a:prstDash val="solid"/>
          </a:ln>
        </p:spPr>
        <p:txBody>
          <a:bodyPr/>
          <a:p/>
        </p:txBody>
      </p:sp>
      <p:sp>
        <p:nvSpPr>
          <p:cNvPr id="94" name="椭圆 93"/>
          <p:cNvSpPr>
            <a:spLocks noGrp="1"/>
          </p:cNvSpPr>
          <p:nvPr/>
        </p:nvSpPr>
        <p:spPr>
          <a:xfrm>
            <a:off x="7239000" y="2657475"/>
            <a:ext cx="419100" cy="419100"/>
          </a:xfrm>
          <a:prstGeom prst="ellipse">
            <a:avLst/>
          </a:prstGeom>
          <a:solidFill>
            <a:srgbClr val="007574"/>
          </a:solidFill>
          <a:ln w="20288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95" name="矩形 94"/>
          <p:cNvSpPr>
            <a:spLocks noGrp="1"/>
          </p:cNvSpPr>
          <p:nvPr/>
        </p:nvSpPr>
        <p:spPr>
          <a:xfrm>
            <a:off x="7239000" y="2657475"/>
            <a:ext cx="419100" cy="419100"/>
          </a:xfrm>
          <a:prstGeom prst="rect">
            <a:avLst/>
          </a:prstGeom>
        </p:spPr>
        <p:txBody>
          <a:bodyPr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96" name="矩形 95"/>
          <p:cNvSpPr>
            <a:spLocks noGrp="1"/>
          </p:cNvSpPr>
          <p:nvPr/>
        </p:nvSpPr>
        <p:spPr>
          <a:xfrm>
            <a:off x="6705600" y="3219450"/>
            <a:ext cx="1485900" cy="228600"/>
          </a:xfrm>
          <a:prstGeom prst="rect">
            <a:avLst/>
          </a:prstGeom>
        </p:spPr>
        <p:txBody>
          <a:bodyPr anchor="ctr"/>
          <a:lstStyle/>
          <a:p>
            <a:pPr algn="ctr">
              <a:defRPr sz="930" b="1">
                <a:solidFill>
                  <a:srgbClr val="14383E"/>
                </a:solidFill>
              </a:defRPr>
            </a:pPr>
            <a:r>
              <a:t>能力与编排</a:t>
            </a:r>
          </a:p>
        </p:txBody>
      </p:sp>
      <p:sp>
        <p:nvSpPr>
          <p:cNvPr id="97" name="矩形 96"/>
          <p:cNvSpPr>
            <a:spLocks noGrp="1"/>
          </p:cNvSpPr>
          <p:nvPr/>
        </p:nvSpPr>
        <p:spPr>
          <a:xfrm>
            <a:off x="6705600" y="3467100"/>
            <a:ext cx="1485900" cy="381000"/>
          </a:xfrm>
          <a:prstGeom prst="rect">
            <a:avLst/>
          </a:prstGeom>
        </p:spPr>
        <p:txBody>
          <a:bodyPr anchor="t"/>
          <a:lstStyle/>
          <a:p>
            <a:pPr algn="ctr">
              <a:defRPr sz="680" b="0">
                <a:solidFill>
                  <a:srgbClr val="44585C"/>
                </a:solidFill>
              </a:defRPr>
            </a:pPr>
            <a:r>
              <a:t>系统能做什么</a:t>
            </a:r>
          </a:p>
          <a:p>
            <a:pPr algn="ctr">
              <a:defRPr sz="680" b="0">
                <a:solidFill>
                  <a:srgbClr val="44585C"/>
                </a:solidFill>
              </a:defRPr>
            </a:pPr>
            <a:r>
              <a:t>多件事怎么排</a:t>
            </a:r>
          </a:p>
        </p:txBody>
      </p:sp>
      <p:sp>
        <p:nvSpPr>
          <p:cNvPr id="98" name="右箭头 97"/>
          <p:cNvSpPr>
            <a:spLocks noGrp="1"/>
          </p:cNvSpPr>
          <p:nvPr/>
        </p:nvSpPr>
        <p:spPr>
          <a:xfrm>
            <a:off x="7734300" y="2800350"/>
            <a:ext cx="142875" cy="133350"/>
          </a:xfrm>
          <a:prstGeom prst="rightArrow">
            <a:avLst/>
          </a:prstGeom>
          <a:solidFill>
            <a:srgbClr val="00A7A7"/>
          </a:solidFill>
          <a:ln w="12668">
            <a:solidFill>
              <a:srgbClr val="00A7A7"/>
            </a:solidFill>
            <a:prstDash val="solid"/>
          </a:ln>
        </p:spPr>
        <p:txBody>
          <a:bodyPr/>
          <a:p/>
        </p:txBody>
      </p:sp>
      <p:sp>
        <p:nvSpPr>
          <p:cNvPr id="99" name="椭圆 98"/>
          <p:cNvSpPr>
            <a:spLocks noGrp="1"/>
          </p:cNvSpPr>
          <p:nvPr/>
        </p:nvSpPr>
        <p:spPr>
          <a:xfrm>
            <a:off x="8791575" y="2657475"/>
            <a:ext cx="419100" cy="419100"/>
          </a:xfrm>
          <a:prstGeom prst="ellipse">
            <a:avLst/>
          </a:prstGeom>
          <a:solidFill>
            <a:srgbClr val="BC6414"/>
          </a:solidFill>
          <a:ln w="20288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00" name="矩形 99"/>
          <p:cNvSpPr>
            <a:spLocks noGrp="1"/>
          </p:cNvSpPr>
          <p:nvPr/>
        </p:nvSpPr>
        <p:spPr>
          <a:xfrm>
            <a:off x="8791575" y="2657475"/>
            <a:ext cx="419100" cy="419100"/>
          </a:xfrm>
          <a:prstGeom prst="rect">
            <a:avLst/>
          </a:prstGeom>
        </p:spPr>
        <p:txBody>
          <a:bodyPr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101" name="矩形 100"/>
          <p:cNvSpPr>
            <a:spLocks noGrp="1"/>
          </p:cNvSpPr>
          <p:nvPr/>
        </p:nvSpPr>
        <p:spPr>
          <a:xfrm>
            <a:off x="8258175" y="3219450"/>
            <a:ext cx="1485900" cy="228600"/>
          </a:xfrm>
          <a:prstGeom prst="rect">
            <a:avLst/>
          </a:prstGeom>
        </p:spPr>
        <p:txBody>
          <a:bodyPr anchor="ctr"/>
          <a:lstStyle/>
          <a:p>
            <a:pPr algn="ctr">
              <a:defRPr sz="930" b="1">
                <a:solidFill>
                  <a:srgbClr val="14383E"/>
                </a:solidFill>
              </a:defRPr>
            </a:pPr>
            <a:r>
              <a:t>受控执行</a:t>
            </a:r>
          </a:p>
        </p:txBody>
      </p:sp>
      <p:sp>
        <p:nvSpPr>
          <p:cNvPr id="102" name="矩形 101"/>
          <p:cNvSpPr>
            <a:spLocks noGrp="1"/>
          </p:cNvSpPr>
          <p:nvPr/>
        </p:nvSpPr>
        <p:spPr>
          <a:xfrm>
            <a:off x="8258175" y="3467100"/>
            <a:ext cx="1485900" cy="381000"/>
          </a:xfrm>
          <a:prstGeom prst="rect">
            <a:avLst/>
          </a:prstGeom>
        </p:spPr>
        <p:txBody>
          <a:bodyPr anchor="t"/>
          <a:lstStyle/>
          <a:p>
            <a:pPr algn="ctr">
              <a:defRPr sz="680" b="0">
                <a:solidFill>
                  <a:srgbClr val="44585C"/>
                </a:solidFill>
              </a:defRPr>
            </a:pPr>
            <a:r>
              <a:t>真去改业务状态时</a:t>
            </a:r>
          </a:p>
          <a:p>
            <a:pPr algn="ctr">
              <a:defRPr sz="680" b="0">
                <a:solidFill>
                  <a:srgbClr val="44585C"/>
                </a:solidFill>
              </a:defRPr>
            </a:pPr>
            <a:r>
              <a:t>靠什么兜住</a:t>
            </a:r>
          </a:p>
        </p:txBody>
      </p:sp>
      <p:sp>
        <p:nvSpPr>
          <p:cNvPr id="103" name="右箭头 102"/>
          <p:cNvSpPr>
            <a:spLocks noGrp="1"/>
          </p:cNvSpPr>
          <p:nvPr/>
        </p:nvSpPr>
        <p:spPr>
          <a:xfrm>
            <a:off x="9286875" y="2800350"/>
            <a:ext cx="142875" cy="133350"/>
          </a:xfrm>
          <a:prstGeom prst="rightArrow">
            <a:avLst/>
          </a:prstGeom>
          <a:solidFill>
            <a:srgbClr val="F28B36"/>
          </a:solidFill>
          <a:ln w="12668">
            <a:solidFill>
              <a:srgbClr val="F28B36"/>
            </a:solidFill>
            <a:prstDash val="solid"/>
          </a:ln>
        </p:spPr>
        <p:txBody>
          <a:bodyPr/>
          <a:p/>
        </p:txBody>
      </p:sp>
      <p:sp>
        <p:nvSpPr>
          <p:cNvPr id="104" name="椭圆 103"/>
          <p:cNvSpPr>
            <a:spLocks noGrp="1"/>
          </p:cNvSpPr>
          <p:nvPr/>
        </p:nvSpPr>
        <p:spPr>
          <a:xfrm>
            <a:off x="10344150" y="2657475"/>
            <a:ext cx="419100" cy="419100"/>
          </a:xfrm>
          <a:prstGeom prst="ellipse">
            <a:avLst/>
          </a:prstGeom>
          <a:solidFill>
            <a:srgbClr val="BC6414"/>
          </a:solidFill>
          <a:ln w="20288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05" name="矩形 104"/>
          <p:cNvSpPr>
            <a:spLocks noGrp="1"/>
          </p:cNvSpPr>
          <p:nvPr/>
        </p:nvSpPr>
        <p:spPr>
          <a:xfrm>
            <a:off x="10344150" y="2657475"/>
            <a:ext cx="419100" cy="419100"/>
          </a:xfrm>
          <a:prstGeom prst="rect">
            <a:avLst/>
          </a:prstGeom>
        </p:spPr>
        <p:txBody>
          <a:bodyPr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7</a:t>
            </a:r>
          </a:p>
        </p:txBody>
      </p:sp>
      <p:sp>
        <p:nvSpPr>
          <p:cNvPr id="106" name="矩形 105"/>
          <p:cNvSpPr>
            <a:spLocks noGrp="1"/>
          </p:cNvSpPr>
          <p:nvPr/>
        </p:nvSpPr>
        <p:spPr>
          <a:xfrm>
            <a:off x="9810750" y="3219450"/>
            <a:ext cx="1485900" cy="228600"/>
          </a:xfrm>
          <a:prstGeom prst="rect">
            <a:avLst/>
          </a:prstGeom>
        </p:spPr>
        <p:txBody>
          <a:bodyPr anchor="ctr"/>
          <a:lstStyle/>
          <a:p>
            <a:pPr algn="ctr">
              <a:defRPr sz="930" b="1">
                <a:solidFill>
                  <a:srgbClr val="14383E"/>
                </a:solidFill>
              </a:defRPr>
            </a:pPr>
            <a:r>
              <a:t>证据、评测与价值</a:t>
            </a:r>
          </a:p>
        </p:txBody>
      </p:sp>
      <p:sp>
        <p:nvSpPr>
          <p:cNvPr id="107" name="矩形 106"/>
          <p:cNvSpPr>
            <a:spLocks noGrp="1"/>
          </p:cNvSpPr>
          <p:nvPr/>
        </p:nvSpPr>
        <p:spPr>
          <a:xfrm>
            <a:off x="9810750" y="3467100"/>
            <a:ext cx="1485900" cy="381000"/>
          </a:xfrm>
          <a:prstGeom prst="rect">
            <a:avLst/>
          </a:prstGeom>
        </p:spPr>
        <p:txBody>
          <a:bodyPr anchor="t"/>
          <a:lstStyle/>
          <a:p>
            <a:pPr algn="ctr">
              <a:defRPr sz="680" b="0">
                <a:solidFill>
                  <a:srgbClr val="44585C"/>
                </a:solidFill>
              </a:defRPr>
            </a:pPr>
            <a:r>
              <a:t>怎么证明做对了</a:t>
            </a:r>
          </a:p>
          <a:p>
            <a:pPr algn="ctr">
              <a:defRPr sz="680" b="0">
                <a:solidFill>
                  <a:srgbClr val="44585C"/>
                </a:solidFill>
              </a:defRPr>
            </a:pPr>
            <a:r>
              <a:t>值不值</a:t>
            </a:r>
          </a:p>
        </p:txBody>
      </p:sp>
      <p:sp>
        <p:nvSpPr>
          <p:cNvPr id="108" name="圆角矩形 107"/>
          <p:cNvSpPr>
            <a:spLocks noGrp="1"/>
          </p:cNvSpPr>
          <p:nvPr/>
        </p:nvSpPr>
        <p:spPr>
          <a:xfrm>
            <a:off x="657225" y="4191000"/>
            <a:ext cx="10877550" cy="163830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668">
            <a:solidFill>
              <a:srgbClr val="C9DCD7"/>
            </a:solidFill>
            <a:prstDash val="solid"/>
          </a:ln>
        </p:spPr>
        <p:txBody>
          <a:bodyPr/>
          <a:p/>
        </p:txBody>
      </p:sp>
      <p:sp>
        <p:nvSpPr>
          <p:cNvPr id="109" name="矩形 108"/>
          <p:cNvSpPr>
            <a:spLocks noGrp="1"/>
          </p:cNvSpPr>
          <p:nvPr/>
        </p:nvSpPr>
        <p:spPr>
          <a:xfrm>
            <a:off x="876300" y="4305300"/>
            <a:ext cx="10439400" cy="228600"/>
          </a:xfrm>
          <a:prstGeom prst="rect">
            <a:avLst/>
          </a:prstGeom>
        </p:spPr>
        <p:txBody>
          <a:bodyPr anchor="ctr"/>
          <a:lstStyle/>
          <a:p>
            <a:pPr algn="l">
              <a:defRPr sz="920" b="1">
                <a:solidFill>
                  <a:srgbClr val="14383E"/>
                </a:solidFill>
              </a:defRPr>
            </a:pPr>
            <a:r>
              <a:t>今天的主线：AI 接手的是理解和决策</a:t>
            </a:r>
          </a:p>
        </p:txBody>
      </p:sp>
      <p:sp>
        <p:nvSpPr>
          <p:cNvPr id="110" name="圆角矩形 109"/>
          <p:cNvSpPr>
            <a:spLocks noGrp="1"/>
          </p:cNvSpPr>
          <p:nvPr/>
        </p:nvSpPr>
        <p:spPr>
          <a:xfrm>
            <a:off x="876300" y="4629150"/>
            <a:ext cx="2457450" cy="647700"/>
          </a:xfrm>
          <a:prstGeom prst="roundRect">
            <a:avLst>
              <a:gd name="adj" fmla="val 11765"/>
            </a:avLst>
          </a:prstGeom>
          <a:solidFill>
            <a:srgbClr val="FFF0E4"/>
          </a:solidFill>
          <a:ln w="12668">
            <a:solidFill>
              <a:srgbClr val="F28B36"/>
            </a:solidFill>
            <a:prstDash val="solid"/>
          </a:ln>
        </p:spPr>
        <p:txBody>
          <a:bodyPr/>
          <a:p/>
        </p:txBody>
      </p:sp>
      <p:sp>
        <p:nvSpPr>
          <p:cNvPr id="111" name="矩形 110"/>
          <p:cNvSpPr>
            <a:spLocks noGrp="1"/>
          </p:cNvSpPr>
          <p:nvPr/>
        </p:nvSpPr>
        <p:spPr>
          <a:xfrm>
            <a:off x="1028700" y="4686300"/>
            <a:ext cx="571500" cy="228600"/>
          </a:xfrm>
          <a:prstGeom prst="rect">
            <a:avLst/>
          </a:prstGeom>
        </p:spPr>
        <p:txBody>
          <a:bodyPr anchor="ctr"/>
          <a:lstStyle/>
          <a:p>
            <a:pPr algn="l">
              <a:defRPr sz="1080" b="1">
                <a:solidFill>
                  <a:srgbClr val="14383E"/>
                </a:solidFill>
              </a:defRPr>
            </a:pPr>
            <a:r>
              <a:t>理解</a:t>
            </a:r>
          </a:p>
        </p:txBody>
      </p:sp>
      <p:sp>
        <p:nvSpPr>
          <p:cNvPr id="112" name="矩形 111"/>
          <p:cNvSpPr>
            <a:spLocks noGrp="1"/>
          </p:cNvSpPr>
          <p:nvPr/>
        </p:nvSpPr>
        <p:spPr>
          <a:xfrm>
            <a:off x="1028700" y="4914900"/>
            <a:ext cx="2152650" cy="171450"/>
          </a:xfrm>
          <a:prstGeom prst="rect">
            <a:avLst/>
          </a:prstGeom>
        </p:spPr>
        <p:txBody>
          <a:bodyPr anchor="ctr"/>
          <a:lstStyle/>
          <a:p>
            <a:pPr algn="l">
              <a:defRPr sz="680" b="0">
                <a:solidFill>
                  <a:srgbClr val="44585C"/>
                </a:solidFill>
              </a:defRPr>
            </a:pPr>
            <a:r>
              <a:t>读懂客户要办什么</a:t>
            </a:r>
          </a:p>
        </p:txBody>
      </p:sp>
      <p:sp>
        <p:nvSpPr>
          <p:cNvPr id="113" name="矩形 112"/>
          <p:cNvSpPr>
            <a:spLocks noGrp="1"/>
          </p:cNvSpPr>
          <p:nvPr/>
        </p:nvSpPr>
        <p:spPr>
          <a:xfrm>
            <a:off x="1028700" y="5067300"/>
            <a:ext cx="2152650" cy="171450"/>
          </a:xfrm>
          <a:prstGeom prst="rect">
            <a:avLst/>
          </a:prstGeom>
        </p:spPr>
        <p:txBody>
          <a:bodyPr anchor="ctr"/>
          <a:lstStyle/>
          <a:p>
            <a:pPr algn="l">
              <a:defRPr sz="720" b="1">
                <a:solidFill>
                  <a:srgbClr val="BC6414"/>
                </a:solidFill>
              </a:defRPr>
            </a:pPr>
            <a:r>
              <a:t>新增能力 · 最难</a:t>
            </a:r>
          </a:p>
        </p:txBody>
      </p:sp>
      <p:sp>
        <p:nvSpPr>
          <p:cNvPr id="114" name="右箭头 113"/>
          <p:cNvSpPr>
            <a:spLocks noGrp="1"/>
          </p:cNvSpPr>
          <p:nvPr/>
        </p:nvSpPr>
        <p:spPr>
          <a:xfrm>
            <a:off x="3371850" y="4876800"/>
            <a:ext cx="114300" cy="152400"/>
          </a:xfrm>
          <a:prstGeom prst="rightArrow">
            <a:avLst/>
          </a:prstGeom>
          <a:solidFill>
            <a:srgbClr val="C7DAD6"/>
          </a:solidFill>
          <a:ln w="12668">
            <a:solidFill>
              <a:srgbClr val="C7DAD6"/>
            </a:solidFill>
            <a:prstDash val="solid"/>
          </a:ln>
        </p:spPr>
        <p:txBody>
          <a:bodyPr/>
          <a:p/>
        </p:txBody>
      </p:sp>
      <p:sp>
        <p:nvSpPr>
          <p:cNvPr id="115" name="圆角矩形 114"/>
          <p:cNvSpPr>
            <a:spLocks noGrp="1"/>
          </p:cNvSpPr>
          <p:nvPr/>
        </p:nvSpPr>
        <p:spPr>
          <a:xfrm>
            <a:off x="3524250" y="4629150"/>
            <a:ext cx="2457450" cy="647700"/>
          </a:xfrm>
          <a:prstGeom prst="roundRect">
            <a:avLst>
              <a:gd name="adj" fmla="val 11765"/>
            </a:avLst>
          </a:prstGeom>
          <a:solidFill>
            <a:srgbClr val="F7FBF9"/>
          </a:solidFill>
          <a:ln w="12668">
            <a:solidFill>
              <a:srgbClr val="BFD9D4"/>
            </a:solidFill>
            <a:prstDash val="solid"/>
          </a:ln>
        </p:spPr>
        <p:txBody>
          <a:bodyPr/>
          <a:p/>
        </p:txBody>
      </p:sp>
      <p:sp>
        <p:nvSpPr>
          <p:cNvPr id="116" name="矩形 115"/>
          <p:cNvSpPr>
            <a:spLocks noGrp="1"/>
          </p:cNvSpPr>
          <p:nvPr/>
        </p:nvSpPr>
        <p:spPr>
          <a:xfrm>
            <a:off x="3676650" y="4686300"/>
            <a:ext cx="571500" cy="228600"/>
          </a:xfrm>
          <a:prstGeom prst="rect">
            <a:avLst/>
          </a:prstGeom>
        </p:spPr>
        <p:txBody>
          <a:bodyPr anchor="ctr"/>
          <a:lstStyle/>
          <a:p>
            <a:pPr algn="l">
              <a:defRPr sz="1080" b="1">
                <a:solidFill>
                  <a:srgbClr val="14383E"/>
                </a:solidFill>
              </a:defRPr>
            </a:pPr>
            <a:r>
              <a:t>查询</a:t>
            </a:r>
          </a:p>
        </p:txBody>
      </p:sp>
      <p:sp>
        <p:nvSpPr>
          <p:cNvPr id="117" name="矩形 116"/>
          <p:cNvSpPr>
            <a:spLocks noGrp="1"/>
          </p:cNvSpPr>
          <p:nvPr/>
        </p:nvSpPr>
        <p:spPr>
          <a:xfrm>
            <a:off x="3676650" y="4914900"/>
            <a:ext cx="2152650" cy="171450"/>
          </a:xfrm>
          <a:prstGeom prst="rect">
            <a:avLst/>
          </a:prstGeom>
        </p:spPr>
        <p:txBody>
          <a:bodyPr anchor="ctr"/>
          <a:lstStyle/>
          <a:p>
            <a:pPr algn="l">
              <a:defRPr sz="680" b="0">
                <a:solidFill>
                  <a:srgbClr val="44585C"/>
                </a:solidFill>
              </a:defRPr>
            </a:pPr>
            <a:r>
              <a:t>取订单、履约、政策事实</a:t>
            </a:r>
          </a:p>
        </p:txBody>
      </p:sp>
      <p:sp>
        <p:nvSpPr>
          <p:cNvPr id="118" name="矩形 117"/>
          <p:cNvSpPr>
            <a:spLocks noGrp="1"/>
          </p:cNvSpPr>
          <p:nvPr/>
        </p:nvSpPr>
        <p:spPr>
          <a:xfrm>
            <a:off x="3676650" y="5067300"/>
            <a:ext cx="2152650" cy="171450"/>
          </a:xfrm>
          <a:prstGeom prst="rect">
            <a:avLst/>
          </a:prstGeom>
        </p:spPr>
        <p:txBody>
          <a:bodyPr anchor="ctr"/>
          <a:lstStyle/>
          <a:p>
            <a:pPr algn="l">
              <a:defRPr sz="720" b="1">
                <a:solidFill>
                  <a:srgbClr val="44585C"/>
                </a:solidFill>
              </a:defRPr>
            </a:pPr>
            <a:r>
              <a:t>既有能力 · 换调用方</a:t>
            </a:r>
          </a:p>
        </p:txBody>
      </p:sp>
      <p:sp>
        <p:nvSpPr>
          <p:cNvPr id="119" name="右箭头 118"/>
          <p:cNvSpPr>
            <a:spLocks noGrp="1"/>
          </p:cNvSpPr>
          <p:nvPr/>
        </p:nvSpPr>
        <p:spPr>
          <a:xfrm>
            <a:off x="6019800" y="4876800"/>
            <a:ext cx="114300" cy="152400"/>
          </a:xfrm>
          <a:prstGeom prst="rightArrow">
            <a:avLst/>
          </a:prstGeom>
          <a:solidFill>
            <a:srgbClr val="C7DAD6"/>
          </a:solidFill>
          <a:ln w="12668">
            <a:solidFill>
              <a:srgbClr val="C7DAD6"/>
            </a:solidFill>
            <a:prstDash val="solid"/>
          </a:ln>
        </p:spPr>
        <p:txBody>
          <a:bodyPr/>
          <a:p/>
        </p:txBody>
      </p:sp>
      <p:sp>
        <p:nvSpPr>
          <p:cNvPr id="120" name="圆角矩形 119"/>
          <p:cNvSpPr>
            <a:spLocks noGrp="1"/>
          </p:cNvSpPr>
          <p:nvPr/>
        </p:nvSpPr>
        <p:spPr>
          <a:xfrm>
            <a:off x="6172200" y="4629150"/>
            <a:ext cx="2457450" cy="647700"/>
          </a:xfrm>
          <a:prstGeom prst="roundRect">
            <a:avLst>
              <a:gd name="adj" fmla="val 11765"/>
            </a:avLst>
          </a:prstGeom>
          <a:solidFill>
            <a:srgbClr val="FFF0E4"/>
          </a:solidFill>
          <a:ln w="12668">
            <a:solidFill>
              <a:srgbClr val="F28B36"/>
            </a:solidFill>
            <a:prstDash val="solid"/>
          </a:ln>
        </p:spPr>
        <p:txBody>
          <a:bodyPr/>
          <a:p/>
        </p:txBody>
      </p:sp>
      <p:sp>
        <p:nvSpPr>
          <p:cNvPr id="121" name="矩形 120"/>
          <p:cNvSpPr>
            <a:spLocks noGrp="1"/>
          </p:cNvSpPr>
          <p:nvPr/>
        </p:nvSpPr>
        <p:spPr>
          <a:xfrm>
            <a:off x="6324600" y="4686300"/>
            <a:ext cx="571500" cy="228600"/>
          </a:xfrm>
          <a:prstGeom prst="rect">
            <a:avLst/>
          </a:prstGeom>
        </p:spPr>
        <p:txBody>
          <a:bodyPr anchor="ctr"/>
          <a:lstStyle/>
          <a:p>
            <a:pPr algn="l">
              <a:defRPr sz="1080" b="1">
                <a:solidFill>
                  <a:srgbClr val="14383E"/>
                </a:solidFill>
              </a:defRPr>
            </a:pPr>
            <a:r>
              <a:t>决策</a:t>
            </a:r>
          </a:p>
        </p:txBody>
      </p:sp>
      <p:sp>
        <p:nvSpPr>
          <p:cNvPr id="122" name="矩形 121"/>
          <p:cNvSpPr>
            <a:spLocks noGrp="1"/>
          </p:cNvSpPr>
          <p:nvPr/>
        </p:nvSpPr>
        <p:spPr>
          <a:xfrm>
            <a:off x="6324600" y="4914900"/>
            <a:ext cx="2152650" cy="171450"/>
          </a:xfrm>
          <a:prstGeom prst="rect">
            <a:avLst/>
          </a:prstGeom>
        </p:spPr>
        <p:txBody>
          <a:bodyPr anchor="ctr"/>
          <a:lstStyle/>
          <a:p>
            <a:pPr algn="l">
              <a:defRPr sz="680" b="0">
                <a:solidFill>
                  <a:srgbClr val="44585C"/>
                </a:solidFill>
              </a:defRPr>
            </a:pPr>
            <a:r>
              <a:t>能不能做、要不要确认</a:t>
            </a:r>
          </a:p>
        </p:txBody>
      </p:sp>
      <p:sp>
        <p:nvSpPr>
          <p:cNvPr id="123" name="矩形 122"/>
          <p:cNvSpPr>
            <a:spLocks noGrp="1"/>
          </p:cNvSpPr>
          <p:nvPr/>
        </p:nvSpPr>
        <p:spPr>
          <a:xfrm>
            <a:off x="6324600" y="5067300"/>
            <a:ext cx="2152650" cy="171450"/>
          </a:xfrm>
          <a:prstGeom prst="rect">
            <a:avLst/>
          </a:prstGeom>
        </p:spPr>
        <p:txBody>
          <a:bodyPr anchor="ctr"/>
          <a:lstStyle/>
          <a:p>
            <a:pPr algn="l">
              <a:defRPr sz="720" b="1">
                <a:solidFill>
                  <a:srgbClr val="BC6414"/>
                </a:solidFill>
              </a:defRPr>
            </a:pPr>
            <a:r>
              <a:t>新增能力 · 最难</a:t>
            </a:r>
          </a:p>
        </p:txBody>
      </p:sp>
      <p:sp>
        <p:nvSpPr>
          <p:cNvPr id="124" name="右箭头 123"/>
          <p:cNvSpPr>
            <a:spLocks noGrp="1"/>
          </p:cNvSpPr>
          <p:nvPr/>
        </p:nvSpPr>
        <p:spPr>
          <a:xfrm>
            <a:off x="8667750" y="4876800"/>
            <a:ext cx="114300" cy="152400"/>
          </a:xfrm>
          <a:prstGeom prst="rightArrow">
            <a:avLst/>
          </a:prstGeom>
          <a:solidFill>
            <a:srgbClr val="C7DAD6"/>
          </a:solidFill>
          <a:ln w="12668">
            <a:solidFill>
              <a:srgbClr val="C7DAD6"/>
            </a:solidFill>
            <a:prstDash val="solid"/>
          </a:ln>
        </p:spPr>
        <p:txBody>
          <a:bodyPr/>
          <a:p/>
        </p:txBody>
      </p:sp>
      <p:sp>
        <p:nvSpPr>
          <p:cNvPr id="125" name="圆角矩形 124"/>
          <p:cNvSpPr>
            <a:spLocks noGrp="1"/>
          </p:cNvSpPr>
          <p:nvPr/>
        </p:nvSpPr>
        <p:spPr>
          <a:xfrm>
            <a:off x="8820150" y="4629150"/>
            <a:ext cx="2457450" cy="647700"/>
          </a:xfrm>
          <a:prstGeom prst="roundRect">
            <a:avLst>
              <a:gd name="adj" fmla="val 11765"/>
            </a:avLst>
          </a:prstGeom>
          <a:solidFill>
            <a:srgbClr val="F7FBF9"/>
          </a:solidFill>
          <a:ln w="12668">
            <a:solidFill>
              <a:srgbClr val="BFD9D4"/>
            </a:solidFill>
            <a:prstDash val="solid"/>
          </a:ln>
        </p:spPr>
        <p:txBody>
          <a:bodyPr/>
          <a:p/>
        </p:txBody>
      </p:sp>
      <p:sp>
        <p:nvSpPr>
          <p:cNvPr id="126" name="矩形 125"/>
          <p:cNvSpPr>
            <a:spLocks noGrp="1"/>
          </p:cNvSpPr>
          <p:nvPr/>
        </p:nvSpPr>
        <p:spPr>
          <a:xfrm>
            <a:off x="8972550" y="4686300"/>
            <a:ext cx="571500" cy="228600"/>
          </a:xfrm>
          <a:prstGeom prst="rect">
            <a:avLst/>
          </a:prstGeom>
        </p:spPr>
        <p:txBody>
          <a:bodyPr anchor="ctr"/>
          <a:lstStyle/>
          <a:p>
            <a:pPr algn="l">
              <a:defRPr sz="1080" b="1">
                <a:solidFill>
                  <a:srgbClr val="14383E"/>
                </a:solidFill>
              </a:defRPr>
            </a:pPr>
            <a:r>
              <a:t>执行</a:t>
            </a:r>
          </a:p>
        </p:txBody>
      </p:sp>
      <p:sp>
        <p:nvSpPr>
          <p:cNvPr id="127" name="矩形 126"/>
          <p:cNvSpPr>
            <a:spLocks noGrp="1"/>
          </p:cNvSpPr>
          <p:nvPr/>
        </p:nvSpPr>
        <p:spPr>
          <a:xfrm>
            <a:off x="8972550" y="4914900"/>
            <a:ext cx="2152650" cy="171450"/>
          </a:xfrm>
          <a:prstGeom prst="rect">
            <a:avLst/>
          </a:prstGeom>
        </p:spPr>
        <p:txBody>
          <a:bodyPr anchor="ctr"/>
          <a:lstStyle/>
          <a:p>
            <a:pPr algn="l">
              <a:defRPr sz="680" b="0">
                <a:solidFill>
                  <a:srgbClr val="44585C"/>
                </a:solidFill>
              </a:defRPr>
            </a:pPr>
            <a:r>
              <a:t>改业务状态并回复</a:t>
            </a:r>
          </a:p>
        </p:txBody>
      </p:sp>
      <p:sp>
        <p:nvSpPr>
          <p:cNvPr id="128" name="矩形 127"/>
          <p:cNvSpPr>
            <a:spLocks noGrp="1"/>
          </p:cNvSpPr>
          <p:nvPr/>
        </p:nvSpPr>
        <p:spPr>
          <a:xfrm>
            <a:off x="8972550" y="5067300"/>
            <a:ext cx="2152650" cy="171450"/>
          </a:xfrm>
          <a:prstGeom prst="rect">
            <a:avLst/>
          </a:prstGeom>
        </p:spPr>
        <p:txBody>
          <a:bodyPr anchor="ctr"/>
          <a:lstStyle/>
          <a:p>
            <a:pPr algn="l">
              <a:defRPr sz="720" b="1">
                <a:solidFill>
                  <a:srgbClr val="44585C"/>
                </a:solidFill>
              </a:defRPr>
            </a:pPr>
            <a:r>
              <a:t>既有能力 · 换调用方</a:t>
            </a:r>
          </a:p>
        </p:txBody>
      </p:sp>
      <p:sp>
        <p:nvSpPr>
          <p:cNvPr id="129" name="矩形 128"/>
          <p:cNvSpPr>
            <a:spLocks noGrp="1"/>
          </p:cNvSpPr>
          <p:nvPr/>
        </p:nvSpPr>
        <p:spPr>
          <a:xfrm>
            <a:off x="876300" y="5429250"/>
            <a:ext cx="10439400" cy="323850"/>
          </a:xfrm>
          <a:prstGeom prst="rect">
            <a:avLst/>
          </a:prstGeom>
        </p:spPr>
        <p:txBody>
          <a:bodyPr anchor="ctr"/>
          <a:lstStyle/>
          <a:p>
            <a:pPr algn="l">
              <a:defRPr sz="840" b="0">
                <a:solidFill>
                  <a:srgbClr val="44585C"/>
                </a:solidFill>
              </a:defRPr>
            </a:pPr>
            <a:r>
              <a:t>查询和执行本来就是系统能力，变的只是谁来调用。所以前两步要从零建，后两步要补的是护栏。</a:t>
            </a:r>
          </a:p>
        </p:txBody>
      </p:sp>
      <p:sp>
        <p:nvSpPr>
          <p:cNvPr id="130" name="矩形 129"/>
          <p:cNvSpPr>
            <a:spLocks noGrp="1"/>
          </p:cNvSpPr>
          <p:nvPr/>
        </p:nvSpPr>
        <p:spPr>
          <a:xfrm>
            <a:off x="657225" y="6000750"/>
            <a:ext cx="10877550" cy="190500"/>
          </a:xfrm>
          <a:prstGeom prst="rect">
            <a:avLst/>
          </a:prstGeom>
        </p:spPr>
        <p:txBody>
          <a:bodyPr anchor="ctr"/>
          <a:lstStyle/>
          <a:p>
            <a:pPr algn="l">
              <a:defRPr sz="740" b="1">
                <a:solidFill>
                  <a:srgbClr val="9A5210"/>
                </a:solidFill>
              </a:defRPr>
            </a:pPr>
            <a:r>
              <a:t>每章开头有一张隔页，写明这一块回答什么问题、服务四步里的哪一步。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hape 0"/>
          <p:cNvSpPr>
            <a:spLocks noGrp="1"/>
          </p:cNvSpPr>
          <p:nvPr/>
        </p:nvSpPr>
        <p:spPr>
          <a:xfrm>
            <a:off x="16459" y="16459"/>
            <a:ext cx="38405" cy="6825082"/>
          </a:xfrm>
          <a:prstGeom prst="rect">
            <a:avLst/>
          </a:prstGeom>
          <a:solidFill>
            <a:srgbClr val="0A8F6A"/>
          </a:solidFill>
          <a:ln w="12700">
            <a:solidFill>
              <a:srgbClr val="0A8F6A"/>
            </a:solidFill>
            <a:prstDash val="solid"/>
          </a:ln>
        </p:spPr>
        <p:txBody>
          <a:bodyPr/>
          <a:lstStyle/>
          <a:p/>
        </p:txBody>
      </p:sp>
      <p:sp>
        <p:nvSpPr>
          <p:cNvPr id="4" name="Shape 2"/>
          <p:cNvSpPr>
            <a:spLocks noGrp="1"/>
          </p:cNvSpPr>
          <p:nvPr/>
        </p:nvSpPr>
        <p:spPr>
          <a:xfrm>
            <a:off x="10104120" y="73152"/>
            <a:ext cx="1874520" cy="1353312"/>
          </a:xfrm>
          <a:prstGeom prst="ellipse">
            <a:avLst/>
          </a:prstGeom>
          <a:solidFill>
            <a:srgbClr val="EAF3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/>
        </p:txBody>
      </p:sp>
      <p:sp>
        <p:nvSpPr>
          <p:cNvPr id="5" name="Shape 3"/>
          <p:cNvSpPr>
            <a:spLocks noGrp="1"/>
          </p:cNvSpPr>
          <p:nvPr/>
        </p:nvSpPr>
        <p:spPr>
          <a:xfrm>
            <a:off x="91440" y="5596128"/>
            <a:ext cx="1719072" cy="1051560"/>
          </a:xfrm>
          <a:prstGeom prst="ellipse">
            <a:avLst/>
          </a:prstGeom>
          <a:solidFill>
            <a:srgbClr val="E8F7F1">
              <a:alpha val="68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/>
        </p:txBody>
      </p:sp>
      <p:sp>
        <p:nvSpPr>
          <p:cNvPr id="6" name="Shape 4"/>
          <p:cNvSpPr>
            <a:spLocks noGrp="1"/>
          </p:cNvSpPr>
          <p:nvPr/>
        </p:nvSpPr>
        <p:spPr>
          <a:xfrm>
            <a:off x="658368" y="393192"/>
            <a:ext cx="68580" cy="68580"/>
          </a:xfrm>
          <a:prstGeom prst="ellipse">
            <a:avLst/>
          </a:prstGeom>
          <a:solidFill>
            <a:srgbClr val="0A8F6A"/>
          </a:solidFill>
          <a:ln w="12700">
            <a:solidFill>
              <a:srgbClr val="0A8F6A"/>
            </a:solidFill>
            <a:prstDash val="solid"/>
          </a:ln>
        </p:spPr>
        <p:txBody>
          <a:bodyPr/>
          <a:lstStyle/>
          <a:p/>
        </p:txBody>
      </p:sp>
      <p:sp>
        <p:nvSpPr>
          <p:cNvPr id="7" name="Shape 5"/>
          <p:cNvSpPr>
            <a:spLocks noGrp="1"/>
          </p:cNvSpPr>
          <p:nvPr/>
        </p:nvSpPr>
        <p:spPr>
          <a:xfrm>
            <a:off x="768096" y="427939"/>
            <a:ext cx="411480" cy="0"/>
          </a:xfrm>
          <a:prstGeom prst="line">
            <a:avLst/>
          </a:prstGeom>
          <a:noFill/>
          <a:ln w="15875">
            <a:solidFill>
              <a:srgbClr val="0A8F6A"/>
            </a:solidFill>
            <a:prstDash val="solid"/>
          </a:ln>
        </p:spPr>
        <p:txBody>
          <a:bodyPr/>
          <a:lstStyle/>
          <a:p/>
        </p:txBody>
      </p:sp>
      <p:sp>
        <p:nvSpPr>
          <p:cNvPr id="8" name="Text 6"/>
          <p:cNvSpPr>
            <a:spLocks noGrp="1"/>
          </p:cNvSpPr>
          <p:nvPr/>
        </p:nvSpPr>
        <p:spPr>
          <a:xfrm>
            <a:off x="1234440" y="265176"/>
            <a:ext cx="2331720" cy="31089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r>
              <a:rPr sz="1050" b="1">
                <a:solidFill>
                  <a:srgbClr val="076B50"/>
                </a:solidFill>
                <a:latin typeface="Noto Sans CJK SC"/>
                <a:ea typeface="Noto Sans CJK SC"/>
                <a:cs typeface="Noto Sans CJK SC"/>
              </a:rPr>
              <a:t>OVERVIEW · 开场</a:t>
            </a:r>
            <a:endParaRPr sz="1050" b="1">
              <a:solidFill>
                <a:srgbClr val="0A8F6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9" name="Shape 7"/>
          <p:cNvSpPr>
            <a:spLocks noGrp="1"/>
          </p:cNvSpPr>
          <p:nvPr/>
        </p:nvSpPr>
        <p:spPr>
          <a:xfrm>
            <a:off x="9829800" y="301752"/>
            <a:ext cx="68580" cy="68580"/>
          </a:xfrm>
          <a:prstGeom prst="ellipse">
            <a:avLst/>
          </a:prstGeom>
          <a:solidFill>
            <a:srgbClr val="0A8F6A"/>
          </a:solidFill>
          <a:ln w="12700">
            <a:solidFill>
              <a:srgbClr val="0A8F6A"/>
            </a:solidFill>
            <a:prstDash val="solid"/>
          </a:ln>
        </p:spPr>
        <p:txBody>
          <a:bodyPr/>
          <a:lstStyle/>
          <a:p/>
        </p:txBody>
      </p:sp>
      <p:sp>
        <p:nvSpPr>
          <p:cNvPr id="10" name="Shape 8"/>
          <p:cNvSpPr>
            <a:spLocks noGrp="1"/>
          </p:cNvSpPr>
          <p:nvPr/>
        </p:nvSpPr>
        <p:spPr>
          <a:xfrm>
            <a:off x="10040112" y="301752"/>
            <a:ext cx="68580" cy="68580"/>
          </a:xfrm>
          <a:prstGeom prst="ellipse">
            <a:avLst/>
          </a:prstGeom>
          <a:solidFill>
            <a:srgbClr val="C7DAD6"/>
          </a:solidFill>
          <a:ln w="12700">
            <a:solidFill>
              <a:srgbClr val="C7DAD6"/>
            </a:solidFill>
            <a:prstDash val="solid"/>
          </a:ln>
        </p:spPr>
        <p:txBody>
          <a:bodyPr/>
          <a:lstStyle/>
          <a:p/>
        </p:txBody>
      </p:sp>
      <p:sp>
        <p:nvSpPr>
          <p:cNvPr id="11" name="Shape 9"/>
          <p:cNvSpPr>
            <a:spLocks noGrp="1"/>
          </p:cNvSpPr>
          <p:nvPr/>
        </p:nvSpPr>
        <p:spPr>
          <a:xfrm>
            <a:off x="10250424" y="301752"/>
            <a:ext cx="68580" cy="68580"/>
          </a:xfrm>
          <a:prstGeom prst="ellipse">
            <a:avLst/>
          </a:prstGeom>
          <a:solidFill>
            <a:srgbClr val="C7DAD6"/>
          </a:solidFill>
          <a:ln w="12700">
            <a:solidFill>
              <a:srgbClr val="C7DAD6"/>
            </a:solidFill>
            <a:prstDash val="solid"/>
          </a:ln>
        </p:spPr>
        <p:txBody>
          <a:bodyPr/>
          <a:lstStyle/>
          <a:p/>
        </p:txBody>
      </p:sp>
      <p:sp>
        <p:nvSpPr>
          <p:cNvPr id="12" name="Shape 10"/>
          <p:cNvSpPr>
            <a:spLocks noGrp="1"/>
          </p:cNvSpPr>
          <p:nvPr/>
        </p:nvSpPr>
        <p:spPr>
          <a:xfrm>
            <a:off x="10460736" y="301752"/>
            <a:ext cx="68580" cy="68580"/>
          </a:xfrm>
          <a:prstGeom prst="ellipse">
            <a:avLst/>
          </a:prstGeom>
          <a:solidFill>
            <a:srgbClr val="C7DAD6"/>
          </a:solidFill>
          <a:ln w="12700">
            <a:solidFill>
              <a:srgbClr val="C7DAD6"/>
            </a:solidFill>
            <a:prstDash val="solid"/>
          </a:ln>
        </p:spPr>
        <p:txBody>
          <a:bodyPr/>
          <a:lstStyle/>
          <a:p/>
        </p:txBody>
      </p:sp>
      <p:sp>
        <p:nvSpPr>
          <p:cNvPr id="13" name="Shape 11"/>
          <p:cNvSpPr>
            <a:spLocks noGrp="1"/>
          </p:cNvSpPr>
          <p:nvPr/>
        </p:nvSpPr>
        <p:spPr>
          <a:xfrm>
            <a:off x="10671048" y="301752"/>
            <a:ext cx="68580" cy="68580"/>
          </a:xfrm>
          <a:prstGeom prst="ellipse">
            <a:avLst/>
          </a:prstGeom>
          <a:solidFill>
            <a:srgbClr val="C7DAD6"/>
          </a:solidFill>
          <a:ln w="12700">
            <a:solidFill>
              <a:srgbClr val="C7DAD6"/>
            </a:solidFill>
            <a:prstDash val="solid"/>
          </a:ln>
        </p:spPr>
        <p:txBody>
          <a:bodyPr/>
          <a:lstStyle/>
          <a:p/>
        </p:txBody>
      </p:sp>
      <p:sp>
        <p:nvSpPr>
          <p:cNvPr id="14" name="Shape 12"/>
          <p:cNvSpPr>
            <a:spLocks noGrp="1"/>
          </p:cNvSpPr>
          <p:nvPr/>
        </p:nvSpPr>
        <p:spPr>
          <a:xfrm>
            <a:off x="10881360" y="301752"/>
            <a:ext cx="68580" cy="68580"/>
          </a:xfrm>
          <a:prstGeom prst="ellipse">
            <a:avLst/>
          </a:prstGeom>
          <a:solidFill>
            <a:srgbClr val="C7DAD6"/>
          </a:solidFill>
          <a:ln w="12700">
            <a:solidFill>
              <a:srgbClr val="C7DAD6"/>
            </a:solidFill>
            <a:prstDash val="solid"/>
          </a:ln>
        </p:spPr>
        <p:txBody>
          <a:bodyPr/>
          <a:lstStyle/>
          <a:p/>
        </p:txBody>
      </p:sp>
      <p:sp>
        <p:nvSpPr>
          <p:cNvPr id="15" name="Shape 13"/>
          <p:cNvSpPr>
            <a:spLocks noGrp="1"/>
          </p:cNvSpPr>
          <p:nvPr/>
        </p:nvSpPr>
        <p:spPr>
          <a:xfrm>
            <a:off x="11091672" y="301752"/>
            <a:ext cx="68580" cy="68580"/>
          </a:xfrm>
          <a:prstGeom prst="ellipse">
            <a:avLst/>
          </a:prstGeom>
          <a:solidFill>
            <a:srgbClr val="C7DAD6"/>
          </a:solidFill>
          <a:ln w="12700">
            <a:solidFill>
              <a:srgbClr val="C7DAD6"/>
            </a:solidFill>
            <a:prstDash val="solid"/>
          </a:ln>
        </p:spPr>
        <p:txBody>
          <a:bodyPr/>
          <a:lstStyle/>
          <a:p/>
        </p:txBody>
      </p:sp>
      <p:sp>
        <p:nvSpPr>
          <p:cNvPr id="16" name="Shape 14"/>
          <p:cNvSpPr>
            <a:spLocks noGrp="1"/>
          </p:cNvSpPr>
          <p:nvPr/>
        </p:nvSpPr>
        <p:spPr>
          <a:xfrm>
            <a:off x="11301984" y="301752"/>
            <a:ext cx="68580" cy="68580"/>
          </a:xfrm>
          <a:prstGeom prst="ellipse">
            <a:avLst/>
          </a:prstGeom>
          <a:solidFill>
            <a:srgbClr val="C7DAD6"/>
          </a:solidFill>
          <a:ln w="12700">
            <a:solidFill>
              <a:srgbClr val="C7DAD6"/>
            </a:solidFill>
            <a:prstDash val="solid"/>
          </a:ln>
        </p:spPr>
        <p:txBody>
          <a:bodyPr/>
          <a:lstStyle/>
          <a:p/>
        </p:txBody>
      </p:sp>
      <p:sp>
        <p:nvSpPr>
          <p:cNvPr id="17" name="Text 15"/>
          <p:cNvSpPr>
            <a:spLocks noGrp="1"/>
          </p:cNvSpPr>
          <p:nvPr/>
        </p:nvSpPr>
        <p:spPr>
          <a:xfrm>
            <a:off x="658368" y="713232"/>
            <a:ext cx="10652760" cy="49377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2550" b="1">
                <a:solidFill>
                  <a:srgbClr val="14383E"/>
                </a:solidFill>
                <a:latin typeface="Noto Sans CJK SC"/>
                <a:ea typeface="Noto Sans CJK SC"/>
                <a:cs typeface="Noto Sans CJK SC"/>
              </a:rPr>
              <a:t>客户修改地址：两种处理路径</a:t>
            </a:r>
            <a:endParaRPr sz="2550"/>
          </a:p>
        </p:txBody>
      </p:sp>
      <p:sp>
        <p:nvSpPr>
          <p:cNvPr id="18" name="Text 16"/>
          <p:cNvSpPr>
            <a:spLocks noGrp="1"/>
          </p:cNvSpPr>
          <p:nvPr/>
        </p:nvSpPr>
        <p:spPr>
          <a:xfrm>
            <a:off x="658368" y="1197864"/>
            <a:ext cx="10469880" cy="29260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1120">
                <a:solidFill>
                  <a:srgbClr val="44585C"/>
                </a:solidFill>
                <a:latin typeface="Noto Sans CJK SC"/>
                <a:ea typeface="Noto Sans CJK SC"/>
                <a:cs typeface="Noto Sans CJK SC"/>
              </a:rPr>
              <a:t>传统路径先推文章，只回答了问题；Agent 路径查状态、确认后执行，把事办完。</a:t>
            </a:r>
            <a:endParaRPr sz="1120"/>
          </a:p>
        </p:txBody>
      </p:sp>
      <p:sp>
        <p:nvSpPr>
          <p:cNvPr id="19" name="Shape 17"/>
          <p:cNvSpPr>
            <a:spLocks noGrp="1"/>
          </p:cNvSpPr>
          <p:nvPr/>
        </p:nvSpPr>
        <p:spPr>
          <a:xfrm>
            <a:off x="658368" y="6510528"/>
            <a:ext cx="10835640" cy="0"/>
          </a:xfrm>
          <a:prstGeom prst="line">
            <a:avLst/>
          </a:prstGeom>
          <a:noFill/>
          <a:ln w="11430">
            <a:solidFill>
              <a:srgbClr val="D7E7E3"/>
            </a:solidFill>
            <a:prstDash val="solid"/>
          </a:ln>
        </p:spPr>
        <p:txBody>
          <a:bodyPr/>
          <a:lstStyle/>
          <a:p/>
        </p:txBody>
      </p:sp>
      <p:sp>
        <p:nvSpPr>
          <p:cNvPr id="20" name="Text 18"/>
          <p:cNvSpPr>
            <a:spLocks noGrp="1"/>
          </p:cNvSpPr>
          <p:nvPr/>
        </p:nvSpPr>
        <p:spPr>
          <a:xfrm>
            <a:off x="658368" y="6556248"/>
            <a:ext cx="2103120" cy="16459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750" b="1" spc="40">
                <a:solidFill>
                  <a:srgbClr val="5C7276"/>
                </a:solidFill>
                <a:latin typeface="Noto Sans CJK SC"/>
                <a:ea typeface="Noto Sans CJK SC"/>
                <a:cs typeface="Noto Sans CJK SC"/>
              </a:rPr>
              <a:t>CUSTOMER SERVICE AI AGENT</a:t>
            </a:r>
            <a:endParaRPr sz="750"/>
          </a:p>
        </p:txBody>
      </p:sp>
      <p:sp>
        <p:nvSpPr>
          <p:cNvPr id="21" name="Text 19"/>
          <p:cNvSpPr>
            <a:spLocks noGrp="1"/>
          </p:cNvSpPr>
          <p:nvPr/>
        </p:nvSpPr>
        <p:spPr>
          <a:xfrm>
            <a:off x="10698480" y="6519672"/>
            <a:ext cx="749808" cy="21945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</a:pPr>
            <a:r>
              <a:rPr sz="880" b="1">
                <a:solidFill>
                  <a:srgbClr val="076B50"/>
                </a:solidFill>
                <a:latin typeface="Noto Sans CJK SC"/>
                <a:ea typeface="Noto Sans CJK SC"/>
                <a:cs typeface="Noto Sans CJK SC"/>
              </a:rPr>
              <a:t>03</a:t>
            </a:r>
            <a:endParaRPr sz="880" b="1">
              <a:solidFill>
                <a:srgbClr val="0A8F6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2" name="Shape 20"/>
          <p:cNvSpPr>
            <a:spLocks noGrp="1"/>
          </p:cNvSpPr>
          <p:nvPr/>
        </p:nvSpPr>
        <p:spPr>
          <a:xfrm>
            <a:off x="768096" y="1627632"/>
            <a:ext cx="10652760" cy="585216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BFD9D4"/>
            </a:solidFill>
            <a:prstDash val="solid"/>
          </a:ln>
          <a:effectLst>
            <a:outerShdw blurRad="27940" dist="50800" dir="2700000" algn="bl" rotWithShape="0">
              <a:srgbClr val="436264">
                <a:alpha val="12000"/>
              </a:srgbClr>
            </a:outerShdw>
          </a:effectLst>
        </p:spPr>
        <p:txBody>
          <a:bodyPr/>
          <a:lstStyle/>
          <a:p/>
        </p:txBody>
      </p:sp>
      <p:sp>
        <p:nvSpPr>
          <p:cNvPr id="23" name="Shape 21"/>
          <p:cNvSpPr>
            <a:spLocks noGrp="1"/>
          </p:cNvSpPr>
          <p:nvPr/>
        </p:nvSpPr>
        <p:spPr>
          <a:xfrm>
            <a:off x="960120" y="1746504"/>
            <a:ext cx="329184" cy="329184"/>
          </a:xfrm>
          <a:prstGeom prst="ellipse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  <p:txBody>
          <a:bodyPr/>
          <a:lstStyle/>
          <a:p/>
        </p:txBody>
      </p:sp>
      <p:pic>
        <p:nvPicPr>
          <p:cNvPr id="132" name="Image 0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55583" y="1841967"/>
            <a:ext cx="138257" cy="138257"/>
          </a:xfrm>
          <a:prstGeom prst="rect">
            <a:avLst/>
          </a:prstGeom>
        </p:spPr>
      </p:pic>
      <p:sp>
        <p:nvSpPr>
          <p:cNvPr id="25" name="Text 22"/>
          <p:cNvSpPr>
            <a:spLocks noGrp="1"/>
          </p:cNvSpPr>
          <p:nvPr/>
        </p:nvSpPr>
        <p:spPr>
          <a:xfrm>
            <a:off x="1426464" y="1719072"/>
            <a:ext cx="8138160" cy="27432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1330" b="1">
                <a:solidFill>
                  <a:srgbClr val="14383E"/>
                </a:solidFill>
                <a:latin typeface="Noto Sans CJK SC"/>
                <a:ea typeface="Noto Sans CJK SC"/>
                <a:cs typeface="Noto Sans CJK SC"/>
              </a:rPr>
              <a:t>一位海外客户：订单还没有收到，希望改成新的收货地址。</a:t>
            </a:r>
            <a:endParaRPr sz="1330"/>
          </a:p>
        </p:txBody>
      </p:sp>
      <p:sp>
        <p:nvSpPr>
          <p:cNvPr id="26" name="Shape 23"/>
          <p:cNvSpPr>
            <a:spLocks noGrp="1"/>
          </p:cNvSpPr>
          <p:nvPr/>
        </p:nvSpPr>
        <p:spPr>
          <a:xfrm>
            <a:off x="9738360" y="1773936"/>
            <a:ext cx="1307592" cy="256032"/>
          </a:xfrm>
          <a:prstGeom prst="roundRect">
            <a:avLst>
              <a:gd name="adj" fmla="val 35714"/>
            </a:avLst>
          </a:prstGeom>
          <a:solidFill>
            <a:srgbClr val="E8F7F1"/>
          </a:solidFill>
          <a:ln w="12700">
            <a:solidFill>
              <a:srgbClr val="0A8F6A"/>
            </a:solidFill>
            <a:prstDash val="solid"/>
          </a:ln>
        </p:spPr>
        <p:txBody>
          <a:bodyPr/>
          <a:lstStyle/>
          <a:p/>
        </p:txBody>
      </p:sp>
      <p:sp>
        <p:nvSpPr>
          <p:cNvPr id="27" name="Text 24"/>
          <p:cNvSpPr>
            <a:spLocks noGrp="1"/>
          </p:cNvSpPr>
          <p:nvPr/>
        </p:nvSpPr>
        <p:spPr>
          <a:xfrm>
            <a:off x="9738360" y="1773936"/>
            <a:ext cx="1307592" cy="25603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sz="810" b="1">
                <a:solidFill>
                  <a:srgbClr val="076B50"/>
                </a:solidFill>
                <a:latin typeface="Noto Sans CJK SC"/>
                <a:ea typeface="Noto Sans CJK SC"/>
                <a:cs typeface="Noto Sans CJK SC"/>
              </a:rPr>
              <a:t>真实场景</a:t>
            </a:r>
            <a:endParaRPr sz="810"/>
          </a:p>
        </p:txBody>
      </p:sp>
      <p:sp>
        <p:nvSpPr>
          <p:cNvPr id="28" name="Shape 25"/>
          <p:cNvSpPr>
            <a:spLocks noGrp="1"/>
          </p:cNvSpPr>
          <p:nvPr/>
        </p:nvSpPr>
        <p:spPr>
          <a:xfrm>
            <a:off x="768096" y="2423160"/>
            <a:ext cx="4800600" cy="3456432"/>
          </a:xfrm>
          <a:prstGeom prst="roundRect">
            <a:avLst>
              <a:gd name="adj" fmla="val 4233"/>
            </a:avLst>
          </a:prstGeom>
          <a:solidFill>
            <a:srgbClr val="F4F7F7"/>
          </a:solidFill>
          <a:ln w="12700">
            <a:solidFill>
              <a:srgbClr val="C8D5D4"/>
            </a:solidFill>
            <a:prstDash val="solid"/>
          </a:ln>
          <a:effectLst>
            <a:outerShdw blurRad="27940" dist="50800" dir="2700000" algn="bl" rotWithShape="0">
              <a:srgbClr val="436264">
                <a:alpha val="12000"/>
              </a:srgbClr>
            </a:outerShdw>
          </a:effectLst>
        </p:spPr>
        <p:txBody>
          <a:bodyPr/>
          <a:lstStyle/>
          <a:p/>
        </p:txBody>
      </p:sp>
      <p:sp>
        <p:nvSpPr>
          <p:cNvPr id="30" name="Shape 27"/>
          <p:cNvSpPr>
            <a:spLocks noGrp="1"/>
          </p:cNvSpPr>
          <p:nvPr/>
        </p:nvSpPr>
        <p:spPr>
          <a:xfrm>
            <a:off x="987552" y="2651760"/>
            <a:ext cx="1051560" cy="274320"/>
          </a:xfrm>
          <a:prstGeom prst="roundRect">
            <a:avLst>
              <a:gd name="adj" fmla="val 33333"/>
            </a:avLst>
          </a:prstGeom>
          <a:solidFill>
            <a:srgbClr val="E9EEEE"/>
          </a:solidFill>
          <a:ln w="12700">
            <a:solidFill>
              <a:srgbClr val="6D7F82"/>
            </a:solidFill>
            <a:prstDash val="solid"/>
          </a:ln>
        </p:spPr>
        <p:txBody>
          <a:bodyPr/>
          <a:lstStyle/>
          <a:p/>
        </p:txBody>
      </p:sp>
      <p:sp>
        <p:nvSpPr>
          <p:cNvPr id="31" name="Text 28"/>
          <p:cNvSpPr>
            <a:spLocks noGrp="1"/>
          </p:cNvSpPr>
          <p:nvPr/>
        </p:nvSpPr>
        <p:spPr>
          <a:xfrm>
            <a:off x="987552" y="2651760"/>
            <a:ext cx="1051560" cy="27432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sz="820" b="1">
                <a:solidFill>
                  <a:srgbClr val="6D7F82"/>
                </a:solidFill>
                <a:latin typeface="Noto Sans CJK SC"/>
                <a:ea typeface="Noto Sans CJK SC"/>
                <a:cs typeface="Noto Sans CJK SC"/>
              </a:rPr>
              <a:t>路径 A</a:t>
            </a:r>
            <a:endParaRPr sz="820"/>
          </a:p>
        </p:txBody>
      </p:sp>
      <p:sp>
        <p:nvSpPr>
          <p:cNvPr id="32" name="Text 29"/>
          <p:cNvSpPr>
            <a:spLocks noGrp="1"/>
          </p:cNvSpPr>
          <p:nvPr/>
        </p:nvSpPr>
        <p:spPr>
          <a:xfrm>
            <a:off x="987552" y="3017520"/>
            <a:ext cx="1965960" cy="31089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1800" b="1">
                <a:solidFill>
                  <a:srgbClr val="14383E"/>
                </a:solidFill>
                <a:latin typeface="Noto Sans CJK SC"/>
                <a:ea typeface="Noto Sans CJK SC"/>
                <a:cs typeface="Noto Sans CJK SC"/>
              </a:rPr>
              <a:t>知识回复路径</a:t>
            </a:r>
            <a:endParaRPr sz="1800"/>
          </a:p>
        </p:txBody>
      </p:sp>
      <p:sp>
        <p:nvSpPr>
          <p:cNvPr id="33" name="Shape 30"/>
          <p:cNvSpPr>
            <a:spLocks noGrp="1"/>
          </p:cNvSpPr>
          <p:nvPr/>
        </p:nvSpPr>
        <p:spPr>
          <a:xfrm>
            <a:off x="1005840" y="3547872"/>
            <a:ext cx="310896" cy="310896"/>
          </a:xfrm>
          <a:prstGeom prst="ellipse">
            <a:avLst/>
          </a:prstGeom>
          <a:solidFill>
            <a:srgbClr val="93A6A8"/>
          </a:solidFill>
          <a:ln w="12700">
            <a:solidFill>
              <a:srgbClr val="93A6A8"/>
            </a:solidFill>
            <a:prstDash val="solid"/>
          </a:ln>
        </p:spPr>
        <p:txBody>
          <a:bodyPr/>
          <a:lstStyle/>
          <a:p/>
        </p:txBody>
      </p:sp>
      <p:pic>
        <p:nvPicPr>
          <p:cNvPr id="141" name="Image 1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96000" y="3638032"/>
            <a:ext cx="130576" cy="130576"/>
          </a:xfrm>
          <a:prstGeom prst="rect">
            <a:avLst/>
          </a:prstGeom>
        </p:spPr>
      </p:pic>
      <p:sp>
        <p:nvSpPr>
          <p:cNvPr id="35" name="Text 31"/>
          <p:cNvSpPr>
            <a:spLocks noGrp="1"/>
          </p:cNvSpPr>
          <p:nvPr/>
        </p:nvSpPr>
        <p:spPr>
          <a:xfrm>
            <a:off x="1444752" y="3529584"/>
            <a:ext cx="2103120" cy="20116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1050" b="1">
                <a:solidFill>
                  <a:srgbClr val="14383E"/>
                </a:solidFill>
                <a:latin typeface="Noto Sans CJK SC"/>
                <a:ea typeface="Noto Sans CJK SC"/>
                <a:cs typeface="Noto Sans CJK SC"/>
              </a:rPr>
              <a:t>关键词命中</a:t>
            </a:r>
            <a:endParaRPr sz="1050"/>
          </a:p>
        </p:txBody>
      </p:sp>
      <p:sp>
        <p:nvSpPr>
          <p:cNvPr id="36" name="Text 32"/>
          <p:cNvSpPr>
            <a:spLocks noGrp="1"/>
          </p:cNvSpPr>
          <p:nvPr/>
        </p:nvSpPr>
        <p:spPr>
          <a:xfrm>
            <a:off x="1444752" y="3767328"/>
            <a:ext cx="3429000" cy="20116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920">
                <a:solidFill>
                  <a:srgbClr val="44585C"/>
                </a:solidFill>
                <a:latin typeface="Noto Sans CJK SC"/>
                <a:ea typeface="Noto Sans CJK SC"/>
                <a:cs typeface="Noto Sans CJK SC"/>
              </a:rPr>
              <a:t>推送帮助文章</a:t>
            </a:r>
            <a:endParaRPr sz="920"/>
          </a:p>
        </p:txBody>
      </p:sp>
      <p:sp>
        <p:nvSpPr>
          <p:cNvPr id="37" name="Shape 33"/>
          <p:cNvSpPr>
            <a:spLocks noGrp="1"/>
          </p:cNvSpPr>
          <p:nvPr/>
        </p:nvSpPr>
        <p:spPr>
          <a:xfrm>
            <a:off x="1161288" y="3895344"/>
            <a:ext cx="0" cy="256032"/>
          </a:xfrm>
          <a:prstGeom prst="line">
            <a:avLst/>
          </a:prstGeom>
          <a:noFill/>
          <a:ln w="15240">
            <a:solidFill>
              <a:srgbClr val="B8C6C5"/>
            </a:solidFill>
            <a:prstDash val="solid"/>
            <a:tailEnd type="triangle"/>
          </a:ln>
        </p:spPr>
        <p:txBody>
          <a:bodyPr/>
          <a:lstStyle/>
          <a:p/>
        </p:txBody>
      </p:sp>
      <p:sp>
        <p:nvSpPr>
          <p:cNvPr id="38" name="Shape 34"/>
          <p:cNvSpPr>
            <a:spLocks noGrp="1"/>
          </p:cNvSpPr>
          <p:nvPr/>
        </p:nvSpPr>
        <p:spPr>
          <a:xfrm>
            <a:off x="1005840" y="4206240"/>
            <a:ext cx="310896" cy="310896"/>
          </a:xfrm>
          <a:prstGeom prst="ellipse">
            <a:avLst/>
          </a:prstGeom>
          <a:solidFill>
            <a:srgbClr val="93A6A8"/>
          </a:solidFill>
          <a:ln w="12700">
            <a:solidFill>
              <a:srgbClr val="93A6A8"/>
            </a:solidFill>
            <a:prstDash val="solid"/>
          </a:ln>
        </p:spPr>
        <p:txBody>
          <a:bodyPr/>
          <a:lstStyle/>
          <a:p/>
        </p:txBody>
      </p:sp>
      <p:pic>
        <p:nvPicPr>
          <p:cNvPr id="146" name="Image 2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96000" y="4296400"/>
            <a:ext cx="130576" cy="130576"/>
          </a:xfrm>
          <a:prstGeom prst="rect">
            <a:avLst/>
          </a:prstGeom>
        </p:spPr>
      </p:pic>
      <p:sp>
        <p:nvSpPr>
          <p:cNvPr id="40" name="Text 35"/>
          <p:cNvSpPr>
            <a:spLocks noGrp="1"/>
          </p:cNvSpPr>
          <p:nvPr/>
        </p:nvSpPr>
        <p:spPr>
          <a:xfrm>
            <a:off x="1444752" y="4187952"/>
            <a:ext cx="2103120" cy="20116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1050" b="1">
                <a:solidFill>
                  <a:srgbClr val="14383E"/>
                </a:solidFill>
                <a:latin typeface="Noto Sans CJK SC"/>
                <a:ea typeface="Noto Sans CJK SC"/>
                <a:cs typeface="Noto Sans CJK SC"/>
              </a:rPr>
              <a:t>客户发现无法自助修改</a:t>
            </a:r>
            <a:endParaRPr sz="1050"/>
          </a:p>
        </p:txBody>
      </p:sp>
      <p:sp>
        <p:nvSpPr>
          <p:cNvPr id="41" name="Text 36"/>
          <p:cNvSpPr>
            <a:spLocks noGrp="1"/>
          </p:cNvSpPr>
          <p:nvPr/>
        </p:nvSpPr>
        <p:spPr>
          <a:xfrm>
            <a:off x="1444752" y="4425696"/>
            <a:ext cx="3429000" cy="20116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920">
                <a:solidFill>
                  <a:srgbClr val="44585C"/>
                </a:solidFill>
                <a:latin typeface="Noto Sans CJK SC"/>
                <a:ea typeface="Noto Sans CJK SC"/>
                <a:cs typeface="Noto Sans CJK SC"/>
              </a:rPr>
              <a:t>再次发送邮件</a:t>
            </a:r>
            <a:endParaRPr sz="920"/>
          </a:p>
        </p:txBody>
      </p:sp>
      <p:sp>
        <p:nvSpPr>
          <p:cNvPr id="42" name="Shape 37"/>
          <p:cNvSpPr>
            <a:spLocks noGrp="1"/>
          </p:cNvSpPr>
          <p:nvPr/>
        </p:nvSpPr>
        <p:spPr>
          <a:xfrm>
            <a:off x="1161288" y="4553712"/>
            <a:ext cx="0" cy="256032"/>
          </a:xfrm>
          <a:prstGeom prst="line">
            <a:avLst/>
          </a:prstGeom>
          <a:noFill/>
          <a:ln w="15240">
            <a:solidFill>
              <a:srgbClr val="B8C6C5"/>
            </a:solidFill>
            <a:prstDash val="solid"/>
            <a:tailEnd type="triangle"/>
          </a:ln>
        </p:spPr>
        <p:txBody>
          <a:bodyPr/>
          <a:lstStyle/>
          <a:p/>
        </p:txBody>
      </p:sp>
      <p:sp>
        <p:nvSpPr>
          <p:cNvPr id="43" name="Shape 38"/>
          <p:cNvSpPr>
            <a:spLocks noGrp="1"/>
          </p:cNvSpPr>
          <p:nvPr/>
        </p:nvSpPr>
        <p:spPr>
          <a:xfrm>
            <a:off x="1005840" y="4864608"/>
            <a:ext cx="310896" cy="310896"/>
          </a:xfrm>
          <a:prstGeom prst="ellipse">
            <a:avLst/>
          </a:prstGeom>
          <a:solidFill>
            <a:srgbClr val="93A6A8"/>
          </a:solidFill>
          <a:ln w="12700">
            <a:solidFill>
              <a:srgbClr val="93A6A8"/>
            </a:solidFill>
            <a:prstDash val="solid"/>
          </a:ln>
        </p:spPr>
        <p:txBody>
          <a:bodyPr/>
          <a:lstStyle/>
          <a:p/>
        </p:txBody>
      </p:sp>
      <p:pic>
        <p:nvPicPr>
          <p:cNvPr id="151" name="Image 3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96000" y="4954768"/>
            <a:ext cx="130576" cy="130576"/>
          </a:xfrm>
          <a:prstGeom prst="rect">
            <a:avLst/>
          </a:prstGeom>
        </p:spPr>
      </p:pic>
      <p:sp>
        <p:nvSpPr>
          <p:cNvPr id="45" name="Text 39"/>
          <p:cNvSpPr>
            <a:spLocks noGrp="1"/>
          </p:cNvSpPr>
          <p:nvPr/>
        </p:nvSpPr>
        <p:spPr>
          <a:xfrm>
            <a:off x="1444752" y="4846320"/>
            <a:ext cx="2103120" cy="20116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1050" b="1">
                <a:solidFill>
                  <a:srgbClr val="14383E"/>
                </a:solidFill>
                <a:latin typeface="Noto Sans CJK SC"/>
                <a:ea typeface="Noto Sans CJK SC"/>
                <a:cs typeface="Noto Sans CJK SC"/>
              </a:rPr>
              <a:t>人工重新收集信息</a:t>
            </a:r>
            <a:endParaRPr sz="1050"/>
          </a:p>
        </p:txBody>
      </p:sp>
      <p:sp>
        <p:nvSpPr>
          <p:cNvPr id="46" name="Text 40"/>
          <p:cNvSpPr>
            <a:spLocks noGrp="1"/>
          </p:cNvSpPr>
          <p:nvPr/>
        </p:nvSpPr>
        <p:spPr>
          <a:xfrm>
            <a:off x="1444752" y="5084064"/>
            <a:ext cx="3429000" cy="20116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920">
                <a:solidFill>
                  <a:srgbClr val="44585C"/>
                </a:solidFill>
                <a:latin typeface="Noto Sans CJK SC"/>
                <a:ea typeface="Noto Sans CJK SC"/>
                <a:cs typeface="Noto Sans CJK SC"/>
              </a:rPr>
              <a:t>查询订单并修改</a:t>
            </a:r>
            <a:endParaRPr sz="920"/>
          </a:p>
        </p:txBody>
      </p:sp>
      <p:sp>
        <p:nvSpPr>
          <p:cNvPr id="47" name="Shape 41"/>
          <p:cNvSpPr>
            <a:spLocks noGrp="1"/>
          </p:cNvSpPr>
          <p:nvPr/>
        </p:nvSpPr>
        <p:spPr>
          <a:xfrm>
            <a:off x="987552" y="5495544"/>
            <a:ext cx="4315968" cy="274320"/>
          </a:xfrm>
          <a:prstGeom prst="roundRect">
            <a:avLst>
              <a:gd name="adj" fmla="val 33333"/>
            </a:avLst>
          </a:prstGeom>
          <a:solidFill>
            <a:srgbClr val="FDEDEC"/>
          </a:solidFill>
          <a:ln w="12700">
            <a:solidFill>
              <a:srgbClr val="E2574C"/>
            </a:solidFill>
            <a:prstDash val="solid"/>
          </a:ln>
        </p:spPr>
        <p:txBody>
          <a:bodyPr/>
          <a:lstStyle/>
          <a:p/>
        </p:txBody>
      </p:sp>
      <p:sp>
        <p:nvSpPr>
          <p:cNvPr id="48" name="Text 42"/>
          <p:cNvSpPr>
            <a:spLocks noGrp="1"/>
          </p:cNvSpPr>
          <p:nvPr/>
        </p:nvSpPr>
        <p:spPr>
          <a:xfrm>
            <a:off x="987552" y="5495544"/>
            <a:ext cx="4315968" cy="27432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sz="870" b="1">
                <a:solidFill>
                  <a:srgbClr val="B8362C"/>
                </a:solidFill>
                <a:latin typeface="Noto Sans CJK SC"/>
                <a:ea typeface="Noto Sans CJK SC"/>
                <a:cs typeface="Noto Sans CJK SC"/>
              </a:rPr>
              <a:t>重复沟通 · 处理时长拉长 · 人工重新介入</a:t>
            </a:r>
            <a:endParaRPr sz="870"/>
          </a:p>
        </p:txBody>
      </p:sp>
      <p:sp>
        <p:nvSpPr>
          <p:cNvPr id="49" name="Shape 43"/>
          <p:cNvSpPr>
            <a:spLocks noGrp="1"/>
          </p:cNvSpPr>
          <p:nvPr/>
        </p:nvSpPr>
        <p:spPr>
          <a:xfrm>
            <a:off x="5833872" y="2423160"/>
            <a:ext cx="5586984" cy="3456432"/>
          </a:xfrm>
          <a:prstGeom prst="roundRect">
            <a:avLst>
              <a:gd name="adj" fmla="val 4233"/>
            </a:avLst>
          </a:prstGeom>
          <a:solidFill>
            <a:srgbClr val="FFFFFF"/>
          </a:solidFill>
          <a:ln w="12700">
            <a:solidFill>
              <a:srgbClr val="0A8F6A"/>
            </a:solidFill>
            <a:prstDash val="solid"/>
          </a:ln>
          <a:effectLst>
            <a:outerShdw blurRad="27940" dist="50800" dir="2700000" algn="bl" rotWithShape="0">
              <a:srgbClr val="436264">
                <a:alpha val="12000"/>
              </a:srgbClr>
            </a:outerShdw>
          </a:effectLst>
        </p:spPr>
        <p:txBody>
          <a:bodyPr/>
          <a:lstStyle/>
          <a:p/>
        </p:txBody>
      </p:sp>
      <p:sp>
        <p:nvSpPr>
          <p:cNvPr id="51" name="Shape 45"/>
          <p:cNvSpPr>
            <a:spLocks noGrp="1"/>
          </p:cNvSpPr>
          <p:nvPr/>
        </p:nvSpPr>
        <p:spPr>
          <a:xfrm>
            <a:off x="6053328" y="2651760"/>
            <a:ext cx="1051560" cy="274320"/>
          </a:xfrm>
          <a:prstGeom prst="roundRect">
            <a:avLst>
              <a:gd name="adj" fmla="val 33333"/>
            </a:avLst>
          </a:prstGeom>
          <a:solidFill>
            <a:srgbClr val="E8F7F1"/>
          </a:solidFill>
          <a:ln w="12700">
            <a:solidFill>
              <a:srgbClr val="0A8F6A"/>
            </a:solidFill>
            <a:prstDash val="solid"/>
          </a:ln>
        </p:spPr>
        <p:txBody>
          <a:bodyPr/>
          <a:lstStyle/>
          <a:p/>
        </p:txBody>
      </p:sp>
      <p:sp>
        <p:nvSpPr>
          <p:cNvPr id="52" name="Text 46"/>
          <p:cNvSpPr>
            <a:spLocks noGrp="1"/>
          </p:cNvSpPr>
          <p:nvPr/>
        </p:nvSpPr>
        <p:spPr>
          <a:xfrm>
            <a:off x="6053328" y="2651760"/>
            <a:ext cx="1051560" cy="27432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sz="820" b="1">
                <a:solidFill>
                  <a:srgbClr val="076B50"/>
                </a:solidFill>
                <a:latin typeface="Noto Sans CJK SC"/>
                <a:ea typeface="Noto Sans CJK SC"/>
                <a:cs typeface="Noto Sans CJK SC"/>
              </a:rPr>
              <a:t>路径 B</a:t>
            </a:r>
            <a:endParaRPr sz="820"/>
          </a:p>
        </p:txBody>
      </p:sp>
      <p:sp>
        <p:nvSpPr>
          <p:cNvPr id="53" name="Text 47"/>
          <p:cNvSpPr>
            <a:spLocks noGrp="1"/>
          </p:cNvSpPr>
          <p:nvPr/>
        </p:nvSpPr>
        <p:spPr>
          <a:xfrm>
            <a:off x="6053328" y="3017520"/>
            <a:ext cx="22402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1800" b="1">
                <a:solidFill>
                  <a:srgbClr val="14383E"/>
                </a:solidFill>
                <a:latin typeface="Noto Sans CJK SC"/>
                <a:ea typeface="Noto Sans CJK SC"/>
                <a:cs typeface="Noto Sans CJK SC"/>
              </a:rPr>
              <a:t>Agent 处理路径</a:t>
            </a:r>
            <a:endParaRPr sz="1800"/>
          </a:p>
        </p:txBody>
      </p:sp>
      <p:sp>
        <p:nvSpPr>
          <p:cNvPr id="54" name="Shape 48"/>
          <p:cNvSpPr>
            <a:spLocks noGrp="1"/>
          </p:cNvSpPr>
          <p:nvPr/>
        </p:nvSpPr>
        <p:spPr>
          <a:xfrm>
            <a:off x="6080760" y="3511296"/>
            <a:ext cx="1481328" cy="731520"/>
          </a:xfrm>
          <a:prstGeom prst="roundRect">
            <a:avLst>
              <a:gd name="adj" fmla="val 20000"/>
            </a:avLst>
          </a:prstGeom>
          <a:solidFill>
            <a:srgbClr val="EAF3FF"/>
          </a:solidFill>
          <a:ln w="12700">
            <a:solidFill>
              <a:srgbClr val="2F80ED"/>
            </a:solidFill>
            <a:prstDash val="solid"/>
          </a:ln>
        </p:spPr>
        <p:txBody>
          <a:bodyPr/>
          <a:lstStyle/>
          <a:p/>
        </p:txBody>
      </p:sp>
      <p:sp>
        <p:nvSpPr>
          <p:cNvPr id="55" name="Shape 49"/>
          <p:cNvSpPr>
            <a:spLocks noGrp="1"/>
          </p:cNvSpPr>
          <p:nvPr/>
        </p:nvSpPr>
        <p:spPr>
          <a:xfrm>
            <a:off x="6172200" y="3648456"/>
            <a:ext cx="274320" cy="274320"/>
          </a:xfrm>
          <a:prstGeom prst="ellipse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  <p:txBody>
          <a:bodyPr/>
          <a:lstStyle/>
          <a:p/>
        </p:txBody>
      </p:sp>
      <p:pic>
        <p:nvPicPr>
          <p:cNvPr id="162" name="Image 4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251753" y="3728009"/>
            <a:ext cx="115214" cy="115214"/>
          </a:xfrm>
          <a:prstGeom prst="rect">
            <a:avLst/>
          </a:prstGeom>
        </p:spPr>
      </p:pic>
      <p:sp>
        <p:nvSpPr>
          <p:cNvPr id="57" name="Text 50"/>
          <p:cNvSpPr>
            <a:spLocks noGrp="1"/>
          </p:cNvSpPr>
          <p:nvPr/>
        </p:nvSpPr>
        <p:spPr>
          <a:xfrm>
            <a:off x="6501384" y="3621024"/>
            <a:ext cx="896112" cy="19202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970" b="1">
                <a:solidFill>
                  <a:srgbClr val="14383E"/>
                </a:solidFill>
                <a:latin typeface="Noto Sans CJK SC"/>
                <a:ea typeface="Noto Sans CJK SC"/>
                <a:cs typeface="Noto Sans CJK SC"/>
              </a:rPr>
              <a:t>识别场景</a:t>
            </a:r>
            <a:endParaRPr sz="970"/>
          </a:p>
        </p:txBody>
      </p:sp>
      <p:sp>
        <p:nvSpPr>
          <p:cNvPr id="58" name="Text 51"/>
          <p:cNvSpPr>
            <a:spLocks noGrp="1"/>
          </p:cNvSpPr>
          <p:nvPr/>
        </p:nvSpPr>
        <p:spPr>
          <a:xfrm>
            <a:off x="6501384" y="3849624"/>
            <a:ext cx="914400" cy="24688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760">
                <a:solidFill>
                  <a:srgbClr val="44585C"/>
                </a:solidFill>
                <a:latin typeface="Noto Sans CJK SC"/>
                <a:ea typeface="Noto Sans CJK SC"/>
                <a:cs typeface="Noto Sans CJK SC"/>
              </a:rPr>
              <a:t>修改地址</a:t>
            </a:r>
            <a:endParaRPr sz="760"/>
          </a:p>
        </p:txBody>
      </p:sp>
      <p:sp>
        <p:nvSpPr>
          <p:cNvPr id="59" name="Shape 52"/>
          <p:cNvSpPr>
            <a:spLocks noGrp="1"/>
          </p:cNvSpPr>
          <p:nvPr/>
        </p:nvSpPr>
        <p:spPr>
          <a:xfrm>
            <a:off x="7781544" y="3511296"/>
            <a:ext cx="1481328" cy="731520"/>
          </a:xfrm>
          <a:prstGeom prst="roundRect">
            <a:avLst>
              <a:gd name="adj" fmla="val 20000"/>
            </a:avLst>
          </a:prstGeom>
          <a:solidFill>
            <a:srgbClr val="E8F7F1"/>
          </a:solidFill>
          <a:ln w="12700">
            <a:solidFill>
              <a:srgbClr val="12B07D"/>
            </a:solidFill>
            <a:prstDash val="solid"/>
          </a:ln>
        </p:spPr>
        <p:txBody>
          <a:bodyPr/>
          <a:lstStyle/>
          <a:p/>
        </p:txBody>
      </p:sp>
      <p:sp>
        <p:nvSpPr>
          <p:cNvPr id="60" name="Shape 53"/>
          <p:cNvSpPr>
            <a:spLocks noGrp="1"/>
          </p:cNvSpPr>
          <p:nvPr/>
        </p:nvSpPr>
        <p:spPr>
          <a:xfrm>
            <a:off x="7872984" y="3648456"/>
            <a:ext cx="274320" cy="274320"/>
          </a:xfrm>
          <a:prstGeom prst="ellipse">
            <a:avLst/>
          </a:prstGeom>
          <a:solidFill>
            <a:srgbClr val="12B07D"/>
          </a:solidFill>
          <a:ln w="12700">
            <a:solidFill>
              <a:srgbClr val="12B07D"/>
            </a:solidFill>
            <a:prstDash val="solid"/>
          </a:ln>
        </p:spPr>
        <p:txBody>
          <a:bodyPr/>
          <a:lstStyle/>
          <a:p/>
        </p:txBody>
      </p:sp>
      <p:pic>
        <p:nvPicPr>
          <p:cNvPr id="167" name="Image 5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952537" y="3728009"/>
            <a:ext cx="115214" cy="115214"/>
          </a:xfrm>
          <a:prstGeom prst="rect">
            <a:avLst/>
          </a:prstGeom>
        </p:spPr>
      </p:pic>
      <p:sp>
        <p:nvSpPr>
          <p:cNvPr id="62" name="Text 54"/>
          <p:cNvSpPr>
            <a:spLocks noGrp="1"/>
          </p:cNvSpPr>
          <p:nvPr/>
        </p:nvSpPr>
        <p:spPr>
          <a:xfrm>
            <a:off x="8202168" y="3621024"/>
            <a:ext cx="896112" cy="19202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970" b="1">
                <a:solidFill>
                  <a:srgbClr val="14383E"/>
                </a:solidFill>
                <a:latin typeface="Noto Sans CJK SC"/>
                <a:ea typeface="Noto Sans CJK SC"/>
                <a:cs typeface="Noto Sans CJK SC"/>
              </a:rPr>
              <a:t>提取字段</a:t>
            </a:r>
            <a:endParaRPr sz="970"/>
          </a:p>
        </p:txBody>
      </p:sp>
      <p:sp>
        <p:nvSpPr>
          <p:cNvPr id="63" name="Text 55"/>
          <p:cNvSpPr>
            <a:spLocks noGrp="1"/>
          </p:cNvSpPr>
          <p:nvPr/>
        </p:nvSpPr>
        <p:spPr>
          <a:xfrm>
            <a:off x="8202168" y="3849624"/>
            <a:ext cx="914400" cy="24688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760">
                <a:solidFill>
                  <a:srgbClr val="44585C"/>
                </a:solidFill>
                <a:latin typeface="Noto Sans CJK SC"/>
                <a:ea typeface="Noto Sans CJK SC"/>
                <a:cs typeface="Noto Sans CJK SC"/>
              </a:rPr>
              <a:t>订单与新地址</a:t>
            </a:r>
            <a:endParaRPr sz="760"/>
          </a:p>
        </p:txBody>
      </p:sp>
      <p:sp>
        <p:nvSpPr>
          <p:cNvPr id="64" name="Shape 56"/>
          <p:cNvSpPr>
            <a:spLocks noGrp="1"/>
          </p:cNvSpPr>
          <p:nvPr/>
        </p:nvSpPr>
        <p:spPr>
          <a:xfrm>
            <a:off x="9482328" y="3511296"/>
            <a:ext cx="1481328" cy="731520"/>
          </a:xfrm>
          <a:prstGeom prst="roundRect">
            <a:avLst>
              <a:gd name="adj" fmla="val 20000"/>
            </a:avLst>
          </a:prstGeom>
          <a:solidFill>
            <a:srgbClr val="E7F7F7"/>
          </a:solidFill>
          <a:ln w="12700">
            <a:solidFill>
              <a:srgbClr val="00A7A7"/>
            </a:solidFill>
            <a:prstDash val="solid"/>
          </a:ln>
        </p:spPr>
        <p:txBody>
          <a:bodyPr/>
          <a:lstStyle/>
          <a:p/>
        </p:txBody>
      </p:sp>
      <p:sp>
        <p:nvSpPr>
          <p:cNvPr id="65" name="Shape 57"/>
          <p:cNvSpPr>
            <a:spLocks noGrp="1"/>
          </p:cNvSpPr>
          <p:nvPr/>
        </p:nvSpPr>
        <p:spPr>
          <a:xfrm>
            <a:off x="9573768" y="3648456"/>
            <a:ext cx="274320" cy="274320"/>
          </a:xfrm>
          <a:prstGeom prst="ellipse">
            <a:avLst/>
          </a:prstGeom>
          <a:solidFill>
            <a:srgbClr val="00A7A7"/>
          </a:solidFill>
          <a:ln w="12700">
            <a:solidFill>
              <a:srgbClr val="00A7A7"/>
            </a:solidFill>
            <a:prstDash val="solid"/>
          </a:ln>
        </p:spPr>
        <p:txBody>
          <a:bodyPr/>
          <a:lstStyle/>
          <a:p/>
        </p:txBody>
      </p:sp>
      <p:pic>
        <p:nvPicPr>
          <p:cNvPr id="172" name="Image 6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653321" y="3728009"/>
            <a:ext cx="115214" cy="115214"/>
          </a:xfrm>
          <a:prstGeom prst="rect">
            <a:avLst/>
          </a:prstGeom>
        </p:spPr>
      </p:pic>
      <p:sp>
        <p:nvSpPr>
          <p:cNvPr id="67" name="Text 58"/>
          <p:cNvSpPr>
            <a:spLocks noGrp="1"/>
          </p:cNvSpPr>
          <p:nvPr/>
        </p:nvSpPr>
        <p:spPr>
          <a:xfrm>
            <a:off x="9902952" y="3621024"/>
            <a:ext cx="896112" cy="19202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970" b="1">
                <a:solidFill>
                  <a:srgbClr val="14383E"/>
                </a:solidFill>
                <a:latin typeface="Noto Sans CJK SC"/>
                <a:ea typeface="Noto Sans CJK SC"/>
                <a:cs typeface="Noto Sans CJK SC"/>
              </a:rPr>
              <a:t>查询状态</a:t>
            </a:r>
            <a:endParaRPr sz="970"/>
          </a:p>
        </p:txBody>
      </p:sp>
      <p:sp>
        <p:nvSpPr>
          <p:cNvPr id="68" name="Text 59"/>
          <p:cNvSpPr>
            <a:spLocks noGrp="1"/>
          </p:cNvSpPr>
          <p:nvPr/>
        </p:nvSpPr>
        <p:spPr>
          <a:xfrm>
            <a:off x="9902952" y="3849624"/>
            <a:ext cx="914400" cy="24688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760">
                <a:solidFill>
                  <a:srgbClr val="44585C"/>
                </a:solidFill>
                <a:latin typeface="Noto Sans CJK SC"/>
                <a:ea typeface="Noto Sans CJK SC"/>
                <a:cs typeface="Noto Sans CJK SC"/>
              </a:rPr>
              <a:t>订单与履约</a:t>
            </a:r>
            <a:endParaRPr sz="760"/>
          </a:p>
        </p:txBody>
      </p:sp>
      <p:sp>
        <p:nvSpPr>
          <p:cNvPr id="69" name="Shape 60"/>
          <p:cNvSpPr>
            <a:spLocks noGrp="1"/>
          </p:cNvSpPr>
          <p:nvPr/>
        </p:nvSpPr>
        <p:spPr>
          <a:xfrm>
            <a:off x="6080760" y="4443984"/>
            <a:ext cx="1481328" cy="731520"/>
          </a:xfrm>
          <a:prstGeom prst="roundRect">
            <a:avLst>
              <a:gd name="adj" fmla="val 20000"/>
            </a:avLst>
          </a:prstGeom>
          <a:solidFill>
            <a:srgbClr val="FFF6E5"/>
          </a:solidFill>
          <a:ln w="12700">
            <a:solidFill>
              <a:srgbClr val="F7AA2B"/>
            </a:solidFill>
            <a:prstDash val="solid"/>
          </a:ln>
        </p:spPr>
        <p:txBody>
          <a:bodyPr/>
          <a:lstStyle/>
          <a:p/>
        </p:txBody>
      </p:sp>
      <p:sp>
        <p:nvSpPr>
          <p:cNvPr id="70" name="Shape 61"/>
          <p:cNvSpPr>
            <a:spLocks noGrp="1"/>
          </p:cNvSpPr>
          <p:nvPr/>
        </p:nvSpPr>
        <p:spPr>
          <a:xfrm>
            <a:off x="6172200" y="4581144"/>
            <a:ext cx="274320" cy="274320"/>
          </a:xfrm>
          <a:prstGeom prst="ellipse">
            <a:avLst/>
          </a:prstGeom>
          <a:solidFill>
            <a:srgbClr val="F7AA2B"/>
          </a:solidFill>
          <a:ln w="12700">
            <a:solidFill>
              <a:srgbClr val="F7AA2B"/>
            </a:solidFill>
            <a:prstDash val="solid"/>
          </a:ln>
        </p:spPr>
        <p:txBody>
          <a:bodyPr/>
          <a:lstStyle/>
          <a:p/>
        </p:txBody>
      </p:sp>
      <p:pic>
        <p:nvPicPr>
          <p:cNvPr id="177" name="Image 7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251753" y="4660697"/>
            <a:ext cx="115214" cy="115214"/>
          </a:xfrm>
          <a:prstGeom prst="rect">
            <a:avLst/>
          </a:prstGeom>
        </p:spPr>
      </p:pic>
      <p:sp>
        <p:nvSpPr>
          <p:cNvPr id="72" name="Text 62"/>
          <p:cNvSpPr>
            <a:spLocks noGrp="1"/>
          </p:cNvSpPr>
          <p:nvPr/>
        </p:nvSpPr>
        <p:spPr>
          <a:xfrm>
            <a:off x="6501384" y="4553712"/>
            <a:ext cx="896112" cy="19202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970" b="1">
                <a:solidFill>
                  <a:srgbClr val="14383E"/>
                </a:solidFill>
                <a:latin typeface="Noto Sans CJK SC"/>
                <a:ea typeface="Noto Sans CJK SC"/>
                <a:cs typeface="Noto Sans CJK SC"/>
              </a:rPr>
              <a:t>客户确认</a:t>
            </a:r>
            <a:endParaRPr sz="970"/>
          </a:p>
        </p:txBody>
      </p:sp>
      <p:sp>
        <p:nvSpPr>
          <p:cNvPr id="73" name="Text 63"/>
          <p:cNvSpPr>
            <a:spLocks noGrp="1"/>
          </p:cNvSpPr>
          <p:nvPr/>
        </p:nvSpPr>
        <p:spPr>
          <a:xfrm>
            <a:off x="6501384" y="4782312"/>
            <a:ext cx="914400" cy="24688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760">
                <a:solidFill>
                  <a:srgbClr val="44585C"/>
                </a:solidFill>
                <a:latin typeface="Noto Sans CJK SC"/>
                <a:ea typeface="Noto Sans CJK SC"/>
                <a:cs typeface="Noto Sans CJK SC"/>
              </a:rPr>
              <a:t>确认对象与范围</a:t>
            </a:r>
            <a:endParaRPr sz="760"/>
          </a:p>
        </p:txBody>
      </p:sp>
      <p:sp>
        <p:nvSpPr>
          <p:cNvPr id="74" name="Shape 64"/>
          <p:cNvSpPr>
            <a:spLocks noGrp="1"/>
          </p:cNvSpPr>
          <p:nvPr/>
        </p:nvSpPr>
        <p:spPr>
          <a:xfrm>
            <a:off x="7781544" y="4443984"/>
            <a:ext cx="1481328" cy="731520"/>
          </a:xfrm>
          <a:prstGeom prst="roundRect">
            <a:avLst>
              <a:gd name="adj" fmla="val 20000"/>
            </a:avLst>
          </a:prstGeom>
          <a:solidFill>
            <a:srgbClr val="FFF2E8"/>
          </a:solidFill>
          <a:ln w="12700">
            <a:solidFill>
              <a:srgbClr val="F28B36"/>
            </a:solidFill>
            <a:prstDash val="solid"/>
          </a:ln>
        </p:spPr>
        <p:txBody>
          <a:bodyPr/>
          <a:lstStyle/>
          <a:p/>
        </p:txBody>
      </p:sp>
      <p:sp>
        <p:nvSpPr>
          <p:cNvPr id="75" name="Shape 65"/>
          <p:cNvSpPr>
            <a:spLocks noGrp="1"/>
          </p:cNvSpPr>
          <p:nvPr/>
        </p:nvSpPr>
        <p:spPr>
          <a:xfrm>
            <a:off x="7872984" y="4581144"/>
            <a:ext cx="274320" cy="274320"/>
          </a:xfrm>
          <a:prstGeom prst="ellipse">
            <a:avLst/>
          </a:prstGeom>
          <a:solidFill>
            <a:srgbClr val="F28B36"/>
          </a:solidFill>
          <a:ln w="12700">
            <a:solidFill>
              <a:srgbClr val="F28B36"/>
            </a:solidFill>
            <a:prstDash val="solid"/>
          </a:ln>
        </p:spPr>
        <p:txBody>
          <a:bodyPr/>
          <a:lstStyle/>
          <a:p/>
        </p:txBody>
      </p:sp>
      <p:pic>
        <p:nvPicPr>
          <p:cNvPr id="182" name="Image 8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952537" y="4660697"/>
            <a:ext cx="115214" cy="115214"/>
          </a:xfrm>
          <a:prstGeom prst="rect">
            <a:avLst/>
          </a:prstGeom>
        </p:spPr>
      </p:pic>
      <p:sp>
        <p:nvSpPr>
          <p:cNvPr id="77" name="Text 66"/>
          <p:cNvSpPr>
            <a:spLocks noGrp="1"/>
          </p:cNvSpPr>
          <p:nvPr/>
        </p:nvSpPr>
        <p:spPr>
          <a:xfrm>
            <a:off x="8202168" y="4553712"/>
            <a:ext cx="896112" cy="19202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970" b="1">
                <a:solidFill>
                  <a:srgbClr val="14383E"/>
                </a:solidFill>
                <a:latin typeface="Noto Sans CJK SC"/>
                <a:ea typeface="Noto Sans CJK SC"/>
                <a:cs typeface="Noto Sans CJK SC"/>
              </a:rPr>
              <a:t>执行业务</a:t>
            </a:r>
            <a:endParaRPr sz="970"/>
          </a:p>
        </p:txBody>
      </p:sp>
      <p:sp>
        <p:nvSpPr>
          <p:cNvPr id="78" name="Text 67"/>
          <p:cNvSpPr>
            <a:spLocks noGrp="1"/>
          </p:cNvSpPr>
          <p:nvPr/>
        </p:nvSpPr>
        <p:spPr>
          <a:xfrm>
            <a:off x="8202168" y="4782312"/>
            <a:ext cx="914400" cy="24688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760">
                <a:solidFill>
                  <a:srgbClr val="44585C"/>
                </a:solidFill>
                <a:latin typeface="Noto Sans CJK SC"/>
                <a:ea typeface="Noto Sans CJK SC"/>
                <a:cs typeface="Noto Sans CJK SC"/>
              </a:rPr>
              <a:t>调用能力平台</a:t>
            </a:r>
            <a:endParaRPr sz="760"/>
          </a:p>
        </p:txBody>
      </p:sp>
      <p:sp>
        <p:nvSpPr>
          <p:cNvPr id="79" name="Shape 68"/>
          <p:cNvSpPr>
            <a:spLocks noGrp="1"/>
          </p:cNvSpPr>
          <p:nvPr/>
        </p:nvSpPr>
        <p:spPr>
          <a:xfrm>
            <a:off x="9482328" y="4443984"/>
            <a:ext cx="1481328" cy="731520"/>
          </a:xfrm>
          <a:prstGeom prst="roundRect">
            <a:avLst>
              <a:gd name="adj" fmla="val 20000"/>
            </a:avLst>
          </a:prstGeom>
          <a:solidFill>
            <a:srgbClr val="EEF0FF"/>
          </a:solidFill>
          <a:ln w="12700">
            <a:solidFill>
              <a:srgbClr val="6B6FD8"/>
            </a:solidFill>
            <a:prstDash val="solid"/>
          </a:ln>
        </p:spPr>
        <p:txBody>
          <a:bodyPr/>
          <a:lstStyle/>
          <a:p/>
        </p:txBody>
      </p:sp>
      <p:sp>
        <p:nvSpPr>
          <p:cNvPr id="80" name="Shape 69"/>
          <p:cNvSpPr>
            <a:spLocks noGrp="1"/>
          </p:cNvSpPr>
          <p:nvPr/>
        </p:nvSpPr>
        <p:spPr>
          <a:xfrm>
            <a:off x="9573768" y="4581144"/>
            <a:ext cx="274320" cy="274320"/>
          </a:xfrm>
          <a:prstGeom prst="ellipse">
            <a:avLst/>
          </a:prstGeom>
          <a:solidFill>
            <a:srgbClr val="6B6FD8"/>
          </a:solidFill>
          <a:ln w="12700">
            <a:solidFill>
              <a:srgbClr val="6B6FD8"/>
            </a:solidFill>
            <a:prstDash val="solid"/>
          </a:ln>
        </p:spPr>
        <p:txBody>
          <a:bodyPr/>
          <a:lstStyle/>
          <a:p/>
        </p:txBody>
      </p:sp>
      <p:pic>
        <p:nvPicPr>
          <p:cNvPr id="187" name="Image 9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653321" y="4660697"/>
            <a:ext cx="115214" cy="115214"/>
          </a:xfrm>
          <a:prstGeom prst="rect">
            <a:avLst/>
          </a:prstGeom>
        </p:spPr>
      </p:pic>
      <p:sp>
        <p:nvSpPr>
          <p:cNvPr id="82" name="Text 70"/>
          <p:cNvSpPr>
            <a:spLocks noGrp="1"/>
          </p:cNvSpPr>
          <p:nvPr/>
        </p:nvSpPr>
        <p:spPr>
          <a:xfrm>
            <a:off x="9902952" y="4553712"/>
            <a:ext cx="896112" cy="19202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970" b="1">
                <a:solidFill>
                  <a:srgbClr val="14383E"/>
                </a:solidFill>
                <a:latin typeface="Noto Sans CJK SC"/>
                <a:ea typeface="Noto Sans CJK SC"/>
                <a:cs typeface="Noto Sans CJK SC"/>
              </a:rPr>
              <a:t>回写工单</a:t>
            </a:r>
            <a:endParaRPr sz="970"/>
          </a:p>
        </p:txBody>
      </p:sp>
      <p:sp>
        <p:nvSpPr>
          <p:cNvPr id="83" name="Text 71"/>
          <p:cNvSpPr>
            <a:spLocks noGrp="1"/>
          </p:cNvSpPr>
          <p:nvPr/>
        </p:nvSpPr>
        <p:spPr>
          <a:xfrm>
            <a:off x="9902952" y="4782312"/>
            <a:ext cx="914400" cy="24688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760">
                <a:solidFill>
                  <a:srgbClr val="44585C"/>
                </a:solidFill>
                <a:latin typeface="Noto Sans CJK SC"/>
                <a:ea typeface="Noto Sans CJK SC"/>
                <a:cs typeface="Noto Sans CJK SC"/>
              </a:rPr>
              <a:t>状态与审计记录</a:t>
            </a:r>
            <a:endParaRPr sz="760"/>
          </a:p>
        </p:txBody>
      </p:sp>
      <p:sp>
        <p:nvSpPr>
          <p:cNvPr id="84" name="Shape 72"/>
          <p:cNvSpPr>
            <a:spLocks noGrp="1"/>
          </p:cNvSpPr>
          <p:nvPr/>
        </p:nvSpPr>
        <p:spPr>
          <a:xfrm>
            <a:off x="7589520" y="3703320"/>
            <a:ext cx="182880" cy="256032"/>
          </a:xfrm>
          <a:prstGeom prst="chevron">
            <a:avLst/>
          </a:prstGeom>
          <a:solidFill>
            <a:srgbClr val="92A9AA"/>
          </a:solidFill>
          <a:ln w="12700">
            <a:solidFill>
              <a:srgbClr val="92A9AA"/>
            </a:solidFill>
            <a:prstDash val="solid"/>
          </a:ln>
        </p:spPr>
        <p:txBody>
          <a:bodyPr/>
          <a:lstStyle/>
          <a:p/>
        </p:txBody>
      </p:sp>
      <p:sp>
        <p:nvSpPr>
          <p:cNvPr id="85" name="Shape 73"/>
          <p:cNvSpPr>
            <a:spLocks noGrp="1"/>
          </p:cNvSpPr>
          <p:nvPr/>
        </p:nvSpPr>
        <p:spPr>
          <a:xfrm>
            <a:off x="9290304" y="3703320"/>
            <a:ext cx="182880" cy="256032"/>
          </a:xfrm>
          <a:prstGeom prst="chevron">
            <a:avLst/>
          </a:prstGeom>
          <a:solidFill>
            <a:srgbClr val="92A9AA"/>
          </a:solidFill>
          <a:ln w="12700">
            <a:solidFill>
              <a:srgbClr val="92A9AA"/>
            </a:solidFill>
            <a:prstDash val="solid"/>
          </a:ln>
        </p:spPr>
        <p:txBody>
          <a:bodyPr/>
          <a:lstStyle/>
          <a:p/>
        </p:txBody>
      </p:sp>
      <p:sp>
        <p:nvSpPr>
          <p:cNvPr id="86" name="Shape 74"/>
          <p:cNvSpPr>
            <a:spLocks noGrp="1"/>
          </p:cNvSpPr>
          <p:nvPr/>
        </p:nvSpPr>
        <p:spPr>
          <a:xfrm>
            <a:off x="10671048" y="4251960"/>
            <a:ext cx="274320" cy="310896"/>
          </a:xfrm>
          <a:prstGeom prst="downArrow">
            <a:avLst/>
          </a:prstGeom>
          <a:solidFill>
            <a:srgbClr val="00A7A7"/>
          </a:solidFill>
          <a:ln w="12700">
            <a:solidFill>
              <a:srgbClr val="00A7A7"/>
            </a:solidFill>
            <a:prstDash val="solid"/>
          </a:ln>
        </p:spPr>
        <p:txBody>
          <a:bodyPr/>
          <a:lstStyle/>
          <a:p/>
        </p:txBody>
      </p:sp>
      <p:sp>
        <p:nvSpPr>
          <p:cNvPr id="87" name="Shape 75"/>
          <p:cNvSpPr>
            <a:spLocks noGrp="1"/>
          </p:cNvSpPr>
          <p:nvPr/>
        </p:nvSpPr>
        <p:spPr>
          <a:xfrm rot="10800000">
            <a:off x="9290304" y="4645152"/>
            <a:ext cx="182880" cy="256032"/>
          </a:xfrm>
          <a:prstGeom prst="chevron">
            <a:avLst/>
          </a:prstGeom>
          <a:solidFill>
            <a:srgbClr val="92A9AA"/>
          </a:solidFill>
          <a:ln w="12700">
            <a:solidFill>
              <a:srgbClr val="92A9AA"/>
            </a:solidFill>
            <a:prstDash val="solid"/>
          </a:ln>
        </p:spPr>
        <p:txBody>
          <a:bodyPr/>
          <a:lstStyle/>
          <a:p/>
        </p:txBody>
      </p:sp>
      <p:sp>
        <p:nvSpPr>
          <p:cNvPr id="88" name="Shape 76"/>
          <p:cNvSpPr>
            <a:spLocks noGrp="1"/>
          </p:cNvSpPr>
          <p:nvPr/>
        </p:nvSpPr>
        <p:spPr>
          <a:xfrm rot="10800000">
            <a:off x="7589520" y="4645152"/>
            <a:ext cx="182880" cy="256032"/>
          </a:xfrm>
          <a:prstGeom prst="chevron">
            <a:avLst/>
          </a:prstGeom>
          <a:solidFill>
            <a:srgbClr val="92A9AA"/>
          </a:solidFill>
          <a:ln w="12700">
            <a:solidFill>
              <a:srgbClr val="92A9AA"/>
            </a:solidFill>
            <a:prstDash val="solid"/>
          </a:ln>
        </p:spPr>
        <p:txBody>
          <a:bodyPr/>
          <a:lstStyle/>
          <a:p/>
        </p:txBody>
      </p:sp>
      <p:sp>
        <p:nvSpPr>
          <p:cNvPr id="89" name="Shape 77"/>
          <p:cNvSpPr>
            <a:spLocks noGrp="1"/>
          </p:cNvSpPr>
          <p:nvPr/>
        </p:nvSpPr>
        <p:spPr>
          <a:xfrm>
            <a:off x="6053328" y="5495544"/>
            <a:ext cx="5074920" cy="274320"/>
          </a:xfrm>
          <a:prstGeom prst="roundRect">
            <a:avLst>
              <a:gd name="adj" fmla="val 33333"/>
            </a:avLst>
          </a:prstGeom>
          <a:solidFill>
            <a:srgbClr val="FFF2E8"/>
          </a:solidFill>
          <a:ln w="12700">
            <a:solidFill>
              <a:srgbClr val="F28B36"/>
            </a:solidFill>
            <a:prstDash val="solid"/>
          </a:ln>
        </p:spPr>
        <p:txBody>
          <a:bodyPr/>
          <a:lstStyle/>
          <a:p/>
        </p:txBody>
      </p:sp>
      <p:sp>
        <p:nvSpPr>
          <p:cNvPr id="90" name="Text 78"/>
          <p:cNvSpPr>
            <a:spLocks noGrp="1"/>
          </p:cNvSpPr>
          <p:nvPr/>
        </p:nvSpPr>
        <p:spPr>
          <a:xfrm>
            <a:off x="6053328" y="5495544"/>
            <a:ext cx="5074920" cy="27432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sz="870" b="1">
                <a:solidFill>
                  <a:srgbClr val="9A5210"/>
                </a:solidFill>
                <a:latin typeface="Noto Sans CJK SC"/>
                <a:ea typeface="Noto Sans CJK SC"/>
                <a:cs typeface="Noto Sans CJK SC"/>
              </a:rPr>
              <a:t>状态不满足时停止执行，并携带已收集信息转人工</a:t>
            </a:r>
            <a:endParaRPr sz="870"/>
          </a:p>
        </p:txBody>
      </p:sp>
      <p:sp>
        <p:nvSpPr>
          <p:cNvPr id="101" name="圆角矩形 100"/>
          <p:cNvSpPr>
            <a:spLocks noGrp="1"/>
          </p:cNvSpPr>
          <p:nvPr/>
        </p:nvSpPr>
        <p:spPr>
          <a:xfrm>
            <a:off x="6565583" y="127635"/>
            <a:ext cx="4937760" cy="365760"/>
          </a:xfrm>
          <a:prstGeom prst="roundRect">
            <a:avLst>
              <a:gd name="adj" fmla="val 20833"/>
            </a:avLst>
          </a:prstGeom>
          <a:solidFill>
            <a:srgbClr val="F7FBF9"/>
          </a:solidFill>
          <a:ln w="12668">
            <a:solidFill>
              <a:srgbClr val="F7FBF9"/>
            </a:solidFill>
            <a:prstDash val="solid"/>
          </a:ln>
        </p:spPr>
        <p:txBody>
          <a:bodyPr/>
          <a:p/>
        </p:txBody>
      </p:sp>
      <p:sp>
        <p:nvSpPr>
          <p:cNvPr id="102" name="圆角矩形 101"/>
          <p:cNvSpPr>
            <a:spLocks noGrp="1"/>
          </p:cNvSpPr>
          <p:nvPr/>
        </p:nvSpPr>
        <p:spPr>
          <a:xfrm>
            <a:off x="6657023" y="164783"/>
            <a:ext cx="1154430" cy="264795"/>
          </a:xfrm>
          <a:prstGeom prst="roundRect">
            <a:avLst>
              <a:gd name="adj" fmla="val 28777"/>
            </a:avLst>
          </a:prstGeom>
          <a:solidFill>
            <a:srgbClr val="007574"/>
          </a:solidFill>
          <a:ln w="12668">
            <a:solidFill>
              <a:srgbClr val="007574"/>
            </a:solidFill>
            <a:prstDash val="solid"/>
          </a:ln>
        </p:spPr>
        <p:txBody>
          <a:bodyPr/>
          <a:p/>
        </p:txBody>
      </p:sp>
      <p:sp>
        <p:nvSpPr>
          <p:cNvPr id="103" name="矩形 102"/>
          <p:cNvSpPr>
            <a:spLocks noGrp="1"/>
          </p:cNvSpPr>
          <p:nvPr/>
        </p:nvSpPr>
        <p:spPr>
          <a:xfrm>
            <a:off x="6657023" y="187643"/>
            <a:ext cx="1154430" cy="182880"/>
          </a:xfrm>
          <a:prstGeom prst="rect">
            <a:avLst/>
          </a:prstGeom>
        </p:spPr>
        <p:txBody>
          <a:bodyPr anchor="ctr"/>
          <a:lstStyle/>
          <a:p>
            <a:pPr algn="ctr">
              <a:defRPr sz="660" b="1">
                <a:solidFill>
                  <a:srgbClr val="FFFFFF"/>
                </a:solidFill>
              </a:defRPr>
            </a:pPr>
            <a:r>
              <a:t>理解</a:t>
            </a:r>
          </a:p>
        </p:txBody>
      </p:sp>
      <p:sp>
        <p:nvSpPr>
          <p:cNvPr id="104" name="圆角矩形 103"/>
          <p:cNvSpPr>
            <a:spLocks noGrp="1"/>
          </p:cNvSpPr>
          <p:nvPr/>
        </p:nvSpPr>
        <p:spPr>
          <a:xfrm>
            <a:off x="7857173" y="164783"/>
            <a:ext cx="1154430" cy="264795"/>
          </a:xfrm>
          <a:prstGeom prst="roundRect">
            <a:avLst>
              <a:gd name="adj" fmla="val 28777"/>
            </a:avLst>
          </a:prstGeom>
          <a:solidFill>
            <a:srgbClr val="007574"/>
          </a:solidFill>
          <a:ln w="12668">
            <a:solidFill>
              <a:srgbClr val="007574"/>
            </a:solidFill>
            <a:prstDash val="solid"/>
          </a:ln>
        </p:spPr>
        <p:txBody>
          <a:bodyPr/>
          <a:p/>
        </p:txBody>
      </p:sp>
      <p:sp>
        <p:nvSpPr>
          <p:cNvPr id="105" name="矩形 104"/>
          <p:cNvSpPr>
            <a:spLocks noGrp="1"/>
          </p:cNvSpPr>
          <p:nvPr/>
        </p:nvSpPr>
        <p:spPr>
          <a:xfrm>
            <a:off x="7857173" y="187643"/>
            <a:ext cx="1154430" cy="182880"/>
          </a:xfrm>
          <a:prstGeom prst="rect">
            <a:avLst/>
          </a:prstGeom>
        </p:spPr>
        <p:txBody>
          <a:bodyPr anchor="ctr"/>
          <a:lstStyle/>
          <a:p>
            <a:pPr algn="ctr">
              <a:defRPr sz="660" b="1">
                <a:solidFill>
                  <a:srgbClr val="FFFFFF"/>
                </a:solidFill>
              </a:defRPr>
            </a:pPr>
            <a:r>
              <a:t>查询</a:t>
            </a:r>
          </a:p>
        </p:txBody>
      </p:sp>
      <p:sp>
        <p:nvSpPr>
          <p:cNvPr id="106" name="圆角矩形 105"/>
          <p:cNvSpPr>
            <a:spLocks noGrp="1"/>
          </p:cNvSpPr>
          <p:nvPr/>
        </p:nvSpPr>
        <p:spPr>
          <a:xfrm>
            <a:off x="9057323" y="164783"/>
            <a:ext cx="1154430" cy="264795"/>
          </a:xfrm>
          <a:prstGeom prst="roundRect">
            <a:avLst>
              <a:gd name="adj" fmla="val 28777"/>
            </a:avLst>
          </a:prstGeom>
          <a:solidFill>
            <a:srgbClr val="007574"/>
          </a:solidFill>
          <a:ln w="12668">
            <a:solidFill>
              <a:srgbClr val="007574"/>
            </a:solidFill>
            <a:prstDash val="solid"/>
          </a:ln>
        </p:spPr>
        <p:txBody>
          <a:bodyPr/>
          <a:p/>
        </p:txBody>
      </p:sp>
      <p:sp>
        <p:nvSpPr>
          <p:cNvPr id="107" name="矩形 106"/>
          <p:cNvSpPr>
            <a:spLocks noGrp="1"/>
          </p:cNvSpPr>
          <p:nvPr/>
        </p:nvSpPr>
        <p:spPr>
          <a:xfrm>
            <a:off x="9057323" y="187643"/>
            <a:ext cx="1154430" cy="182880"/>
          </a:xfrm>
          <a:prstGeom prst="rect">
            <a:avLst/>
          </a:prstGeom>
        </p:spPr>
        <p:txBody>
          <a:bodyPr anchor="ctr"/>
          <a:lstStyle/>
          <a:p>
            <a:pPr algn="ctr">
              <a:defRPr sz="660" b="1">
                <a:solidFill>
                  <a:srgbClr val="FFFFFF"/>
                </a:solidFill>
              </a:defRPr>
            </a:pPr>
            <a:r>
              <a:t>决策</a:t>
            </a:r>
          </a:p>
        </p:txBody>
      </p:sp>
      <p:sp>
        <p:nvSpPr>
          <p:cNvPr id="108" name="圆角矩形 107"/>
          <p:cNvSpPr>
            <a:spLocks noGrp="1"/>
          </p:cNvSpPr>
          <p:nvPr/>
        </p:nvSpPr>
        <p:spPr>
          <a:xfrm>
            <a:off x="10257473" y="164783"/>
            <a:ext cx="1154430" cy="264795"/>
          </a:xfrm>
          <a:prstGeom prst="roundRect">
            <a:avLst>
              <a:gd name="adj" fmla="val 28777"/>
            </a:avLst>
          </a:prstGeom>
          <a:solidFill>
            <a:srgbClr val="007574"/>
          </a:solidFill>
          <a:ln w="12668">
            <a:solidFill>
              <a:srgbClr val="007574"/>
            </a:solidFill>
            <a:prstDash val="solid"/>
          </a:ln>
        </p:spPr>
        <p:txBody>
          <a:bodyPr/>
          <a:p/>
        </p:txBody>
      </p:sp>
      <p:sp>
        <p:nvSpPr>
          <p:cNvPr id="109" name="矩形 108"/>
          <p:cNvSpPr>
            <a:spLocks noGrp="1"/>
          </p:cNvSpPr>
          <p:nvPr/>
        </p:nvSpPr>
        <p:spPr>
          <a:xfrm>
            <a:off x="10257473" y="187643"/>
            <a:ext cx="1154430" cy="182880"/>
          </a:xfrm>
          <a:prstGeom prst="rect">
            <a:avLst/>
          </a:prstGeom>
        </p:spPr>
        <p:txBody>
          <a:bodyPr anchor="ctr"/>
          <a:lstStyle/>
          <a:p>
            <a:pPr algn="ctr">
              <a:defRPr sz="660" b="1">
                <a:solidFill>
                  <a:srgbClr val="FFFFFF"/>
                </a:solidFill>
              </a:defRPr>
            </a:pPr>
            <a:r>
              <a:t>执行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>
            <a:spLocks noGrp="1"/>
          </p:cNvSpPr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" name="Rectangle 2"/>
          <p:cNvSpPr>
            <a:spLocks noGrp="1"/>
          </p:cNvSpPr>
          <p:nvPr/>
        </p:nvSpPr>
        <p:spPr>
          <a:xfrm>
            <a:off x="0" y="0"/>
            <a:ext cx="41148" cy="6858000"/>
          </a:xfrm>
          <a:prstGeom prst="rect">
            <a:avLst/>
          </a:prstGeom>
          <a:solidFill>
            <a:srgbClr val="0A8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4" name="Oval 3"/>
          <p:cNvSpPr>
            <a:spLocks noGrp="1"/>
          </p:cNvSpPr>
          <p:nvPr/>
        </p:nvSpPr>
        <p:spPr>
          <a:xfrm>
            <a:off x="658368" y="384048"/>
            <a:ext cx="73152" cy="73152"/>
          </a:xfrm>
          <a:prstGeom prst="ellipse">
            <a:avLst/>
          </a:prstGeom>
          <a:solidFill>
            <a:srgbClr val="0A8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5" name="Rectangle 4"/>
          <p:cNvSpPr>
            <a:spLocks noGrp="1"/>
          </p:cNvSpPr>
          <p:nvPr/>
        </p:nvSpPr>
        <p:spPr>
          <a:xfrm>
            <a:off x="768096" y="420624"/>
            <a:ext cx="411480" cy="16459"/>
          </a:xfrm>
          <a:prstGeom prst="rect">
            <a:avLst/>
          </a:prstGeom>
          <a:solidFill>
            <a:srgbClr val="0A8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6" name="TextBox 5"/>
          <p:cNvSpPr>
            <a:spLocks noGrp="1"/>
          </p:cNvSpPr>
          <p:nvPr/>
        </p:nvSpPr>
        <p:spPr>
          <a:xfrm>
            <a:off x="1225296" y="256032"/>
            <a:ext cx="41148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050" b="1">
                <a:solidFill>
                  <a:srgbClr val="076B50"/>
                </a:solidFill>
                <a:latin typeface="Noto Sans CJK SC"/>
                <a:ea typeface="Noto Sans CJK SC"/>
                <a:cs typeface="Noto Sans CJK SC"/>
              </a:rPr>
              <a:t>OVERVIEW · 开场</a:t>
            </a:r>
            <a:endParaRPr sz="1050" b="1">
              <a:solidFill>
                <a:srgbClr val="0A8F6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" name="TextBox 6"/>
          <p:cNvSpPr>
            <a:spLocks noGrp="1"/>
          </p:cNvSpPr>
          <p:nvPr/>
        </p:nvSpPr>
        <p:spPr>
          <a:xfrm>
            <a:off x="658368" y="694944"/>
            <a:ext cx="10652760" cy="47548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</a:pPr>
            <a:r>
              <a:rPr sz="2720" b="1" i="0">
                <a:solidFill>
                  <a:srgbClr val="14383E"/>
                </a:solidFill>
                <a:latin typeface="Noto Sans CJK SC"/>
                <a:ea typeface="Noto Sans CJK SC"/>
                <a:cs typeface="Noto Sans CJK SC"/>
              </a:rPr>
              <a:t>一张工单的完整处理链</a:t>
            </a:r>
            <a:endParaRPr sz="2720" b="1" i="0">
              <a:solidFill>
                <a:srgbClr val="14383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8" name="TextBox 7"/>
          <p:cNvSpPr>
            <a:spLocks noGrp="1"/>
          </p:cNvSpPr>
          <p:nvPr/>
        </p:nvSpPr>
        <p:spPr>
          <a:xfrm>
            <a:off x="658368" y="1170432"/>
            <a:ext cx="10561320" cy="31089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</a:pPr>
            <a:r>
              <a:rPr sz="1170" b="0" i="0">
                <a:solidFill>
                  <a:srgbClr val="44585C"/>
                </a:solidFill>
                <a:latin typeface="Noto Sans CJK SC"/>
                <a:ea typeface="Noto Sans CJK SC"/>
                <a:cs typeface="Noto Sans CJK SC"/>
              </a:rPr>
              <a:t>从识别诉求到修改、回写和留痕，后面的设计都围绕这条主线展开。</a:t>
            </a:r>
            <a:endParaRPr sz="1170" b="0" i="0">
              <a:solidFill>
                <a:srgbClr val="6B8185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9" name="Rectangle 8"/>
          <p:cNvSpPr>
            <a:spLocks noGrp="1"/>
          </p:cNvSpPr>
          <p:nvPr/>
        </p:nvSpPr>
        <p:spPr>
          <a:xfrm>
            <a:off x="658368" y="6501384"/>
            <a:ext cx="10835640" cy="10972"/>
          </a:xfrm>
          <a:prstGeom prst="rect">
            <a:avLst/>
          </a:prstGeom>
          <a:solidFill>
            <a:srgbClr val="C9DC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0" name="TextBox 9"/>
          <p:cNvSpPr>
            <a:spLocks noGrp="1"/>
          </p:cNvSpPr>
          <p:nvPr/>
        </p:nvSpPr>
        <p:spPr>
          <a:xfrm>
            <a:off x="658368" y="6547104"/>
            <a:ext cx="237744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780" b="1" i="0">
                <a:solidFill>
                  <a:srgbClr val="5C7276"/>
                </a:solidFill>
                <a:latin typeface="Noto Sans CJK SC"/>
                <a:ea typeface="Noto Sans CJK SC"/>
                <a:cs typeface="Noto Sans CJK SC"/>
              </a:rPr>
              <a:t>CUSTOMER SERVICE AI AGENT</a:t>
            </a:r>
            <a:endParaRPr sz="780" b="1" i="0">
              <a:solidFill>
                <a:srgbClr val="98ACA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1" name="TextBox 10"/>
          <p:cNvSpPr>
            <a:spLocks noGrp="1"/>
          </p:cNvSpPr>
          <p:nvPr/>
        </p:nvSpPr>
        <p:spPr>
          <a:xfrm>
            <a:off x="10680192" y="6519672"/>
            <a:ext cx="82296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buNone/>
            </a:pPr>
            <a:r>
              <a:rPr sz="880" b="1">
                <a:solidFill>
                  <a:srgbClr val="076B50"/>
                </a:solidFill>
                <a:latin typeface="Noto Sans CJK SC"/>
                <a:ea typeface="Noto Sans CJK SC"/>
                <a:cs typeface="Noto Sans CJK SC"/>
              </a:rPr>
              <a:t>04</a:t>
            </a:r>
            <a:endParaRPr sz="880" b="1">
              <a:solidFill>
                <a:srgbClr val="0A8F6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2" name="Rounded Rectangle 11"/>
          <p:cNvSpPr>
            <a:spLocks noGrp="1"/>
          </p:cNvSpPr>
          <p:nvPr/>
        </p:nvSpPr>
        <p:spPr>
          <a:xfrm>
            <a:off x="690372" y="1705356"/>
            <a:ext cx="1920240" cy="1152144"/>
          </a:xfrm>
          <a:prstGeom prst="roundRect">
            <a:avLst/>
          </a:prstGeom>
          <a:solidFill>
            <a:srgbClr val="E3E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3" name="Rounded Rectangle 12"/>
          <p:cNvSpPr>
            <a:spLocks noGrp="1"/>
          </p:cNvSpPr>
          <p:nvPr/>
        </p:nvSpPr>
        <p:spPr>
          <a:xfrm>
            <a:off x="658368" y="1664208"/>
            <a:ext cx="1920240" cy="11521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5" name="Rounded Rectangle 14"/>
          <p:cNvSpPr>
            <a:spLocks noGrp="1"/>
          </p:cNvSpPr>
          <p:nvPr/>
        </p:nvSpPr>
        <p:spPr>
          <a:xfrm>
            <a:off x="877824" y="1856231"/>
            <a:ext cx="1207008" cy="246888"/>
          </a:xfrm>
          <a:prstGeom prst="roundRect">
            <a:avLst/>
          </a:prstGeom>
          <a:solidFill>
            <a:srgbClr val="1F63C4"/>
          </a:solidFill>
          <a:ln w="10160">
            <a:solidFill>
              <a:srgbClr val="1F63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6" name="TextBox 15"/>
          <p:cNvSpPr>
            <a:spLocks noGrp="1"/>
          </p:cNvSpPr>
          <p:nvPr/>
        </p:nvSpPr>
        <p:spPr>
          <a:xfrm>
            <a:off x="896112" y="1865375"/>
            <a:ext cx="1170432" cy="2286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</a:pPr>
            <a:r>
              <a:rPr sz="730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CUSTOMER REQUEST</a:t>
            </a:r>
            <a:endParaRPr sz="730" b="1" i="0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7" name="TextBox 16"/>
          <p:cNvSpPr>
            <a:spLocks noGrp="1"/>
          </p:cNvSpPr>
          <p:nvPr/>
        </p:nvSpPr>
        <p:spPr>
          <a:xfrm>
            <a:off x="877824" y="2176272"/>
            <a:ext cx="1481328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1100" b="1" i="0">
                <a:solidFill>
                  <a:srgbClr val="14383E"/>
                </a:solidFill>
                <a:latin typeface="Noto Sans CJK SC"/>
                <a:ea typeface="Noto Sans CJK SC"/>
                <a:cs typeface="Noto Sans CJK SC"/>
              </a:rPr>
              <a:t>“订单还没收到，
能把地址改成新的吗？”</a:t>
            </a:r>
            <a:endParaRPr sz="1100" b="1" i="0">
              <a:solidFill>
                <a:srgbClr val="14383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8" name="Right Arrow 17"/>
          <p:cNvSpPr>
            <a:spLocks noGrp="1"/>
          </p:cNvSpPr>
          <p:nvPr/>
        </p:nvSpPr>
        <p:spPr>
          <a:xfrm>
            <a:off x="2706624" y="1984248"/>
            <a:ext cx="347472" cy="438912"/>
          </a:xfrm>
          <a:prstGeom prst="rightArrow">
            <a:avLst/>
          </a:prstGeom>
          <a:solidFill>
            <a:srgbClr val="0A8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9" name="Rounded Rectangle 18"/>
          <p:cNvSpPr>
            <a:spLocks noGrp="1"/>
          </p:cNvSpPr>
          <p:nvPr/>
        </p:nvSpPr>
        <p:spPr>
          <a:xfrm>
            <a:off x="3127248" y="1664208"/>
            <a:ext cx="1298448" cy="2011680"/>
          </a:xfrm>
          <a:prstGeom prst="roundRect">
            <a:avLst/>
          </a:prstGeom>
          <a:solidFill>
            <a:srgbClr val="E8F6F0"/>
          </a:solidFill>
          <a:ln w="12700">
            <a:solidFill>
              <a:srgbClr val="0A8F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1" name="Oval 20"/>
          <p:cNvSpPr>
            <a:spLocks noGrp="1"/>
          </p:cNvSpPr>
          <p:nvPr/>
        </p:nvSpPr>
        <p:spPr>
          <a:xfrm>
            <a:off x="3602736" y="1911095"/>
            <a:ext cx="347472" cy="347472"/>
          </a:xfrm>
          <a:prstGeom prst="ellipse">
            <a:avLst/>
          </a:prstGeom>
          <a:solidFill>
            <a:srgbClr val="07714F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2" name="TextBox 21"/>
          <p:cNvSpPr>
            <a:spLocks noGrp="1"/>
          </p:cNvSpPr>
          <p:nvPr/>
        </p:nvSpPr>
        <p:spPr>
          <a:xfrm>
            <a:off x="3602736" y="1915667"/>
            <a:ext cx="347472" cy="3383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800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01</a:t>
            </a:r>
            <a:endParaRPr sz="800" b="1" i="0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3" name="TextBox 22"/>
          <p:cNvSpPr>
            <a:spLocks noGrp="1"/>
          </p:cNvSpPr>
          <p:nvPr/>
        </p:nvSpPr>
        <p:spPr>
          <a:xfrm>
            <a:off x="3200400" y="2450592"/>
            <a:ext cx="1152144" cy="27432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</a:pPr>
            <a:r>
              <a:rPr sz="1040" b="1" i="0">
                <a:solidFill>
                  <a:srgbClr val="14383E"/>
                </a:solidFill>
                <a:latin typeface="Noto Sans CJK SC"/>
                <a:ea typeface="Noto Sans CJK SC"/>
                <a:cs typeface="Noto Sans CJK SC"/>
              </a:rPr>
              <a:t>场景与移交边界</a:t>
            </a:r>
            <a:endParaRPr sz="1040" b="1" i="0">
              <a:solidFill>
                <a:srgbClr val="14383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4" name="TextBox 23"/>
          <p:cNvSpPr>
            <a:spLocks noGrp="1"/>
          </p:cNvSpPr>
          <p:nvPr/>
        </p:nvSpPr>
        <p:spPr>
          <a:xfrm>
            <a:off x="3209544" y="2843784"/>
            <a:ext cx="1133856" cy="57607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</a:pPr>
            <a:r>
              <a:rPr sz="780" b="0" i="0">
                <a:solidFill>
                  <a:srgbClr val="44585C"/>
                </a:solidFill>
                <a:latin typeface="Noto Sans CJK SC"/>
                <a:ea typeface="Noto Sans CJK SC"/>
                <a:cs typeface="Noto Sans CJK SC"/>
              </a:rPr>
              <a:t>识别“修改地址”
确定处理方式</a:t>
            </a:r>
            <a:endParaRPr sz="780" b="0" i="0">
              <a:solidFill>
                <a:srgbClr val="6B8185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5" name="Right Arrow 24"/>
          <p:cNvSpPr>
            <a:spLocks noGrp="1"/>
          </p:cNvSpPr>
          <p:nvPr/>
        </p:nvSpPr>
        <p:spPr>
          <a:xfrm>
            <a:off x="4453128" y="2505456"/>
            <a:ext cx="109728" cy="292608"/>
          </a:xfrm>
          <a:prstGeom prst="rightArrow">
            <a:avLst/>
          </a:prstGeom>
          <a:solidFill>
            <a:srgbClr val="0A8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6" name="Rounded Rectangle 25"/>
          <p:cNvSpPr>
            <a:spLocks noGrp="1"/>
          </p:cNvSpPr>
          <p:nvPr/>
        </p:nvSpPr>
        <p:spPr>
          <a:xfrm>
            <a:off x="4581144" y="1664208"/>
            <a:ext cx="1298448" cy="2011680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8" name="Oval 27"/>
          <p:cNvSpPr>
            <a:spLocks noGrp="1"/>
          </p:cNvSpPr>
          <p:nvPr/>
        </p:nvSpPr>
        <p:spPr>
          <a:xfrm>
            <a:off x="5056631" y="1911095"/>
            <a:ext cx="347472" cy="347472"/>
          </a:xfrm>
          <a:prstGeom prst="ellipse">
            <a:avLst/>
          </a:prstGeom>
          <a:solidFill>
            <a:srgbClr val="1F63C4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9" name="TextBox 28"/>
          <p:cNvSpPr>
            <a:spLocks noGrp="1"/>
          </p:cNvSpPr>
          <p:nvPr/>
        </p:nvSpPr>
        <p:spPr>
          <a:xfrm>
            <a:off x="5056631" y="1915667"/>
            <a:ext cx="347472" cy="3383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800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02</a:t>
            </a:r>
            <a:endParaRPr sz="800" b="1" i="0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0" name="TextBox 29"/>
          <p:cNvSpPr>
            <a:spLocks noGrp="1"/>
          </p:cNvSpPr>
          <p:nvPr/>
        </p:nvSpPr>
        <p:spPr>
          <a:xfrm>
            <a:off x="4654296" y="2450592"/>
            <a:ext cx="1152144" cy="27432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</a:pPr>
            <a:r>
              <a:rPr sz="1040" b="1" i="0">
                <a:solidFill>
                  <a:srgbClr val="14383E"/>
                </a:solidFill>
                <a:latin typeface="Noto Sans CJK SC"/>
                <a:ea typeface="Noto Sans CJK SC"/>
                <a:cs typeface="Noto Sans CJK SC"/>
              </a:rPr>
              <a:t>上下文准备</a:t>
            </a:r>
            <a:endParaRPr sz="1040" b="1" i="0">
              <a:solidFill>
                <a:srgbClr val="14383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1" name="TextBox 30"/>
          <p:cNvSpPr>
            <a:spLocks noGrp="1"/>
          </p:cNvSpPr>
          <p:nvPr/>
        </p:nvSpPr>
        <p:spPr>
          <a:xfrm>
            <a:off x="4663440" y="2843784"/>
            <a:ext cx="1133856" cy="57607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</a:pPr>
            <a:r>
              <a:rPr sz="780" b="0" i="0">
                <a:solidFill>
                  <a:srgbClr val="44585C"/>
                </a:solidFill>
                <a:latin typeface="Noto Sans CJK SC"/>
                <a:ea typeface="Noto Sans CJK SC"/>
                <a:cs typeface="Noto Sans CJK SC"/>
              </a:rPr>
              <a:t>订单、履约、规则
客户确认状态</a:t>
            </a:r>
            <a:endParaRPr sz="780" b="0" i="0">
              <a:solidFill>
                <a:srgbClr val="6B8185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2" name="Right Arrow 31"/>
          <p:cNvSpPr>
            <a:spLocks noGrp="1"/>
          </p:cNvSpPr>
          <p:nvPr/>
        </p:nvSpPr>
        <p:spPr>
          <a:xfrm>
            <a:off x="5907024" y="2505456"/>
            <a:ext cx="109728" cy="292608"/>
          </a:xfrm>
          <a:prstGeom prst="rightArrow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3" name="Rounded Rectangle 32"/>
          <p:cNvSpPr>
            <a:spLocks noGrp="1"/>
          </p:cNvSpPr>
          <p:nvPr/>
        </p:nvSpPr>
        <p:spPr>
          <a:xfrm>
            <a:off x="6035040" y="1664208"/>
            <a:ext cx="1298448" cy="2011680"/>
          </a:xfrm>
          <a:prstGeom prst="roundRect">
            <a:avLst/>
          </a:prstGeom>
          <a:solidFill>
            <a:srgbClr val="EFEEFF"/>
          </a:solidFill>
          <a:ln w="12700">
            <a:solidFill>
              <a:srgbClr val="6B6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5" name="Oval 34"/>
          <p:cNvSpPr>
            <a:spLocks noGrp="1"/>
          </p:cNvSpPr>
          <p:nvPr/>
        </p:nvSpPr>
        <p:spPr>
          <a:xfrm>
            <a:off x="6510527" y="1911095"/>
            <a:ext cx="347472" cy="347472"/>
          </a:xfrm>
          <a:prstGeom prst="ellipse">
            <a:avLst/>
          </a:prstGeom>
          <a:solidFill>
            <a:srgbClr val="5356BE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6" name="TextBox 35"/>
          <p:cNvSpPr>
            <a:spLocks noGrp="1"/>
          </p:cNvSpPr>
          <p:nvPr/>
        </p:nvSpPr>
        <p:spPr>
          <a:xfrm>
            <a:off x="6510527" y="1915667"/>
            <a:ext cx="347472" cy="3383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800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03</a:t>
            </a:r>
            <a:endParaRPr sz="800" b="1" i="0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7" name="TextBox 36"/>
          <p:cNvSpPr>
            <a:spLocks noGrp="1"/>
          </p:cNvSpPr>
          <p:nvPr/>
        </p:nvSpPr>
        <p:spPr>
          <a:xfrm>
            <a:off x="6108192" y="2450592"/>
            <a:ext cx="1152144" cy="27432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</a:pPr>
            <a:r>
              <a:rPr sz="1040" b="1" i="0">
                <a:solidFill>
                  <a:srgbClr val="14383E"/>
                </a:solidFill>
                <a:latin typeface="Noto Sans CJK SC"/>
                <a:ea typeface="Noto Sans CJK SC"/>
                <a:cs typeface="Noto Sans CJK SC"/>
              </a:rPr>
              <a:t>Agent 决策</a:t>
            </a:r>
            <a:endParaRPr sz="1040" b="1" i="0">
              <a:solidFill>
                <a:srgbClr val="14383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8" name="TextBox 37"/>
          <p:cNvSpPr>
            <a:spLocks noGrp="1"/>
          </p:cNvSpPr>
          <p:nvPr/>
        </p:nvSpPr>
        <p:spPr>
          <a:xfrm>
            <a:off x="6117336" y="2843784"/>
            <a:ext cx="1133856" cy="57607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</a:pPr>
            <a:r>
              <a:rPr sz="780" b="0" i="0">
                <a:solidFill>
                  <a:srgbClr val="44585C"/>
                </a:solidFill>
                <a:latin typeface="Noto Sans CJK SC"/>
                <a:ea typeface="Noto Sans CJK SC"/>
                <a:cs typeface="Noto Sans CJK SC"/>
              </a:rPr>
              <a:t>选择地址修改能力
判断是否需人工</a:t>
            </a:r>
            <a:endParaRPr sz="780" b="0" i="0">
              <a:solidFill>
                <a:srgbClr val="6B8185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9" name="Right Arrow 38"/>
          <p:cNvSpPr>
            <a:spLocks noGrp="1"/>
          </p:cNvSpPr>
          <p:nvPr/>
        </p:nvSpPr>
        <p:spPr>
          <a:xfrm>
            <a:off x="7360919" y="2505456"/>
            <a:ext cx="109728" cy="292608"/>
          </a:xfrm>
          <a:prstGeom prst="rightArrow">
            <a:avLst/>
          </a:prstGeom>
          <a:solidFill>
            <a:srgbClr val="6B6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40" name="Rounded Rectangle 39"/>
          <p:cNvSpPr>
            <a:spLocks noGrp="1"/>
          </p:cNvSpPr>
          <p:nvPr/>
        </p:nvSpPr>
        <p:spPr>
          <a:xfrm>
            <a:off x="7488936" y="1664208"/>
            <a:ext cx="1298448" cy="2011680"/>
          </a:xfrm>
          <a:prstGeom prst="roundRect">
            <a:avLst/>
          </a:prstGeom>
          <a:solidFill>
            <a:srgbClr val="E6F7F6"/>
          </a:solidFill>
          <a:ln w="12700">
            <a:solidFill>
              <a:srgbClr val="00A7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42" name="Oval 41"/>
          <p:cNvSpPr>
            <a:spLocks noGrp="1"/>
          </p:cNvSpPr>
          <p:nvPr/>
        </p:nvSpPr>
        <p:spPr>
          <a:xfrm>
            <a:off x="7964423" y="1911095"/>
            <a:ext cx="347472" cy="347472"/>
          </a:xfrm>
          <a:prstGeom prst="ellipse">
            <a:avLst/>
          </a:prstGeom>
          <a:solidFill>
            <a:srgbClr val="007574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43" name="TextBox 42"/>
          <p:cNvSpPr>
            <a:spLocks noGrp="1"/>
          </p:cNvSpPr>
          <p:nvPr/>
        </p:nvSpPr>
        <p:spPr>
          <a:xfrm>
            <a:off x="7964423" y="1915667"/>
            <a:ext cx="347472" cy="3383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800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04</a:t>
            </a:r>
            <a:endParaRPr sz="800" b="1" i="0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4" name="TextBox 43"/>
          <p:cNvSpPr>
            <a:spLocks noGrp="1"/>
          </p:cNvSpPr>
          <p:nvPr/>
        </p:nvSpPr>
        <p:spPr>
          <a:xfrm>
            <a:off x="7562088" y="2450592"/>
            <a:ext cx="1152144" cy="27432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</a:pPr>
            <a:r>
              <a:rPr sz="1040" b="1" i="0">
                <a:solidFill>
                  <a:srgbClr val="14383E"/>
                </a:solidFill>
                <a:latin typeface="Noto Sans CJK SC"/>
                <a:ea typeface="Noto Sans CJK SC"/>
                <a:cs typeface="Noto Sans CJK SC"/>
              </a:rPr>
              <a:t>Skill 契约</a:t>
            </a:r>
            <a:endParaRPr sz="1040" b="1" i="0">
              <a:solidFill>
                <a:srgbClr val="14383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5" name="TextBox 44"/>
          <p:cNvSpPr>
            <a:spLocks noGrp="1"/>
          </p:cNvSpPr>
          <p:nvPr/>
        </p:nvSpPr>
        <p:spPr>
          <a:xfrm>
            <a:off x="7571231" y="2843784"/>
            <a:ext cx="1133856" cy="57607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</a:pPr>
            <a:r>
              <a:rPr sz="780" b="0" i="0">
                <a:solidFill>
                  <a:srgbClr val="44585C"/>
                </a:solidFill>
                <a:latin typeface="Noto Sans CJK SC"/>
                <a:ea typeface="Noto Sans CJK SC"/>
                <a:cs typeface="Noto Sans CJK SC"/>
              </a:rPr>
              <a:t>查询 → 校验 → 确认
按状态推进</a:t>
            </a:r>
            <a:endParaRPr sz="780" b="0" i="0">
              <a:solidFill>
                <a:srgbClr val="6B8185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6" name="Right Arrow 45"/>
          <p:cNvSpPr>
            <a:spLocks noGrp="1"/>
          </p:cNvSpPr>
          <p:nvPr/>
        </p:nvSpPr>
        <p:spPr>
          <a:xfrm>
            <a:off x="8814815" y="2505456"/>
            <a:ext cx="109728" cy="292608"/>
          </a:xfrm>
          <a:prstGeom prst="rightArrow">
            <a:avLst/>
          </a:prstGeom>
          <a:solidFill>
            <a:srgbClr val="00A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47" name="Rounded Rectangle 46"/>
          <p:cNvSpPr>
            <a:spLocks noGrp="1"/>
          </p:cNvSpPr>
          <p:nvPr/>
        </p:nvSpPr>
        <p:spPr>
          <a:xfrm>
            <a:off x="8942832" y="1664208"/>
            <a:ext cx="1298448" cy="2011680"/>
          </a:xfrm>
          <a:prstGeom prst="roundRect">
            <a:avLst/>
          </a:prstGeom>
          <a:solidFill>
            <a:srgbClr val="FFF0E4"/>
          </a:solidFill>
          <a:ln w="12700">
            <a:solidFill>
              <a:srgbClr val="F28B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49" name="Oval 48"/>
          <p:cNvSpPr>
            <a:spLocks noGrp="1"/>
          </p:cNvSpPr>
          <p:nvPr/>
        </p:nvSpPr>
        <p:spPr>
          <a:xfrm>
            <a:off x="9418319" y="1911095"/>
            <a:ext cx="347472" cy="347472"/>
          </a:xfrm>
          <a:prstGeom prst="ellipse">
            <a:avLst/>
          </a:prstGeom>
          <a:solidFill>
            <a:srgbClr val="BC6414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50" name="TextBox 49"/>
          <p:cNvSpPr>
            <a:spLocks noGrp="1"/>
          </p:cNvSpPr>
          <p:nvPr/>
        </p:nvSpPr>
        <p:spPr>
          <a:xfrm>
            <a:off x="9418319" y="1915667"/>
            <a:ext cx="347472" cy="3383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800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05</a:t>
            </a:r>
            <a:endParaRPr sz="800" b="1" i="0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1" name="TextBox 50"/>
          <p:cNvSpPr>
            <a:spLocks noGrp="1"/>
          </p:cNvSpPr>
          <p:nvPr/>
        </p:nvSpPr>
        <p:spPr>
          <a:xfrm>
            <a:off x="9015984" y="2450592"/>
            <a:ext cx="1152144" cy="27432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</a:pPr>
            <a:r>
              <a:rPr sz="1040" b="1" i="0">
                <a:solidFill>
                  <a:srgbClr val="14383E"/>
                </a:solidFill>
                <a:latin typeface="Noto Sans CJK SC"/>
                <a:ea typeface="Noto Sans CJK SC"/>
                <a:cs typeface="Noto Sans CJK SC"/>
              </a:rPr>
              <a:t>网关与系统</a:t>
            </a:r>
            <a:endParaRPr sz="1040" b="1" i="0">
              <a:solidFill>
                <a:srgbClr val="14383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2" name="TextBox 51"/>
          <p:cNvSpPr>
            <a:spLocks noGrp="1"/>
          </p:cNvSpPr>
          <p:nvPr/>
        </p:nvSpPr>
        <p:spPr>
          <a:xfrm>
            <a:off x="9025128" y="2843784"/>
            <a:ext cx="1133856" cy="57607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</a:pPr>
            <a:r>
              <a:rPr sz="780" b="0" i="0">
                <a:solidFill>
                  <a:srgbClr val="44585C"/>
                </a:solidFill>
                <a:latin typeface="Noto Sans CJK SC"/>
                <a:ea typeface="Noto Sans CJK SC"/>
                <a:cs typeface="Noto Sans CJK SC"/>
              </a:rPr>
              <a:t>调用地址修改能力
统一权限与幂等</a:t>
            </a:r>
            <a:endParaRPr sz="780" b="0" i="0">
              <a:solidFill>
                <a:srgbClr val="6B8185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3" name="Right Arrow 52"/>
          <p:cNvSpPr>
            <a:spLocks noGrp="1"/>
          </p:cNvSpPr>
          <p:nvPr/>
        </p:nvSpPr>
        <p:spPr>
          <a:xfrm>
            <a:off x="10268711" y="2505456"/>
            <a:ext cx="109728" cy="292608"/>
          </a:xfrm>
          <a:prstGeom prst="rightArrow">
            <a:avLst/>
          </a:prstGeom>
          <a:solidFill>
            <a:srgbClr val="F28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54" name="Rounded Rectangle 53"/>
          <p:cNvSpPr>
            <a:spLocks noGrp="1"/>
          </p:cNvSpPr>
          <p:nvPr/>
        </p:nvSpPr>
        <p:spPr>
          <a:xfrm>
            <a:off x="10396728" y="1664208"/>
            <a:ext cx="1298448" cy="2011680"/>
          </a:xfrm>
          <a:prstGeom prst="roundRect">
            <a:avLst/>
          </a:prstGeom>
          <a:solidFill>
            <a:srgbClr val="E8F6F0"/>
          </a:solidFill>
          <a:ln w="12700">
            <a:solidFill>
              <a:srgbClr val="0A8F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56" name="Oval 55"/>
          <p:cNvSpPr>
            <a:spLocks noGrp="1"/>
          </p:cNvSpPr>
          <p:nvPr/>
        </p:nvSpPr>
        <p:spPr>
          <a:xfrm>
            <a:off x="10872215" y="1911095"/>
            <a:ext cx="347472" cy="347472"/>
          </a:xfrm>
          <a:prstGeom prst="ellipse">
            <a:avLst/>
          </a:prstGeom>
          <a:solidFill>
            <a:srgbClr val="07714F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57" name="TextBox 56"/>
          <p:cNvSpPr>
            <a:spLocks noGrp="1"/>
          </p:cNvSpPr>
          <p:nvPr/>
        </p:nvSpPr>
        <p:spPr>
          <a:xfrm>
            <a:off x="10872215" y="1915667"/>
            <a:ext cx="347472" cy="3383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800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06</a:t>
            </a:r>
            <a:endParaRPr sz="800" b="1" i="0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8" name="TextBox 57"/>
          <p:cNvSpPr>
            <a:spLocks noGrp="1"/>
          </p:cNvSpPr>
          <p:nvPr/>
        </p:nvSpPr>
        <p:spPr>
          <a:xfrm>
            <a:off x="10469880" y="2450592"/>
            <a:ext cx="1152144" cy="27432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</a:pPr>
            <a:r>
              <a:rPr sz="1040" b="1" i="0">
                <a:solidFill>
                  <a:srgbClr val="14383E"/>
                </a:solidFill>
                <a:latin typeface="Noto Sans CJK SC"/>
                <a:ea typeface="Noto Sans CJK SC"/>
                <a:cs typeface="Noto Sans CJK SC"/>
              </a:rPr>
              <a:t>回写与运营</a:t>
            </a:r>
            <a:endParaRPr sz="1040" b="1" i="0">
              <a:solidFill>
                <a:srgbClr val="14383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9" name="TextBox 58"/>
          <p:cNvSpPr>
            <a:spLocks noGrp="1"/>
          </p:cNvSpPr>
          <p:nvPr/>
        </p:nvSpPr>
        <p:spPr>
          <a:xfrm>
            <a:off x="10479024" y="2843784"/>
            <a:ext cx="1133856" cy="57607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</a:pPr>
            <a:r>
              <a:rPr sz="780" b="0" i="0">
                <a:solidFill>
                  <a:srgbClr val="44585C"/>
                </a:solidFill>
                <a:latin typeface="Noto Sans CJK SC"/>
                <a:ea typeface="Noto Sans CJK SC"/>
                <a:cs typeface="Noto Sans CJK SC"/>
              </a:rPr>
              <a:t>回复客户、回写工单
记录 Trace 与原因</a:t>
            </a:r>
            <a:endParaRPr sz="780" b="0" i="0">
              <a:solidFill>
                <a:srgbClr val="6B8185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0" name="Rounded Rectangle 59"/>
          <p:cNvSpPr>
            <a:spLocks noGrp="1"/>
          </p:cNvSpPr>
          <p:nvPr/>
        </p:nvSpPr>
        <p:spPr>
          <a:xfrm>
            <a:off x="9857232" y="3931920"/>
            <a:ext cx="1627632" cy="530352"/>
          </a:xfrm>
          <a:prstGeom prst="roundRect">
            <a:avLst/>
          </a:prstGeom>
          <a:solidFill>
            <a:srgbClr val="E8F6F0"/>
          </a:solidFill>
          <a:ln w="11430">
            <a:solidFill>
              <a:srgbClr val="0A8F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61" name="TextBox 60"/>
          <p:cNvSpPr>
            <a:spLocks noGrp="1"/>
          </p:cNvSpPr>
          <p:nvPr/>
        </p:nvSpPr>
        <p:spPr>
          <a:xfrm>
            <a:off x="9857232" y="4078224"/>
            <a:ext cx="1627632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850" b="1" i="0">
                <a:solidFill>
                  <a:srgbClr val="076B50"/>
                </a:solidFill>
                <a:latin typeface="Noto Sans CJK SC"/>
                <a:ea typeface="Noto Sans CJK SC"/>
                <a:cs typeface="Noto Sans CJK SC"/>
              </a:rPr>
              <a:t>成功：修改并回写</a:t>
            </a:r>
            <a:endParaRPr sz="850" b="1" i="0">
              <a:solidFill>
                <a:srgbClr val="0A8F6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2" name="Rounded Rectangle 61"/>
          <p:cNvSpPr>
            <a:spLocks noGrp="1"/>
          </p:cNvSpPr>
          <p:nvPr/>
        </p:nvSpPr>
        <p:spPr>
          <a:xfrm>
            <a:off x="658368" y="4059936"/>
            <a:ext cx="8915400" cy="1536192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9D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63" name="TextBox 62"/>
          <p:cNvSpPr>
            <a:spLocks noGrp="1"/>
          </p:cNvSpPr>
          <p:nvPr/>
        </p:nvSpPr>
        <p:spPr>
          <a:xfrm>
            <a:off x="896112" y="4270248"/>
            <a:ext cx="19202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250" b="1" i="0">
                <a:solidFill>
                  <a:srgbClr val="14383E"/>
                </a:solidFill>
                <a:latin typeface="Noto Sans CJK SC"/>
                <a:ea typeface="Noto Sans CJK SC"/>
                <a:cs typeface="Noto Sans CJK SC"/>
              </a:rPr>
              <a:t>贯穿全链路的控制面</a:t>
            </a:r>
            <a:endParaRPr sz="1250" b="1" i="0">
              <a:solidFill>
                <a:srgbClr val="14383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4" name="Rounded Rectangle 63"/>
          <p:cNvSpPr>
            <a:spLocks noGrp="1"/>
          </p:cNvSpPr>
          <p:nvPr/>
        </p:nvSpPr>
        <p:spPr>
          <a:xfrm>
            <a:off x="896112" y="4681728"/>
            <a:ext cx="1938528" cy="640080"/>
          </a:xfrm>
          <a:prstGeom prst="roundRect">
            <a:avLst/>
          </a:prstGeom>
          <a:solidFill>
            <a:srgbClr val="FFF0E4"/>
          </a:solidFill>
          <a:ln w="10160">
            <a:solidFill>
              <a:srgbClr val="F28B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65" name="TextBox 64"/>
          <p:cNvSpPr>
            <a:spLocks noGrp="1"/>
          </p:cNvSpPr>
          <p:nvPr/>
        </p:nvSpPr>
        <p:spPr>
          <a:xfrm>
            <a:off x="987552" y="4773168"/>
            <a:ext cx="68580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880" b="1" i="0">
                <a:solidFill>
                  <a:srgbClr val="9A5210"/>
                </a:solidFill>
                <a:latin typeface="Noto Sans CJK SC"/>
                <a:ea typeface="Noto Sans CJK SC"/>
                <a:cs typeface="Noto Sans CJK SC"/>
              </a:rPr>
              <a:t>客户确认</a:t>
            </a:r>
            <a:endParaRPr sz="880" b="1" i="0">
              <a:solidFill>
                <a:srgbClr val="F28B36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6" name="TextBox 65"/>
          <p:cNvSpPr>
            <a:spLocks noGrp="1"/>
          </p:cNvSpPr>
          <p:nvPr/>
        </p:nvSpPr>
        <p:spPr>
          <a:xfrm>
            <a:off x="1682495" y="4718304"/>
            <a:ext cx="1051560" cy="32918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</a:pPr>
            <a:r>
              <a:rPr sz="680" b="0" i="0">
                <a:solidFill>
                  <a:srgbClr val="44585C"/>
                </a:solidFill>
                <a:latin typeface="Noto Sans CJK SC"/>
                <a:ea typeface="Noto Sans CJK SC"/>
                <a:cs typeface="Noto Sans CJK SC"/>
              </a:rPr>
              <a:t>关键字段确认后才进入写操作</a:t>
            </a:r>
            <a:endParaRPr sz="680" b="0" i="0">
              <a:solidFill>
                <a:srgbClr val="6B8185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7" name="Rounded Rectangle 66"/>
          <p:cNvSpPr>
            <a:spLocks noGrp="1"/>
          </p:cNvSpPr>
          <p:nvPr/>
        </p:nvSpPr>
        <p:spPr>
          <a:xfrm>
            <a:off x="2999232" y="4681728"/>
            <a:ext cx="1938528" cy="640080"/>
          </a:xfrm>
          <a:prstGeom prst="roundRect">
            <a:avLst/>
          </a:prstGeom>
          <a:solidFill>
            <a:srgbClr val="FDECE9"/>
          </a:solidFill>
          <a:ln w="10160">
            <a:solidFill>
              <a:srgbClr val="E257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68" name="TextBox 67"/>
          <p:cNvSpPr>
            <a:spLocks noGrp="1"/>
          </p:cNvSpPr>
          <p:nvPr/>
        </p:nvSpPr>
        <p:spPr>
          <a:xfrm>
            <a:off x="3090672" y="4773168"/>
            <a:ext cx="68580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880" b="1" i="0">
                <a:solidFill>
                  <a:srgbClr val="B8362C"/>
                </a:solidFill>
                <a:latin typeface="Noto Sans CJK SC"/>
                <a:ea typeface="Noto Sans CJK SC"/>
                <a:cs typeface="Noto Sans CJK SC"/>
              </a:rPr>
              <a:t>人工介入</a:t>
            </a:r>
            <a:endParaRPr sz="880" b="1" i="0">
              <a:solidFill>
                <a:srgbClr val="E2574C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9" name="TextBox 68"/>
          <p:cNvSpPr>
            <a:spLocks noGrp="1"/>
          </p:cNvSpPr>
          <p:nvPr/>
        </p:nvSpPr>
        <p:spPr>
          <a:xfrm>
            <a:off x="3785615" y="4718304"/>
            <a:ext cx="1051560" cy="32918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</a:pPr>
            <a:r>
              <a:rPr sz="680" b="0" i="0">
                <a:solidFill>
                  <a:srgbClr val="44585C"/>
                </a:solidFill>
                <a:latin typeface="Noto Sans CJK SC"/>
                <a:ea typeface="Noto Sans CJK SC"/>
                <a:cs typeface="Noto Sans CJK SC"/>
              </a:rPr>
              <a:t>状态冲突、异常与高风险随时接管</a:t>
            </a:r>
            <a:endParaRPr sz="680" b="0" i="0">
              <a:solidFill>
                <a:srgbClr val="6B8185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0" name="Rounded Rectangle 69"/>
          <p:cNvSpPr>
            <a:spLocks noGrp="1"/>
          </p:cNvSpPr>
          <p:nvPr/>
        </p:nvSpPr>
        <p:spPr>
          <a:xfrm>
            <a:off x="5102352" y="4681728"/>
            <a:ext cx="1938528" cy="640080"/>
          </a:xfrm>
          <a:prstGeom prst="roundRect">
            <a:avLst/>
          </a:prstGeom>
          <a:solidFill>
            <a:srgbClr val="E6F7F6"/>
          </a:solidFill>
          <a:ln w="10160">
            <a:solidFill>
              <a:srgbClr val="00A7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71" name="TextBox 70"/>
          <p:cNvSpPr>
            <a:spLocks noGrp="1"/>
          </p:cNvSpPr>
          <p:nvPr/>
        </p:nvSpPr>
        <p:spPr>
          <a:xfrm>
            <a:off x="5193792" y="4773168"/>
            <a:ext cx="68580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880" b="1" i="0">
                <a:solidFill>
                  <a:srgbClr val="00706F"/>
                </a:solidFill>
                <a:latin typeface="Noto Sans CJK SC"/>
                <a:ea typeface="Noto Sans CJK SC"/>
                <a:cs typeface="Noto Sans CJK SC"/>
              </a:rPr>
              <a:t>权限与幂等</a:t>
            </a:r>
            <a:endParaRPr sz="880" b="1" i="0">
              <a:solidFill>
                <a:srgbClr val="00A7A7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2" name="TextBox 71"/>
          <p:cNvSpPr>
            <a:spLocks noGrp="1"/>
          </p:cNvSpPr>
          <p:nvPr/>
        </p:nvSpPr>
        <p:spPr>
          <a:xfrm>
            <a:off x="5888736" y="4718304"/>
            <a:ext cx="1051560" cy="32918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</a:pPr>
            <a:r>
              <a:rPr sz="680" b="0" i="0">
                <a:solidFill>
                  <a:srgbClr val="44585C"/>
                </a:solidFill>
                <a:latin typeface="Noto Sans CJK SC"/>
                <a:ea typeface="Noto Sans CJK SC"/>
                <a:cs typeface="Noto Sans CJK SC"/>
              </a:rPr>
              <a:t>只开放所需能力，重复请求不重复写入</a:t>
            </a:r>
            <a:endParaRPr sz="680" b="0" i="0">
              <a:solidFill>
                <a:srgbClr val="6B8185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3" name="Rounded Rectangle 72"/>
          <p:cNvSpPr>
            <a:spLocks noGrp="1"/>
          </p:cNvSpPr>
          <p:nvPr/>
        </p:nvSpPr>
        <p:spPr>
          <a:xfrm>
            <a:off x="7205471" y="4681728"/>
            <a:ext cx="1938528" cy="640080"/>
          </a:xfrm>
          <a:prstGeom prst="roundRect">
            <a:avLst/>
          </a:prstGeom>
          <a:solidFill>
            <a:srgbClr val="EFEEFF"/>
          </a:solidFill>
          <a:ln w="10160">
            <a:solidFill>
              <a:srgbClr val="6B6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74" name="TextBox 73"/>
          <p:cNvSpPr>
            <a:spLocks noGrp="1"/>
          </p:cNvSpPr>
          <p:nvPr/>
        </p:nvSpPr>
        <p:spPr>
          <a:xfrm>
            <a:off x="7296911" y="4773168"/>
            <a:ext cx="68580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880" b="1" i="0">
                <a:solidFill>
                  <a:srgbClr val="4A4EB0"/>
                </a:solidFill>
                <a:latin typeface="Noto Sans CJK SC"/>
                <a:ea typeface="Noto Sans CJK SC"/>
                <a:cs typeface="Noto Sans CJK SC"/>
              </a:rPr>
              <a:t>Trace 与审计</a:t>
            </a:r>
            <a:endParaRPr sz="880" b="1" i="0">
              <a:solidFill>
                <a:srgbClr val="6B6FD8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5" name="TextBox 74"/>
          <p:cNvSpPr>
            <a:spLocks noGrp="1"/>
          </p:cNvSpPr>
          <p:nvPr/>
        </p:nvSpPr>
        <p:spPr>
          <a:xfrm>
            <a:off x="7991855" y="4718304"/>
            <a:ext cx="1051560" cy="32918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</a:pPr>
            <a:r>
              <a:rPr sz="680" b="0" i="0">
                <a:solidFill>
                  <a:srgbClr val="44585C"/>
                </a:solidFill>
                <a:latin typeface="Noto Sans CJK SC"/>
                <a:ea typeface="Noto Sans CJK SC"/>
                <a:cs typeface="Noto Sans CJK SC"/>
              </a:rPr>
              <a:t>记录看到什么、如何判断、做了什么</a:t>
            </a:r>
            <a:endParaRPr sz="680" b="0" i="0">
              <a:solidFill>
                <a:srgbClr val="6B8185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6" name="Rounded Rectangle 75"/>
          <p:cNvSpPr>
            <a:spLocks noGrp="1"/>
          </p:cNvSpPr>
          <p:nvPr/>
        </p:nvSpPr>
        <p:spPr>
          <a:xfrm>
            <a:off x="9802368" y="4681728"/>
            <a:ext cx="1682496" cy="914400"/>
          </a:xfrm>
          <a:prstGeom prst="roundRect">
            <a:avLst/>
          </a:prstGeom>
          <a:solidFill>
            <a:srgbClr val="FDECE9"/>
          </a:solidFill>
          <a:ln w="11430">
            <a:solidFill>
              <a:srgbClr val="E257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78" name="TextBox 77"/>
          <p:cNvSpPr>
            <a:spLocks noGrp="1"/>
          </p:cNvSpPr>
          <p:nvPr/>
        </p:nvSpPr>
        <p:spPr>
          <a:xfrm>
            <a:off x="10003536" y="4828032"/>
            <a:ext cx="6400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900" b="1" i="0">
                <a:solidFill>
                  <a:srgbClr val="B8362C"/>
                </a:solidFill>
                <a:latin typeface="Noto Sans CJK SC"/>
                <a:ea typeface="Noto Sans CJK SC"/>
                <a:cs typeface="Noto Sans CJK SC"/>
              </a:rPr>
              <a:t>退出路径</a:t>
            </a:r>
            <a:endParaRPr sz="900" b="1" i="0">
              <a:solidFill>
                <a:srgbClr val="E2574C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9" name="TextBox 78"/>
          <p:cNvSpPr>
            <a:spLocks noGrp="1"/>
          </p:cNvSpPr>
          <p:nvPr/>
        </p:nvSpPr>
        <p:spPr>
          <a:xfrm>
            <a:off x="10003536" y="5129784"/>
            <a:ext cx="1243584" cy="3657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buNone/>
            </a:pPr>
            <a:r>
              <a:rPr sz="720" b="0" i="0">
                <a:solidFill>
                  <a:srgbClr val="14383E"/>
                </a:solidFill>
                <a:latin typeface="Noto Sans CJK SC"/>
                <a:ea typeface="Noto Sans CJK SC"/>
                <a:cs typeface="Noto Sans CJK SC"/>
              </a:rPr>
              <a:t>已发货 / 地址不完整 /
状态冲突 → 带上下文转人工</a:t>
            </a:r>
            <a:endParaRPr sz="720" b="0" i="0">
              <a:solidFill>
                <a:srgbClr val="14383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80" name="圆角矩形 79"/>
          <p:cNvSpPr>
            <a:spLocks noGrp="1"/>
          </p:cNvSpPr>
          <p:nvPr/>
        </p:nvSpPr>
        <p:spPr>
          <a:xfrm>
            <a:off x="6565583" y="127635"/>
            <a:ext cx="4937760" cy="365760"/>
          </a:xfrm>
          <a:prstGeom prst="roundRect">
            <a:avLst>
              <a:gd name="adj" fmla="val 20833"/>
            </a:avLst>
          </a:prstGeom>
          <a:solidFill>
            <a:srgbClr val="F7FBF9"/>
          </a:solidFill>
          <a:ln w="12668">
            <a:solidFill>
              <a:srgbClr val="F7FBF9"/>
            </a:solidFill>
            <a:prstDash val="solid"/>
          </a:ln>
        </p:spPr>
        <p:txBody>
          <a:bodyPr/>
          <a:p/>
        </p:txBody>
      </p:sp>
      <p:sp>
        <p:nvSpPr>
          <p:cNvPr id="81" name="圆角矩形 80"/>
          <p:cNvSpPr>
            <a:spLocks noGrp="1"/>
          </p:cNvSpPr>
          <p:nvPr/>
        </p:nvSpPr>
        <p:spPr>
          <a:xfrm>
            <a:off x="6657023" y="164783"/>
            <a:ext cx="1154430" cy="264795"/>
          </a:xfrm>
          <a:prstGeom prst="roundRect">
            <a:avLst>
              <a:gd name="adj" fmla="val 28777"/>
            </a:avLst>
          </a:prstGeom>
          <a:solidFill>
            <a:srgbClr val="007574"/>
          </a:solidFill>
          <a:ln w="12668">
            <a:solidFill>
              <a:srgbClr val="007574"/>
            </a:solidFill>
            <a:prstDash val="solid"/>
          </a:ln>
        </p:spPr>
        <p:txBody>
          <a:bodyPr/>
          <a:p/>
        </p:txBody>
      </p:sp>
      <p:sp>
        <p:nvSpPr>
          <p:cNvPr id="82" name="矩形 81"/>
          <p:cNvSpPr>
            <a:spLocks noGrp="1"/>
          </p:cNvSpPr>
          <p:nvPr/>
        </p:nvSpPr>
        <p:spPr>
          <a:xfrm>
            <a:off x="6657023" y="187643"/>
            <a:ext cx="1154430" cy="182880"/>
          </a:xfrm>
          <a:prstGeom prst="rect">
            <a:avLst/>
          </a:prstGeom>
        </p:spPr>
        <p:txBody>
          <a:bodyPr anchor="ctr"/>
          <a:lstStyle/>
          <a:p>
            <a:pPr algn="ctr">
              <a:defRPr sz="660" b="1">
                <a:solidFill>
                  <a:srgbClr val="FFFFFF"/>
                </a:solidFill>
              </a:defRPr>
            </a:pPr>
            <a:r>
              <a:t>理解</a:t>
            </a:r>
          </a:p>
        </p:txBody>
      </p:sp>
      <p:sp>
        <p:nvSpPr>
          <p:cNvPr id="83" name="圆角矩形 82"/>
          <p:cNvSpPr>
            <a:spLocks noGrp="1"/>
          </p:cNvSpPr>
          <p:nvPr/>
        </p:nvSpPr>
        <p:spPr>
          <a:xfrm>
            <a:off x="7857173" y="164783"/>
            <a:ext cx="1154430" cy="264795"/>
          </a:xfrm>
          <a:prstGeom prst="roundRect">
            <a:avLst>
              <a:gd name="adj" fmla="val 28777"/>
            </a:avLst>
          </a:prstGeom>
          <a:solidFill>
            <a:srgbClr val="007574"/>
          </a:solidFill>
          <a:ln w="12668">
            <a:solidFill>
              <a:srgbClr val="007574"/>
            </a:solidFill>
            <a:prstDash val="solid"/>
          </a:ln>
        </p:spPr>
        <p:txBody>
          <a:bodyPr/>
          <a:p/>
        </p:txBody>
      </p:sp>
      <p:sp>
        <p:nvSpPr>
          <p:cNvPr id="84" name="矩形 83"/>
          <p:cNvSpPr>
            <a:spLocks noGrp="1"/>
          </p:cNvSpPr>
          <p:nvPr/>
        </p:nvSpPr>
        <p:spPr>
          <a:xfrm>
            <a:off x="7857173" y="187643"/>
            <a:ext cx="1154430" cy="182880"/>
          </a:xfrm>
          <a:prstGeom prst="rect">
            <a:avLst/>
          </a:prstGeom>
        </p:spPr>
        <p:txBody>
          <a:bodyPr anchor="ctr"/>
          <a:lstStyle/>
          <a:p>
            <a:pPr algn="ctr">
              <a:defRPr sz="660" b="1">
                <a:solidFill>
                  <a:srgbClr val="FFFFFF"/>
                </a:solidFill>
              </a:defRPr>
            </a:pPr>
            <a:r>
              <a:t>查询</a:t>
            </a:r>
          </a:p>
        </p:txBody>
      </p:sp>
      <p:sp>
        <p:nvSpPr>
          <p:cNvPr id="85" name="圆角矩形 84"/>
          <p:cNvSpPr>
            <a:spLocks noGrp="1"/>
          </p:cNvSpPr>
          <p:nvPr/>
        </p:nvSpPr>
        <p:spPr>
          <a:xfrm>
            <a:off x="9057323" y="164783"/>
            <a:ext cx="1154430" cy="264795"/>
          </a:xfrm>
          <a:prstGeom prst="roundRect">
            <a:avLst>
              <a:gd name="adj" fmla="val 28777"/>
            </a:avLst>
          </a:prstGeom>
          <a:solidFill>
            <a:srgbClr val="007574"/>
          </a:solidFill>
          <a:ln w="12668">
            <a:solidFill>
              <a:srgbClr val="007574"/>
            </a:solidFill>
            <a:prstDash val="solid"/>
          </a:ln>
        </p:spPr>
        <p:txBody>
          <a:bodyPr/>
          <a:p/>
        </p:txBody>
      </p:sp>
      <p:sp>
        <p:nvSpPr>
          <p:cNvPr id="86" name="矩形 85"/>
          <p:cNvSpPr>
            <a:spLocks noGrp="1"/>
          </p:cNvSpPr>
          <p:nvPr/>
        </p:nvSpPr>
        <p:spPr>
          <a:xfrm>
            <a:off x="9057323" y="187643"/>
            <a:ext cx="1154430" cy="182880"/>
          </a:xfrm>
          <a:prstGeom prst="rect">
            <a:avLst/>
          </a:prstGeom>
        </p:spPr>
        <p:txBody>
          <a:bodyPr anchor="ctr"/>
          <a:lstStyle/>
          <a:p>
            <a:pPr algn="ctr">
              <a:defRPr sz="660" b="1">
                <a:solidFill>
                  <a:srgbClr val="FFFFFF"/>
                </a:solidFill>
              </a:defRPr>
            </a:pPr>
            <a:r>
              <a:t>决策</a:t>
            </a:r>
          </a:p>
        </p:txBody>
      </p:sp>
      <p:sp>
        <p:nvSpPr>
          <p:cNvPr id="87" name="圆角矩形 86"/>
          <p:cNvSpPr>
            <a:spLocks noGrp="1"/>
          </p:cNvSpPr>
          <p:nvPr/>
        </p:nvSpPr>
        <p:spPr>
          <a:xfrm>
            <a:off x="10257473" y="164783"/>
            <a:ext cx="1154430" cy="264795"/>
          </a:xfrm>
          <a:prstGeom prst="roundRect">
            <a:avLst>
              <a:gd name="adj" fmla="val 28777"/>
            </a:avLst>
          </a:prstGeom>
          <a:solidFill>
            <a:srgbClr val="007574"/>
          </a:solidFill>
          <a:ln w="12668">
            <a:solidFill>
              <a:srgbClr val="007574"/>
            </a:solidFill>
            <a:prstDash val="solid"/>
          </a:ln>
        </p:spPr>
        <p:txBody>
          <a:bodyPr/>
          <a:p/>
        </p:txBody>
      </p:sp>
      <p:sp>
        <p:nvSpPr>
          <p:cNvPr id="88" name="矩形 87"/>
          <p:cNvSpPr>
            <a:spLocks noGrp="1"/>
          </p:cNvSpPr>
          <p:nvPr/>
        </p:nvSpPr>
        <p:spPr>
          <a:xfrm>
            <a:off x="10257473" y="187643"/>
            <a:ext cx="1154430" cy="182880"/>
          </a:xfrm>
          <a:prstGeom prst="rect">
            <a:avLst/>
          </a:prstGeom>
        </p:spPr>
        <p:txBody>
          <a:bodyPr anchor="ctr"/>
          <a:lstStyle/>
          <a:p>
            <a:pPr algn="ctr">
              <a:defRPr sz="660" b="1">
                <a:solidFill>
                  <a:srgbClr val="FFFFFF"/>
                </a:solidFill>
              </a:defRPr>
            </a:pPr>
            <a:r>
              <a:t>执行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hape 0"/>
          <p:cNvSpPr>
            <a:spLocks noGrp="1"/>
          </p:cNvSpPr>
          <p:nvPr/>
        </p:nvSpPr>
        <p:spPr>
          <a:xfrm>
            <a:off x="16459" y="16459"/>
            <a:ext cx="38405" cy="6825082"/>
          </a:xfrm>
          <a:prstGeom prst="rect">
            <a:avLst/>
          </a:prstGeom>
          <a:solidFill>
            <a:srgbClr val="0A8F6A"/>
          </a:solidFill>
          <a:ln w="12700">
            <a:solidFill>
              <a:srgbClr val="12B07D"/>
            </a:solidFill>
            <a:prstDash val="solid"/>
          </a:ln>
        </p:spPr>
        <p:txBody>
          <a:bodyPr/>
          <a:lstStyle/>
          <a:p/>
        </p:txBody>
      </p:sp>
      <p:sp>
        <p:nvSpPr>
          <p:cNvPr id="4" name="Shape 2"/>
          <p:cNvSpPr>
            <a:spLocks noGrp="1"/>
          </p:cNvSpPr>
          <p:nvPr/>
        </p:nvSpPr>
        <p:spPr>
          <a:xfrm>
            <a:off x="10104120" y="73152"/>
            <a:ext cx="1874520" cy="1353312"/>
          </a:xfrm>
          <a:prstGeom prst="ellipse">
            <a:avLst/>
          </a:prstGeom>
          <a:solidFill>
            <a:srgbClr val="E8F7F1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/>
        </p:txBody>
      </p:sp>
      <p:sp>
        <p:nvSpPr>
          <p:cNvPr id="5" name="Shape 3"/>
          <p:cNvSpPr>
            <a:spLocks noGrp="1"/>
          </p:cNvSpPr>
          <p:nvPr/>
        </p:nvSpPr>
        <p:spPr>
          <a:xfrm>
            <a:off x="91440" y="5596128"/>
            <a:ext cx="1719072" cy="1051560"/>
          </a:xfrm>
          <a:prstGeom prst="ellipse">
            <a:avLst/>
          </a:prstGeom>
          <a:solidFill>
            <a:srgbClr val="FFF2E8">
              <a:alpha val="68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/>
        </p:txBody>
      </p:sp>
      <p:sp>
        <p:nvSpPr>
          <p:cNvPr id="6" name="Shape 4"/>
          <p:cNvSpPr>
            <a:spLocks noGrp="1"/>
          </p:cNvSpPr>
          <p:nvPr/>
        </p:nvSpPr>
        <p:spPr>
          <a:xfrm>
            <a:off x="658368" y="393192"/>
            <a:ext cx="68580" cy="68580"/>
          </a:xfrm>
          <a:prstGeom prst="ellipse">
            <a:avLst/>
          </a:prstGeom>
          <a:solidFill>
            <a:srgbClr val="0A8F6A"/>
          </a:solidFill>
          <a:ln w="12700">
            <a:solidFill>
              <a:srgbClr val="12B07D"/>
            </a:solidFill>
            <a:prstDash val="solid"/>
          </a:ln>
        </p:spPr>
        <p:txBody>
          <a:bodyPr/>
          <a:lstStyle/>
          <a:p/>
        </p:txBody>
      </p:sp>
      <p:sp>
        <p:nvSpPr>
          <p:cNvPr id="7" name="Shape 5"/>
          <p:cNvSpPr>
            <a:spLocks noGrp="1"/>
          </p:cNvSpPr>
          <p:nvPr/>
        </p:nvSpPr>
        <p:spPr>
          <a:xfrm>
            <a:off x="768096" y="427939"/>
            <a:ext cx="411480" cy="0"/>
          </a:xfrm>
          <a:prstGeom prst="line">
            <a:avLst/>
          </a:prstGeom>
          <a:noFill/>
          <a:ln w="15875">
            <a:solidFill>
              <a:srgbClr val="0A8F6A"/>
            </a:solidFill>
            <a:prstDash val="solid"/>
          </a:ln>
        </p:spPr>
        <p:txBody>
          <a:bodyPr/>
          <a:lstStyle/>
          <a:p/>
        </p:txBody>
      </p:sp>
      <p:sp>
        <p:nvSpPr>
          <p:cNvPr id="8" name="Text 6"/>
          <p:cNvSpPr>
            <a:spLocks noGrp="1"/>
          </p:cNvSpPr>
          <p:nvPr/>
        </p:nvSpPr>
        <p:spPr>
          <a:xfrm>
            <a:off x="1234440" y="265176"/>
            <a:ext cx="2331720" cy="31089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r>
              <a:rPr sz="1050" b="1">
                <a:solidFill>
                  <a:srgbClr val="076B50"/>
                </a:solidFill>
                <a:latin typeface="Noto Sans CJK SC"/>
                <a:ea typeface="Noto Sans CJK SC"/>
                <a:cs typeface="Noto Sans CJK SC"/>
              </a:rPr>
              <a:t>CHAPTER 1 · 业务现状</a:t>
            </a:r>
            <a:endParaRPr sz="1050" b="1">
              <a:solidFill>
                <a:srgbClr val="0A8F6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9" name="Shape 7"/>
          <p:cNvSpPr>
            <a:spLocks noGrp="1"/>
          </p:cNvSpPr>
          <p:nvPr/>
        </p:nvSpPr>
        <p:spPr>
          <a:xfrm>
            <a:off x="9829800" y="301752"/>
            <a:ext cx="68580" cy="68580"/>
          </a:xfrm>
          <a:prstGeom prst="ellipse">
            <a:avLst/>
          </a:prstGeom>
          <a:solidFill>
            <a:srgbClr val="C7DAD6"/>
          </a:solidFill>
          <a:ln w="12700">
            <a:solidFill>
              <a:srgbClr val="C7DAD6"/>
            </a:solidFill>
            <a:prstDash val="solid"/>
          </a:ln>
        </p:spPr>
        <p:txBody>
          <a:bodyPr/>
          <a:lstStyle/>
          <a:p/>
        </p:txBody>
      </p:sp>
      <p:sp>
        <p:nvSpPr>
          <p:cNvPr id="10" name="Shape 8"/>
          <p:cNvSpPr>
            <a:spLocks noGrp="1"/>
          </p:cNvSpPr>
          <p:nvPr/>
        </p:nvSpPr>
        <p:spPr>
          <a:xfrm>
            <a:off x="10040112" y="301752"/>
            <a:ext cx="68580" cy="68580"/>
          </a:xfrm>
          <a:prstGeom prst="ellipse">
            <a:avLst/>
          </a:prstGeom>
          <a:solidFill>
            <a:srgbClr val="C7DAD6"/>
          </a:solidFill>
          <a:ln w="12700">
            <a:solidFill>
              <a:srgbClr val="C7DAD6"/>
            </a:solidFill>
            <a:prstDash val="solid"/>
          </a:ln>
        </p:spPr>
        <p:txBody>
          <a:bodyPr/>
          <a:lstStyle/>
          <a:p/>
        </p:txBody>
      </p:sp>
      <p:sp>
        <p:nvSpPr>
          <p:cNvPr id="11" name="Shape 9"/>
          <p:cNvSpPr>
            <a:spLocks noGrp="1"/>
          </p:cNvSpPr>
          <p:nvPr/>
        </p:nvSpPr>
        <p:spPr>
          <a:xfrm>
            <a:off x="10250424" y="301752"/>
            <a:ext cx="68580" cy="68580"/>
          </a:xfrm>
          <a:prstGeom prst="ellipse">
            <a:avLst/>
          </a:prstGeom>
          <a:solidFill>
            <a:srgbClr val="C7DAD6"/>
          </a:solidFill>
          <a:ln w="12700">
            <a:solidFill>
              <a:srgbClr val="C7DAD6"/>
            </a:solidFill>
            <a:prstDash val="solid"/>
          </a:ln>
        </p:spPr>
        <p:txBody>
          <a:bodyPr/>
          <a:lstStyle/>
          <a:p/>
        </p:txBody>
      </p:sp>
      <p:sp>
        <p:nvSpPr>
          <p:cNvPr id="12" name="Shape 10"/>
          <p:cNvSpPr>
            <a:spLocks noGrp="1"/>
          </p:cNvSpPr>
          <p:nvPr/>
        </p:nvSpPr>
        <p:spPr>
          <a:xfrm>
            <a:off x="10460736" y="301752"/>
            <a:ext cx="68580" cy="68580"/>
          </a:xfrm>
          <a:prstGeom prst="ellipse">
            <a:avLst/>
          </a:prstGeom>
          <a:solidFill>
            <a:srgbClr val="12B07D"/>
          </a:solidFill>
          <a:ln w="12700">
            <a:solidFill>
              <a:srgbClr val="12B07D"/>
            </a:solidFill>
            <a:prstDash val="solid"/>
          </a:ln>
        </p:spPr>
        <p:txBody>
          <a:bodyPr/>
          <a:lstStyle/>
          <a:p/>
        </p:txBody>
      </p:sp>
      <p:sp>
        <p:nvSpPr>
          <p:cNvPr id="13" name="Shape 11"/>
          <p:cNvSpPr>
            <a:spLocks noGrp="1"/>
          </p:cNvSpPr>
          <p:nvPr/>
        </p:nvSpPr>
        <p:spPr>
          <a:xfrm>
            <a:off x="10671048" y="301752"/>
            <a:ext cx="68580" cy="68580"/>
          </a:xfrm>
          <a:prstGeom prst="ellipse">
            <a:avLst/>
          </a:prstGeom>
          <a:solidFill>
            <a:srgbClr val="C7DAD6"/>
          </a:solidFill>
          <a:ln w="12700">
            <a:solidFill>
              <a:srgbClr val="C7DAD6"/>
            </a:solidFill>
            <a:prstDash val="solid"/>
          </a:ln>
        </p:spPr>
        <p:txBody>
          <a:bodyPr/>
          <a:lstStyle/>
          <a:p/>
        </p:txBody>
      </p:sp>
      <p:sp>
        <p:nvSpPr>
          <p:cNvPr id="14" name="Shape 12"/>
          <p:cNvSpPr>
            <a:spLocks noGrp="1"/>
          </p:cNvSpPr>
          <p:nvPr/>
        </p:nvSpPr>
        <p:spPr>
          <a:xfrm>
            <a:off x="10881360" y="301752"/>
            <a:ext cx="68580" cy="68580"/>
          </a:xfrm>
          <a:prstGeom prst="ellipse">
            <a:avLst/>
          </a:prstGeom>
          <a:solidFill>
            <a:srgbClr val="C7DAD6"/>
          </a:solidFill>
          <a:ln w="12700">
            <a:solidFill>
              <a:srgbClr val="C7DAD6"/>
            </a:solidFill>
            <a:prstDash val="solid"/>
          </a:ln>
        </p:spPr>
        <p:txBody>
          <a:bodyPr/>
          <a:lstStyle/>
          <a:p/>
        </p:txBody>
      </p:sp>
      <p:sp>
        <p:nvSpPr>
          <p:cNvPr id="15" name="Shape 13"/>
          <p:cNvSpPr>
            <a:spLocks noGrp="1"/>
          </p:cNvSpPr>
          <p:nvPr/>
        </p:nvSpPr>
        <p:spPr>
          <a:xfrm>
            <a:off x="11091672" y="301752"/>
            <a:ext cx="68580" cy="68580"/>
          </a:xfrm>
          <a:prstGeom prst="ellipse">
            <a:avLst/>
          </a:prstGeom>
          <a:solidFill>
            <a:srgbClr val="C7DAD6"/>
          </a:solidFill>
          <a:ln w="12700">
            <a:solidFill>
              <a:srgbClr val="C7DAD6"/>
            </a:solidFill>
            <a:prstDash val="solid"/>
          </a:ln>
        </p:spPr>
        <p:txBody>
          <a:bodyPr/>
          <a:lstStyle/>
          <a:p/>
        </p:txBody>
      </p:sp>
      <p:sp>
        <p:nvSpPr>
          <p:cNvPr id="16" name="Shape 14"/>
          <p:cNvSpPr>
            <a:spLocks noGrp="1"/>
          </p:cNvSpPr>
          <p:nvPr/>
        </p:nvSpPr>
        <p:spPr>
          <a:xfrm>
            <a:off x="11301984" y="301752"/>
            <a:ext cx="68580" cy="68580"/>
          </a:xfrm>
          <a:prstGeom prst="ellipse">
            <a:avLst/>
          </a:prstGeom>
          <a:solidFill>
            <a:srgbClr val="C7DAD6"/>
          </a:solidFill>
          <a:ln w="12700">
            <a:solidFill>
              <a:srgbClr val="C7DAD6"/>
            </a:solidFill>
            <a:prstDash val="solid"/>
          </a:ln>
        </p:spPr>
        <p:txBody>
          <a:bodyPr/>
          <a:lstStyle/>
          <a:p/>
        </p:txBody>
      </p:sp>
      <p:sp>
        <p:nvSpPr>
          <p:cNvPr id="17" name="Text 15"/>
          <p:cNvSpPr>
            <a:spLocks noGrp="1"/>
          </p:cNvSpPr>
          <p:nvPr/>
        </p:nvSpPr>
        <p:spPr>
          <a:xfrm>
            <a:off x="658368" y="713232"/>
            <a:ext cx="10652760" cy="49377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2550" b="1">
                <a:solidFill>
                  <a:srgbClr val="14383E"/>
                </a:solidFill>
                <a:latin typeface="Noto Sans CJK SC"/>
                <a:ea typeface="Noto Sans CJK SC"/>
                <a:cs typeface="Noto Sans CJK SC"/>
              </a:rPr>
              <a:t>第一章 · 业务现状</a:t>
            </a:r>
            <a:endParaRPr sz="2550"/>
          </a:p>
        </p:txBody>
      </p:sp>
      <p:sp>
        <p:nvSpPr>
          <p:cNvPr id="18" name="Text 16"/>
          <p:cNvSpPr>
            <a:spLocks noGrp="1"/>
          </p:cNvSpPr>
          <p:nvPr/>
        </p:nvSpPr>
        <p:spPr>
          <a:xfrm>
            <a:off x="658368" y="1197864"/>
            <a:ext cx="10469880" cy="29260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r>
              <a:rPr sz="1170">
                <a:solidFill>
                  <a:srgbClr val="44585C"/>
                </a:solidFill>
                <a:latin typeface="Noto Sans CJK SC"/>
                <a:ea typeface="Noto Sans CJK SC"/>
                <a:cs typeface="Noto Sans CJK SC"/>
              </a:rPr>
              <a:t>这一块回答：客服现在到底怎么干活，复杂度在哪儿。共 5 页，约 12 分钟。</a:t>
            </a:r>
            <a:endParaRPr sz="1170">
              <a:solidFill>
                <a:srgbClr val="6B8185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9" name="Shape 17"/>
          <p:cNvSpPr>
            <a:spLocks noGrp="1"/>
          </p:cNvSpPr>
          <p:nvPr/>
        </p:nvSpPr>
        <p:spPr>
          <a:xfrm>
            <a:off x="658368" y="6510528"/>
            <a:ext cx="10835640" cy="0"/>
          </a:xfrm>
          <a:prstGeom prst="line">
            <a:avLst/>
          </a:prstGeom>
          <a:noFill/>
          <a:ln w="11430">
            <a:solidFill>
              <a:srgbClr val="D7E7E3"/>
            </a:solidFill>
            <a:prstDash val="solid"/>
          </a:ln>
        </p:spPr>
        <p:txBody>
          <a:bodyPr/>
          <a:lstStyle/>
          <a:p/>
        </p:txBody>
      </p:sp>
      <p:sp>
        <p:nvSpPr>
          <p:cNvPr id="20" name="Text 18"/>
          <p:cNvSpPr>
            <a:spLocks noGrp="1"/>
          </p:cNvSpPr>
          <p:nvPr/>
        </p:nvSpPr>
        <p:spPr>
          <a:xfrm>
            <a:off x="658368" y="6556248"/>
            <a:ext cx="2103120" cy="16459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750" b="1" spc="40">
                <a:solidFill>
                  <a:srgbClr val="5C7276"/>
                </a:solidFill>
                <a:latin typeface="Noto Sans CJK SC"/>
                <a:ea typeface="Noto Sans CJK SC"/>
                <a:cs typeface="Noto Sans CJK SC"/>
              </a:rPr>
              <a:t>CUSTOMER SERVICE AI AGENT</a:t>
            </a:r>
            <a:endParaRPr sz="750"/>
          </a:p>
        </p:txBody>
      </p:sp>
      <p:sp>
        <p:nvSpPr>
          <p:cNvPr id="63" name="Rectangle 62"/>
          <p:cNvSpPr>
            <a:spLocks noGrp="1"/>
          </p:cNvSpPr>
          <p:nvPr/>
        </p:nvSpPr>
        <p:spPr>
          <a:xfrm>
            <a:off x="0" y="0"/>
            <a:ext cx="41148" cy="6858000"/>
          </a:xfrm>
          <a:prstGeom prst="rect">
            <a:avLst/>
          </a:prstGeom>
          <a:solidFill>
            <a:srgbClr val="0A8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64" name="圆角矩形 63"/>
          <p:cNvSpPr>
            <a:spLocks noGrp="1"/>
          </p:cNvSpPr>
          <p:nvPr/>
        </p:nvSpPr>
        <p:spPr>
          <a:xfrm>
            <a:off x="657225" y="2743200"/>
            <a:ext cx="10877550" cy="1657350"/>
          </a:xfrm>
          <a:prstGeom prst="roundRect">
            <a:avLst>
              <a:gd name="adj" fmla="val 4598"/>
            </a:avLst>
          </a:prstGeom>
          <a:solidFill>
            <a:srgbClr val="E8F6F0"/>
          </a:solidFill>
          <a:ln w="12668">
            <a:solidFill>
              <a:srgbClr val="0A8F6A"/>
            </a:solidFill>
            <a:prstDash val="solid"/>
          </a:ln>
        </p:spPr>
        <p:txBody>
          <a:bodyPr/>
          <a:p/>
        </p:txBody>
      </p:sp>
      <p:sp>
        <p:nvSpPr>
          <p:cNvPr id="65" name="圆角矩形 64"/>
          <p:cNvSpPr>
            <a:spLocks noGrp="1"/>
          </p:cNvSpPr>
          <p:nvPr/>
        </p:nvSpPr>
        <p:spPr>
          <a:xfrm>
            <a:off x="1814513" y="3009900"/>
            <a:ext cx="1628775" cy="1123950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668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67" name="矩形 66"/>
          <p:cNvSpPr>
            <a:spLocks noGrp="1"/>
          </p:cNvSpPr>
          <p:nvPr/>
        </p:nvSpPr>
        <p:spPr>
          <a:xfrm>
            <a:off x="1909763" y="3124200"/>
            <a:ext cx="1438275" cy="895350"/>
          </a:xfrm>
          <a:prstGeom prst="rect">
            <a:avLst/>
          </a:prstGeom>
        </p:spPr>
        <p:txBody>
          <a:bodyPr anchor="ctr"/>
          <a:lstStyle/>
          <a:p>
            <a:pPr algn="ctr">
              <a:defRPr sz="740" b="0">
                <a:solidFill>
                  <a:srgbClr val="14383E"/>
                </a:solidFill>
              </a:defRPr>
            </a:pPr>
            <a:r>
              <a:t>处理一张工单的四步：哪两步是新增的</a:t>
            </a:r>
          </a:p>
        </p:txBody>
      </p:sp>
      <p:sp>
        <p:nvSpPr>
          <p:cNvPr id="68" name="圆角矩形 67"/>
          <p:cNvSpPr>
            <a:spLocks noGrp="1"/>
          </p:cNvSpPr>
          <p:nvPr/>
        </p:nvSpPr>
        <p:spPr>
          <a:xfrm>
            <a:off x="3548063" y="3009900"/>
            <a:ext cx="1628775" cy="1123950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668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70" name="矩形 69"/>
          <p:cNvSpPr>
            <a:spLocks noGrp="1"/>
          </p:cNvSpPr>
          <p:nvPr/>
        </p:nvSpPr>
        <p:spPr>
          <a:xfrm>
            <a:off x="3643313" y="3124200"/>
            <a:ext cx="1438275" cy="895350"/>
          </a:xfrm>
          <a:prstGeom prst="rect">
            <a:avLst/>
          </a:prstGeom>
        </p:spPr>
        <p:txBody>
          <a:bodyPr anchor="ctr"/>
          <a:lstStyle/>
          <a:p>
            <a:pPr algn="ctr">
              <a:defRPr sz="740" b="0">
                <a:solidFill>
                  <a:srgbClr val="14383E"/>
                </a:solidFill>
              </a:defRPr>
            </a:pPr>
            <a:r>
              <a:t>项目全貌：六类能力</a:t>
            </a:r>
          </a:p>
        </p:txBody>
      </p:sp>
      <p:sp>
        <p:nvSpPr>
          <p:cNvPr id="71" name="圆角矩形 70"/>
          <p:cNvSpPr>
            <a:spLocks noGrp="1"/>
          </p:cNvSpPr>
          <p:nvPr/>
        </p:nvSpPr>
        <p:spPr>
          <a:xfrm>
            <a:off x="5281613" y="3009900"/>
            <a:ext cx="1628775" cy="1123950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668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73" name="矩形 72"/>
          <p:cNvSpPr>
            <a:spLocks noGrp="1"/>
          </p:cNvSpPr>
          <p:nvPr/>
        </p:nvSpPr>
        <p:spPr>
          <a:xfrm>
            <a:off x="5376863" y="3124200"/>
            <a:ext cx="1438275" cy="895350"/>
          </a:xfrm>
          <a:prstGeom prst="rect">
            <a:avLst/>
          </a:prstGeom>
        </p:spPr>
        <p:txBody>
          <a:bodyPr anchor="ctr"/>
          <a:lstStyle/>
          <a:p>
            <a:pPr algn="ctr">
              <a:defRPr sz="740" b="0">
                <a:solidFill>
                  <a:srgbClr val="14383E"/>
                </a:solidFill>
              </a:defRPr>
            </a:pPr>
            <a:r>
              <a:t>150+ 人分布三地：跨时区协作与工单周期</a:t>
            </a:r>
          </a:p>
        </p:txBody>
      </p:sp>
      <p:sp>
        <p:nvSpPr>
          <p:cNvPr id="74" name="圆角矩形 73"/>
          <p:cNvSpPr>
            <a:spLocks noGrp="1"/>
          </p:cNvSpPr>
          <p:nvPr/>
        </p:nvSpPr>
        <p:spPr>
          <a:xfrm>
            <a:off x="7015163" y="3009900"/>
            <a:ext cx="1628775" cy="1123950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668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76" name="矩形 75"/>
          <p:cNvSpPr>
            <a:spLocks noGrp="1"/>
          </p:cNvSpPr>
          <p:nvPr/>
        </p:nvSpPr>
        <p:spPr>
          <a:xfrm>
            <a:off x="7110413" y="3124200"/>
            <a:ext cx="1438275" cy="895350"/>
          </a:xfrm>
          <a:prstGeom prst="rect">
            <a:avLst/>
          </a:prstGeom>
        </p:spPr>
        <p:txBody>
          <a:bodyPr anchor="ctr"/>
          <a:lstStyle/>
          <a:p>
            <a:pPr algn="ctr">
              <a:defRPr sz="740" b="0">
                <a:solidFill>
                  <a:srgbClr val="14383E"/>
                </a:solidFill>
              </a:defRPr>
            </a:pPr>
            <a:r>
              <a:t>客户入口、客服队列与四类业务系统</a:t>
            </a:r>
          </a:p>
        </p:txBody>
      </p:sp>
      <p:sp>
        <p:nvSpPr>
          <p:cNvPr id="77" name="圆角矩形 76"/>
          <p:cNvSpPr>
            <a:spLocks noGrp="1"/>
          </p:cNvSpPr>
          <p:nvPr/>
        </p:nvSpPr>
        <p:spPr>
          <a:xfrm>
            <a:off x="8748713" y="3009900"/>
            <a:ext cx="1628775" cy="1123950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668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79" name="矩形 78"/>
          <p:cNvSpPr>
            <a:spLocks noGrp="1"/>
          </p:cNvSpPr>
          <p:nvPr/>
        </p:nvSpPr>
        <p:spPr>
          <a:xfrm>
            <a:off x="8843963" y="3124200"/>
            <a:ext cx="1438275" cy="895350"/>
          </a:xfrm>
          <a:prstGeom prst="rect">
            <a:avLst/>
          </a:prstGeom>
        </p:spPr>
        <p:txBody>
          <a:bodyPr anchor="ctr"/>
          <a:lstStyle/>
          <a:p>
            <a:pPr algn="ctr">
              <a:defRPr sz="740" b="0">
                <a:solidFill>
                  <a:srgbClr val="14383E"/>
                </a:solidFill>
              </a:defRPr>
            </a:pPr>
            <a:r>
              <a:t>一张工单的九步与两处分岔</a:t>
            </a:r>
          </a:p>
        </p:txBody>
      </p:sp>
      <p:sp>
        <p:nvSpPr>
          <p:cNvPr id="80" name="圆角矩形 79"/>
          <p:cNvSpPr>
            <a:spLocks noGrp="1"/>
          </p:cNvSpPr>
          <p:nvPr/>
        </p:nvSpPr>
        <p:spPr>
          <a:xfrm>
            <a:off x="657225" y="5486400"/>
            <a:ext cx="10877550" cy="609600"/>
          </a:xfrm>
          <a:prstGeom prst="roundRect">
            <a:avLst>
              <a:gd name="adj" fmla="val 12500"/>
            </a:avLst>
          </a:prstGeom>
          <a:solidFill>
            <a:srgbClr val="F7FBF9"/>
          </a:solidFill>
          <a:ln w="12668">
            <a:solidFill>
              <a:srgbClr val="BFD9D4"/>
            </a:solidFill>
            <a:prstDash val="solid"/>
          </a:ln>
        </p:spPr>
        <p:txBody>
          <a:bodyPr/>
          <a:p/>
        </p:txBody>
      </p:sp>
      <p:sp>
        <p:nvSpPr>
          <p:cNvPr id="81" name="矩形 80"/>
          <p:cNvSpPr>
            <a:spLocks noGrp="1"/>
          </p:cNvSpPr>
          <p:nvPr/>
        </p:nvSpPr>
        <p:spPr>
          <a:xfrm>
            <a:off x="876300" y="5562600"/>
            <a:ext cx="1238250" cy="190500"/>
          </a:xfrm>
          <a:prstGeom prst="rect">
            <a:avLst/>
          </a:prstGeom>
        </p:spPr>
        <p:txBody>
          <a:bodyPr anchor="ctr"/>
          <a:lstStyle/>
          <a:p>
            <a:pPr algn="l">
              <a:defRPr sz="720" b="1">
                <a:solidFill>
                  <a:srgbClr val="0A8F6A"/>
                </a:solidFill>
              </a:defRPr>
            </a:pPr>
            <a:r>
              <a:t>这一章</a:t>
            </a:r>
          </a:p>
        </p:txBody>
      </p:sp>
      <p:sp>
        <p:nvSpPr>
          <p:cNvPr id="82" name="矩形 81"/>
          <p:cNvSpPr>
            <a:spLocks noGrp="1"/>
          </p:cNvSpPr>
          <p:nvPr/>
        </p:nvSpPr>
        <p:spPr>
          <a:xfrm>
            <a:off x="876300" y="5753100"/>
            <a:ext cx="1238250" cy="190500"/>
          </a:xfrm>
          <a:prstGeom prst="rect">
            <a:avLst/>
          </a:prstGeom>
        </p:spPr>
        <p:txBody>
          <a:bodyPr anchor="ctr"/>
          <a:lstStyle/>
          <a:p>
            <a:pPr algn="l">
              <a:defRPr sz="720" b="1">
                <a:solidFill>
                  <a:srgbClr val="0A8F6A"/>
                </a:solidFill>
              </a:defRPr>
            </a:pPr>
            <a:r>
              <a:t>服务哪一步</a:t>
            </a:r>
          </a:p>
        </p:txBody>
      </p:sp>
      <p:sp>
        <p:nvSpPr>
          <p:cNvPr id="83" name="矩形 82"/>
          <p:cNvSpPr>
            <a:spLocks noGrp="1"/>
          </p:cNvSpPr>
          <p:nvPr/>
        </p:nvSpPr>
        <p:spPr>
          <a:xfrm>
            <a:off x="2247900" y="5619750"/>
            <a:ext cx="9525" cy="342900"/>
          </a:xfrm>
          <a:prstGeom prst="rect">
            <a:avLst/>
          </a:prstGeom>
          <a:solidFill>
            <a:srgbClr val="C7DAD6"/>
          </a:solidFill>
          <a:ln w="12668">
            <a:solidFill>
              <a:srgbClr val="C7DAD6"/>
            </a:solidFill>
            <a:prstDash val="solid"/>
          </a:ln>
        </p:spPr>
        <p:txBody>
          <a:bodyPr/>
          <a:p/>
        </p:txBody>
      </p:sp>
      <p:sp>
        <p:nvSpPr>
          <p:cNvPr id="84" name="矩形 83"/>
          <p:cNvSpPr>
            <a:spLocks noGrp="1"/>
          </p:cNvSpPr>
          <p:nvPr/>
        </p:nvSpPr>
        <p:spPr>
          <a:xfrm>
            <a:off x="2438400" y="5562600"/>
            <a:ext cx="6286500" cy="381000"/>
          </a:xfrm>
          <a:prstGeom prst="rect">
            <a:avLst/>
          </a:prstGeom>
        </p:spPr>
        <p:txBody>
          <a:bodyPr anchor="ctr"/>
          <a:lstStyle/>
          <a:p>
            <a:pPr algn="l">
              <a:defRPr sz="840" b="1">
                <a:solidFill>
                  <a:srgbClr val="14383E"/>
                </a:solidFill>
              </a:defRPr>
            </a:pPr>
            <a:r>
              <a:t>四步都还在人手里。先看清人怎么走完这四步、卡在哪儿。</a:t>
            </a:r>
          </a:p>
        </p:txBody>
      </p:sp>
      <p:sp>
        <p:nvSpPr>
          <p:cNvPr id="85" name="圆角矩形 84"/>
          <p:cNvSpPr>
            <a:spLocks noGrp="1"/>
          </p:cNvSpPr>
          <p:nvPr/>
        </p:nvSpPr>
        <p:spPr>
          <a:xfrm>
            <a:off x="9067800" y="5581650"/>
            <a:ext cx="514350" cy="209550"/>
          </a:xfrm>
          <a:prstGeom prst="roundRect">
            <a:avLst>
              <a:gd name="adj" fmla="val 36364"/>
            </a:avLst>
          </a:prstGeom>
          <a:solidFill>
            <a:srgbClr val="0A8F6A"/>
          </a:solidFill>
          <a:ln w="12668">
            <a:solidFill>
              <a:srgbClr val="0A8F6A"/>
            </a:solidFill>
            <a:prstDash val="solid"/>
          </a:ln>
        </p:spPr>
        <p:txBody>
          <a:bodyPr/>
          <a:p/>
        </p:txBody>
      </p:sp>
      <p:sp>
        <p:nvSpPr>
          <p:cNvPr id="86" name="矩形 85"/>
          <p:cNvSpPr>
            <a:spLocks noGrp="1"/>
          </p:cNvSpPr>
          <p:nvPr/>
        </p:nvSpPr>
        <p:spPr>
          <a:xfrm>
            <a:off x="9067800" y="5581650"/>
            <a:ext cx="514350" cy="209550"/>
          </a:xfrm>
          <a:prstGeom prst="rect">
            <a:avLst/>
          </a:prstGeom>
        </p:spPr>
        <p:txBody>
          <a:bodyPr anchor="ctr"/>
          <a:lstStyle/>
          <a:p>
            <a:pPr algn="ctr">
              <a:defRPr sz="680" b="1">
                <a:solidFill>
                  <a:srgbClr val="FFFFFF"/>
                </a:solidFill>
              </a:defRPr>
            </a:pPr>
            <a:r>
              <a:t>理解</a:t>
            </a:r>
          </a:p>
        </p:txBody>
      </p:sp>
      <p:sp>
        <p:nvSpPr>
          <p:cNvPr id="87" name="圆角矩形 86"/>
          <p:cNvSpPr>
            <a:spLocks noGrp="1"/>
          </p:cNvSpPr>
          <p:nvPr/>
        </p:nvSpPr>
        <p:spPr>
          <a:xfrm>
            <a:off x="9658350" y="5581650"/>
            <a:ext cx="514350" cy="209550"/>
          </a:xfrm>
          <a:prstGeom prst="roundRect">
            <a:avLst>
              <a:gd name="adj" fmla="val 36364"/>
            </a:avLst>
          </a:prstGeom>
          <a:solidFill>
            <a:srgbClr val="0A8F6A"/>
          </a:solidFill>
          <a:ln w="12668">
            <a:solidFill>
              <a:srgbClr val="0A8F6A"/>
            </a:solidFill>
            <a:prstDash val="solid"/>
          </a:ln>
        </p:spPr>
        <p:txBody>
          <a:bodyPr/>
          <a:p/>
        </p:txBody>
      </p:sp>
      <p:sp>
        <p:nvSpPr>
          <p:cNvPr id="88" name="矩形 87"/>
          <p:cNvSpPr>
            <a:spLocks noGrp="1"/>
          </p:cNvSpPr>
          <p:nvPr/>
        </p:nvSpPr>
        <p:spPr>
          <a:xfrm>
            <a:off x="9658350" y="5581650"/>
            <a:ext cx="514350" cy="209550"/>
          </a:xfrm>
          <a:prstGeom prst="rect">
            <a:avLst/>
          </a:prstGeom>
        </p:spPr>
        <p:txBody>
          <a:bodyPr anchor="ctr"/>
          <a:lstStyle/>
          <a:p>
            <a:pPr algn="ctr">
              <a:defRPr sz="680" b="1">
                <a:solidFill>
                  <a:srgbClr val="FFFFFF"/>
                </a:solidFill>
              </a:defRPr>
            </a:pPr>
            <a:r>
              <a:t>查询</a:t>
            </a:r>
          </a:p>
        </p:txBody>
      </p:sp>
      <p:sp>
        <p:nvSpPr>
          <p:cNvPr id="89" name="圆角矩形 88"/>
          <p:cNvSpPr>
            <a:spLocks noGrp="1"/>
          </p:cNvSpPr>
          <p:nvPr/>
        </p:nvSpPr>
        <p:spPr>
          <a:xfrm>
            <a:off x="10248900" y="5581650"/>
            <a:ext cx="514350" cy="209550"/>
          </a:xfrm>
          <a:prstGeom prst="roundRect">
            <a:avLst>
              <a:gd name="adj" fmla="val 36364"/>
            </a:avLst>
          </a:prstGeom>
          <a:solidFill>
            <a:srgbClr val="0A8F6A"/>
          </a:solidFill>
          <a:ln w="12668">
            <a:solidFill>
              <a:srgbClr val="0A8F6A"/>
            </a:solidFill>
            <a:prstDash val="solid"/>
          </a:ln>
        </p:spPr>
        <p:txBody>
          <a:bodyPr/>
          <a:p/>
        </p:txBody>
      </p:sp>
      <p:sp>
        <p:nvSpPr>
          <p:cNvPr id="90" name="矩形 89"/>
          <p:cNvSpPr>
            <a:spLocks noGrp="1"/>
          </p:cNvSpPr>
          <p:nvPr/>
        </p:nvSpPr>
        <p:spPr>
          <a:xfrm>
            <a:off x="10248900" y="5581650"/>
            <a:ext cx="514350" cy="209550"/>
          </a:xfrm>
          <a:prstGeom prst="rect">
            <a:avLst/>
          </a:prstGeom>
        </p:spPr>
        <p:txBody>
          <a:bodyPr anchor="ctr"/>
          <a:lstStyle/>
          <a:p>
            <a:pPr algn="ctr">
              <a:defRPr sz="680" b="1">
                <a:solidFill>
                  <a:srgbClr val="FFFFFF"/>
                </a:solidFill>
              </a:defRPr>
            </a:pPr>
            <a:r>
              <a:t>决策</a:t>
            </a:r>
          </a:p>
        </p:txBody>
      </p:sp>
      <p:sp>
        <p:nvSpPr>
          <p:cNvPr id="91" name="圆角矩形 90"/>
          <p:cNvSpPr>
            <a:spLocks noGrp="1"/>
          </p:cNvSpPr>
          <p:nvPr/>
        </p:nvSpPr>
        <p:spPr>
          <a:xfrm>
            <a:off x="10839450" y="5581650"/>
            <a:ext cx="514350" cy="209550"/>
          </a:xfrm>
          <a:prstGeom prst="roundRect">
            <a:avLst>
              <a:gd name="adj" fmla="val 36364"/>
            </a:avLst>
          </a:prstGeom>
          <a:solidFill>
            <a:srgbClr val="0A8F6A"/>
          </a:solidFill>
          <a:ln w="12668">
            <a:solidFill>
              <a:srgbClr val="0A8F6A"/>
            </a:solidFill>
            <a:prstDash val="solid"/>
          </a:ln>
        </p:spPr>
        <p:txBody>
          <a:bodyPr/>
          <a:p/>
        </p:txBody>
      </p:sp>
      <p:sp>
        <p:nvSpPr>
          <p:cNvPr id="92" name="矩形 91"/>
          <p:cNvSpPr>
            <a:spLocks noGrp="1"/>
          </p:cNvSpPr>
          <p:nvPr/>
        </p:nvSpPr>
        <p:spPr>
          <a:xfrm>
            <a:off x="10839450" y="5581650"/>
            <a:ext cx="514350" cy="209550"/>
          </a:xfrm>
          <a:prstGeom prst="rect">
            <a:avLst/>
          </a:prstGeom>
        </p:spPr>
        <p:txBody>
          <a:bodyPr anchor="ctr"/>
          <a:lstStyle/>
          <a:p>
            <a:pPr algn="ctr">
              <a:defRPr sz="680" b="1">
                <a:solidFill>
                  <a:srgbClr val="FFFFFF"/>
                </a:solidFill>
              </a:defRPr>
            </a:pPr>
            <a:r>
              <a:t>执行</a:t>
            </a:r>
          </a:p>
        </p:txBody>
      </p:sp>
      <p:sp>
        <p:nvSpPr>
          <p:cNvPr id="93" name="矩形 92"/>
          <p:cNvSpPr>
            <a:spLocks noGrp="1"/>
          </p:cNvSpPr>
          <p:nvPr/>
        </p:nvSpPr>
        <p:spPr>
          <a:xfrm>
            <a:off x="657225" y="6172200"/>
            <a:ext cx="10877550" cy="190500"/>
          </a:xfrm>
          <a:prstGeom prst="rect">
            <a:avLst/>
          </a:prstGeom>
        </p:spPr>
        <p:txBody>
          <a:bodyPr anchor="ctr"/>
          <a:lstStyle/>
          <a:p>
            <a:pPr algn="l">
              <a:defRPr sz="720" b="0">
                <a:solidFill>
                  <a:srgbClr val="44585C"/>
                </a:solidFill>
              </a:defRPr>
            </a:pPr>
            <a:r>
              <a:t>本章讲完进入第二章 · 场景与移交边界。</a:t>
            </a:r>
          </a:p>
        </p:txBody>
      </p:sp>
      <p:sp>
        <p:nvSpPr>
          <p:cNvPr id="94" name="圆角矩形 93"/>
          <p:cNvSpPr>
            <a:spLocks noGrp="1"/>
          </p:cNvSpPr>
          <p:nvPr/>
        </p:nvSpPr>
        <p:spPr>
          <a:xfrm>
            <a:off x="6565583" y="127635"/>
            <a:ext cx="4937760" cy="365760"/>
          </a:xfrm>
          <a:prstGeom prst="roundRect">
            <a:avLst>
              <a:gd name="adj" fmla="val 20833"/>
            </a:avLst>
          </a:prstGeom>
          <a:solidFill>
            <a:srgbClr val="F7FBF9"/>
          </a:solidFill>
          <a:ln w="12668">
            <a:solidFill>
              <a:srgbClr val="F7FBF9"/>
            </a:solidFill>
            <a:prstDash val="solid"/>
          </a:ln>
        </p:spPr>
        <p:txBody>
          <a:bodyPr/>
          <a:p/>
        </p:txBody>
      </p:sp>
      <p:sp>
        <p:nvSpPr>
          <p:cNvPr id="95" name="圆角矩形 94"/>
          <p:cNvSpPr>
            <a:spLocks noGrp="1"/>
          </p:cNvSpPr>
          <p:nvPr/>
        </p:nvSpPr>
        <p:spPr>
          <a:xfrm>
            <a:off x="6657023" y="164783"/>
            <a:ext cx="1154430" cy="264795"/>
          </a:xfrm>
          <a:prstGeom prst="roundRect">
            <a:avLst>
              <a:gd name="adj" fmla="val 28777"/>
            </a:avLst>
          </a:prstGeom>
          <a:solidFill>
            <a:srgbClr val="007574"/>
          </a:solidFill>
          <a:ln w="12668">
            <a:solidFill>
              <a:srgbClr val="007574"/>
            </a:solidFill>
            <a:prstDash val="solid"/>
          </a:ln>
        </p:spPr>
        <p:txBody>
          <a:bodyPr/>
          <a:p/>
        </p:txBody>
      </p:sp>
      <p:sp>
        <p:nvSpPr>
          <p:cNvPr id="96" name="矩形 95"/>
          <p:cNvSpPr>
            <a:spLocks noGrp="1"/>
          </p:cNvSpPr>
          <p:nvPr/>
        </p:nvSpPr>
        <p:spPr>
          <a:xfrm>
            <a:off x="6657023" y="187643"/>
            <a:ext cx="1154430" cy="182880"/>
          </a:xfrm>
          <a:prstGeom prst="rect">
            <a:avLst/>
          </a:prstGeom>
        </p:spPr>
        <p:txBody>
          <a:bodyPr anchor="ctr"/>
          <a:lstStyle/>
          <a:p>
            <a:pPr algn="ctr">
              <a:defRPr sz="660" b="1">
                <a:solidFill>
                  <a:srgbClr val="FFFFFF"/>
                </a:solidFill>
              </a:defRPr>
            </a:pPr>
            <a:r>
              <a:t>理解</a:t>
            </a:r>
          </a:p>
        </p:txBody>
      </p:sp>
      <p:sp>
        <p:nvSpPr>
          <p:cNvPr id="97" name="圆角矩形 96"/>
          <p:cNvSpPr>
            <a:spLocks noGrp="1"/>
          </p:cNvSpPr>
          <p:nvPr/>
        </p:nvSpPr>
        <p:spPr>
          <a:xfrm>
            <a:off x="7857173" y="164783"/>
            <a:ext cx="1154430" cy="264795"/>
          </a:xfrm>
          <a:prstGeom prst="roundRect">
            <a:avLst>
              <a:gd name="adj" fmla="val 28777"/>
            </a:avLst>
          </a:prstGeom>
          <a:solidFill>
            <a:srgbClr val="007574"/>
          </a:solidFill>
          <a:ln w="12668">
            <a:solidFill>
              <a:srgbClr val="007574"/>
            </a:solidFill>
            <a:prstDash val="solid"/>
          </a:ln>
        </p:spPr>
        <p:txBody>
          <a:bodyPr/>
          <a:p/>
        </p:txBody>
      </p:sp>
      <p:sp>
        <p:nvSpPr>
          <p:cNvPr id="98" name="矩形 97"/>
          <p:cNvSpPr>
            <a:spLocks noGrp="1"/>
          </p:cNvSpPr>
          <p:nvPr/>
        </p:nvSpPr>
        <p:spPr>
          <a:xfrm>
            <a:off x="7857173" y="187643"/>
            <a:ext cx="1154430" cy="182880"/>
          </a:xfrm>
          <a:prstGeom prst="rect">
            <a:avLst/>
          </a:prstGeom>
        </p:spPr>
        <p:txBody>
          <a:bodyPr anchor="ctr"/>
          <a:lstStyle/>
          <a:p>
            <a:pPr algn="ctr">
              <a:defRPr sz="660" b="1">
                <a:solidFill>
                  <a:srgbClr val="FFFFFF"/>
                </a:solidFill>
              </a:defRPr>
            </a:pPr>
            <a:r>
              <a:t>查询</a:t>
            </a:r>
          </a:p>
        </p:txBody>
      </p:sp>
      <p:sp>
        <p:nvSpPr>
          <p:cNvPr id="99" name="圆角矩形 98"/>
          <p:cNvSpPr>
            <a:spLocks noGrp="1"/>
          </p:cNvSpPr>
          <p:nvPr/>
        </p:nvSpPr>
        <p:spPr>
          <a:xfrm>
            <a:off x="9057323" y="164783"/>
            <a:ext cx="1154430" cy="264795"/>
          </a:xfrm>
          <a:prstGeom prst="roundRect">
            <a:avLst>
              <a:gd name="adj" fmla="val 28777"/>
            </a:avLst>
          </a:prstGeom>
          <a:solidFill>
            <a:srgbClr val="007574"/>
          </a:solidFill>
          <a:ln w="12668">
            <a:solidFill>
              <a:srgbClr val="007574"/>
            </a:solidFill>
            <a:prstDash val="solid"/>
          </a:ln>
        </p:spPr>
        <p:txBody>
          <a:bodyPr/>
          <a:p/>
        </p:txBody>
      </p:sp>
      <p:sp>
        <p:nvSpPr>
          <p:cNvPr id="100" name="矩形 99"/>
          <p:cNvSpPr>
            <a:spLocks noGrp="1"/>
          </p:cNvSpPr>
          <p:nvPr/>
        </p:nvSpPr>
        <p:spPr>
          <a:xfrm>
            <a:off x="9057323" y="187643"/>
            <a:ext cx="1154430" cy="182880"/>
          </a:xfrm>
          <a:prstGeom prst="rect">
            <a:avLst/>
          </a:prstGeom>
        </p:spPr>
        <p:txBody>
          <a:bodyPr anchor="ctr"/>
          <a:lstStyle/>
          <a:p>
            <a:pPr algn="ctr">
              <a:defRPr sz="660" b="1">
                <a:solidFill>
                  <a:srgbClr val="FFFFFF"/>
                </a:solidFill>
              </a:defRPr>
            </a:pPr>
            <a:r>
              <a:t>决策</a:t>
            </a:r>
          </a:p>
        </p:txBody>
      </p:sp>
      <p:sp>
        <p:nvSpPr>
          <p:cNvPr id="101" name="圆角矩形 100"/>
          <p:cNvSpPr>
            <a:spLocks noGrp="1"/>
          </p:cNvSpPr>
          <p:nvPr/>
        </p:nvSpPr>
        <p:spPr>
          <a:xfrm>
            <a:off x="10257473" y="164783"/>
            <a:ext cx="1154430" cy="264795"/>
          </a:xfrm>
          <a:prstGeom prst="roundRect">
            <a:avLst>
              <a:gd name="adj" fmla="val 28777"/>
            </a:avLst>
          </a:prstGeom>
          <a:solidFill>
            <a:srgbClr val="007574"/>
          </a:solidFill>
          <a:ln w="12668">
            <a:solidFill>
              <a:srgbClr val="007574"/>
            </a:solidFill>
            <a:prstDash val="solid"/>
          </a:ln>
        </p:spPr>
        <p:txBody>
          <a:bodyPr/>
          <a:p/>
        </p:txBody>
      </p:sp>
      <p:sp>
        <p:nvSpPr>
          <p:cNvPr id="102" name="矩形 101"/>
          <p:cNvSpPr>
            <a:spLocks noGrp="1"/>
          </p:cNvSpPr>
          <p:nvPr/>
        </p:nvSpPr>
        <p:spPr>
          <a:xfrm>
            <a:off x="10257473" y="187643"/>
            <a:ext cx="1154430" cy="182880"/>
          </a:xfrm>
          <a:prstGeom prst="rect">
            <a:avLst/>
          </a:prstGeom>
        </p:spPr>
        <p:txBody>
          <a:bodyPr anchor="ctr"/>
          <a:lstStyle/>
          <a:p>
            <a:pPr algn="ctr">
              <a:defRPr sz="660" b="1">
                <a:solidFill>
                  <a:srgbClr val="FFFFFF"/>
                </a:solidFill>
              </a:defRPr>
            </a:pPr>
            <a:r>
              <a:t>执行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>
            <a:spLocks noGrp="1"/>
          </p:cNvSpPr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" name="Rectangle 2"/>
          <p:cNvSpPr>
            <a:spLocks noGrp="1"/>
          </p:cNvSpPr>
          <p:nvPr/>
        </p:nvSpPr>
        <p:spPr>
          <a:xfrm>
            <a:off x="0" y="0"/>
            <a:ext cx="41148" cy="6858000"/>
          </a:xfrm>
          <a:prstGeom prst="rect">
            <a:avLst/>
          </a:prstGeom>
          <a:solidFill>
            <a:srgbClr val="0A8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4" name="Oval 3"/>
          <p:cNvSpPr>
            <a:spLocks noGrp="1"/>
          </p:cNvSpPr>
          <p:nvPr/>
        </p:nvSpPr>
        <p:spPr>
          <a:xfrm>
            <a:off x="658368" y="384048"/>
            <a:ext cx="73152" cy="73152"/>
          </a:xfrm>
          <a:prstGeom prst="ellipse">
            <a:avLst/>
          </a:prstGeom>
          <a:solidFill>
            <a:srgbClr val="0A8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5" name="Rectangle 4"/>
          <p:cNvSpPr>
            <a:spLocks noGrp="1"/>
          </p:cNvSpPr>
          <p:nvPr/>
        </p:nvSpPr>
        <p:spPr>
          <a:xfrm>
            <a:off x="768096" y="420624"/>
            <a:ext cx="411480" cy="16459"/>
          </a:xfrm>
          <a:prstGeom prst="rect">
            <a:avLst/>
          </a:prstGeom>
          <a:solidFill>
            <a:srgbClr val="0A8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6" name="TextBox 5"/>
          <p:cNvSpPr>
            <a:spLocks noGrp="1"/>
          </p:cNvSpPr>
          <p:nvPr/>
        </p:nvSpPr>
        <p:spPr>
          <a:xfrm>
            <a:off x="1225296" y="256032"/>
            <a:ext cx="41148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1050" b="1">
                <a:solidFill>
                  <a:srgbClr val="076B50"/>
                </a:solidFill>
                <a:latin typeface="Noto Sans CJK SC"/>
                <a:ea typeface="Noto Sans CJK SC"/>
                <a:cs typeface="Noto Sans CJK SC"/>
              </a:rPr>
              <a:t>CHAPTER 1 · 业务现状</a:t>
            </a:r>
            <a:endParaRPr sz="1050" b="1">
              <a:solidFill>
                <a:srgbClr val="0A8F6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" name="TextBox 6"/>
          <p:cNvSpPr>
            <a:spLocks noGrp="1"/>
          </p:cNvSpPr>
          <p:nvPr/>
        </p:nvSpPr>
        <p:spPr>
          <a:xfrm>
            <a:off x="658368" y="694944"/>
            <a:ext cx="10652760" cy="47548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</a:pPr>
            <a:r>
              <a:rPr sz="2720" b="1">
                <a:solidFill>
                  <a:srgbClr val="14383E"/>
                </a:solidFill>
                <a:latin typeface="Noto Sans CJK SC"/>
                <a:ea typeface="Noto Sans CJK SC"/>
                <a:cs typeface="Noto Sans CJK SC"/>
              </a:rPr>
              <a:t>处理一张工单的四步</a:t>
            </a:r>
            <a:endParaRPr sz="2720" b="1">
              <a:solidFill>
                <a:srgbClr val="14383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8" name="TextBox 7"/>
          <p:cNvSpPr>
            <a:spLocks noGrp="1"/>
          </p:cNvSpPr>
          <p:nvPr/>
        </p:nvSpPr>
        <p:spPr>
          <a:xfrm>
            <a:off x="658368" y="1170432"/>
            <a:ext cx="10561320" cy="31089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</a:pPr>
            <a:r>
              <a:rPr sz="1170" b="0">
                <a:solidFill>
                  <a:srgbClr val="44585C"/>
                </a:solidFill>
                <a:latin typeface="Noto Sans CJK SC"/>
                <a:ea typeface="Noto Sans CJK SC"/>
                <a:cs typeface="Noto Sans CJK SC"/>
              </a:rPr>
              <a:t>人工时代和现在走的都是这四步。查询和执行本来就是系统能力，变的只是谁来调用；理解和决策才是新建的部分。</a:t>
            </a:r>
            <a:endParaRPr sz="1170" b="0">
              <a:solidFill>
                <a:srgbClr val="6B8185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9" name="Rectangle 8"/>
          <p:cNvSpPr>
            <a:spLocks noGrp="1"/>
          </p:cNvSpPr>
          <p:nvPr/>
        </p:nvSpPr>
        <p:spPr>
          <a:xfrm>
            <a:off x="658368" y="6501384"/>
            <a:ext cx="10835640" cy="10972"/>
          </a:xfrm>
          <a:prstGeom prst="rect">
            <a:avLst/>
          </a:prstGeom>
          <a:solidFill>
            <a:srgbClr val="C9DC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0" name="TextBox 9"/>
          <p:cNvSpPr>
            <a:spLocks noGrp="1"/>
          </p:cNvSpPr>
          <p:nvPr/>
        </p:nvSpPr>
        <p:spPr>
          <a:xfrm>
            <a:off x="658368" y="6547104"/>
            <a:ext cx="237744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780" b="1">
                <a:solidFill>
                  <a:srgbClr val="5C7276"/>
                </a:solidFill>
                <a:latin typeface="Noto Sans CJK SC"/>
                <a:ea typeface="Noto Sans CJK SC"/>
                <a:cs typeface="Noto Sans CJK SC"/>
              </a:rPr>
              <a:t>CUSTOMER SERVICE AI AGENT</a:t>
            </a:r>
            <a:endParaRPr sz="780" b="1">
              <a:solidFill>
                <a:srgbClr val="98ACA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1" name="TextBox 10"/>
          <p:cNvSpPr>
            <a:spLocks noGrp="1"/>
          </p:cNvSpPr>
          <p:nvPr/>
        </p:nvSpPr>
        <p:spPr>
          <a:xfrm>
            <a:off x="10680192" y="6519672"/>
            <a:ext cx="82296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buNone/>
            </a:pPr>
            <a:r>
              <a:rPr sz="880" b="1">
                <a:solidFill>
                  <a:srgbClr val="076B50"/>
                </a:solidFill>
                <a:latin typeface="Noto Sans CJK SC"/>
                <a:ea typeface="Noto Sans CJK SC"/>
                <a:cs typeface="Noto Sans CJK SC"/>
              </a:rPr>
              <a:t>06</a:t>
            </a:r>
            <a:endParaRPr sz="880" b="1">
              <a:solidFill>
                <a:srgbClr val="0A8F6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2" name="圆角矩形 11"/>
          <p:cNvSpPr>
            <a:spLocks noGrp="1"/>
          </p:cNvSpPr>
          <p:nvPr/>
        </p:nvSpPr>
        <p:spPr>
          <a:xfrm>
            <a:off x="742950" y="1714500"/>
            <a:ext cx="2543175" cy="2381250"/>
          </a:xfrm>
          <a:prstGeom prst="roundRect">
            <a:avLst>
              <a:gd name="adj" fmla="val 3200"/>
            </a:avLst>
          </a:prstGeom>
          <a:solidFill>
            <a:srgbClr val="E3ECE9"/>
          </a:solidFill>
          <a:ln w="12668">
            <a:solidFill>
              <a:srgbClr val="E3ECE9"/>
            </a:solidFill>
            <a:prstDash val="solid"/>
          </a:ln>
        </p:spPr>
        <p:txBody>
          <a:bodyPr/>
          <a:p/>
        </p:txBody>
      </p:sp>
      <p:sp>
        <p:nvSpPr>
          <p:cNvPr id="13" name="圆角矩形 12"/>
          <p:cNvSpPr>
            <a:spLocks noGrp="1"/>
          </p:cNvSpPr>
          <p:nvPr/>
        </p:nvSpPr>
        <p:spPr>
          <a:xfrm>
            <a:off x="714375" y="1666875"/>
            <a:ext cx="2543175" cy="2381250"/>
          </a:xfrm>
          <a:prstGeom prst="roundRect">
            <a:avLst>
              <a:gd name="adj" fmla="val 3200"/>
            </a:avLst>
          </a:prstGeom>
          <a:solidFill>
            <a:srgbClr val="FFF0E4"/>
          </a:solidFill>
          <a:ln w="12668">
            <a:solidFill>
              <a:srgbClr val="F28B36"/>
            </a:solidFill>
            <a:prstDash val="solid"/>
          </a:ln>
        </p:spPr>
        <p:txBody>
          <a:bodyPr/>
          <a:p/>
        </p:txBody>
      </p:sp>
      <p:sp>
        <p:nvSpPr>
          <p:cNvPr id="14" name="椭圆 13"/>
          <p:cNvSpPr>
            <a:spLocks noGrp="1"/>
          </p:cNvSpPr>
          <p:nvPr/>
        </p:nvSpPr>
        <p:spPr>
          <a:xfrm>
            <a:off x="914400" y="1857375"/>
            <a:ext cx="342900" cy="342900"/>
          </a:xfrm>
          <a:prstGeom prst="ellipse">
            <a:avLst/>
          </a:prstGeom>
          <a:solidFill>
            <a:srgbClr val="BC6414"/>
          </a:solidFill>
          <a:ln w="12668">
            <a:solidFill>
              <a:srgbClr val="BC6414"/>
            </a:solidFill>
            <a:prstDash val="solid"/>
          </a:ln>
        </p:spPr>
        <p:txBody>
          <a:bodyPr/>
          <a:p/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914400" y="1857375"/>
            <a:ext cx="342900" cy="342900"/>
          </a:xfrm>
          <a:prstGeom prst="rect">
            <a:avLst/>
          </a:prstGeom>
        </p:spPr>
        <p:txBody>
          <a:bodyPr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1390650" y="1819275"/>
            <a:ext cx="1666875" cy="276225"/>
          </a:xfrm>
          <a:prstGeom prst="rect">
            <a:avLst/>
          </a:prstGeom>
        </p:spPr>
        <p:txBody>
          <a:bodyPr anchor="ctr"/>
          <a:lstStyle/>
          <a:p>
            <a:pPr algn="l">
              <a:defRPr sz="1240" b="1">
                <a:solidFill>
                  <a:srgbClr val="14383E"/>
                </a:solidFill>
              </a:defRPr>
            </a:pPr>
            <a:r>
              <a:t>理解</a:t>
            </a: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914400" y="2314575"/>
            <a:ext cx="2143125" cy="9525"/>
          </a:xfrm>
          <a:prstGeom prst="rect">
            <a:avLst/>
          </a:prstGeom>
          <a:solidFill>
            <a:srgbClr val="F28B36"/>
          </a:solidFill>
          <a:ln w="12668">
            <a:solidFill>
              <a:srgbClr val="F28B36"/>
            </a:solidFill>
            <a:prstDash val="solid"/>
          </a:ln>
        </p:spPr>
        <p:txBody>
          <a:bodyPr/>
          <a:p/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914400" y="2409825"/>
            <a:ext cx="2143125" cy="171450"/>
          </a:xfrm>
          <a:prstGeom prst="rect">
            <a:avLst/>
          </a:prstGeom>
        </p:spPr>
        <p:txBody>
          <a:bodyPr anchor="ctr"/>
          <a:lstStyle/>
          <a:p>
            <a:pPr algn="l">
              <a:defRPr sz="680" b="1">
                <a:solidFill>
                  <a:srgbClr val="F28B36"/>
                </a:solidFill>
              </a:defRPr>
            </a:pPr>
            <a:r>
              <a:t>人工时代</a:t>
            </a: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914400" y="2581275"/>
            <a:ext cx="2143125" cy="419100"/>
          </a:xfrm>
          <a:prstGeom prst="rect">
            <a:avLst/>
          </a:prstGeom>
        </p:spPr>
        <p:txBody>
          <a:bodyPr anchor="t"/>
          <a:lstStyle/>
          <a:p>
            <a:pPr algn="l">
              <a:defRPr sz="740" b="0">
                <a:solidFill>
                  <a:srgbClr val="44585C"/>
                </a:solidFill>
              </a:defRPr>
            </a:pPr>
            <a:r>
              <a:t>读客户来信，判断他要办什么</a:t>
            </a: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914400" y="3057525"/>
            <a:ext cx="2143125" cy="171450"/>
          </a:xfrm>
          <a:prstGeom prst="rect">
            <a:avLst/>
          </a:prstGeom>
        </p:spPr>
        <p:txBody>
          <a:bodyPr anchor="ctr"/>
          <a:lstStyle/>
          <a:p>
            <a:pPr algn="l">
              <a:defRPr sz="680" b="1">
                <a:solidFill>
                  <a:srgbClr val="F28B36"/>
                </a:solidFill>
              </a:defRPr>
            </a:pPr>
            <a:r>
              <a:t>现在</a:t>
            </a: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914400" y="3228975"/>
            <a:ext cx="2143125" cy="419100"/>
          </a:xfrm>
          <a:prstGeom prst="rect">
            <a:avLst/>
          </a:prstGeom>
        </p:spPr>
        <p:txBody>
          <a:bodyPr anchor="t"/>
          <a:lstStyle/>
          <a:p>
            <a:pPr algn="l">
              <a:defRPr sz="740" b="0">
                <a:solidFill>
                  <a:srgbClr val="44585C"/>
                </a:solidFill>
              </a:defRPr>
            </a:pPr>
            <a:r>
              <a:t>场景识别、上下文准备、多诉求拆分</a:t>
            </a:r>
          </a:p>
        </p:txBody>
      </p:sp>
      <p:sp>
        <p:nvSpPr>
          <p:cNvPr id="22" name="圆角矩形 21"/>
          <p:cNvSpPr>
            <a:spLocks noGrp="1"/>
          </p:cNvSpPr>
          <p:nvPr/>
        </p:nvSpPr>
        <p:spPr>
          <a:xfrm>
            <a:off x="914400" y="3667125"/>
            <a:ext cx="2143125" cy="247650"/>
          </a:xfrm>
          <a:prstGeom prst="roundRect">
            <a:avLst>
              <a:gd name="adj" fmla="val 30769"/>
            </a:avLst>
          </a:prstGeom>
          <a:solidFill>
            <a:srgbClr val="FFFFFF"/>
          </a:solidFill>
          <a:ln w="12668">
            <a:solidFill>
              <a:srgbClr val="F28B36"/>
            </a:solidFill>
            <a:prstDash val="solid"/>
          </a:ln>
        </p:spPr>
        <p:txBody>
          <a:bodyPr/>
          <a:p/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914400" y="3667125"/>
            <a:ext cx="2143125" cy="247650"/>
          </a:xfrm>
          <a:prstGeom prst="rect">
            <a:avLst/>
          </a:prstGeom>
        </p:spPr>
        <p:txBody>
          <a:bodyPr anchor="ctr"/>
          <a:lstStyle/>
          <a:p>
            <a:pPr algn="ctr">
              <a:defRPr sz="720" b="1">
                <a:solidFill>
                  <a:srgbClr val="BC6414"/>
                </a:solidFill>
              </a:defRPr>
            </a:pPr>
            <a:r>
              <a:t>新增能力 · 最难</a:t>
            </a:r>
          </a:p>
        </p:txBody>
      </p:sp>
      <p:sp>
        <p:nvSpPr>
          <p:cNvPr id="24" name="圆角矩形 23"/>
          <p:cNvSpPr>
            <a:spLocks noGrp="1"/>
          </p:cNvSpPr>
          <p:nvPr/>
        </p:nvSpPr>
        <p:spPr>
          <a:xfrm>
            <a:off x="3533775" y="1714500"/>
            <a:ext cx="2543175" cy="2381250"/>
          </a:xfrm>
          <a:prstGeom prst="roundRect">
            <a:avLst>
              <a:gd name="adj" fmla="val 3200"/>
            </a:avLst>
          </a:prstGeom>
          <a:solidFill>
            <a:srgbClr val="E3ECE9"/>
          </a:solidFill>
          <a:ln w="12668">
            <a:solidFill>
              <a:srgbClr val="E3ECE9"/>
            </a:solidFill>
            <a:prstDash val="solid"/>
          </a:ln>
        </p:spPr>
        <p:txBody>
          <a:bodyPr/>
          <a:p/>
        </p:txBody>
      </p:sp>
      <p:sp>
        <p:nvSpPr>
          <p:cNvPr id="25" name="圆角矩形 24"/>
          <p:cNvSpPr>
            <a:spLocks noGrp="1"/>
          </p:cNvSpPr>
          <p:nvPr/>
        </p:nvSpPr>
        <p:spPr>
          <a:xfrm>
            <a:off x="3505200" y="1666875"/>
            <a:ext cx="2543175" cy="2381250"/>
          </a:xfrm>
          <a:prstGeom prst="roundRect">
            <a:avLst>
              <a:gd name="adj" fmla="val 3200"/>
            </a:avLst>
          </a:prstGeom>
          <a:solidFill>
            <a:srgbClr val="E8F6F0"/>
          </a:solidFill>
          <a:ln w="12668">
            <a:solidFill>
              <a:srgbClr val="0A8F6A"/>
            </a:solidFill>
            <a:prstDash val="solid"/>
          </a:ln>
        </p:spPr>
        <p:txBody>
          <a:bodyPr/>
          <a:p/>
        </p:txBody>
      </p:sp>
      <p:sp>
        <p:nvSpPr>
          <p:cNvPr id="26" name="椭圆 25"/>
          <p:cNvSpPr>
            <a:spLocks noGrp="1"/>
          </p:cNvSpPr>
          <p:nvPr/>
        </p:nvSpPr>
        <p:spPr>
          <a:xfrm>
            <a:off x="3705225" y="1857375"/>
            <a:ext cx="342900" cy="342900"/>
          </a:xfrm>
          <a:prstGeom prst="ellipse">
            <a:avLst/>
          </a:prstGeom>
          <a:solidFill>
            <a:srgbClr val="07714F"/>
          </a:solidFill>
          <a:ln w="12668">
            <a:solidFill>
              <a:srgbClr val="07714F"/>
            </a:solidFill>
            <a:prstDash val="solid"/>
          </a:ln>
        </p:spPr>
        <p:txBody>
          <a:bodyPr/>
          <a:p/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3705225" y="1857375"/>
            <a:ext cx="342900" cy="342900"/>
          </a:xfrm>
          <a:prstGeom prst="rect">
            <a:avLst/>
          </a:prstGeom>
        </p:spPr>
        <p:txBody>
          <a:bodyPr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4181475" y="1819275"/>
            <a:ext cx="1666875" cy="276225"/>
          </a:xfrm>
          <a:prstGeom prst="rect">
            <a:avLst/>
          </a:prstGeom>
        </p:spPr>
        <p:txBody>
          <a:bodyPr anchor="ctr"/>
          <a:lstStyle/>
          <a:p>
            <a:pPr algn="l">
              <a:defRPr sz="1240" b="1">
                <a:solidFill>
                  <a:srgbClr val="14383E"/>
                </a:solidFill>
              </a:defRPr>
            </a:pPr>
            <a:r>
              <a:t>查询</a:t>
            </a: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3705225" y="2314575"/>
            <a:ext cx="2143125" cy="9525"/>
          </a:xfrm>
          <a:prstGeom prst="rect">
            <a:avLst/>
          </a:prstGeom>
          <a:solidFill>
            <a:srgbClr val="0A8F6A"/>
          </a:solidFill>
          <a:ln w="12668">
            <a:solidFill>
              <a:srgbClr val="0A8F6A"/>
            </a:solidFill>
            <a:prstDash val="solid"/>
          </a:ln>
        </p:spPr>
        <p:txBody>
          <a:bodyPr/>
          <a:p/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3705225" y="2409825"/>
            <a:ext cx="2143125" cy="171450"/>
          </a:xfrm>
          <a:prstGeom prst="rect">
            <a:avLst/>
          </a:prstGeom>
        </p:spPr>
        <p:txBody>
          <a:bodyPr anchor="ctr"/>
          <a:lstStyle/>
          <a:p>
            <a:pPr algn="l">
              <a:defRPr sz="680" b="1">
                <a:solidFill>
                  <a:srgbClr val="0A8F6A"/>
                </a:solidFill>
              </a:defRPr>
            </a:pPr>
            <a:r>
              <a:t>人工时代</a:t>
            </a: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3705225" y="2581275"/>
            <a:ext cx="2143125" cy="419100"/>
          </a:xfrm>
          <a:prstGeom prst="rect">
            <a:avLst/>
          </a:prstGeom>
        </p:spPr>
        <p:txBody>
          <a:bodyPr anchor="t"/>
          <a:lstStyle/>
          <a:p>
            <a:pPr algn="l">
              <a:defRPr sz="740" b="0">
                <a:solidFill>
                  <a:srgbClr val="44585C"/>
                </a:solidFill>
              </a:defRPr>
            </a:pPr>
            <a:r>
              <a:t>在订单履约系统和商城后台里逐个查</a:t>
            </a: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3705225" y="3057525"/>
            <a:ext cx="2143125" cy="171450"/>
          </a:xfrm>
          <a:prstGeom prst="rect">
            <a:avLst/>
          </a:prstGeom>
        </p:spPr>
        <p:txBody>
          <a:bodyPr anchor="ctr"/>
          <a:lstStyle/>
          <a:p>
            <a:pPr algn="l">
              <a:defRPr sz="680" b="1">
                <a:solidFill>
                  <a:srgbClr val="0A8F6A"/>
                </a:solidFill>
              </a:defRPr>
            </a:pPr>
            <a:r>
              <a:t>现在</a:t>
            </a: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3705225" y="3228975"/>
            <a:ext cx="2143125" cy="419100"/>
          </a:xfrm>
          <a:prstGeom prst="rect">
            <a:avLst/>
          </a:prstGeom>
        </p:spPr>
        <p:txBody>
          <a:bodyPr anchor="t"/>
          <a:lstStyle/>
          <a:p>
            <a:pPr algn="l">
              <a:defRPr sz="740" b="0">
                <a:solidFill>
                  <a:srgbClr val="44585C"/>
                </a:solidFill>
              </a:defRPr>
            </a:pPr>
            <a:r>
              <a:t>同一批接口，由 Agent 按需调用</a:t>
            </a:r>
          </a:p>
        </p:txBody>
      </p:sp>
      <p:sp>
        <p:nvSpPr>
          <p:cNvPr id="34" name="圆角矩形 33"/>
          <p:cNvSpPr>
            <a:spLocks noGrp="1"/>
          </p:cNvSpPr>
          <p:nvPr/>
        </p:nvSpPr>
        <p:spPr>
          <a:xfrm>
            <a:off x="3705225" y="3667125"/>
            <a:ext cx="2143125" cy="247650"/>
          </a:xfrm>
          <a:prstGeom prst="roundRect">
            <a:avLst>
              <a:gd name="adj" fmla="val 30769"/>
            </a:avLst>
          </a:prstGeom>
          <a:solidFill>
            <a:srgbClr val="FFFFFF"/>
          </a:solidFill>
          <a:ln w="12668">
            <a:solidFill>
              <a:srgbClr val="0A8F6A"/>
            </a:solidFill>
            <a:prstDash val="solid"/>
          </a:ln>
        </p:spPr>
        <p:txBody>
          <a:bodyPr/>
          <a:p/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3705225" y="3667125"/>
            <a:ext cx="2143125" cy="247650"/>
          </a:xfrm>
          <a:prstGeom prst="rect">
            <a:avLst/>
          </a:prstGeom>
        </p:spPr>
        <p:txBody>
          <a:bodyPr anchor="ctr"/>
          <a:lstStyle/>
          <a:p>
            <a:pPr algn="ctr">
              <a:defRPr sz="720" b="1">
                <a:solidFill>
                  <a:srgbClr val="07714F"/>
                </a:solidFill>
              </a:defRPr>
            </a:pPr>
            <a:r>
              <a:t>既有能力 · 换调用方</a:t>
            </a:r>
          </a:p>
        </p:txBody>
      </p:sp>
      <p:sp>
        <p:nvSpPr>
          <p:cNvPr id="36" name="圆角矩形 35"/>
          <p:cNvSpPr>
            <a:spLocks noGrp="1"/>
          </p:cNvSpPr>
          <p:nvPr/>
        </p:nvSpPr>
        <p:spPr>
          <a:xfrm>
            <a:off x="6315075" y="1714500"/>
            <a:ext cx="2543175" cy="2381250"/>
          </a:xfrm>
          <a:prstGeom prst="roundRect">
            <a:avLst>
              <a:gd name="adj" fmla="val 3200"/>
            </a:avLst>
          </a:prstGeom>
          <a:solidFill>
            <a:srgbClr val="E3ECE9"/>
          </a:solidFill>
          <a:ln w="12668">
            <a:solidFill>
              <a:srgbClr val="E3ECE9"/>
            </a:solidFill>
            <a:prstDash val="solid"/>
          </a:ln>
        </p:spPr>
        <p:txBody>
          <a:bodyPr/>
          <a:p/>
        </p:txBody>
      </p:sp>
      <p:sp>
        <p:nvSpPr>
          <p:cNvPr id="37" name="圆角矩形 36"/>
          <p:cNvSpPr>
            <a:spLocks noGrp="1"/>
          </p:cNvSpPr>
          <p:nvPr/>
        </p:nvSpPr>
        <p:spPr>
          <a:xfrm>
            <a:off x="6286500" y="1666875"/>
            <a:ext cx="2543175" cy="2381250"/>
          </a:xfrm>
          <a:prstGeom prst="roundRect">
            <a:avLst>
              <a:gd name="adj" fmla="val 3200"/>
            </a:avLst>
          </a:prstGeom>
          <a:solidFill>
            <a:srgbClr val="FFF0E4"/>
          </a:solidFill>
          <a:ln w="12668">
            <a:solidFill>
              <a:srgbClr val="F28B36"/>
            </a:solidFill>
            <a:prstDash val="solid"/>
          </a:ln>
        </p:spPr>
        <p:txBody>
          <a:bodyPr/>
          <a:p/>
        </p:txBody>
      </p:sp>
      <p:sp>
        <p:nvSpPr>
          <p:cNvPr id="38" name="椭圆 37"/>
          <p:cNvSpPr>
            <a:spLocks noGrp="1"/>
          </p:cNvSpPr>
          <p:nvPr/>
        </p:nvSpPr>
        <p:spPr>
          <a:xfrm>
            <a:off x="6486525" y="1857375"/>
            <a:ext cx="342900" cy="342900"/>
          </a:xfrm>
          <a:prstGeom prst="ellipse">
            <a:avLst/>
          </a:prstGeom>
          <a:solidFill>
            <a:srgbClr val="BC6414"/>
          </a:solidFill>
          <a:ln w="12668">
            <a:solidFill>
              <a:srgbClr val="BC6414"/>
            </a:solidFill>
            <a:prstDash val="solid"/>
          </a:ln>
        </p:spPr>
        <p:txBody>
          <a:bodyPr/>
          <a:p/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6486525" y="1857375"/>
            <a:ext cx="342900" cy="342900"/>
          </a:xfrm>
          <a:prstGeom prst="rect">
            <a:avLst/>
          </a:prstGeom>
        </p:spPr>
        <p:txBody>
          <a:bodyPr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40" name="矩形 39"/>
          <p:cNvSpPr>
            <a:spLocks noGrp="1"/>
          </p:cNvSpPr>
          <p:nvPr/>
        </p:nvSpPr>
        <p:spPr>
          <a:xfrm>
            <a:off x="6962775" y="1819275"/>
            <a:ext cx="1666875" cy="276225"/>
          </a:xfrm>
          <a:prstGeom prst="rect">
            <a:avLst/>
          </a:prstGeom>
        </p:spPr>
        <p:txBody>
          <a:bodyPr anchor="ctr"/>
          <a:lstStyle/>
          <a:p>
            <a:pPr algn="l">
              <a:defRPr sz="1240" b="1">
                <a:solidFill>
                  <a:srgbClr val="14383E"/>
                </a:solidFill>
              </a:defRPr>
            </a:pPr>
            <a:r>
              <a:t>决策</a:t>
            </a:r>
          </a:p>
        </p:txBody>
      </p:sp>
      <p:sp>
        <p:nvSpPr>
          <p:cNvPr id="41" name="矩形 40"/>
          <p:cNvSpPr>
            <a:spLocks noGrp="1"/>
          </p:cNvSpPr>
          <p:nvPr/>
        </p:nvSpPr>
        <p:spPr>
          <a:xfrm>
            <a:off x="6486525" y="2314575"/>
            <a:ext cx="2143125" cy="9525"/>
          </a:xfrm>
          <a:prstGeom prst="rect">
            <a:avLst/>
          </a:prstGeom>
          <a:solidFill>
            <a:srgbClr val="F28B36"/>
          </a:solidFill>
          <a:ln w="12668">
            <a:solidFill>
              <a:srgbClr val="F28B36"/>
            </a:solidFill>
            <a:prstDash val="solid"/>
          </a:ln>
        </p:spPr>
        <p:txBody>
          <a:bodyPr/>
          <a:p/>
        </p:txBody>
      </p:sp>
      <p:sp>
        <p:nvSpPr>
          <p:cNvPr id="42" name="矩形 41"/>
          <p:cNvSpPr>
            <a:spLocks noGrp="1"/>
          </p:cNvSpPr>
          <p:nvPr/>
        </p:nvSpPr>
        <p:spPr>
          <a:xfrm>
            <a:off x="6486525" y="2409825"/>
            <a:ext cx="2143125" cy="171450"/>
          </a:xfrm>
          <a:prstGeom prst="rect">
            <a:avLst/>
          </a:prstGeom>
        </p:spPr>
        <p:txBody>
          <a:bodyPr anchor="ctr"/>
          <a:lstStyle/>
          <a:p>
            <a:pPr algn="l">
              <a:defRPr sz="680" b="1">
                <a:solidFill>
                  <a:srgbClr val="F28B36"/>
                </a:solidFill>
              </a:defRPr>
            </a:pPr>
            <a:r>
              <a:t>人工时代</a:t>
            </a:r>
          </a:p>
        </p:txBody>
      </p:sp>
      <p:sp>
        <p:nvSpPr>
          <p:cNvPr id="43" name="矩形 42"/>
          <p:cNvSpPr>
            <a:spLocks noGrp="1"/>
          </p:cNvSpPr>
          <p:nvPr/>
        </p:nvSpPr>
        <p:spPr>
          <a:xfrm>
            <a:off x="6486525" y="2581275"/>
            <a:ext cx="2143125" cy="419100"/>
          </a:xfrm>
          <a:prstGeom prst="rect">
            <a:avLst/>
          </a:prstGeom>
        </p:spPr>
        <p:txBody>
          <a:bodyPr anchor="t"/>
          <a:lstStyle/>
          <a:p>
            <a:pPr algn="l">
              <a:defRPr sz="740" b="0">
                <a:solidFill>
                  <a:srgbClr val="44585C"/>
                </a:solidFill>
              </a:defRPr>
            </a:pPr>
            <a:r>
              <a:t>凭经验判断能不能做、要不要确认</a:t>
            </a:r>
          </a:p>
        </p:txBody>
      </p:sp>
      <p:sp>
        <p:nvSpPr>
          <p:cNvPr id="44" name="矩形 43"/>
          <p:cNvSpPr>
            <a:spLocks noGrp="1"/>
          </p:cNvSpPr>
          <p:nvPr/>
        </p:nvSpPr>
        <p:spPr>
          <a:xfrm>
            <a:off x="6486525" y="3057525"/>
            <a:ext cx="2143125" cy="171450"/>
          </a:xfrm>
          <a:prstGeom prst="rect">
            <a:avLst/>
          </a:prstGeom>
        </p:spPr>
        <p:txBody>
          <a:bodyPr anchor="ctr"/>
          <a:lstStyle/>
          <a:p>
            <a:pPr algn="l">
              <a:defRPr sz="680" b="1">
                <a:solidFill>
                  <a:srgbClr val="F28B36"/>
                </a:solidFill>
              </a:defRPr>
            </a:pPr>
            <a:r>
              <a:t>现在</a:t>
            </a:r>
          </a:p>
        </p:txBody>
      </p:sp>
      <p:sp>
        <p:nvSpPr>
          <p:cNvPr id="45" name="矩形 44"/>
          <p:cNvSpPr>
            <a:spLocks noGrp="1"/>
          </p:cNvSpPr>
          <p:nvPr/>
        </p:nvSpPr>
        <p:spPr>
          <a:xfrm>
            <a:off x="6486525" y="3228975"/>
            <a:ext cx="2143125" cy="419100"/>
          </a:xfrm>
          <a:prstGeom prst="rect">
            <a:avLst/>
          </a:prstGeom>
        </p:spPr>
        <p:txBody>
          <a:bodyPr anchor="t"/>
          <a:lstStyle/>
          <a:p>
            <a:pPr algn="l">
              <a:defRPr sz="740" b="0">
                <a:solidFill>
                  <a:srgbClr val="44585C"/>
                </a:solidFill>
              </a:defRPr>
            </a:pPr>
            <a:r>
              <a:t>Skill 契约、规则校验、Plan–Execute、Guard</a:t>
            </a:r>
          </a:p>
        </p:txBody>
      </p:sp>
      <p:sp>
        <p:nvSpPr>
          <p:cNvPr id="46" name="圆角矩形 45"/>
          <p:cNvSpPr>
            <a:spLocks noGrp="1"/>
          </p:cNvSpPr>
          <p:nvPr/>
        </p:nvSpPr>
        <p:spPr>
          <a:xfrm>
            <a:off x="6486525" y="3667125"/>
            <a:ext cx="2143125" cy="247650"/>
          </a:xfrm>
          <a:prstGeom prst="roundRect">
            <a:avLst>
              <a:gd name="adj" fmla="val 30769"/>
            </a:avLst>
          </a:prstGeom>
          <a:solidFill>
            <a:srgbClr val="FFFFFF"/>
          </a:solidFill>
          <a:ln w="12668">
            <a:solidFill>
              <a:srgbClr val="F28B36"/>
            </a:solidFill>
            <a:prstDash val="solid"/>
          </a:ln>
        </p:spPr>
        <p:txBody>
          <a:bodyPr/>
          <a:p/>
        </p:txBody>
      </p:sp>
      <p:sp>
        <p:nvSpPr>
          <p:cNvPr id="47" name="矩形 46"/>
          <p:cNvSpPr>
            <a:spLocks noGrp="1"/>
          </p:cNvSpPr>
          <p:nvPr/>
        </p:nvSpPr>
        <p:spPr>
          <a:xfrm>
            <a:off x="6486525" y="3667125"/>
            <a:ext cx="2143125" cy="247650"/>
          </a:xfrm>
          <a:prstGeom prst="rect">
            <a:avLst/>
          </a:prstGeom>
        </p:spPr>
        <p:txBody>
          <a:bodyPr anchor="ctr"/>
          <a:lstStyle/>
          <a:p>
            <a:pPr algn="ctr">
              <a:defRPr sz="720" b="1">
                <a:solidFill>
                  <a:srgbClr val="BC6414"/>
                </a:solidFill>
              </a:defRPr>
            </a:pPr>
            <a:r>
              <a:t>新增能力 · 最难</a:t>
            </a:r>
          </a:p>
        </p:txBody>
      </p:sp>
      <p:sp>
        <p:nvSpPr>
          <p:cNvPr id="48" name="圆角矩形 47"/>
          <p:cNvSpPr>
            <a:spLocks noGrp="1"/>
          </p:cNvSpPr>
          <p:nvPr/>
        </p:nvSpPr>
        <p:spPr>
          <a:xfrm>
            <a:off x="9105900" y="1714500"/>
            <a:ext cx="2543175" cy="2381250"/>
          </a:xfrm>
          <a:prstGeom prst="roundRect">
            <a:avLst>
              <a:gd name="adj" fmla="val 3200"/>
            </a:avLst>
          </a:prstGeom>
          <a:solidFill>
            <a:srgbClr val="E3ECE9"/>
          </a:solidFill>
          <a:ln w="12668">
            <a:solidFill>
              <a:srgbClr val="E3ECE9"/>
            </a:solidFill>
            <a:prstDash val="solid"/>
          </a:ln>
        </p:spPr>
        <p:txBody>
          <a:bodyPr/>
          <a:p/>
        </p:txBody>
      </p:sp>
      <p:sp>
        <p:nvSpPr>
          <p:cNvPr id="49" name="圆角矩形 48"/>
          <p:cNvSpPr>
            <a:spLocks noGrp="1"/>
          </p:cNvSpPr>
          <p:nvPr/>
        </p:nvSpPr>
        <p:spPr>
          <a:xfrm>
            <a:off x="9077325" y="1666875"/>
            <a:ext cx="2543175" cy="2381250"/>
          </a:xfrm>
          <a:prstGeom prst="roundRect">
            <a:avLst>
              <a:gd name="adj" fmla="val 3200"/>
            </a:avLst>
          </a:prstGeom>
          <a:solidFill>
            <a:srgbClr val="E8F6F0"/>
          </a:solidFill>
          <a:ln w="12668">
            <a:solidFill>
              <a:srgbClr val="0A8F6A"/>
            </a:solidFill>
            <a:prstDash val="solid"/>
          </a:ln>
        </p:spPr>
        <p:txBody>
          <a:bodyPr/>
          <a:p/>
        </p:txBody>
      </p:sp>
      <p:sp>
        <p:nvSpPr>
          <p:cNvPr id="50" name="椭圆 49"/>
          <p:cNvSpPr>
            <a:spLocks noGrp="1"/>
          </p:cNvSpPr>
          <p:nvPr/>
        </p:nvSpPr>
        <p:spPr>
          <a:xfrm>
            <a:off x="9277350" y="1857375"/>
            <a:ext cx="342900" cy="342900"/>
          </a:xfrm>
          <a:prstGeom prst="ellipse">
            <a:avLst/>
          </a:prstGeom>
          <a:solidFill>
            <a:srgbClr val="07714F"/>
          </a:solidFill>
          <a:ln w="12668">
            <a:solidFill>
              <a:srgbClr val="07714F"/>
            </a:solidFill>
            <a:prstDash val="solid"/>
          </a:ln>
        </p:spPr>
        <p:txBody>
          <a:bodyPr/>
          <a:p/>
        </p:txBody>
      </p:sp>
      <p:sp>
        <p:nvSpPr>
          <p:cNvPr id="51" name="矩形 50"/>
          <p:cNvSpPr>
            <a:spLocks noGrp="1"/>
          </p:cNvSpPr>
          <p:nvPr/>
        </p:nvSpPr>
        <p:spPr>
          <a:xfrm>
            <a:off x="9277350" y="1857375"/>
            <a:ext cx="342900" cy="342900"/>
          </a:xfrm>
          <a:prstGeom prst="rect">
            <a:avLst/>
          </a:prstGeom>
        </p:spPr>
        <p:txBody>
          <a:bodyPr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52" name="矩形 51"/>
          <p:cNvSpPr>
            <a:spLocks noGrp="1"/>
          </p:cNvSpPr>
          <p:nvPr/>
        </p:nvSpPr>
        <p:spPr>
          <a:xfrm>
            <a:off x="9753600" y="1819275"/>
            <a:ext cx="1666875" cy="276225"/>
          </a:xfrm>
          <a:prstGeom prst="rect">
            <a:avLst/>
          </a:prstGeom>
        </p:spPr>
        <p:txBody>
          <a:bodyPr anchor="ctr"/>
          <a:lstStyle/>
          <a:p>
            <a:pPr algn="l">
              <a:defRPr sz="1240" b="1">
                <a:solidFill>
                  <a:srgbClr val="14383E"/>
                </a:solidFill>
              </a:defRPr>
            </a:pPr>
            <a:r>
              <a:t>执行</a:t>
            </a:r>
          </a:p>
        </p:txBody>
      </p:sp>
      <p:sp>
        <p:nvSpPr>
          <p:cNvPr id="53" name="矩形 52"/>
          <p:cNvSpPr>
            <a:spLocks noGrp="1"/>
          </p:cNvSpPr>
          <p:nvPr/>
        </p:nvSpPr>
        <p:spPr>
          <a:xfrm>
            <a:off x="9277350" y="2314575"/>
            <a:ext cx="2143125" cy="9525"/>
          </a:xfrm>
          <a:prstGeom prst="rect">
            <a:avLst/>
          </a:prstGeom>
          <a:solidFill>
            <a:srgbClr val="0A8F6A"/>
          </a:solidFill>
          <a:ln w="12668">
            <a:solidFill>
              <a:srgbClr val="0A8F6A"/>
            </a:solidFill>
            <a:prstDash val="solid"/>
          </a:ln>
        </p:spPr>
        <p:txBody>
          <a:bodyPr/>
          <a:p/>
        </p:txBody>
      </p:sp>
      <p:sp>
        <p:nvSpPr>
          <p:cNvPr id="54" name="矩形 53"/>
          <p:cNvSpPr>
            <a:spLocks noGrp="1"/>
          </p:cNvSpPr>
          <p:nvPr/>
        </p:nvSpPr>
        <p:spPr>
          <a:xfrm>
            <a:off x="9277350" y="2409825"/>
            <a:ext cx="2143125" cy="171450"/>
          </a:xfrm>
          <a:prstGeom prst="rect">
            <a:avLst/>
          </a:prstGeom>
        </p:spPr>
        <p:txBody>
          <a:bodyPr anchor="ctr"/>
          <a:lstStyle/>
          <a:p>
            <a:pPr algn="l">
              <a:defRPr sz="680" b="1">
                <a:solidFill>
                  <a:srgbClr val="0A8F6A"/>
                </a:solidFill>
              </a:defRPr>
            </a:pPr>
            <a:r>
              <a:t>人工时代</a:t>
            </a:r>
          </a:p>
        </p:txBody>
      </p:sp>
      <p:sp>
        <p:nvSpPr>
          <p:cNvPr id="55" name="矩形 54"/>
          <p:cNvSpPr>
            <a:spLocks noGrp="1"/>
          </p:cNvSpPr>
          <p:nvPr/>
        </p:nvSpPr>
        <p:spPr>
          <a:xfrm>
            <a:off x="9277350" y="2581275"/>
            <a:ext cx="2143125" cy="419100"/>
          </a:xfrm>
          <a:prstGeom prst="rect">
            <a:avLst/>
          </a:prstGeom>
        </p:spPr>
        <p:txBody>
          <a:bodyPr anchor="t"/>
          <a:lstStyle/>
          <a:p>
            <a:pPr algn="l">
              <a:defRPr sz="740" b="0">
                <a:solidFill>
                  <a:srgbClr val="44585C"/>
                </a:solidFill>
              </a:defRPr>
            </a:pPr>
            <a:r>
              <a:t>在系统里操作，然后回复客户</a:t>
            </a:r>
          </a:p>
        </p:txBody>
      </p:sp>
      <p:sp>
        <p:nvSpPr>
          <p:cNvPr id="56" name="矩形 55"/>
          <p:cNvSpPr>
            <a:spLocks noGrp="1"/>
          </p:cNvSpPr>
          <p:nvPr/>
        </p:nvSpPr>
        <p:spPr>
          <a:xfrm>
            <a:off x="9277350" y="3057525"/>
            <a:ext cx="2143125" cy="171450"/>
          </a:xfrm>
          <a:prstGeom prst="rect">
            <a:avLst/>
          </a:prstGeom>
        </p:spPr>
        <p:txBody>
          <a:bodyPr anchor="ctr"/>
          <a:lstStyle/>
          <a:p>
            <a:pPr algn="l">
              <a:defRPr sz="680" b="1">
                <a:solidFill>
                  <a:srgbClr val="0A8F6A"/>
                </a:solidFill>
              </a:defRPr>
            </a:pPr>
            <a:r>
              <a:t>现在</a:t>
            </a:r>
          </a:p>
        </p:txBody>
      </p:sp>
      <p:sp>
        <p:nvSpPr>
          <p:cNvPr id="57" name="矩形 56"/>
          <p:cNvSpPr>
            <a:spLocks noGrp="1"/>
          </p:cNvSpPr>
          <p:nvPr/>
        </p:nvSpPr>
        <p:spPr>
          <a:xfrm>
            <a:off x="9277350" y="3228975"/>
            <a:ext cx="2143125" cy="419100"/>
          </a:xfrm>
          <a:prstGeom prst="rect">
            <a:avLst/>
          </a:prstGeom>
        </p:spPr>
        <p:txBody>
          <a:bodyPr anchor="t"/>
          <a:lstStyle/>
          <a:p>
            <a:pPr algn="l">
              <a:defRPr sz="740" b="0">
                <a:solidFill>
                  <a:srgbClr val="44585C"/>
                </a:solidFill>
              </a:defRPr>
            </a:pPr>
            <a:r>
              <a:t>同一批接口 + 统一能力出口 + 回写</a:t>
            </a:r>
          </a:p>
        </p:txBody>
      </p:sp>
      <p:sp>
        <p:nvSpPr>
          <p:cNvPr id="58" name="圆角矩形 57"/>
          <p:cNvSpPr>
            <a:spLocks noGrp="1"/>
          </p:cNvSpPr>
          <p:nvPr/>
        </p:nvSpPr>
        <p:spPr>
          <a:xfrm>
            <a:off x="9277350" y="3667125"/>
            <a:ext cx="2143125" cy="247650"/>
          </a:xfrm>
          <a:prstGeom prst="roundRect">
            <a:avLst>
              <a:gd name="adj" fmla="val 30769"/>
            </a:avLst>
          </a:prstGeom>
          <a:solidFill>
            <a:srgbClr val="FFFFFF"/>
          </a:solidFill>
          <a:ln w="12668">
            <a:solidFill>
              <a:srgbClr val="0A8F6A"/>
            </a:solidFill>
            <a:prstDash val="solid"/>
          </a:ln>
        </p:spPr>
        <p:txBody>
          <a:bodyPr/>
          <a:p/>
        </p:txBody>
      </p:sp>
      <p:sp>
        <p:nvSpPr>
          <p:cNvPr id="59" name="矩形 58"/>
          <p:cNvSpPr>
            <a:spLocks noGrp="1"/>
          </p:cNvSpPr>
          <p:nvPr/>
        </p:nvSpPr>
        <p:spPr>
          <a:xfrm>
            <a:off x="9277350" y="3667125"/>
            <a:ext cx="2143125" cy="247650"/>
          </a:xfrm>
          <a:prstGeom prst="rect">
            <a:avLst/>
          </a:prstGeom>
        </p:spPr>
        <p:txBody>
          <a:bodyPr anchor="ctr"/>
          <a:lstStyle/>
          <a:p>
            <a:pPr algn="ctr">
              <a:defRPr sz="720" b="1">
                <a:solidFill>
                  <a:srgbClr val="07714F"/>
                </a:solidFill>
              </a:defRPr>
            </a:pPr>
            <a:r>
              <a:t>既有能力 · 换调用方</a:t>
            </a:r>
          </a:p>
        </p:txBody>
      </p:sp>
      <p:sp>
        <p:nvSpPr>
          <p:cNvPr id="60" name="圆角矩形 59"/>
          <p:cNvSpPr>
            <a:spLocks noGrp="1"/>
          </p:cNvSpPr>
          <p:nvPr/>
        </p:nvSpPr>
        <p:spPr>
          <a:xfrm>
            <a:off x="657225" y="4267200"/>
            <a:ext cx="10877550" cy="781050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668">
            <a:solidFill>
              <a:srgbClr val="BFD9D4"/>
            </a:solidFill>
            <a:prstDash val="solid"/>
          </a:ln>
        </p:spPr>
        <p:txBody>
          <a:bodyPr/>
          <a:p/>
        </p:txBody>
      </p:sp>
      <p:sp>
        <p:nvSpPr>
          <p:cNvPr id="61" name="矩形 60"/>
          <p:cNvSpPr>
            <a:spLocks noGrp="1"/>
          </p:cNvSpPr>
          <p:nvPr/>
        </p:nvSpPr>
        <p:spPr>
          <a:xfrm>
            <a:off x="876300" y="4362450"/>
            <a:ext cx="10439400" cy="209550"/>
          </a:xfrm>
          <a:prstGeom prst="rect">
            <a:avLst/>
          </a:prstGeom>
        </p:spPr>
        <p:txBody>
          <a:bodyPr anchor="ctr"/>
          <a:lstStyle/>
          <a:p>
            <a:pPr algn="l">
              <a:defRPr sz="920" b="1">
                <a:solidFill>
                  <a:srgbClr val="14383E"/>
                </a:solidFill>
              </a:defRPr>
            </a:pPr>
            <a:r>
              <a:t>所以工程量分布不均</a:t>
            </a:r>
          </a:p>
        </p:txBody>
      </p:sp>
      <p:sp>
        <p:nvSpPr>
          <p:cNvPr id="62" name="矩形 61"/>
          <p:cNvSpPr>
            <a:spLocks noGrp="1"/>
          </p:cNvSpPr>
          <p:nvPr/>
        </p:nvSpPr>
        <p:spPr>
          <a:xfrm>
            <a:off x="876300" y="4610100"/>
            <a:ext cx="1238250" cy="190500"/>
          </a:xfrm>
          <a:prstGeom prst="rect">
            <a:avLst/>
          </a:prstGeom>
        </p:spPr>
        <p:txBody>
          <a:bodyPr anchor="ctr"/>
          <a:lstStyle/>
          <a:p>
            <a:pPr algn="l">
              <a:defRPr sz="780" b="1">
                <a:solidFill>
                  <a:srgbClr val="BC6414"/>
                </a:solidFill>
              </a:defRPr>
            </a:pPr>
            <a:r>
              <a:t>理解与决策</a:t>
            </a:r>
          </a:p>
        </p:txBody>
      </p:sp>
      <p:sp>
        <p:nvSpPr>
          <p:cNvPr id="63" name="矩形 62"/>
          <p:cNvSpPr>
            <a:spLocks noGrp="1"/>
          </p:cNvSpPr>
          <p:nvPr/>
        </p:nvSpPr>
        <p:spPr>
          <a:xfrm>
            <a:off x="2209800" y="4610100"/>
            <a:ext cx="9105900" cy="190500"/>
          </a:xfrm>
          <a:prstGeom prst="rect">
            <a:avLst/>
          </a:prstGeom>
        </p:spPr>
        <p:txBody>
          <a:bodyPr anchor="ctr"/>
          <a:lstStyle/>
          <a:p>
            <a:pPr algn="l">
              <a:defRPr sz="780" b="0">
                <a:solidFill>
                  <a:srgbClr val="44585C"/>
                </a:solidFill>
              </a:defRPr>
            </a:pPr>
            <a:r>
              <a:t>从零建：上下文、知识治理、Skill 契约、编排、评测</a:t>
            </a:r>
          </a:p>
        </p:txBody>
      </p:sp>
      <p:sp>
        <p:nvSpPr>
          <p:cNvPr id="64" name="矩形 63"/>
          <p:cNvSpPr>
            <a:spLocks noGrp="1"/>
          </p:cNvSpPr>
          <p:nvPr/>
        </p:nvSpPr>
        <p:spPr>
          <a:xfrm>
            <a:off x="876300" y="4838700"/>
            <a:ext cx="1238250" cy="190500"/>
          </a:xfrm>
          <a:prstGeom prst="rect">
            <a:avLst/>
          </a:prstGeom>
        </p:spPr>
        <p:txBody>
          <a:bodyPr anchor="ctr"/>
          <a:lstStyle/>
          <a:p>
            <a:pPr algn="l">
              <a:defRPr sz="780" b="1">
                <a:solidFill>
                  <a:srgbClr val="07714F"/>
                </a:solidFill>
              </a:defRPr>
            </a:pPr>
            <a:r>
              <a:t>查询与执行</a:t>
            </a:r>
          </a:p>
        </p:txBody>
      </p:sp>
      <p:sp>
        <p:nvSpPr>
          <p:cNvPr id="65" name="矩形 64"/>
          <p:cNvSpPr>
            <a:spLocks noGrp="1"/>
          </p:cNvSpPr>
          <p:nvPr/>
        </p:nvSpPr>
        <p:spPr>
          <a:xfrm>
            <a:off x="2209800" y="4838700"/>
            <a:ext cx="9105900" cy="190500"/>
          </a:xfrm>
          <a:prstGeom prst="rect">
            <a:avLst/>
          </a:prstGeom>
        </p:spPr>
        <p:txBody>
          <a:bodyPr anchor="ctr"/>
          <a:lstStyle/>
          <a:p>
            <a:pPr algn="l">
              <a:defRPr sz="780" b="0">
                <a:solidFill>
                  <a:srgbClr val="44585C"/>
                </a:solidFill>
              </a:defRPr>
            </a:pPr>
            <a:r>
              <a:t>补</a:t>
            </a:r>
            <a:r>
              <a:rPr lang="zh-CN"/>
              <a:t>能力</a:t>
            </a:r>
            <a:r>
              <a:t>：权限、客户确认、幂等、写配额、审计、发送裁决</a:t>
            </a:r>
          </a:p>
        </p:txBody>
      </p:sp>
      <p:sp>
        <p:nvSpPr>
          <p:cNvPr id="66" name="圆角矩形 65"/>
          <p:cNvSpPr>
            <a:spLocks noGrp="1"/>
          </p:cNvSpPr>
          <p:nvPr/>
        </p:nvSpPr>
        <p:spPr>
          <a:xfrm>
            <a:off x="657225" y="5200650"/>
            <a:ext cx="10877550" cy="533400"/>
          </a:xfrm>
          <a:prstGeom prst="roundRect">
            <a:avLst>
              <a:gd name="adj" fmla="val 14286"/>
            </a:avLst>
          </a:prstGeom>
          <a:solidFill>
            <a:srgbClr val="F7FBF9"/>
          </a:solidFill>
          <a:ln w="12668">
            <a:solidFill>
              <a:srgbClr val="BFD9D4"/>
            </a:solidFill>
            <a:prstDash val="solid"/>
          </a:ln>
        </p:spPr>
        <p:txBody>
          <a:bodyPr/>
          <a:p/>
        </p:txBody>
      </p:sp>
      <p:sp>
        <p:nvSpPr>
          <p:cNvPr id="67" name="矩形 66"/>
          <p:cNvSpPr>
            <a:spLocks noGrp="1"/>
          </p:cNvSpPr>
          <p:nvPr/>
        </p:nvSpPr>
        <p:spPr>
          <a:xfrm>
            <a:off x="876300" y="5257800"/>
            <a:ext cx="10439400" cy="190500"/>
          </a:xfrm>
          <a:prstGeom prst="rect">
            <a:avLst/>
          </a:prstGeom>
        </p:spPr>
        <p:txBody>
          <a:bodyPr anchor="ctr"/>
          <a:lstStyle/>
          <a:p>
            <a:pPr algn="l">
              <a:defRPr sz="780" b="1">
                <a:solidFill>
                  <a:srgbClr val="00706F"/>
                </a:solidFill>
              </a:defRPr>
            </a:pPr>
            <a:r>
              <a:t>四步之外，人工保留的处理范围</a:t>
            </a:r>
          </a:p>
        </p:txBody>
      </p:sp>
      <p:sp>
        <p:nvSpPr>
          <p:cNvPr id="68" name="矩形 67"/>
          <p:cNvSpPr>
            <a:spLocks noGrp="1"/>
          </p:cNvSpPr>
          <p:nvPr/>
        </p:nvSpPr>
        <p:spPr>
          <a:xfrm>
            <a:off x="876300" y="5467350"/>
            <a:ext cx="10439400" cy="209550"/>
          </a:xfrm>
          <a:prstGeom prst="rect">
            <a:avLst/>
          </a:prstGeom>
        </p:spPr>
        <p:txBody>
          <a:bodyPr anchor="ctr"/>
          <a:lstStyle/>
          <a:p>
            <a:pPr algn="l">
              <a:defRPr sz="820" b="1">
                <a:solidFill>
                  <a:srgbClr val="14383E"/>
                </a:solidFill>
              </a:defRPr>
            </a:pPr>
            <a:r>
              <a:t>投诉协商 · 规则冲突 · 高风险资金动作 · 异常订单 · 跨团队协同</a:t>
            </a:r>
          </a:p>
        </p:txBody>
      </p:sp>
      <p:sp>
        <p:nvSpPr>
          <p:cNvPr id="69" name="矩形 68"/>
          <p:cNvSpPr>
            <a:spLocks noGrp="1"/>
          </p:cNvSpPr>
          <p:nvPr/>
        </p:nvSpPr>
        <p:spPr>
          <a:xfrm>
            <a:off x="657225" y="5886450"/>
            <a:ext cx="10877550" cy="190500"/>
          </a:xfrm>
          <a:prstGeom prst="rect">
            <a:avLst/>
          </a:prstGeom>
        </p:spPr>
        <p:txBody>
          <a:bodyPr anchor="ctr"/>
          <a:lstStyle/>
          <a:p>
            <a:pPr algn="l">
              <a:defRPr sz="740" b="1">
                <a:solidFill>
                  <a:srgbClr val="9A5210"/>
                </a:solidFill>
              </a:defRPr>
            </a:pPr>
            <a:r>
              <a:t>后面七块内容就按这四步展开：先讲理解和决策怎么建，再讲查询和执行换成 AI 调用之后补什么。</a:t>
            </a:r>
          </a:p>
        </p:txBody>
      </p:sp>
      <p:sp>
        <p:nvSpPr>
          <p:cNvPr id="70" name="圆角矩形 69"/>
          <p:cNvSpPr>
            <a:spLocks noGrp="1"/>
          </p:cNvSpPr>
          <p:nvPr/>
        </p:nvSpPr>
        <p:spPr>
          <a:xfrm>
            <a:off x="6565583" y="127635"/>
            <a:ext cx="4937760" cy="365760"/>
          </a:xfrm>
          <a:prstGeom prst="roundRect">
            <a:avLst>
              <a:gd name="adj" fmla="val 20833"/>
            </a:avLst>
          </a:prstGeom>
          <a:solidFill>
            <a:srgbClr val="F7FBF9"/>
          </a:solidFill>
          <a:ln w="12668">
            <a:solidFill>
              <a:srgbClr val="F7FBF9"/>
            </a:solidFill>
            <a:prstDash val="solid"/>
          </a:ln>
        </p:spPr>
        <p:txBody>
          <a:bodyPr/>
          <a:p/>
        </p:txBody>
      </p:sp>
      <p:sp>
        <p:nvSpPr>
          <p:cNvPr id="71" name="圆角矩形 70"/>
          <p:cNvSpPr>
            <a:spLocks noGrp="1"/>
          </p:cNvSpPr>
          <p:nvPr/>
        </p:nvSpPr>
        <p:spPr>
          <a:xfrm>
            <a:off x="6657023" y="164783"/>
            <a:ext cx="1154430" cy="264795"/>
          </a:xfrm>
          <a:prstGeom prst="roundRect">
            <a:avLst>
              <a:gd name="adj" fmla="val 28777"/>
            </a:avLst>
          </a:prstGeom>
          <a:solidFill>
            <a:srgbClr val="007574"/>
          </a:solidFill>
          <a:ln w="12668">
            <a:solidFill>
              <a:srgbClr val="007574"/>
            </a:solidFill>
            <a:prstDash val="solid"/>
          </a:ln>
        </p:spPr>
        <p:txBody>
          <a:bodyPr/>
          <a:p/>
        </p:txBody>
      </p:sp>
      <p:sp>
        <p:nvSpPr>
          <p:cNvPr id="72" name="矩形 71"/>
          <p:cNvSpPr>
            <a:spLocks noGrp="1"/>
          </p:cNvSpPr>
          <p:nvPr/>
        </p:nvSpPr>
        <p:spPr>
          <a:xfrm>
            <a:off x="6657023" y="187643"/>
            <a:ext cx="1154430" cy="182880"/>
          </a:xfrm>
          <a:prstGeom prst="rect">
            <a:avLst/>
          </a:prstGeom>
        </p:spPr>
        <p:txBody>
          <a:bodyPr anchor="ctr"/>
          <a:lstStyle/>
          <a:p>
            <a:pPr algn="ctr">
              <a:defRPr sz="660" b="1">
                <a:solidFill>
                  <a:srgbClr val="FFFFFF"/>
                </a:solidFill>
              </a:defRPr>
            </a:pPr>
            <a:r>
              <a:t>理解</a:t>
            </a:r>
          </a:p>
        </p:txBody>
      </p:sp>
      <p:sp>
        <p:nvSpPr>
          <p:cNvPr id="73" name="圆角矩形 72"/>
          <p:cNvSpPr>
            <a:spLocks noGrp="1"/>
          </p:cNvSpPr>
          <p:nvPr/>
        </p:nvSpPr>
        <p:spPr>
          <a:xfrm>
            <a:off x="7857173" y="164783"/>
            <a:ext cx="1154430" cy="264795"/>
          </a:xfrm>
          <a:prstGeom prst="roundRect">
            <a:avLst>
              <a:gd name="adj" fmla="val 28777"/>
            </a:avLst>
          </a:prstGeom>
          <a:solidFill>
            <a:srgbClr val="007574"/>
          </a:solidFill>
          <a:ln w="12668">
            <a:solidFill>
              <a:srgbClr val="007574"/>
            </a:solidFill>
            <a:prstDash val="solid"/>
          </a:ln>
        </p:spPr>
        <p:txBody>
          <a:bodyPr/>
          <a:p/>
        </p:txBody>
      </p:sp>
      <p:sp>
        <p:nvSpPr>
          <p:cNvPr id="74" name="矩形 73"/>
          <p:cNvSpPr>
            <a:spLocks noGrp="1"/>
          </p:cNvSpPr>
          <p:nvPr/>
        </p:nvSpPr>
        <p:spPr>
          <a:xfrm>
            <a:off x="7857173" y="187643"/>
            <a:ext cx="1154430" cy="182880"/>
          </a:xfrm>
          <a:prstGeom prst="rect">
            <a:avLst/>
          </a:prstGeom>
        </p:spPr>
        <p:txBody>
          <a:bodyPr anchor="ctr"/>
          <a:lstStyle/>
          <a:p>
            <a:pPr algn="ctr">
              <a:defRPr sz="660" b="1">
                <a:solidFill>
                  <a:srgbClr val="FFFFFF"/>
                </a:solidFill>
              </a:defRPr>
            </a:pPr>
            <a:r>
              <a:t>查询</a:t>
            </a:r>
          </a:p>
        </p:txBody>
      </p:sp>
      <p:sp>
        <p:nvSpPr>
          <p:cNvPr id="75" name="圆角矩形 74"/>
          <p:cNvSpPr>
            <a:spLocks noGrp="1"/>
          </p:cNvSpPr>
          <p:nvPr/>
        </p:nvSpPr>
        <p:spPr>
          <a:xfrm>
            <a:off x="9057323" y="164783"/>
            <a:ext cx="1154430" cy="264795"/>
          </a:xfrm>
          <a:prstGeom prst="roundRect">
            <a:avLst>
              <a:gd name="adj" fmla="val 28777"/>
            </a:avLst>
          </a:prstGeom>
          <a:solidFill>
            <a:srgbClr val="007574"/>
          </a:solidFill>
          <a:ln w="12668">
            <a:solidFill>
              <a:srgbClr val="007574"/>
            </a:solidFill>
            <a:prstDash val="solid"/>
          </a:ln>
        </p:spPr>
        <p:txBody>
          <a:bodyPr/>
          <a:p/>
        </p:txBody>
      </p:sp>
      <p:sp>
        <p:nvSpPr>
          <p:cNvPr id="76" name="矩形 75"/>
          <p:cNvSpPr>
            <a:spLocks noGrp="1"/>
          </p:cNvSpPr>
          <p:nvPr/>
        </p:nvSpPr>
        <p:spPr>
          <a:xfrm>
            <a:off x="9057323" y="187643"/>
            <a:ext cx="1154430" cy="182880"/>
          </a:xfrm>
          <a:prstGeom prst="rect">
            <a:avLst/>
          </a:prstGeom>
        </p:spPr>
        <p:txBody>
          <a:bodyPr anchor="ctr"/>
          <a:lstStyle/>
          <a:p>
            <a:pPr algn="ctr">
              <a:defRPr sz="660" b="1">
                <a:solidFill>
                  <a:srgbClr val="FFFFFF"/>
                </a:solidFill>
              </a:defRPr>
            </a:pPr>
            <a:r>
              <a:t>决策</a:t>
            </a:r>
          </a:p>
        </p:txBody>
      </p:sp>
      <p:sp>
        <p:nvSpPr>
          <p:cNvPr id="77" name="圆角矩形 76"/>
          <p:cNvSpPr>
            <a:spLocks noGrp="1"/>
          </p:cNvSpPr>
          <p:nvPr/>
        </p:nvSpPr>
        <p:spPr>
          <a:xfrm>
            <a:off x="10257473" y="164783"/>
            <a:ext cx="1154430" cy="264795"/>
          </a:xfrm>
          <a:prstGeom prst="roundRect">
            <a:avLst>
              <a:gd name="adj" fmla="val 28777"/>
            </a:avLst>
          </a:prstGeom>
          <a:solidFill>
            <a:srgbClr val="007574"/>
          </a:solidFill>
          <a:ln w="12668">
            <a:solidFill>
              <a:srgbClr val="007574"/>
            </a:solidFill>
            <a:prstDash val="solid"/>
          </a:ln>
        </p:spPr>
        <p:txBody>
          <a:bodyPr/>
          <a:p/>
        </p:txBody>
      </p:sp>
      <p:sp>
        <p:nvSpPr>
          <p:cNvPr id="78" name="矩形 77"/>
          <p:cNvSpPr>
            <a:spLocks noGrp="1"/>
          </p:cNvSpPr>
          <p:nvPr/>
        </p:nvSpPr>
        <p:spPr>
          <a:xfrm>
            <a:off x="10257473" y="187643"/>
            <a:ext cx="1154430" cy="182880"/>
          </a:xfrm>
          <a:prstGeom prst="rect">
            <a:avLst/>
          </a:prstGeom>
        </p:spPr>
        <p:txBody>
          <a:bodyPr anchor="ctr"/>
          <a:lstStyle/>
          <a:p>
            <a:pPr algn="ctr">
              <a:defRPr sz="660" b="1">
                <a:solidFill>
                  <a:srgbClr val="FFFFFF"/>
                </a:solidFill>
              </a:defRPr>
            </a:pPr>
            <a:r>
              <a:t>执行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>
            <a:spLocks noGrp="1"/>
          </p:cNvSpPr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" name="Rectangle 2"/>
          <p:cNvSpPr>
            <a:spLocks noGrp="1"/>
          </p:cNvSpPr>
          <p:nvPr/>
        </p:nvSpPr>
        <p:spPr>
          <a:xfrm>
            <a:off x="0" y="0"/>
            <a:ext cx="41148" cy="6858000"/>
          </a:xfrm>
          <a:prstGeom prst="rect">
            <a:avLst/>
          </a:prstGeom>
          <a:solidFill>
            <a:srgbClr val="0A8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4" name="Oval 3"/>
          <p:cNvSpPr>
            <a:spLocks noGrp="1"/>
          </p:cNvSpPr>
          <p:nvPr/>
        </p:nvSpPr>
        <p:spPr>
          <a:xfrm>
            <a:off x="658368" y="384048"/>
            <a:ext cx="73152" cy="73152"/>
          </a:xfrm>
          <a:prstGeom prst="ellipse">
            <a:avLst/>
          </a:prstGeom>
          <a:solidFill>
            <a:srgbClr val="0A8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5" name="Rectangle 4"/>
          <p:cNvSpPr>
            <a:spLocks noGrp="1"/>
          </p:cNvSpPr>
          <p:nvPr/>
        </p:nvSpPr>
        <p:spPr>
          <a:xfrm>
            <a:off x="768096" y="420624"/>
            <a:ext cx="411480" cy="16459"/>
          </a:xfrm>
          <a:prstGeom prst="rect">
            <a:avLst/>
          </a:prstGeom>
          <a:solidFill>
            <a:srgbClr val="0A8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6" name="TextBox 5"/>
          <p:cNvSpPr>
            <a:spLocks noGrp="1"/>
          </p:cNvSpPr>
          <p:nvPr/>
        </p:nvSpPr>
        <p:spPr>
          <a:xfrm>
            <a:off x="1225296" y="256032"/>
            <a:ext cx="41148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050" b="1">
                <a:solidFill>
                  <a:srgbClr val="076B50"/>
                </a:solidFill>
                <a:latin typeface="Noto Sans CJK SC"/>
                <a:ea typeface="Noto Sans CJK SC"/>
                <a:cs typeface="Noto Sans CJK SC"/>
              </a:rPr>
              <a:t>CHAPTER 1 · 业务现状</a:t>
            </a:r>
            <a:endParaRPr sz="1050" b="1">
              <a:solidFill>
                <a:srgbClr val="0A8F6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" name="TextBox 6"/>
          <p:cNvSpPr>
            <a:spLocks noGrp="1"/>
          </p:cNvSpPr>
          <p:nvPr/>
        </p:nvSpPr>
        <p:spPr>
          <a:xfrm>
            <a:off x="658368" y="694944"/>
            <a:ext cx="10652760" cy="47548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</a:pPr>
            <a:r>
              <a:rPr sz="2720" b="1" i="0">
                <a:solidFill>
                  <a:srgbClr val="14383E"/>
                </a:solidFill>
                <a:latin typeface="Noto Sans CJK SC"/>
                <a:ea typeface="Noto Sans CJK SC"/>
                <a:cs typeface="Noto Sans CJK SC"/>
              </a:rPr>
              <a:t>项目全貌：六类能力</a:t>
            </a:r>
            <a:endParaRPr sz="2720" b="1" i="0">
              <a:solidFill>
                <a:srgbClr val="14383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8" name="TextBox 7"/>
          <p:cNvSpPr>
            <a:spLocks noGrp="1"/>
          </p:cNvSpPr>
          <p:nvPr/>
        </p:nvSpPr>
        <p:spPr>
          <a:xfrm>
            <a:off x="658368" y="1170432"/>
            <a:ext cx="10561320" cy="31089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</a:pPr>
            <a:r>
              <a:rPr sz="1170" b="0" i="0">
                <a:solidFill>
                  <a:srgbClr val="44585C"/>
                </a:solidFill>
                <a:latin typeface="Noto Sans CJK SC"/>
                <a:ea typeface="Noto Sans CJK SC"/>
                <a:cs typeface="Noto Sans CJK SC"/>
              </a:rPr>
              <a:t>核心 Agent 之外还需要渠道接入、知识、业务执行、治理和运营五类能力配合，才能进入生产。</a:t>
            </a:r>
            <a:endParaRPr sz="1170" b="0" i="0">
              <a:solidFill>
                <a:srgbClr val="6B8185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9" name="Rectangle 8"/>
          <p:cNvSpPr>
            <a:spLocks noGrp="1"/>
          </p:cNvSpPr>
          <p:nvPr/>
        </p:nvSpPr>
        <p:spPr>
          <a:xfrm>
            <a:off x="658368" y="6501384"/>
            <a:ext cx="10835640" cy="10972"/>
          </a:xfrm>
          <a:prstGeom prst="rect">
            <a:avLst/>
          </a:prstGeom>
          <a:solidFill>
            <a:srgbClr val="C9DC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0" name="TextBox 9"/>
          <p:cNvSpPr>
            <a:spLocks noGrp="1"/>
          </p:cNvSpPr>
          <p:nvPr/>
        </p:nvSpPr>
        <p:spPr>
          <a:xfrm>
            <a:off x="658368" y="6547104"/>
            <a:ext cx="237744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780" b="1" i="0">
                <a:solidFill>
                  <a:srgbClr val="5C7276"/>
                </a:solidFill>
                <a:latin typeface="Noto Sans CJK SC"/>
                <a:ea typeface="Noto Sans CJK SC"/>
                <a:cs typeface="Noto Sans CJK SC"/>
              </a:rPr>
              <a:t>CUSTOMER SERVICE AI AGENT</a:t>
            </a:r>
            <a:endParaRPr sz="780" b="1" i="0">
              <a:solidFill>
                <a:srgbClr val="98ACA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1" name="TextBox 10"/>
          <p:cNvSpPr>
            <a:spLocks noGrp="1"/>
          </p:cNvSpPr>
          <p:nvPr/>
        </p:nvSpPr>
        <p:spPr>
          <a:xfrm>
            <a:off x="10680192" y="6519672"/>
            <a:ext cx="82296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buNone/>
            </a:pPr>
            <a:r>
              <a:rPr sz="880" b="1" i="0">
                <a:solidFill>
                  <a:srgbClr val="076B50"/>
                </a:solidFill>
                <a:latin typeface="Noto Sans CJK SC"/>
                <a:ea typeface="Noto Sans CJK SC"/>
                <a:cs typeface="Noto Sans CJK SC"/>
              </a:rPr>
              <a:t>07</a:t>
            </a:r>
            <a:endParaRPr sz="880" b="1" i="0">
              <a:solidFill>
                <a:srgbClr val="0A8F6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2" name="Rounded Rectangle 11"/>
          <p:cNvSpPr>
            <a:spLocks noGrp="1"/>
          </p:cNvSpPr>
          <p:nvPr/>
        </p:nvSpPr>
        <p:spPr>
          <a:xfrm>
            <a:off x="726948" y="1760219"/>
            <a:ext cx="1664208" cy="1993392"/>
          </a:xfrm>
          <a:prstGeom prst="roundRect">
            <a:avLst/>
          </a:prstGeom>
          <a:solidFill>
            <a:srgbClr val="E3E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3" name="Rounded Rectangle 12"/>
          <p:cNvSpPr>
            <a:spLocks noGrp="1"/>
          </p:cNvSpPr>
          <p:nvPr/>
        </p:nvSpPr>
        <p:spPr>
          <a:xfrm>
            <a:off x="694944" y="1719072"/>
            <a:ext cx="1664208" cy="1993392"/>
          </a:xfrm>
          <a:prstGeom prst="roundRect">
            <a:avLst/>
          </a:prstGeom>
          <a:solidFill>
            <a:srgbClr val="E8F6F0"/>
          </a:solidFill>
          <a:ln w="12700">
            <a:solidFill>
              <a:srgbClr val="0A8F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5" name="Oval 14"/>
          <p:cNvSpPr>
            <a:spLocks noGrp="1"/>
          </p:cNvSpPr>
          <p:nvPr/>
        </p:nvSpPr>
        <p:spPr>
          <a:xfrm>
            <a:off x="1325880" y="1975104"/>
            <a:ext cx="365760" cy="365760"/>
          </a:xfrm>
          <a:prstGeom prst="ellipse">
            <a:avLst/>
          </a:prstGeom>
          <a:solidFill>
            <a:srgbClr val="07714F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6" name="TextBox 15"/>
          <p:cNvSpPr>
            <a:spLocks noGrp="1"/>
          </p:cNvSpPr>
          <p:nvPr/>
        </p:nvSpPr>
        <p:spPr>
          <a:xfrm>
            <a:off x="1325880" y="1979676"/>
            <a:ext cx="365760" cy="3566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840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1</a:t>
            </a:r>
            <a:endParaRPr sz="840" b="1" i="0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7" name="TextBox 16"/>
          <p:cNvSpPr>
            <a:spLocks noGrp="1"/>
          </p:cNvSpPr>
          <p:nvPr/>
        </p:nvSpPr>
        <p:spPr>
          <a:xfrm>
            <a:off x="786384" y="2542032"/>
            <a:ext cx="1481328" cy="27432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</a:pPr>
            <a:r>
              <a:rPr sz="1020" b="1" i="0">
                <a:solidFill>
                  <a:srgbClr val="14383E"/>
                </a:solidFill>
                <a:latin typeface="Noto Sans CJK SC"/>
                <a:ea typeface="Noto Sans CJK SC"/>
                <a:cs typeface="Noto Sans CJK SC"/>
              </a:rPr>
              <a:t>渠道接入</a:t>
            </a:r>
            <a:endParaRPr sz="1020" b="1" i="0">
              <a:solidFill>
                <a:srgbClr val="14383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8" name="TextBox 17"/>
          <p:cNvSpPr>
            <a:spLocks noGrp="1"/>
          </p:cNvSpPr>
          <p:nvPr/>
        </p:nvSpPr>
        <p:spPr>
          <a:xfrm>
            <a:off x="822960" y="2971800"/>
            <a:ext cx="1408176" cy="49377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</a:pPr>
            <a:r>
              <a:rPr sz="720" b="0" i="0">
                <a:solidFill>
                  <a:srgbClr val="44585C"/>
                </a:solidFill>
                <a:latin typeface="Noto Sans CJK SC"/>
                <a:ea typeface="Noto Sans CJK SC"/>
                <a:cs typeface="Noto Sans CJK SC"/>
              </a:rPr>
              <a:t>chat / email / voice
事件、任务与实时消息</a:t>
            </a:r>
            <a:endParaRPr sz="720" b="0" i="0">
              <a:solidFill>
                <a:srgbClr val="6B8185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9" name="Right Arrow 18"/>
          <p:cNvSpPr>
            <a:spLocks noGrp="1"/>
          </p:cNvSpPr>
          <p:nvPr/>
        </p:nvSpPr>
        <p:spPr>
          <a:xfrm>
            <a:off x="2377440" y="2542032"/>
            <a:ext cx="146304" cy="292608"/>
          </a:xfrm>
          <a:prstGeom prst="rightArrow">
            <a:avLst/>
          </a:prstGeom>
          <a:solidFill>
            <a:srgbClr val="0A8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0" name="Rounded Rectangle 19"/>
          <p:cNvSpPr>
            <a:spLocks noGrp="1"/>
          </p:cNvSpPr>
          <p:nvPr/>
        </p:nvSpPr>
        <p:spPr>
          <a:xfrm>
            <a:off x="2592324" y="1760219"/>
            <a:ext cx="1664208" cy="1993392"/>
          </a:xfrm>
          <a:prstGeom prst="roundRect">
            <a:avLst/>
          </a:prstGeom>
          <a:solidFill>
            <a:srgbClr val="E3E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1" name="Rounded Rectangle 20"/>
          <p:cNvSpPr>
            <a:spLocks noGrp="1"/>
          </p:cNvSpPr>
          <p:nvPr/>
        </p:nvSpPr>
        <p:spPr>
          <a:xfrm>
            <a:off x="2560320" y="1719072"/>
            <a:ext cx="1664208" cy="1993392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3" name="Oval 22"/>
          <p:cNvSpPr>
            <a:spLocks noGrp="1"/>
          </p:cNvSpPr>
          <p:nvPr/>
        </p:nvSpPr>
        <p:spPr>
          <a:xfrm>
            <a:off x="3191256" y="1975104"/>
            <a:ext cx="365760" cy="365760"/>
          </a:xfrm>
          <a:prstGeom prst="ellipse">
            <a:avLst/>
          </a:prstGeom>
          <a:solidFill>
            <a:srgbClr val="1F63C4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4" name="TextBox 23"/>
          <p:cNvSpPr>
            <a:spLocks noGrp="1"/>
          </p:cNvSpPr>
          <p:nvPr/>
        </p:nvSpPr>
        <p:spPr>
          <a:xfrm>
            <a:off x="3191256" y="1979676"/>
            <a:ext cx="365760" cy="3566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840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2</a:t>
            </a:r>
            <a:endParaRPr sz="840" b="1" i="0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5" name="TextBox 24"/>
          <p:cNvSpPr>
            <a:spLocks noGrp="1"/>
          </p:cNvSpPr>
          <p:nvPr/>
        </p:nvSpPr>
        <p:spPr>
          <a:xfrm>
            <a:off x="2651760" y="2542032"/>
            <a:ext cx="1481328" cy="27432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</a:pPr>
            <a:r>
              <a:rPr sz="1020" b="1" i="0">
                <a:solidFill>
                  <a:srgbClr val="14383E"/>
                </a:solidFill>
                <a:latin typeface="Noto Sans CJK SC"/>
                <a:ea typeface="Noto Sans CJK SC"/>
                <a:cs typeface="Noto Sans CJK SC"/>
              </a:rPr>
              <a:t>Agent 运行时</a:t>
            </a:r>
            <a:endParaRPr sz="1020" b="1" i="0">
              <a:solidFill>
                <a:srgbClr val="14383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6" name="TextBox 25"/>
          <p:cNvSpPr>
            <a:spLocks noGrp="1"/>
          </p:cNvSpPr>
          <p:nvPr/>
        </p:nvSpPr>
        <p:spPr>
          <a:xfrm>
            <a:off x="2688336" y="2971800"/>
            <a:ext cx="1408176" cy="49377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</a:pPr>
            <a:r>
              <a:rPr sz="720" b="0" i="0">
                <a:solidFill>
                  <a:srgbClr val="44585C"/>
                </a:solidFill>
                <a:latin typeface="Noto Sans CJK SC"/>
                <a:ea typeface="Noto Sans CJK SC"/>
                <a:cs typeface="Noto Sans CJK SC"/>
              </a:rPr>
              <a:t>路由、Context、Skill
Plan–Execute</a:t>
            </a:r>
            <a:endParaRPr sz="720" b="0" i="0">
              <a:solidFill>
                <a:srgbClr val="6B8185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7" name="Right Arrow 26"/>
          <p:cNvSpPr>
            <a:spLocks noGrp="1"/>
          </p:cNvSpPr>
          <p:nvPr/>
        </p:nvSpPr>
        <p:spPr>
          <a:xfrm>
            <a:off x="4242816" y="2542032"/>
            <a:ext cx="146304" cy="292608"/>
          </a:xfrm>
          <a:prstGeom prst="rightArrow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8" name="Rounded Rectangle 27"/>
          <p:cNvSpPr>
            <a:spLocks noGrp="1"/>
          </p:cNvSpPr>
          <p:nvPr/>
        </p:nvSpPr>
        <p:spPr>
          <a:xfrm>
            <a:off x="4457700" y="1760219"/>
            <a:ext cx="1664208" cy="1993392"/>
          </a:xfrm>
          <a:prstGeom prst="roundRect">
            <a:avLst/>
          </a:prstGeom>
          <a:solidFill>
            <a:srgbClr val="E3E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9" name="Rounded Rectangle 28"/>
          <p:cNvSpPr>
            <a:spLocks noGrp="1"/>
          </p:cNvSpPr>
          <p:nvPr/>
        </p:nvSpPr>
        <p:spPr>
          <a:xfrm>
            <a:off x="4425696" y="1719072"/>
            <a:ext cx="1664208" cy="1993392"/>
          </a:xfrm>
          <a:prstGeom prst="roundRect">
            <a:avLst/>
          </a:prstGeom>
          <a:solidFill>
            <a:srgbClr val="EFEEFF"/>
          </a:solidFill>
          <a:ln w="12700">
            <a:solidFill>
              <a:srgbClr val="6B6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1" name="Oval 30"/>
          <p:cNvSpPr>
            <a:spLocks noGrp="1"/>
          </p:cNvSpPr>
          <p:nvPr/>
        </p:nvSpPr>
        <p:spPr>
          <a:xfrm>
            <a:off x="5056631" y="1975104"/>
            <a:ext cx="365760" cy="365760"/>
          </a:xfrm>
          <a:prstGeom prst="ellipse">
            <a:avLst/>
          </a:prstGeom>
          <a:solidFill>
            <a:srgbClr val="5356BE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2" name="TextBox 31"/>
          <p:cNvSpPr>
            <a:spLocks noGrp="1"/>
          </p:cNvSpPr>
          <p:nvPr/>
        </p:nvSpPr>
        <p:spPr>
          <a:xfrm>
            <a:off x="5056631" y="1979676"/>
            <a:ext cx="365760" cy="3566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840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3</a:t>
            </a:r>
            <a:endParaRPr sz="840" b="1" i="0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3" name="TextBox 32"/>
          <p:cNvSpPr>
            <a:spLocks noGrp="1"/>
          </p:cNvSpPr>
          <p:nvPr/>
        </p:nvSpPr>
        <p:spPr>
          <a:xfrm>
            <a:off x="4517136" y="2542032"/>
            <a:ext cx="1481328" cy="27432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</a:pPr>
            <a:r>
              <a:rPr sz="1020" b="1" i="0">
                <a:solidFill>
                  <a:srgbClr val="14383E"/>
                </a:solidFill>
                <a:latin typeface="Noto Sans CJK SC"/>
                <a:ea typeface="Noto Sans CJK SC"/>
                <a:cs typeface="Noto Sans CJK SC"/>
              </a:rPr>
              <a:t>知识与附件</a:t>
            </a:r>
            <a:endParaRPr sz="1020" b="1" i="0">
              <a:solidFill>
                <a:srgbClr val="14383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4" name="TextBox 33"/>
          <p:cNvSpPr>
            <a:spLocks noGrp="1"/>
          </p:cNvSpPr>
          <p:nvPr/>
        </p:nvSpPr>
        <p:spPr>
          <a:xfrm>
            <a:off x="4553712" y="2971800"/>
            <a:ext cx="1408176" cy="49377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</a:pPr>
            <a:r>
              <a:rPr sz="720" b="0" i="0">
                <a:solidFill>
                  <a:srgbClr val="44585C"/>
                </a:solidFill>
                <a:latin typeface="Noto Sans CJK SC"/>
                <a:ea typeface="Noto Sans CJK SC"/>
                <a:cs typeface="Noto Sans CJK SC"/>
              </a:rPr>
              <a:t>KB / RAG、实时状态
多模态事实</a:t>
            </a:r>
            <a:endParaRPr sz="720" b="0" i="0">
              <a:solidFill>
                <a:srgbClr val="6B8185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5" name="Right Arrow 34"/>
          <p:cNvSpPr>
            <a:spLocks noGrp="1"/>
          </p:cNvSpPr>
          <p:nvPr/>
        </p:nvSpPr>
        <p:spPr>
          <a:xfrm>
            <a:off x="6108192" y="2542032"/>
            <a:ext cx="146304" cy="292608"/>
          </a:xfrm>
          <a:prstGeom prst="rightArrow">
            <a:avLst/>
          </a:prstGeom>
          <a:solidFill>
            <a:srgbClr val="6B6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6" name="Rounded Rectangle 35"/>
          <p:cNvSpPr>
            <a:spLocks noGrp="1"/>
          </p:cNvSpPr>
          <p:nvPr/>
        </p:nvSpPr>
        <p:spPr>
          <a:xfrm>
            <a:off x="6323076" y="1760219"/>
            <a:ext cx="1664208" cy="1993392"/>
          </a:xfrm>
          <a:prstGeom prst="roundRect">
            <a:avLst/>
          </a:prstGeom>
          <a:solidFill>
            <a:srgbClr val="E3E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7" name="Rounded Rectangle 36"/>
          <p:cNvSpPr>
            <a:spLocks noGrp="1"/>
          </p:cNvSpPr>
          <p:nvPr/>
        </p:nvSpPr>
        <p:spPr>
          <a:xfrm>
            <a:off x="6291072" y="1719072"/>
            <a:ext cx="1664208" cy="1993392"/>
          </a:xfrm>
          <a:prstGeom prst="roundRect">
            <a:avLst/>
          </a:prstGeom>
          <a:solidFill>
            <a:srgbClr val="E6F7F6"/>
          </a:solidFill>
          <a:ln w="12700">
            <a:solidFill>
              <a:srgbClr val="00A7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9" name="Oval 38"/>
          <p:cNvSpPr>
            <a:spLocks noGrp="1"/>
          </p:cNvSpPr>
          <p:nvPr/>
        </p:nvSpPr>
        <p:spPr>
          <a:xfrm>
            <a:off x="6922008" y="1975104"/>
            <a:ext cx="365760" cy="365760"/>
          </a:xfrm>
          <a:prstGeom prst="ellipse">
            <a:avLst/>
          </a:prstGeom>
          <a:solidFill>
            <a:srgbClr val="007574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40" name="TextBox 39"/>
          <p:cNvSpPr>
            <a:spLocks noGrp="1"/>
          </p:cNvSpPr>
          <p:nvPr/>
        </p:nvSpPr>
        <p:spPr>
          <a:xfrm>
            <a:off x="6922008" y="1979676"/>
            <a:ext cx="365760" cy="3566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840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4</a:t>
            </a:r>
            <a:endParaRPr sz="840" b="1" i="0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1" name="TextBox 40"/>
          <p:cNvSpPr>
            <a:spLocks noGrp="1"/>
          </p:cNvSpPr>
          <p:nvPr/>
        </p:nvSpPr>
        <p:spPr>
          <a:xfrm>
            <a:off x="6382512" y="2542032"/>
            <a:ext cx="1481328" cy="27432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</a:pPr>
            <a:r>
              <a:rPr sz="1020" b="1" i="0">
                <a:solidFill>
                  <a:srgbClr val="14383E"/>
                </a:solidFill>
                <a:latin typeface="Noto Sans CJK SC"/>
                <a:ea typeface="Noto Sans CJK SC"/>
                <a:cs typeface="Noto Sans CJK SC"/>
              </a:rPr>
              <a:t>业务执行</a:t>
            </a:r>
            <a:endParaRPr sz="1020" b="1" i="0">
              <a:solidFill>
                <a:srgbClr val="14383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2" name="TextBox 41"/>
          <p:cNvSpPr>
            <a:spLocks noGrp="1"/>
          </p:cNvSpPr>
          <p:nvPr/>
        </p:nvSpPr>
        <p:spPr>
          <a:xfrm>
            <a:off x="6419088" y="2971800"/>
            <a:ext cx="1408176" cy="49377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</a:pPr>
            <a:r>
              <a:rPr sz="720" b="0" i="0">
                <a:solidFill>
                  <a:srgbClr val="44585C"/>
                </a:solidFill>
                <a:latin typeface="Noto Sans CJK SC"/>
                <a:ea typeface="Noto Sans CJK SC"/>
                <a:cs typeface="Noto Sans CJK SC"/>
              </a:rPr>
              <a:t>统一能力出口、Workflow
工单回写</a:t>
            </a:r>
            <a:endParaRPr sz="720" b="0" i="0">
              <a:solidFill>
                <a:srgbClr val="6B8185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3" name="Right Arrow 42"/>
          <p:cNvSpPr>
            <a:spLocks noGrp="1"/>
          </p:cNvSpPr>
          <p:nvPr/>
        </p:nvSpPr>
        <p:spPr>
          <a:xfrm>
            <a:off x="7973568" y="2542032"/>
            <a:ext cx="146304" cy="292608"/>
          </a:xfrm>
          <a:prstGeom prst="rightArrow">
            <a:avLst/>
          </a:prstGeom>
          <a:solidFill>
            <a:srgbClr val="00A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44" name="Rounded Rectangle 43"/>
          <p:cNvSpPr>
            <a:spLocks noGrp="1"/>
          </p:cNvSpPr>
          <p:nvPr/>
        </p:nvSpPr>
        <p:spPr>
          <a:xfrm>
            <a:off x="8188452" y="1760219"/>
            <a:ext cx="1664208" cy="1993392"/>
          </a:xfrm>
          <a:prstGeom prst="roundRect">
            <a:avLst/>
          </a:prstGeom>
          <a:solidFill>
            <a:srgbClr val="E3E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45" name="Rounded Rectangle 44"/>
          <p:cNvSpPr>
            <a:spLocks noGrp="1"/>
          </p:cNvSpPr>
          <p:nvPr/>
        </p:nvSpPr>
        <p:spPr>
          <a:xfrm>
            <a:off x="8156448" y="1719072"/>
            <a:ext cx="1664208" cy="1993392"/>
          </a:xfrm>
          <a:prstGeom prst="roundRect">
            <a:avLst/>
          </a:prstGeom>
          <a:solidFill>
            <a:srgbClr val="FFF0E4"/>
          </a:solidFill>
          <a:ln w="12700">
            <a:solidFill>
              <a:srgbClr val="F28B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47" name="Oval 46"/>
          <p:cNvSpPr>
            <a:spLocks noGrp="1"/>
          </p:cNvSpPr>
          <p:nvPr/>
        </p:nvSpPr>
        <p:spPr>
          <a:xfrm>
            <a:off x="8787384" y="1975104"/>
            <a:ext cx="365760" cy="365760"/>
          </a:xfrm>
          <a:prstGeom prst="ellipse">
            <a:avLst/>
          </a:prstGeom>
          <a:solidFill>
            <a:srgbClr val="BC6414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48" name="TextBox 47"/>
          <p:cNvSpPr>
            <a:spLocks noGrp="1"/>
          </p:cNvSpPr>
          <p:nvPr/>
        </p:nvSpPr>
        <p:spPr>
          <a:xfrm>
            <a:off x="8787384" y="1979676"/>
            <a:ext cx="365760" cy="3566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840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5</a:t>
            </a:r>
            <a:endParaRPr sz="840" b="1" i="0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9" name="TextBox 48"/>
          <p:cNvSpPr>
            <a:spLocks noGrp="1"/>
          </p:cNvSpPr>
          <p:nvPr/>
        </p:nvSpPr>
        <p:spPr>
          <a:xfrm>
            <a:off x="8247888" y="2542032"/>
            <a:ext cx="1481328" cy="27432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</a:pPr>
            <a:r>
              <a:rPr sz="1020" b="1" i="0">
                <a:solidFill>
                  <a:srgbClr val="14383E"/>
                </a:solidFill>
                <a:latin typeface="Noto Sans CJK SC"/>
                <a:ea typeface="Noto Sans CJK SC"/>
                <a:cs typeface="Noto Sans CJK SC"/>
              </a:rPr>
              <a:t>治理与安全</a:t>
            </a:r>
            <a:endParaRPr sz="1020" b="1" i="0">
              <a:solidFill>
                <a:srgbClr val="14383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0" name="TextBox 49"/>
          <p:cNvSpPr>
            <a:spLocks noGrp="1"/>
          </p:cNvSpPr>
          <p:nvPr/>
        </p:nvSpPr>
        <p:spPr>
          <a:xfrm>
            <a:off x="8284464" y="2971800"/>
            <a:ext cx="1408176" cy="49377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</a:pPr>
            <a:r>
              <a:rPr sz="720" b="0" i="0">
                <a:solidFill>
                  <a:srgbClr val="44585C"/>
                </a:solidFill>
                <a:latin typeface="Noto Sans CJK SC"/>
                <a:ea typeface="Noto Sans CJK SC"/>
                <a:cs typeface="Noto Sans CJK SC"/>
              </a:rPr>
              <a:t>权限、确认、幂等
Guard 与审计</a:t>
            </a:r>
            <a:endParaRPr sz="720" b="0" i="0">
              <a:solidFill>
                <a:srgbClr val="6B8185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1" name="Right Arrow 50"/>
          <p:cNvSpPr>
            <a:spLocks noGrp="1"/>
          </p:cNvSpPr>
          <p:nvPr/>
        </p:nvSpPr>
        <p:spPr>
          <a:xfrm>
            <a:off x="9838944" y="2542032"/>
            <a:ext cx="146304" cy="292608"/>
          </a:xfrm>
          <a:prstGeom prst="rightArrow">
            <a:avLst/>
          </a:prstGeom>
          <a:solidFill>
            <a:srgbClr val="F28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52" name="Rounded Rectangle 51"/>
          <p:cNvSpPr>
            <a:spLocks noGrp="1"/>
          </p:cNvSpPr>
          <p:nvPr/>
        </p:nvSpPr>
        <p:spPr>
          <a:xfrm>
            <a:off x="10053828" y="1760219"/>
            <a:ext cx="1664208" cy="1993392"/>
          </a:xfrm>
          <a:prstGeom prst="roundRect">
            <a:avLst/>
          </a:prstGeom>
          <a:solidFill>
            <a:srgbClr val="E3E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53" name="Rounded Rectangle 52"/>
          <p:cNvSpPr>
            <a:spLocks noGrp="1"/>
          </p:cNvSpPr>
          <p:nvPr/>
        </p:nvSpPr>
        <p:spPr>
          <a:xfrm>
            <a:off x="10021824" y="1719072"/>
            <a:ext cx="1664208" cy="1993392"/>
          </a:xfrm>
          <a:prstGeom prst="roundRect">
            <a:avLst/>
          </a:prstGeom>
          <a:solidFill>
            <a:srgbClr val="EFEEFF"/>
          </a:solidFill>
          <a:ln w="12700">
            <a:solidFill>
              <a:srgbClr val="6B6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55" name="Oval 54"/>
          <p:cNvSpPr>
            <a:spLocks noGrp="1"/>
          </p:cNvSpPr>
          <p:nvPr/>
        </p:nvSpPr>
        <p:spPr>
          <a:xfrm>
            <a:off x="10652759" y="1975104"/>
            <a:ext cx="365760" cy="365760"/>
          </a:xfrm>
          <a:prstGeom prst="ellipse">
            <a:avLst/>
          </a:prstGeom>
          <a:solidFill>
            <a:srgbClr val="5356BE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56" name="TextBox 55"/>
          <p:cNvSpPr>
            <a:spLocks noGrp="1"/>
          </p:cNvSpPr>
          <p:nvPr/>
        </p:nvSpPr>
        <p:spPr>
          <a:xfrm>
            <a:off x="10652759" y="1979676"/>
            <a:ext cx="365760" cy="3566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840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6</a:t>
            </a:r>
            <a:endParaRPr sz="840" b="1" i="0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7" name="TextBox 56"/>
          <p:cNvSpPr>
            <a:spLocks noGrp="1"/>
          </p:cNvSpPr>
          <p:nvPr/>
        </p:nvSpPr>
        <p:spPr>
          <a:xfrm>
            <a:off x="10113263" y="2542032"/>
            <a:ext cx="1481328" cy="27432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</a:pPr>
            <a:r>
              <a:rPr sz="1020" b="1" i="0">
                <a:solidFill>
                  <a:srgbClr val="14383E"/>
                </a:solidFill>
                <a:latin typeface="Noto Sans CJK SC"/>
                <a:ea typeface="Noto Sans CJK SC"/>
                <a:cs typeface="Noto Sans CJK SC"/>
              </a:rPr>
              <a:t>运营与演进</a:t>
            </a:r>
            <a:endParaRPr sz="1020" b="1" i="0">
              <a:solidFill>
                <a:srgbClr val="14383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8" name="TextBox 57"/>
          <p:cNvSpPr>
            <a:spLocks noGrp="1"/>
          </p:cNvSpPr>
          <p:nvPr/>
        </p:nvSpPr>
        <p:spPr>
          <a:xfrm>
            <a:off x="10149840" y="2971800"/>
            <a:ext cx="1408176" cy="49377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</a:pPr>
            <a:r>
              <a:rPr sz="720" b="0" i="0">
                <a:solidFill>
                  <a:srgbClr val="44585C"/>
                </a:solidFill>
                <a:latin typeface="Noto Sans CJK SC"/>
                <a:ea typeface="Noto Sans CJK SC"/>
                <a:cs typeface="Noto Sans CJK SC"/>
              </a:rPr>
              <a:t>Trace、日报、评测、Gate
覆盖增长</a:t>
            </a:r>
            <a:endParaRPr sz="720" b="0" i="0">
              <a:solidFill>
                <a:srgbClr val="6B8185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9" name="Rounded Rectangle 58"/>
          <p:cNvSpPr>
            <a:spLocks noGrp="1"/>
          </p:cNvSpPr>
          <p:nvPr/>
        </p:nvSpPr>
        <p:spPr>
          <a:xfrm>
            <a:off x="786384" y="4261104"/>
            <a:ext cx="3401568" cy="1143000"/>
          </a:xfrm>
          <a:prstGeom prst="roundRect">
            <a:avLst/>
          </a:prstGeom>
          <a:solidFill>
            <a:srgbClr val="E8F6F0"/>
          </a:solidFill>
          <a:ln w="11430">
            <a:solidFill>
              <a:srgbClr val="0A8F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60" name="TextBox 59"/>
          <p:cNvSpPr>
            <a:spLocks noGrp="1"/>
          </p:cNvSpPr>
          <p:nvPr/>
        </p:nvSpPr>
        <p:spPr>
          <a:xfrm>
            <a:off x="987552" y="4462272"/>
            <a:ext cx="804672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920" b="1" i="0">
                <a:solidFill>
                  <a:srgbClr val="076B50"/>
                </a:solidFill>
                <a:latin typeface="Noto Sans CJK SC"/>
                <a:ea typeface="Noto Sans CJK SC"/>
                <a:cs typeface="Noto Sans CJK SC"/>
              </a:rPr>
              <a:t>工单怎么跑</a:t>
            </a:r>
            <a:endParaRPr sz="920" b="1" i="0">
              <a:solidFill>
                <a:srgbClr val="0A8F6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1" name="TextBox 60"/>
          <p:cNvSpPr>
            <a:spLocks noGrp="1"/>
          </p:cNvSpPr>
          <p:nvPr/>
        </p:nvSpPr>
        <p:spPr>
          <a:xfrm>
            <a:off x="1792224" y="4407408"/>
            <a:ext cx="2139696" cy="51206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</a:pPr>
            <a:r>
              <a:rPr sz="760" b="0" i="0">
                <a:solidFill>
                  <a:srgbClr val="14383E"/>
                </a:solidFill>
                <a:latin typeface="Noto Sans CJK SC"/>
                <a:ea typeface="Noto Sans CJK SC"/>
                <a:cs typeface="Noto Sans CJK SC"/>
              </a:rPr>
              <a:t>从进入、判断到执行和回写，每一步都能找到负责人和处理依据。</a:t>
            </a:r>
            <a:endParaRPr sz="760" b="0" i="0">
              <a:solidFill>
                <a:srgbClr val="14383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2" name="Rounded Rectangle 61"/>
          <p:cNvSpPr>
            <a:spLocks noGrp="1"/>
          </p:cNvSpPr>
          <p:nvPr/>
        </p:nvSpPr>
        <p:spPr>
          <a:xfrm>
            <a:off x="4498848" y="4261104"/>
            <a:ext cx="3401568" cy="1143000"/>
          </a:xfrm>
          <a:prstGeom prst="roundRect">
            <a:avLst/>
          </a:prstGeom>
          <a:solidFill>
            <a:srgbClr val="E6F7F6"/>
          </a:solidFill>
          <a:ln w="11430">
            <a:solidFill>
              <a:srgbClr val="00A7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63" name="TextBox 62"/>
          <p:cNvSpPr>
            <a:spLocks noGrp="1"/>
          </p:cNvSpPr>
          <p:nvPr/>
        </p:nvSpPr>
        <p:spPr>
          <a:xfrm>
            <a:off x="4700016" y="4462272"/>
            <a:ext cx="804672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920" b="1" i="0">
                <a:solidFill>
                  <a:srgbClr val="00706F"/>
                </a:solidFill>
                <a:latin typeface="Noto Sans CJK SC"/>
                <a:ea typeface="Noto Sans CJK SC"/>
                <a:cs typeface="Noto Sans CJK SC"/>
              </a:rPr>
              <a:t>系统怎么扛住</a:t>
            </a:r>
            <a:endParaRPr sz="920" b="1" i="0">
              <a:solidFill>
                <a:srgbClr val="00A7A7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4" name="TextBox 63"/>
          <p:cNvSpPr>
            <a:spLocks noGrp="1"/>
          </p:cNvSpPr>
          <p:nvPr/>
        </p:nvSpPr>
        <p:spPr>
          <a:xfrm>
            <a:off x="5504688" y="4407408"/>
            <a:ext cx="2139696" cy="51206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</a:pPr>
            <a:r>
              <a:rPr sz="760" b="0" i="0">
                <a:solidFill>
                  <a:srgbClr val="14383E"/>
                </a:solidFill>
                <a:latin typeface="Noto Sans CJK SC"/>
                <a:ea typeface="Noto Sans CJK SC"/>
                <a:cs typeface="Noto Sans CJK SC"/>
              </a:rPr>
              <a:t>同步、缓存、调度、告警和人工协作保证日常与旺季稳定运行。</a:t>
            </a:r>
            <a:endParaRPr sz="760" b="0" i="0">
              <a:solidFill>
                <a:srgbClr val="14383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5" name="Rounded Rectangle 64"/>
          <p:cNvSpPr>
            <a:spLocks noGrp="1"/>
          </p:cNvSpPr>
          <p:nvPr/>
        </p:nvSpPr>
        <p:spPr>
          <a:xfrm>
            <a:off x="8211311" y="4261104"/>
            <a:ext cx="3401568" cy="1143000"/>
          </a:xfrm>
          <a:prstGeom prst="roundRect">
            <a:avLst/>
          </a:prstGeom>
          <a:solidFill>
            <a:srgbClr val="EFEEFF"/>
          </a:solidFill>
          <a:ln w="11430">
            <a:solidFill>
              <a:srgbClr val="6B6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66" name="TextBox 65"/>
          <p:cNvSpPr>
            <a:spLocks noGrp="1"/>
          </p:cNvSpPr>
          <p:nvPr/>
        </p:nvSpPr>
        <p:spPr>
          <a:xfrm>
            <a:off x="8412480" y="4462272"/>
            <a:ext cx="804672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920" b="1" i="0">
                <a:solidFill>
                  <a:srgbClr val="4A4EB0"/>
                </a:solidFill>
                <a:latin typeface="Noto Sans CJK SC"/>
                <a:ea typeface="Noto Sans CJK SC"/>
                <a:cs typeface="Noto Sans CJK SC"/>
              </a:rPr>
              <a:t>哪些还不能做</a:t>
            </a:r>
            <a:endParaRPr sz="920" b="1" i="0">
              <a:solidFill>
                <a:srgbClr val="6B6FD8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7" name="TextBox 66"/>
          <p:cNvSpPr>
            <a:spLocks noGrp="1"/>
          </p:cNvSpPr>
          <p:nvPr/>
        </p:nvSpPr>
        <p:spPr>
          <a:xfrm>
            <a:off x="9217151" y="4407408"/>
            <a:ext cx="2139696" cy="51206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</a:pPr>
            <a:r>
              <a:rPr sz="760" b="0" i="0">
                <a:solidFill>
                  <a:srgbClr val="14383E"/>
                </a:solidFill>
                <a:latin typeface="Noto Sans CJK SC"/>
                <a:ea typeface="Noto Sans CJK SC"/>
                <a:cs typeface="Noto Sans CJK SC"/>
              </a:rPr>
              <a:t>未接入或未确认的能力只进 Backlog，不算已经落地。</a:t>
            </a:r>
            <a:endParaRPr sz="760" b="0" i="0">
              <a:solidFill>
                <a:srgbClr val="14383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8" name="Rounded Rectangle 67"/>
          <p:cNvSpPr>
            <a:spLocks noGrp="1"/>
          </p:cNvSpPr>
          <p:nvPr/>
        </p:nvSpPr>
        <p:spPr>
          <a:xfrm>
            <a:off x="2212848" y="5705856"/>
            <a:ext cx="7754112" cy="4114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9D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69" name="TextBox 68"/>
          <p:cNvSpPr>
            <a:spLocks noGrp="1"/>
          </p:cNvSpPr>
          <p:nvPr/>
        </p:nvSpPr>
        <p:spPr>
          <a:xfrm>
            <a:off x="2212848" y="5806440"/>
            <a:ext cx="7754112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840" b="1" i="0">
                <a:solidFill>
                  <a:srgbClr val="14383E"/>
                </a:solidFill>
                <a:latin typeface="Noto Sans CJK SC"/>
                <a:ea typeface="Noto Sans CJK SC"/>
                <a:cs typeface="Noto Sans CJK SC"/>
              </a:rPr>
              <a:t>后面按一张工单的运行顺序展开，状态续跑、画像、Badcase 和数据工程放在对应环节讲。</a:t>
            </a:r>
            <a:endParaRPr sz="840" b="1" i="0">
              <a:solidFill>
                <a:srgbClr val="14383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0" name="圆角矩形 69"/>
          <p:cNvSpPr>
            <a:spLocks noGrp="1"/>
          </p:cNvSpPr>
          <p:nvPr/>
        </p:nvSpPr>
        <p:spPr>
          <a:xfrm>
            <a:off x="6565583" y="127635"/>
            <a:ext cx="4937760" cy="365760"/>
          </a:xfrm>
          <a:prstGeom prst="roundRect">
            <a:avLst>
              <a:gd name="adj" fmla="val 20833"/>
            </a:avLst>
          </a:prstGeom>
          <a:solidFill>
            <a:srgbClr val="F7FBF9"/>
          </a:solidFill>
          <a:ln w="12668">
            <a:solidFill>
              <a:srgbClr val="F7FBF9"/>
            </a:solidFill>
            <a:prstDash val="solid"/>
          </a:ln>
        </p:spPr>
        <p:txBody>
          <a:bodyPr/>
          <a:p/>
        </p:txBody>
      </p:sp>
      <p:sp>
        <p:nvSpPr>
          <p:cNvPr id="71" name="圆角矩形 70"/>
          <p:cNvSpPr>
            <a:spLocks noGrp="1"/>
          </p:cNvSpPr>
          <p:nvPr/>
        </p:nvSpPr>
        <p:spPr>
          <a:xfrm>
            <a:off x="6657023" y="164783"/>
            <a:ext cx="1154430" cy="264795"/>
          </a:xfrm>
          <a:prstGeom prst="roundRect">
            <a:avLst>
              <a:gd name="adj" fmla="val 28777"/>
            </a:avLst>
          </a:prstGeom>
          <a:solidFill>
            <a:srgbClr val="007574"/>
          </a:solidFill>
          <a:ln w="12668">
            <a:solidFill>
              <a:srgbClr val="007574"/>
            </a:solidFill>
            <a:prstDash val="solid"/>
          </a:ln>
        </p:spPr>
        <p:txBody>
          <a:bodyPr/>
          <a:p/>
        </p:txBody>
      </p:sp>
      <p:sp>
        <p:nvSpPr>
          <p:cNvPr id="72" name="矩形 71"/>
          <p:cNvSpPr>
            <a:spLocks noGrp="1"/>
          </p:cNvSpPr>
          <p:nvPr/>
        </p:nvSpPr>
        <p:spPr>
          <a:xfrm>
            <a:off x="6657023" y="187643"/>
            <a:ext cx="1154430" cy="182880"/>
          </a:xfrm>
          <a:prstGeom prst="rect">
            <a:avLst/>
          </a:prstGeom>
        </p:spPr>
        <p:txBody>
          <a:bodyPr anchor="ctr"/>
          <a:lstStyle/>
          <a:p>
            <a:pPr algn="ctr">
              <a:defRPr sz="660" b="1">
                <a:solidFill>
                  <a:srgbClr val="FFFFFF"/>
                </a:solidFill>
              </a:defRPr>
            </a:pPr>
            <a:r>
              <a:t>理解</a:t>
            </a:r>
          </a:p>
        </p:txBody>
      </p:sp>
      <p:sp>
        <p:nvSpPr>
          <p:cNvPr id="73" name="圆角矩形 72"/>
          <p:cNvSpPr>
            <a:spLocks noGrp="1"/>
          </p:cNvSpPr>
          <p:nvPr/>
        </p:nvSpPr>
        <p:spPr>
          <a:xfrm>
            <a:off x="7857173" y="164783"/>
            <a:ext cx="1154430" cy="264795"/>
          </a:xfrm>
          <a:prstGeom prst="roundRect">
            <a:avLst>
              <a:gd name="adj" fmla="val 28777"/>
            </a:avLst>
          </a:prstGeom>
          <a:solidFill>
            <a:srgbClr val="007574"/>
          </a:solidFill>
          <a:ln w="12668">
            <a:solidFill>
              <a:srgbClr val="007574"/>
            </a:solidFill>
            <a:prstDash val="solid"/>
          </a:ln>
        </p:spPr>
        <p:txBody>
          <a:bodyPr/>
          <a:p/>
        </p:txBody>
      </p:sp>
      <p:sp>
        <p:nvSpPr>
          <p:cNvPr id="74" name="矩形 73"/>
          <p:cNvSpPr>
            <a:spLocks noGrp="1"/>
          </p:cNvSpPr>
          <p:nvPr/>
        </p:nvSpPr>
        <p:spPr>
          <a:xfrm>
            <a:off x="7857173" y="187643"/>
            <a:ext cx="1154430" cy="182880"/>
          </a:xfrm>
          <a:prstGeom prst="rect">
            <a:avLst/>
          </a:prstGeom>
        </p:spPr>
        <p:txBody>
          <a:bodyPr anchor="ctr"/>
          <a:lstStyle/>
          <a:p>
            <a:pPr algn="ctr">
              <a:defRPr sz="660" b="1">
                <a:solidFill>
                  <a:srgbClr val="FFFFFF"/>
                </a:solidFill>
              </a:defRPr>
            </a:pPr>
            <a:r>
              <a:t>查询</a:t>
            </a:r>
          </a:p>
        </p:txBody>
      </p:sp>
      <p:sp>
        <p:nvSpPr>
          <p:cNvPr id="75" name="圆角矩形 74"/>
          <p:cNvSpPr>
            <a:spLocks noGrp="1"/>
          </p:cNvSpPr>
          <p:nvPr/>
        </p:nvSpPr>
        <p:spPr>
          <a:xfrm>
            <a:off x="9057323" y="164783"/>
            <a:ext cx="1154430" cy="264795"/>
          </a:xfrm>
          <a:prstGeom prst="roundRect">
            <a:avLst>
              <a:gd name="adj" fmla="val 28777"/>
            </a:avLst>
          </a:prstGeom>
          <a:solidFill>
            <a:srgbClr val="007574"/>
          </a:solidFill>
          <a:ln w="12668">
            <a:solidFill>
              <a:srgbClr val="007574"/>
            </a:solidFill>
            <a:prstDash val="solid"/>
          </a:ln>
        </p:spPr>
        <p:txBody>
          <a:bodyPr/>
          <a:p/>
        </p:txBody>
      </p:sp>
      <p:sp>
        <p:nvSpPr>
          <p:cNvPr id="76" name="矩形 75"/>
          <p:cNvSpPr>
            <a:spLocks noGrp="1"/>
          </p:cNvSpPr>
          <p:nvPr/>
        </p:nvSpPr>
        <p:spPr>
          <a:xfrm>
            <a:off x="9057323" y="187643"/>
            <a:ext cx="1154430" cy="182880"/>
          </a:xfrm>
          <a:prstGeom prst="rect">
            <a:avLst/>
          </a:prstGeom>
        </p:spPr>
        <p:txBody>
          <a:bodyPr anchor="ctr"/>
          <a:lstStyle/>
          <a:p>
            <a:pPr algn="ctr">
              <a:defRPr sz="660" b="1">
                <a:solidFill>
                  <a:srgbClr val="FFFFFF"/>
                </a:solidFill>
              </a:defRPr>
            </a:pPr>
            <a:r>
              <a:t>决策</a:t>
            </a:r>
          </a:p>
        </p:txBody>
      </p:sp>
      <p:sp>
        <p:nvSpPr>
          <p:cNvPr id="77" name="圆角矩形 76"/>
          <p:cNvSpPr>
            <a:spLocks noGrp="1"/>
          </p:cNvSpPr>
          <p:nvPr/>
        </p:nvSpPr>
        <p:spPr>
          <a:xfrm>
            <a:off x="10257473" y="164783"/>
            <a:ext cx="1154430" cy="264795"/>
          </a:xfrm>
          <a:prstGeom prst="roundRect">
            <a:avLst>
              <a:gd name="adj" fmla="val 28777"/>
            </a:avLst>
          </a:prstGeom>
          <a:solidFill>
            <a:srgbClr val="007574"/>
          </a:solidFill>
          <a:ln w="12668">
            <a:solidFill>
              <a:srgbClr val="007574"/>
            </a:solidFill>
            <a:prstDash val="solid"/>
          </a:ln>
        </p:spPr>
        <p:txBody>
          <a:bodyPr/>
          <a:p/>
        </p:txBody>
      </p:sp>
      <p:sp>
        <p:nvSpPr>
          <p:cNvPr id="78" name="矩形 77"/>
          <p:cNvSpPr>
            <a:spLocks noGrp="1"/>
          </p:cNvSpPr>
          <p:nvPr/>
        </p:nvSpPr>
        <p:spPr>
          <a:xfrm>
            <a:off x="10257473" y="187643"/>
            <a:ext cx="1154430" cy="182880"/>
          </a:xfrm>
          <a:prstGeom prst="rect">
            <a:avLst/>
          </a:prstGeom>
        </p:spPr>
        <p:txBody>
          <a:bodyPr anchor="ctr"/>
          <a:lstStyle/>
          <a:p>
            <a:pPr algn="ctr">
              <a:defRPr sz="660" b="1">
                <a:solidFill>
                  <a:srgbClr val="FFFFFF"/>
                </a:solidFill>
              </a:defRPr>
            </a:pPr>
            <a:r>
              <a:t>执行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hape 0"/>
          <p:cNvSpPr>
            <a:spLocks noGrp="1"/>
          </p:cNvSpPr>
          <p:nvPr/>
        </p:nvSpPr>
        <p:spPr>
          <a:xfrm>
            <a:off x="0" y="0"/>
            <a:ext cx="41148" cy="6858000"/>
          </a:xfrm>
          <a:prstGeom prst="rect">
            <a:avLst/>
          </a:prstGeom>
          <a:solidFill>
            <a:srgbClr val="0A8F6A"/>
          </a:solidFill>
          <a:ln w="12700">
            <a:solidFill>
              <a:srgbClr val="2F7DEB"/>
            </a:solidFill>
            <a:prstDash val="solid"/>
          </a:ln>
        </p:spPr>
        <p:txBody>
          <a:bodyPr/>
          <a:lstStyle/>
          <a:p/>
        </p:txBody>
      </p:sp>
      <p:sp>
        <p:nvSpPr>
          <p:cNvPr id="3" name="Shape 1"/>
          <p:cNvSpPr>
            <a:spLocks noGrp="1"/>
          </p:cNvSpPr>
          <p:nvPr/>
        </p:nvSpPr>
        <p:spPr>
          <a:xfrm>
            <a:off x="658368" y="429768"/>
            <a:ext cx="237744" cy="0"/>
          </a:xfrm>
          <a:prstGeom prst="line">
            <a:avLst/>
          </a:prstGeom>
          <a:noFill/>
          <a:ln w="15875">
            <a:solidFill>
              <a:srgbClr val="0A8F6A"/>
            </a:solidFill>
            <a:prstDash val="solid"/>
          </a:ln>
        </p:spPr>
        <p:txBody>
          <a:bodyPr/>
          <a:lstStyle/>
          <a:p/>
        </p:txBody>
      </p:sp>
      <p:sp>
        <p:nvSpPr>
          <p:cNvPr id="4" name="Text 2"/>
          <p:cNvSpPr>
            <a:spLocks noGrp="1"/>
          </p:cNvSpPr>
          <p:nvPr/>
        </p:nvSpPr>
        <p:spPr>
          <a:xfrm>
            <a:off x="941832" y="292608"/>
            <a:ext cx="3474720" cy="2286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r>
              <a:rPr sz="1050" b="1">
                <a:solidFill>
                  <a:srgbClr val="076B50"/>
                </a:solidFill>
                <a:latin typeface="Noto Sans CJK SC"/>
                <a:ea typeface="Noto Sans CJK SC"/>
                <a:cs typeface="Noto Sans CJK SC"/>
              </a:rPr>
              <a:t>CHAPTER 1 · 业务现状</a:t>
            </a:r>
            <a:endParaRPr sz="1050" b="1">
              <a:solidFill>
                <a:srgbClr val="0A8F6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" name="Text 3"/>
          <p:cNvSpPr>
            <a:spLocks noGrp="1"/>
          </p:cNvSpPr>
          <p:nvPr/>
        </p:nvSpPr>
        <p:spPr>
          <a:xfrm>
            <a:off x="640080" y="667512"/>
            <a:ext cx="10698480" cy="43891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buNone/>
            </a:pPr>
            <a:r>
              <a:rPr sz="2550" b="1">
                <a:solidFill>
                  <a:srgbClr val="163B36"/>
                </a:solidFill>
                <a:latin typeface="Noto Sans CJK SC"/>
                <a:ea typeface="Noto Sans CJK SC"/>
                <a:cs typeface="Noto Sans CJK SC"/>
              </a:rPr>
              <a:t>150+ 人分布三地：跨时区协作与工单周期</a:t>
            </a:r>
            <a:endParaRPr sz="2550"/>
          </a:p>
        </p:txBody>
      </p:sp>
      <p:sp>
        <p:nvSpPr>
          <p:cNvPr id="6" name="Text 4"/>
          <p:cNvSpPr>
            <a:spLocks noGrp="1"/>
          </p:cNvSpPr>
          <p:nvPr/>
        </p:nvSpPr>
        <p:spPr>
          <a:xfrm>
            <a:off x="640080" y="1115568"/>
            <a:ext cx="10424160" cy="30175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buNone/>
            </a:pPr>
            <a:r>
              <a:rPr sz="1120">
                <a:solidFill>
                  <a:srgbClr val="44585C"/>
                </a:solidFill>
                <a:latin typeface="Noto Sans CJK SC"/>
                <a:ea typeface="Noto Sans CJK SC"/>
                <a:cs typeface="Noto Sans CJK SC"/>
              </a:rPr>
              <a:t>一线在中国和菲律宾，部分业务环节在美国。需要两方协作的工单，每次交接都要等对方上班。</a:t>
            </a:r>
            <a:endParaRPr sz="1120"/>
          </a:p>
        </p:txBody>
      </p:sp>
      <p:sp>
        <p:nvSpPr>
          <p:cNvPr id="7" name="Shape 5"/>
          <p:cNvSpPr>
            <a:spLocks noGrp="1"/>
          </p:cNvSpPr>
          <p:nvPr/>
        </p:nvSpPr>
        <p:spPr>
          <a:xfrm>
            <a:off x="10533888" y="54864"/>
            <a:ext cx="1298448" cy="713232"/>
          </a:xfrm>
          <a:prstGeom prst="ellipse">
            <a:avLst/>
          </a:prstGeom>
          <a:solidFill>
            <a:srgbClr val="2F7DEB">
              <a:alpha val="8000"/>
            </a:srgbClr>
          </a:solidFill>
          <a:ln w="12700">
            <a:solidFill>
              <a:srgbClr val="2F7DEB">
                <a:alpha val="0"/>
              </a:srgbClr>
            </a:solidFill>
            <a:prstDash val="solid"/>
          </a:ln>
        </p:spPr>
        <p:txBody>
          <a:bodyPr/>
          <a:lstStyle/>
          <a:p/>
        </p:txBody>
      </p:sp>
      <p:sp>
        <p:nvSpPr>
          <p:cNvPr id="8" name="Shape 6"/>
          <p:cNvSpPr>
            <a:spLocks noGrp="1"/>
          </p:cNvSpPr>
          <p:nvPr/>
        </p:nvSpPr>
        <p:spPr>
          <a:xfrm>
            <a:off x="9802368" y="283464"/>
            <a:ext cx="36576" cy="36576"/>
          </a:xfrm>
          <a:prstGeom prst="ellipse">
            <a:avLst/>
          </a:prstGeom>
          <a:solidFill>
            <a:srgbClr val="C6DCD5"/>
          </a:solidFill>
          <a:ln w="12700">
            <a:solidFill>
              <a:srgbClr val="C6DCD5"/>
            </a:solidFill>
            <a:prstDash val="solid"/>
          </a:ln>
        </p:spPr>
        <p:txBody>
          <a:bodyPr/>
          <a:lstStyle/>
          <a:p/>
        </p:txBody>
      </p:sp>
      <p:sp>
        <p:nvSpPr>
          <p:cNvPr id="9" name="Shape 7"/>
          <p:cNvSpPr>
            <a:spLocks noGrp="1"/>
          </p:cNvSpPr>
          <p:nvPr/>
        </p:nvSpPr>
        <p:spPr>
          <a:xfrm>
            <a:off x="9930384" y="283464"/>
            <a:ext cx="36576" cy="36576"/>
          </a:xfrm>
          <a:prstGeom prst="ellipse">
            <a:avLst/>
          </a:prstGeom>
          <a:solidFill>
            <a:srgbClr val="2F7DEB"/>
          </a:solidFill>
          <a:ln w="12700">
            <a:solidFill>
              <a:srgbClr val="2F7DEB"/>
            </a:solidFill>
            <a:prstDash val="solid"/>
          </a:ln>
        </p:spPr>
        <p:txBody>
          <a:bodyPr/>
          <a:lstStyle/>
          <a:p/>
        </p:txBody>
      </p:sp>
      <p:sp>
        <p:nvSpPr>
          <p:cNvPr id="10" name="Shape 8"/>
          <p:cNvSpPr>
            <a:spLocks noGrp="1"/>
          </p:cNvSpPr>
          <p:nvPr/>
        </p:nvSpPr>
        <p:spPr>
          <a:xfrm>
            <a:off x="10058400" y="283464"/>
            <a:ext cx="36576" cy="36576"/>
          </a:xfrm>
          <a:prstGeom prst="ellipse">
            <a:avLst/>
          </a:prstGeom>
          <a:solidFill>
            <a:srgbClr val="C6DCD5"/>
          </a:solidFill>
          <a:ln w="12700">
            <a:solidFill>
              <a:srgbClr val="C6DCD5"/>
            </a:solidFill>
            <a:prstDash val="solid"/>
          </a:ln>
        </p:spPr>
        <p:txBody>
          <a:bodyPr/>
          <a:lstStyle/>
          <a:p/>
        </p:txBody>
      </p:sp>
      <p:sp>
        <p:nvSpPr>
          <p:cNvPr id="11" name="Shape 9"/>
          <p:cNvSpPr>
            <a:spLocks noGrp="1"/>
          </p:cNvSpPr>
          <p:nvPr/>
        </p:nvSpPr>
        <p:spPr>
          <a:xfrm>
            <a:off x="10186416" y="283464"/>
            <a:ext cx="36576" cy="36576"/>
          </a:xfrm>
          <a:prstGeom prst="ellipse">
            <a:avLst/>
          </a:prstGeom>
          <a:solidFill>
            <a:srgbClr val="C6DCD5"/>
          </a:solidFill>
          <a:ln w="12700">
            <a:solidFill>
              <a:srgbClr val="C6DCD5"/>
            </a:solidFill>
            <a:prstDash val="solid"/>
          </a:ln>
        </p:spPr>
        <p:txBody>
          <a:bodyPr/>
          <a:lstStyle/>
          <a:p/>
        </p:txBody>
      </p:sp>
      <p:sp>
        <p:nvSpPr>
          <p:cNvPr id="12" name="Shape 10"/>
          <p:cNvSpPr>
            <a:spLocks noGrp="1"/>
          </p:cNvSpPr>
          <p:nvPr/>
        </p:nvSpPr>
        <p:spPr>
          <a:xfrm>
            <a:off x="10314432" y="283464"/>
            <a:ext cx="36576" cy="36576"/>
          </a:xfrm>
          <a:prstGeom prst="ellipse">
            <a:avLst/>
          </a:prstGeom>
          <a:solidFill>
            <a:srgbClr val="C6DCD5"/>
          </a:solidFill>
          <a:ln w="12700">
            <a:solidFill>
              <a:srgbClr val="C6DCD5"/>
            </a:solidFill>
            <a:prstDash val="solid"/>
          </a:ln>
        </p:spPr>
        <p:txBody>
          <a:bodyPr/>
          <a:lstStyle/>
          <a:p/>
        </p:txBody>
      </p:sp>
      <p:sp>
        <p:nvSpPr>
          <p:cNvPr id="13" name="Shape 11"/>
          <p:cNvSpPr>
            <a:spLocks noGrp="1"/>
          </p:cNvSpPr>
          <p:nvPr/>
        </p:nvSpPr>
        <p:spPr>
          <a:xfrm>
            <a:off x="10442448" y="283464"/>
            <a:ext cx="36576" cy="36576"/>
          </a:xfrm>
          <a:prstGeom prst="ellipse">
            <a:avLst/>
          </a:prstGeom>
          <a:solidFill>
            <a:srgbClr val="C6DCD5"/>
          </a:solidFill>
          <a:ln w="12700">
            <a:solidFill>
              <a:srgbClr val="C6DCD5"/>
            </a:solidFill>
            <a:prstDash val="solid"/>
          </a:ln>
        </p:spPr>
        <p:txBody>
          <a:bodyPr/>
          <a:lstStyle/>
          <a:p/>
        </p:txBody>
      </p:sp>
      <p:sp>
        <p:nvSpPr>
          <p:cNvPr id="14" name="Shape 12"/>
          <p:cNvSpPr>
            <a:spLocks noGrp="1"/>
          </p:cNvSpPr>
          <p:nvPr/>
        </p:nvSpPr>
        <p:spPr>
          <a:xfrm>
            <a:off x="640080" y="6528816"/>
            <a:ext cx="10927080" cy="0"/>
          </a:xfrm>
          <a:prstGeom prst="line">
            <a:avLst/>
          </a:prstGeom>
          <a:noFill/>
          <a:ln w="10160">
            <a:solidFill>
              <a:srgbClr val="D8E7E2"/>
            </a:solidFill>
            <a:prstDash val="solid"/>
          </a:ln>
        </p:spPr>
        <p:txBody>
          <a:bodyPr/>
          <a:lstStyle/>
          <a:p/>
        </p:txBody>
      </p:sp>
      <p:sp>
        <p:nvSpPr>
          <p:cNvPr id="15" name="Text 13"/>
          <p:cNvSpPr>
            <a:spLocks noGrp="1"/>
          </p:cNvSpPr>
          <p:nvPr/>
        </p:nvSpPr>
        <p:spPr>
          <a:xfrm>
            <a:off x="658368" y="6565392"/>
            <a:ext cx="3108960" cy="16459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buNone/>
            </a:pPr>
            <a:r>
              <a:rPr sz="750">
                <a:solidFill>
                  <a:srgbClr val="55696A"/>
                </a:solidFill>
                <a:latin typeface="Noto Sans CJK SC"/>
                <a:ea typeface="Noto Sans CJK SC"/>
                <a:cs typeface="Noto Sans CJK SC"/>
              </a:rPr>
              <a:t>CUSTOMER SERVICE AI AGENT</a:t>
            </a:r>
            <a:endParaRPr sz="750"/>
          </a:p>
        </p:txBody>
      </p:sp>
      <p:sp>
        <p:nvSpPr>
          <p:cNvPr id="16" name="Text 14"/>
          <p:cNvSpPr>
            <a:spLocks noGrp="1"/>
          </p:cNvSpPr>
          <p:nvPr/>
        </p:nvSpPr>
        <p:spPr>
          <a:xfrm>
            <a:off x="10881360" y="6537960"/>
            <a:ext cx="658368" cy="18288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</a:pPr>
            <a:r>
              <a:rPr sz="880" b="1">
                <a:solidFill>
                  <a:srgbClr val="076B50"/>
                </a:solidFill>
                <a:latin typeface="Noto Sans CJK SC"/>
                <a:ea typeface="Noto Sans CJK SC"/>
                <a:cs typeface="Noto Sans CJK SC"/>
              </a:rPr>
              <a:t>08</a:t>
            </a:r>
            <a:endParaRPr sz="880" b="1">
              <a:solidFill>
                <a:srgbClr val="0A8F6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6" name="Rectangle 75"/>
          <p:cNvSpPr>
            <a:spLocks noGrp="1"/>
          </p:cNvSpPr>
          <p:nvPr/>
        </p:nvSpPr>
        <p:spPr>
          <a:xfrm>
            <a:off x="0" y="0"/>
            <a:ext cx="41148" cy="6858000"/>
          </a:xfrm>
          <a:prstGeom prst="rect">
            <a:avLst/>
          </a:prstGeom>
          <a:solidFill>
            <a:srgbClr val="0A8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88" name="圆角矩形 87"/>
          <p:cNvSpPr>
            <a:spLocks noGrp="1"/>
          </p:cNvSpPr>
          <p:nvPr/>
        </p:nvSpPr>
        <p:spPr>
          <a:xfrm>
            <a:off x="657225" y="1571625"/>
            <a:ext cx="7038975" cy="3495675"/>
          </a:xfrm>
          <a:prstGeom prst="roundRect">
            <a:avLst>
              <a:gd name="adj" fmla="val 2180"/>
            </a:avLst>
          </a:prstGeom>
          <a:solidFill>
            <a:srgbClr val="FFFFFF"/>
          </a:solidFill>
          <a:ln w="12668">
            <a:solidFill>
              <a:srgbClr val="BFD9D4"/>
            </a:solidFill>
            <a:prstDash val="solid"/>
          </a:ln>
        </p:spPr>
        <p:txBody>
          <a:bodyPr/>
          <a:p/>
        </p:txBody>
      </p:sp>
      <p:sp>
        <p:nvSpPr>
          <p:cNvPr id="89" name="矩形 88"/>
          <p:cNvSpPr>
            <a:spLocks noGrp="1"/>
          </p:cNvSpPr>
          <p:nvPr/>
        </p:nvSpPr>
        <p:spPr>
          <a:xfrm>
            <a:off x="914400" y="1733550"/>
            <a:ext cx="4762500" cy="257175"/>
          </a:xfrm>
          <a:prstGeom prst="rect">
            <a:avLst/>
          </a:prstGeom>
        </p:spPr>
        <p:txBody>
          <a:bodyPr anchor="ctr"/>
          <a:lstStyle/>
          <a:p>
            <a:pPr algn="l">
              <a:defRPr sz="1300" b="1">
                <a:solidFill>
                  <a:srgbClr val="14383E"/>
                </a:solidFill>
              </a:defRPr>
            </a:pPr>
            <a:r>
              <a:t>三地团队，两个工作时段</a:t>
            </a:r>
          </a:p>
        </p:txBody>
      </p:sp>
      <p:sp>
        <p:nvSpPr>
          <p:cNvPr id="90" name="矩形 89"/>
          <p:cNvSpPr>
            <a:spLocks noGrp="1"/>
          </p:cNvSpPr>
          <p:nvPr/>
        </p:nvSpPr>
        <p:spPr>
          <a:xfrm>
            <a:off x="914400" y="2133600"/>
            <a:ext cx="476250" cy="171450"/>
          </a:xfrm>
          <a:prstGeom prst="rect">
            <a:avLst/>
          </a:prstGeom>
        </p:spPr>
        <p:txBody>
          <a:bodyPr anchor="ctr"/>
          <a:lstStyle/>
          <a:p>
            <a:pPr algn="l">
              <a:defRPr sz="800" b="0">
                <a:solidFill>
                  <a:srgbClr val="44585C"/>
                </a:solidFill>
              </a:defRPr>
            </a:pPr>
            <a:r>
              <a:t>时段</a:t>
            </a:r>
          </a:p>
        </p:txBody>
      </p:sp>
      <p:sp>
        <p:nvSpPr>
          <p:cNvPr id="91" name="矩形 90"/>
          <p:cNvSpPr>
            <a:spLocks noGrp="1"/>
          </p:cNvSpPr>
          <p:nvPr/>
        </p:nvSpPr>
        <p:spPr>
          <a:xfrm>
            <a:off x="914400" y="2400300"/>
            <a:ext cx="1219200" cy="285750"/>
          </a:xfrm>
          <a:prstGeom prst="rect">
            <a:avLst/>
          </a:prstGeom>
        </p:spPr>
        <p:txBody>
          <a:bodyPr anchor="ctr"/>
          <a:lstStyle/>
          <a:p>
            <a:pPr algn="l">
              <a:defRPr sz="930" b="1">
                <a:solidFill>
                  <a:srgbClr val="14383E"/>
                </a:solidFill>
              </a:defRPr>
            </a:pPr>
            <a:r>
              <a:t>中国 · 菲律宾</a:t>
            </a:r>
          </a:p>
        </p:txBody>
      </p:sp>
      <p:sp>
        <p:nvSpPr>
          <p:cNvPr id="92" name="圆角矩形 91"/>
          <p:cNvSpPr>
            <a:spLocks noGrp="1"/>
          </p:cNvSpPr>
          <p:nvPr/>
        </p:nvSpPr>
        <p:spPr>
          <a:xfrm>
            <a:off x="2209800" y="2400300"/>
            <a:ext cx="4933950" cy="285750"/>
          </a:xfrm>
          <a:prstGeom prst="roundRect">
            <a:avLst>
              <a:gd name="adj" fmla="val 26667"/>
            </a:avLst>
          </a:prstGeom>
          <a:solidFill>
            <a:srgbClr val="F2F5F5"/>
          </a:solidFill>
          <a:ln w="12668">
            <a:solidFill>
              <a:srgbClr val="E3ECE9"/>
            </a:solidFill>
            <a:prstDash val="solid"/>
          </a:ln>
        </p:spPr>
        <p:txBody>
          <a:bodyPr/>
          <a:p/>
        </p:txBody>
      </p:sp>
      <p:sp>
        <p:nvSpPr>
          <p:cNvPr id="93" name="圆角矩形 92"/>
          <p:cNvSpPr>
            <a:spLocks noGrp="1"/>
          </p:cNvSpPr>
          <p:nvPr/>
        </p:nvSpPr>
        <p:spPr>
          <a:xfrm>
            <a:off x="2505837" y="2400300"/>
            <a:ext cx="2664333" cy="285750"/>
          </a:xfrm>
          <a:prstGeom prst="roundRect">
            <a:avLst>
              <a:gd name="adj" fmla="val 26667"/>
            </a:avLst>
          </a:prstGeom>
          <a:solidFill>
            <a:srgbClr val="DCE9FF"/>
          </a:solidFill>
          <a:ln w="12668">
            <a:solidFill>
              <a:srgbClr val="1F63C4"/>
            </a:solidFill>
            <a:prstDash val="solid"/>
          </a:ln>
        </p:spPr>
        <p:txBody>
          <a:bodyPr/>
          <a:p/>
        </p:txBody>
      </p:sp>
      <p:sp>
        <p:nvSpPr>
          <p:cNvPr id="94" name="矩形 93"/>
          <p:cNvSpPr>
            <a:spLocks noGrp="1"/>
          </p:cNvSpPr>
          <p:nvPr/>
        </p:nvSpPr>
        <p:spPr>
          <a:xfrm>
            <a:off x="2505837" y="2400300"/>
            <a:ext cx="2664333" cy="285750"/>
          </a:xfrm>
          <a:prstGeom prst="rect">
            <a:avLst/>
          </a:prstGeom>
        </p:spPr>
        <p:txBody>
          <a:bodyPr anchor="ctr"/>
          <a:lstStyle/>
          <a:p>
            <a:pPr algn="ctr">
              <a:defRPr sz="800" b="1">
                <a:solidFill>
                  <a:srgbClr val="1F63C4"/>
                </a:solidFill>
              </a:defRPr>
            </a:pPr>
            <a:r>
              <a:t>工作时间</a:t>
            </a:r>
          </a:p>
        </p:txBody>
      </p:sp>
      <p:sp>
        <p:nvSpPr>
          <p:cNvPr id="95" name="矩形 94"/>
          <p:cNvSpPr>
            <a:spLocks noGrp="1"/>
          </p:cNvSpPr>
          <p:nvPr/>
        </p:nvSpPr>
        <p:spPr>
          <a:xfrm>
            <a:off x="914400" y="2990850"/>
            <a:ext cx="1219200" cy="285750"/>
          </a:xfrm>
          <a:prstGeom prst="rect">
            <a:avLst/>
          </a:prstGeom>
        </p:spPr>
        <p:txBody>
          <a:bodyPr anchor="ctr"/>
          <a:lstStyle/>
          <a:p>
            <a:pPr algn="l">
              <a:defRPr sz="930" b="1">
                <a:solidFill>
                  <a:srgbClr val="14383E"/>
                </a:solidFill>
              </a:defRPr>
            </a:pPr>
            <a:r>
              <a:t>美国</a:t>
            </a:r>
          </a:p>
        </p:txBody>
      </p:sp>
      <p:sp>
        <p:nvSpPr>
          <p:cNvPr id="96" name="圆角矩形 95"/>
          <p:cNvSpPr>
            <a:spLocks noGrp="1"/>
          </p:cNvSpPr>
          <p:nvPr/>
        </p:nvSpPr>
        <p:spPr>
          <a:xfrm>
            <a:off x="2209800" y="2990850"/>
            <a:ext cx="4933950" cy="285750"/>
          </a:xfrm>
          <a:prstGeom prst="roundRect">
            <a:avLst>
              <a:gd name="adj" fmla="val 26667"/>
            </a:avLst>
          </a:prstGeom>
          <a:solidFill>
            <a:srgbClr val="F2F5F5"/>
          </a:solidFill>
          <a:ln w="12668">
            <a:solidFill>
              <a:srgbClr val="E3ECE9"/>
            </a:solidFill>
            <a:prstDash val="solid"/>
          </a:ln>
        </p:spPr>
        <p:txBody>
          <a:bodyPr/>
          <a:p/>
        </p:txBody>
      </p:sp>
      <p:sp>
        <p:nvSpPr>
          <p:cNvPr id="97" name="圆角矩形 96"/>
          <p:cNvSpPr>
            <a:spLocks noGrp="1"/>
          </p:cNvSpPr>
          <p:nvPr/>
        </p:nvSpPr>
        <p:spPr>
          <a:xfrm>
            <a:off x="4972812" y="2990850"/>
            <a:ext cx="2170938" cy="285750"/>
          </a:xfrm>
          <a:prstGeom prst="roundRect">
            <a:avLst>
              <a:gd name="adj" fmla="val 26667"/>
            </a:avLst>
          </a:prstGeom>
          <a:solidFill>
            <a:srgbClr val="FFE2C4"/>
          </a:solidFill>
          <a:ln w="12668">
            <a:solidFill>
              <a:srgbClr val="BC6414"/>
            </a:solidFill>
            <a:prstDash val="solid"/>
          </a:ln>
        </p:spPr>
        <p:txBody>
          <a:bodyPr/>
          <a:p/>
        </p:txBody>
      </p:sp>
      <p:sp>
        <p:nvSpPr>
          <p:cNvPr id="98" name="矩形 97"/>
          <p:cNvSpPr>
            <a:spLocks noGrp="1"/>
          </p:cNvSpPr>
          <p:nvPr/>
        </p:nvSpPr>
        <p:spPr>
          <a:xfrm>
            <a:off x="4972812" y="2990850"/>
            <a:ext cx="2170938" cy="285750"/>
          </a:xfrm>
          <a:prstGeom prst="rect">
            <a:avLst/>
          </a:prstGeom>
        </p:spPr>
        <p:txBody>
          <a:bodyPr anchor="ctr"/>
          <a:lstStyle/>
          <a:p>
            <a:pPr algn="ctr">
              <a:defRPr sz="800" b="1">
                <a:solidFill>
                  <a:srgbClr val="BC6414"/>
                </a:solidFill>
              </a:defRPr>
            </a:pPr>
            <a:r>
              <a:t>工作时间</a:t>
            </a:r>
          </a:p>
        </p:txBody>
      </p:sp>
      <p:sp>
        <p:nvSpPr>
          <p:cNvPr id="99" name="圆角矩形 98"/>
          <p:cNvSpPr>
            <a:spLocks noGrp="1"/>
          </p:cNvSpPr>
          <p:nvPr/>
        </p:nvSpPr>
        <p:spPr>
          <a:xfrm>
            <a:off x="4972812" y="2400300"/>
            <a:ext cx="197358" cy="876300"/>
          </a:xfrm>
          <a:prstGeom prst="roundRect">
            <a:avLst>
              <a:gd name="adj" fmla="val 38610"/>
            </a:avLst>
          </a:prstGeom>
          <a:solidFill>
            <a:srgbClr val="BC6414">
              <a:alpha val="22000"/>
            </a:srgbClr>
          </a:solidFill>
          <a:ln w="12668">
            <a:solidFill>
              <a:srgbClr val="BC6414"/>
            </a:solidFill>
            <a:prstDash val="solid"/>
          </a:ln>
        </p:spPr>
        <p:txBody>
          <a:bodyPr/>
          <a:p/>
        </p:txBody>
      </p:sp>
      <p:sp>
        <p:nvSpPr>
          <p:cNvPr id="100" name="矩形 99"/>
          <p:cNvSpPr>
            <a:spLocks noGrp="1"/>
          </p:cNvSpPr>
          <p:nvPr/>
        </p:nvSpPr>
        <p:spPr>
          <a:xfrm>
            <a:off x="4499991" y="3314700"/>
            <a:ext cx="1524000" cy="190500"/>
          </a:xfrm>
          <a:prstGeom prst="rect">
            <a:avLst/>
          </a:prstGeom>
        </p:spPr>
        <p:txBody>
          <a:bodyPr anchor="ctr"/>
          <a:lstStyle/>
          <a:p>
            <a:pPr algn="ctr">
              <a:defRPr sz="800" b="1">
                <a:solidFill>
                  <a:srgbClr val="9A5210"/>
                </a:solidFill>
              </a:defRPr>
            </a:pPr>
            <a:r>
              <a:t>重叠很小</a:t>
            </a:r>
          </a:p>
        </p:txBody>
      </p:sp>
      <p:sp>
        <p:nvSpPr>
          <p:cNvPr id="101" name="矩形 100"/>
          <p:cNvSpPr>
            <a:spLocks noGrp="1"/>
          </p:cNvSpPr>
          <p:nvPr/>
        </p:nvSpPr>
        <p:spPr>
          <a:xfrm>
            <a:off x="914400" y="3657600"/>
            <a:ext cx="2381250" cy="209550"/>
          </a:xfrm>
          <a:prstGeom prst="rect">
            <a:avLst/>
          </a:prstGeom>
        </p:spPr>
        <p:txBody>
          <a:bodyPr anchor="ctr"/>
          <a:lstStyle/>
          <a:p>
            <a:pPr algn="l">
              <a:defRPr sz="1000" b="1">
                <a:solidFill>
                  <a:srgbClr val="14383E"/>
                </a:solidFill>
              </a:defRPr>
            </a:pPr>
            <a:r>
              <a:t>一张两方协作工单的等待</a:t>
            </a:r>
          </a:p>
        </p:txBody>
      </p:sp>
      <p:sp>
        <p:nvSpPr>
          <p:cNvPr id="102" name="圆角矩形 101"/>
          <p:cNvSpPr>
            <a:spLocks noGrp="1"/>
          </p:cNvSpPr>
          <p:nvPr/>
        </p:nvSpPr>
        <p:spPr>
          <a:xfrm>
            <a:off x="914400" y="3943350"/>
            <a:ext cx="1257300" cy="590550"/>
          </a:xfrm>
          <a:prstGeom prst="roundRect">
            <a:avLst>
              <a:gd name="adj" fmla="val 12903"/>
            </a:avLst>
          </a:prstGeom>
          <a:solidFill>
            <a:srgbClr val="DCE9FF"/>
          </a:solidFill>
          <a:ln w="12668">
            <a:solidFill>
              <a:srgbClr val="1F63C4"/>
            </a:solidFill>
            <a:prstDash val="solid"/>
          </a:ln>
        </p:spPr>
        <p:txBody>
          <a:bodyPr/>
          <a:p/>
        </p:txBody>
      </p:sp>
      <p:sp>
        <p:nvSpPr>
          <p:cNvPr id="103" name="矩形 102"/>
          <p:cNvSpPr>
            <a:spLocks noGrp="1"/>
          </p:cNvSpPr>
          <p:nvPr/>
        </p:nvSpPr>
        <p:spPr>
          <a:xfrm>
            <a:off x="990600" y="4000500"/>
            <a:ext cx="1104900" cy="190500"/>
          </a:xfrm>
          <a:prstGeom prst="rect">
            <a:avLst/>
          </a:prstGeom>
        </p:spPr>
        <p:txBody>
          <a:bodyPr anchor="ctr"/>
          <a:lstStyle/>
          <a:p>
            <a:pPr algn="l">
              <a:defRPr sz="720" b="1">
                <a:solidFill>
                  <a:srgbClr val="1F63C4"/>
                </a:solidFill>
              </a:defRPr>
            </a:pPr>
            <a:r>
              <a:t>01</a:t>
            </a:r>
          </a:p>
        </p:txBody>
      </p:sp>
      <p:sp>
        <p:nvSpPr>
          <p:cNvPr id="104" name="矩形 103"/>
          <p:cNvSpPr>
            <a:spLocks noGrp="1"/>
          </p:cNvSpPr>
          <p:nvPr/>
        </p:nvSpPr>
        <p:spPr>
          <a:xfrm>
            <a:off x="990600" y="4152900"/>
            <a:ext cx="1104900" cy="190500"/>
          </a:xfrm>
          <a:prstGeom prst="rect">
            <a:avLst/>
          </a:prstGeom>
        </p:spPr>
        <p:txBody>
          <a:bodyPr anchor="ctr"/>
          <a:lstStyle/>
          <a:p>
            <a:pPr algn="l">
              <a:defRPr sz="840" b="1">
                <a:solidFill>
                  <a:srgbClr val="14383E"/>
                </a:solidFill>
              </a:defRPr>
            </a:pPr>
            <a:r>
              <a:t>一线受理与查询</a:t>
            </a:r>
          </a:p>
        </p:txBody>
      </p:sp>
      <p:sp>
        <p:nvSpPr>
          <p:cNvPr id="105" name="矩形 104"/>
          <p:cNvSpPr>
            <a:spLocks noGrp="1"/>
          </p:cNvSpPr>
          <p:nvPr/>
        </p:nvSpPr>
        <p:spPr>
          <a:xfrm>
            <a:off x="990600" y="4324350"/>
            <a:ext cx="1104900" cy="171450"/>
          </a:xfrm>
          <a:prstGeom prst="rect">
            <a:avLst/>
          </a:prstGeom>
        </p:spPr>
        <p:txBody>
          <a:bodyPr anchor="ctr"/>
          <a:lstStyle/>
          <a:p>
            <a:pPr algn="l">
              <a:defRPr sz="680" b="0">
                <a:solidFill>
                  <a:srgbClr val="44585C"/>
                </a:solidFill>
              </a:defRPr>
            </a:pPr>
            <a:r>
              <a:t>中国 / 菲律宾</a:t>
            </a:r>
          </a:p>
        </p:txBody>
      </p:sp>
      <p:sp>
        <p:nvSpPr>
          <p:cNvPr id="106" name="圆角矩形 105"/>
          <p:cNvSpPr>
            <a:spLocks noGrp="1"/>
          </p:cNvSpPr>
          <p:nvPr/>
        </p:nvSpPr>
        <p:spPr>
          <a:xfrm>
            <a:off x="2276475" y="3943350"/>
            <a:ext cx="1257300" cy="590550"/>
          </a:xfrm>
          <a:prstGeom prst="roundRect">
            <a:avLst>
              <a:gd name="adj" fmla="val 12903"/>
            </a:avLst>
          </a:prstGeom>
          <a:solidFill>
            <a:srgbClr val="FFE2C4"/>
          </a:solidFill>
          <a:ln w="12668">
            <a:solidFill>
              <a:srgbClr val="BC6414"/>
            </a:solidFill>
            <a:prstDash val="solid"/>
          </a:ln>
        </p:spPr>
        <p:txBody>
          <a:bodyPr/>
          <a:p/>
        </p:txBody>
      </p:sp>
      <p:sp>
        <p:nvSpPr>
          <p:cNvPr id="107" name="矩形 106"/>
          <p:cNvSpPr>
            <a:spLocks noGrp="1"/>
          </p:cNvSpPr>
          <p:nvPr/>
        </p:nvSpPr>
        <p:spPr>
          <a:xfrm>
            <a:off x="2352675" y="4000500"/>
            <a:ext cx="1104900" cy="190500"/>
          </a:xfrm>
          <a:prstGeom prst="rect">
            <a:avLst/>
          </a:prstGeom>
        </p:spPr>
        <p:txBody>
          <a:bodyPr anchor="ctr"/>
          <a:lstStyle/>
          <a:p>
            <a:pPr algn="l">
              <a:defRPr sz="720" b="1">
                <a:solidFill>
                  <a:srgbClr val="BC6414"/>
                </a:solidFill>
              </a:defRPr>
            </a:pPr>
            <a:r>
              <a:t>02</a:t>
            </a:r>
          </a:p>
        </p:txBody>
      </p:sp>
      <p:sp>
        <p:nvSpPr>
          <p:cNvPr id="108" name="矩形 107"/>
          <p:cNvSpPr>
            <a:spLocks noGrp="1"/>
          </p:cNvSpPr>
          <p:nvPr/>
        </p:nvSpPr>
        <p:spPr>
          <a:xfrm>
            <a:off x="2352675" y="4152900"/>
            <a:ext cx="1104900" cy="190500"/>
          </a:xfrm>
          <a:prstGeom prst="rect">
            <a:avLst/>
          </a:prstGeom>
        </p:spPr>
        <p:txBody>
          <a:bodyPr anchor="ctr"/>
          <a:lstStyle/>
          <a:p>
            <a:pPr algn="l">
              <a:defRPr sz="840" b="1">
                <a:solidFill>
                  <a:srgbClr val="14383E"/>
                </a:solidFill>
              </a:defRPr>
            </a:pPr>
            <a:r>
              <a:t>等对方上班</a:t>
            </a:r>
          </a:p>
        </p:txBody>
      </p:sp>
      <p:sp>
        <p:nvSpPr>
          <p:cNvPr id="109" name="矩形 108"/>
          <p:cNvSpPr>
            <a:spLocks noGrp="1"/>
          </p:cNvSpPr>
          <p:nvPr/>
        </p:nvSpPr>
        <p:spPr>
          <a:xfrm>
            <a:off x="2352675" y="4324350"/>
            <a:ext cx="1104900" cy="171450"/>
          </a:xfrm>
          <a:prstGeom prst="rect">
            <a:avLst/>
          </a:prstGeom>
        </p:spPr>
        <p:txBody>
          <a:bodyPr anchor="ctr"/>
          <a:lstStyle/>
          <a:p>
            <a:pPr algn="l">
              <a:defRPr sz="680" b="0">
                <a:solidFill>
                  <a:srgbClr val="44585C"/>
                </a:solidFill>
              </a:defRPr>
            </a:pPr>
            <a:r>
              <a:t>跨时区间隔</a:t>
            </a:r>
          </a:p>
        </p:txBody>
      </p:sp>
      <p:sp>
        <p:nvSpPr>
          <p:cNvPr id="110" name="圆角矩形 109"/>
          <p:cNvSpPr>
            <a:spLocks noGrp="1"/>
          </p:cNvSpPr>
          <p:nvPr/>
        </p:nvSpPr>
        <p:spPr>
          <a:xfrm>
            <a:off x="3638550" y="3943350"/>
            <a:ext cx="1257300" cy="590550"/>
          </a:xfrm>
          <a:prstGeom prst="roundRect">
            <a:avLst>
              <a:gd name="adj" fmla="val 12903"/>
            </a:avLst>
          </a:prstGeom>
          <a:solidFill>
            <a:srgbClr val="FFE2C4"/>
          </a:solidFill>
          <a:ln w="12668">
            <a:solidFill>
              <a:srgbClr val="BC6414"/>
            </a:solidFill>
            <a:prstDash val="solid"/>
          </a:ln>
        </p:spPr>
        <p:txBody>
          <a:bodyPr/>
          <a:p/>
        </p:txBody>
      </p:sp>
      <p:sp>
        <p:nvSpPr>
          <p:cNvPr id="111" name="矩形 110"/>
          <p:cNvSpPr>
            <a:spLocks noGrp="1"/>
          </p:cNvSpPr>
          <p:nvPr/>
        </p:nvSpPr>
        <p:spPr>
          <a:xfrm>
            <a:off x="3714750" y="4000500"/>
            <a:ext cx="1104900" cy="190500"/>
          </a:xfrm>
          <a:prstGeom prst="rect">
            <a:avLst/>
          </a:prstGeom>
        </p:spPr>
        <p:txBody>
          <a:bodyPr anchor="ctr"/>
          <a:lstStyle/>
          <a:p>
            <a:pPr algn="l">
              <a:defRPr sz="720" b="1">
                <a:solidFill>
                  <a:srgbClr val="BC6414"/>
                </a:solidFill>
              </a:defRPr>
            </a:pPr>
            <a:r>
              <a:t>03</a:t>
            </a:r>
          </a:p>
        </p:txBody>
      </p:sp>
      <p:sp>
        <p:nvSpPr>
          <p:cNvPr id="112" name="矩形 111"/>
          <p:cNvSpPr>
            <a:spLocks noGrp="1"/>
          </p:cNvSpPr>
          <p:nvPr/>
        </p:nvSpPr>
        <p:spPr>
          <a:xfrm>
            <a:off x="3714750" y="4152900"/>
            <a:ext cx="1104900" cy="190500"/>
          </a:xfrm>
          <a:prstGeom prst="rect">
            <a:avLst/>
          </a:prstGeom>
        </p:spPr>
        <p:txBody>
          <a:bodyPr anchor="ctr"/>
          <a:lstStyle/>
          <a:p>
            <a:pPr algn="l">
              <a:defRPr sz="840" b="1">
                <a:solidFill>
                  <a:srgbClr val="14383E"/>
                </a:solidFill>
              </a:defRPr>
            </a:pPr>
            <a:r>
              <a:t>业务侧确认或执行</a:t>
            </a:r>
          </a:p>
        </p:txBody>
      </p:sp>
      <p:sp>
        <p:nvSpPr>
          <p:cNvPr id="113" name="矩形 112"/>
          <p:cNvSpPr>
            <a:spLocks noGrp="1"/>
          </p:cNvSpPr>
          <p:nvPr/>
        </p:nvSpPr>
        <p:spPr>
          <a:xfrm>
            <a:off x="3714750" y="4324350"/>
            <a:ext cx="1104900" cy="171450"/>
          </a:xfrm>
          <a:prstGeom prst="rect">
            <a:avLst/>
          </a:prstGeom>
        </p:spPr>
        <p:txBody>
          <a:bodyPr anchor="ctr"/>
          <a:lstStyle/>
          <a:p>
            <a:pPr algn="l">
              <a:defRPr sz="680" b="0">
                <a:solidFill>
                  <a:srgbClr val="44585C"/>
                </a:solidFill>
              </a:defRPr>
            </a:pPr>
            <a:r>
              <a:t>美国</a:t>
            </a:r>
          </a:p>
        </p:txBody>
      </p:sp>
      <p:sp>
        <p:nvSpPr>
          <p:cNvPr id="114" name="圆角矩形 113"/>
          <p:cNvSpPr>
            <a:spLocks noGrp="1"/>
          </p:cNvSpPr>
          <p:nvPr/>
        </p:nvSpPr>
        <p:spPr>
          <a:xfrm>
            <a:off x="5000625" y="3943350"/>
            <a:ext cx="1257300" cy="590550"/>
          </a:xfrm>
          <a:prstGeom prst="roundRect">
            <a:avLst>
              <a:gd name="adj" fmla="val 12903"/>
            </a:avLst>
          </a:prstGeom>
          <a:solidFill>
            <a:srgbClr val="FFE2C4"/>
          </a:solidFill>
          <a:ln w="12668">
            <a:solidFill>
              <a:srgbClr val="BC6414"/>
            </a:solidFill>
            <a:prstDash val="solid"/>
          </a:ln>
        </p:spPr>
        <p:txBody>
          <a:bodyPr/>
          <a:p/>
        </p:txBody>
      </p:sp>
      <p:sp>
        <p:nvSpPr>
          <p:cNvPr id="115" name="矩形 114"/>
          <p:cNvSpPr>
            <a:spLocks noGrp="1"/>
          </p:cNvSpPr>
          <p:nvPr/>
        </p:nvSpPr>
        <p:spPr>
          <a:xfrm>
            <a:off x="5076825" y="4000500"/>
            <a:ext cx="1104900" cy="190500"/>
          </a:xfrm>
          <a:prstGeom prst="rect">
            <a:avLst/>
          </a:prstGeom>
        </p:spPr>
        <p:txBody>
          <a:bodyPr anchor="ctr"/>
          <a:lstStyle/>
          <a:p>
            <a:pPr algn="l">
              <a:defRPr sz="720" b="1">
                <a:solidFill>
                  <a:srgbClr val="BC6414"/>
                </a:solidFill>
              </a:defRPr>
            </a:pPr>
            <a:r>
              <a:t>04</a:t>
            </a:r>
          </a:p>
        </p:txBody>
      </p:sp>
      <p:sp>
        <p:nvSpPr>
          <p:cNvPr id="116" name="矩形 115"/>
          <p:cNvSpPr>
            <a:spLocks noGrp="1"/>
          </p:cNvSpPr>
          <p:nvPr/>
        </p:nvSpPr>
        <p:spPr>
          <a:xfrm>
            <a:off x="5076825" y="4152900"/>
            <a:ext cx="1104900" cy="190500"/>
          </a:xfrm>
          <a:prstGeom prst="rect">
            <a:avLst/>
          </a:prstGeom>
        </p:spPr>
        <p:txBody>
          <a:bodyPr anchor="ctr"/>
          <a:lstStyle/>
          <a:p>
            <a:pPr algn="l">
              <a:defRPr sz="840" b="1">
                <a:solidFill>
                  <a:srgbClr val="14383E"/>
                </a:solidFill>
              </a:defRPr>
            </a:pPr>
            <a:r>
              <a:t>等回传</a:t>
            </a:r>
          </a:p>
        </p:txBody>
      </p:sp>
      <p:sp>
        <p:nvSpPr>
          <p:cNvPr id="117" name="矩形 116"/>
          <p:cNvSpPr>
            <a:spLocks noGrp="1"/>
          </p:cNvSpPr>
          <p:nvPr/>
        </p:nvSpPr>
        <p:spPr>
          <a:xfrm>
            <a:off x="5076825" y="4324350"/>
            <a:ext cx="1104900" cy="171450"/>
          </a:xfrm>
          <a:prstGeom prst="rect">
            <a:avLst/>
          </a:prstGeom>
        </p:spPr>
        <p:txBody>
          <a:bodyPr anchor="ctr"/>
          <a:lstStyle/>
          <a:p>
            <a:pPr algn="l">
              <a:defRPr sz="680" b="0">
                <a:solidFill>
                  <a:srgbClr val="44585C"/>
                </a:solidFill>
              </a:defRPr>
            </a:pPr>
            <a:r>
              <a:t>跨时区间隔</a:t>
            </a:r>
          </a:p>
        </p:txBody>
      </p:sp>
      <p:sp>
        <p:nvSpPr>
          <p:cNvPr id="118" name="圆角矩形 117"/>
          <p:cNvSpPr>
            <a:spLocks noGrp="1"/>
          </p:cNvSpPr>
          <p:nvPr/>
        </p:nvSpPr>
        <p:spPr>
          <a:xfrm>
            <a:off x="6362700" y="3943350"/>
            <a:ext cx="1257300" cy="590550"/>
          </a:xfrm>
          <a:prstGeom prst="roundRect">
            <a:avLst>
              <a:gd name="adj" fmla="val 12903"/>
            </a:avLst>
          </a:prstGeom>
          <a:solidFill>
            <a:srgbClr val="DCE9FF"/>
          </a:solidFill>
          <a:ln w="12668">
            <a:solidFill>
              <a:srgbClr val="1F63C4"/>
            </a:solidFill>
            <a:prstDash val="solid"/>
          </a:ln>
        </p:spPr>
        <p:txBody>
          <a:bodyPr/>
          <a:p/>
        </p:txBody>
      </p:sp>
      <p:sp>
        <p:nvSpPr>
          <p:cNvPr id="119" name="矩形 118"/>
          <p:cNvSpPr>
            <a:spLocks noGrp="1"/>
          </p:cNvSpPr>
          <p:nvPr/>
        </p:nvSpPr>
        <p:spPr>
          <a:xfrm>
            <a:off x="6438900" y="4000500"/>
            <a:ext cx="1104900" cy="190500"/>
          </a:xfrm>
          <a:prstGeom prst="rect">
            <a:avLst/>
          </a:prstGeom>
        </p:spPr>
        <p:txBody>
          <a:bodyPr anchor="ctr"/>
          <a:lstStyle/>
          <a:p>
            <a:pPr algn="l">
              <a:defRPr sz="720" b="1">
                <a:solidFill>
                  <a:srgbClr val="1F63C4"/>
                </a:solidFill>
              </a:defRPr>
            </a:pPr>
            <a:r>
              <a:t>05</a:t>
            </a:r>
          </a:p>
        </p:txBody>
      </p:sp>
      <p:sp>
        <p:nvSpPr>
          <p:cNvPr id="120" name="矩形 119"/>
          <p:cNvSpPr>
            <a:spLocks noGrp="1"/>
          </p:cNvSpPr>
          <p:nvPr/>
        </p:nvSpPr>
        <p:spPr>
          <a:xfrm>
            <a:off x="6438900" y="4152900"/>
            <a:ext cx="1104900" cy="190500"/>
          </a:xfrm>
          <a:prstGeom prst="rect">
            <a:avLst/>
          </a:prstGeom>
        </p:spPr>
        <p:txBody>
          <a:bodyPr anchor="ctr"/>
          <a:lstStyle/>
          <a:p>
            <a:pPr algn="l">
              <a:defRPr sz="840" b="1">
                <a:solidFill>
                  <a:srgbClr val="14383E"/>
                </a:solidFill>
              </a:defRPr>
            </a:pPr>
            <a:r>
              <a:t>回复客户</a:t>
            </a:r>
          </a:p>
        </p:txBody>
      </p:sp>
      <p:sp>
        <p:nvSpPr>
          <p:cNvPr id="121" name="矩形 120"/>
          <p:cNvSpPr>
            <a:spLocks noGrp="1"/>
          </p:cNvSpPr>
          <p:nvPr/>
        </p:nvSpPr>
        <p:spPr>
          <a:xfrm>
            <a:off x="6438900" y="4324350"/>
            <a:ext cx="1104900" cy="171450"/>
          </a:xfrm>
          <a:prstGeom prst="rect">
            <a:avLst/>
          </a:prstGeom>
        </p:spPr>
        <p:txBody>
          <a:bodyPr anchor="ctr"/>
          <a:lstStyle/>
          <a:p>
            <a:pPr algn="l">
              <a:defRPr sz="680" b="0">
                <a:solidFill>
                  <a:srgbClr val="44585C"/>
                </a:solidFill>
              </a:defRPr>
            </a:pPr>
            <a:r>
              <a:t>中国 / 菲律宾</a:t>
            </a:r>
          </a:p>
        </p:txBody>
      </p:sp>
      <p:sp>
        <p:nvSpPr>
          <p:cNvPr id="122" name="矩形 121"/>
          <p:cNvSpPr>
            <a:spLocks noGrp="1"/>
          </p:cNvSpPr>
          <p:nvPr/>
        </p:nvSpPr>
        <p:spPr>
          <a:xfrm>
            <a:off x="914400" y="4667250"/>
            <a:ext cx="6572250" cy="285750"/>
          </a:xfrm>
          <a:prstGeom prst="rect">
            <a:avLst/>
          </a:prstGeom>
        </p:spPr>
        <p:txBody>
          <a:bodyPr anchor="ctr"/>
          <a:lstStyle/>
          <a:p>
            <a:pPr algn="l">
              <a:defRPr sz="820" b="0">
                <a:solidFill>
                  <a:srgbClr val="44585C"/>
                </a:solidFill>
              </a:defRPr>
            </a:pPr>
            <a:r>
              <a:t>交接次数越多，等待段就越多。周期长的主因是每次交接都要等对方上班，单次处理本身很快。</a:t>
            </a:r>
          </a:p>
        </p:txBody>
      </p:sp>
      <p:sp>
        <p:nvSpPr>
          <p:cNvPr id="123" name="圆角矩形 122"/>
          <p:cNvSpPr>
            <a:spLocks noGrp="1"/>
          </p:cNvSpPr>
          <p:nvPr/>
        </p:nvSpPr>
        <p:spPr>
          <a:xfrm>
            <a:off x="7972425" y="1571625"/>
            <a:ext cx="3562350" cy="933450"/>
          </a:xfrm>
          <a:prstGeom prst="roundRect">
            <a:avLst>
              <a:gd name="adj" fmla="val 8163"/>
            </a:avLst>
          </a:prstGeom>
          <a:solidFill>
            <a:srgbClr val="EAF2FF"/>
          </a:solidFill>
          <a:ln w="12668">
            <a:solidFill>
              <a:srgbClr val="EAF2FF"/>
            </a:solidFill>
            <a:prstDash val="solid"/>
          </a:ln>
        </p:spPr>
        <p:txBody>
          <a:bodyPr/>
          <a:p/>
        </p:txBody>
      </p:sp>
      <p:sp>
        <p:nvSpPr>
          <p:cNvPr id="124" name="矩形 123"/>
          <p:cNvSpPr>
            <a:spLocks noGrp="1"/>
          </p:cNvSpPr>
          <p:nvPr/>
        </p:nvSpPr>
        <p:spPr>
          <a:xfrm>
            <a:off x="8210550" y="1685925"/>
            <a:ext cx="2238375" cy="381000"/>
          </a:xfrm>
          <a:prstGeom prst="rect">
            <a:avLst/>
          </a:prstGeom>
        </p:spPr>
        <p:txBody>
          <a:bodyPr anchor="ctr"/>
          <a:lstStyle/>
          <a:p>
            <a:pPr algn="l">
              <a:defRPr sz="2100" b="1">
                <a:solidFill>
                  <a:srgbClr val="14383E"/>
                </a:solidFill>
              </a:defRPr>
            </a:pPr>
            <a:r>
              <a:t>150+</a:t>
            </a:r>
          </a:p>
        </p:txBody>
      </p:sp>
      <p:sp>
        <p:nvSpPr>
          <p:cNvPr id="125" name="矩形 124"/>
          <p:cNvSpPr>
            <a:spLocks noGrp="1"/>
          </p:cNvSpPr>
          <p:nvPr/>
        </p:nvSpPr>
        <p:spPr>
          <a:xfrm>
            <a:off x="8210550" y="2085975"/>
            <a:ext cx="2419350" cy="228600"/>
          </a:xfrm>
          <a:prstGeom prst="rect">
            <a:avLst/>
          </a:prstGeom>
        </p:spPr>
        <p:txBody>
          <a:bodyPr anchor="ctr"/>
          <a:lstStyle/>
          <a:p>
            <a:pPr algn="l">
              <a:defRPr sz="950" b="0">
                <a:solidFill>
                  <a:srgbClr val="44585C"/>
                </a:solidFill>
              </a:defRPr>
            </a:pPr>
            <a:r>
              <a:t>客服体系人力规模</a:t>
            </a:r>
          </a:p>
        </p:txBody>
      </p:sp>
      <p:sp>
        <p:nvSpPr>
          <p:cNvPr id="126" name="椭圆 125"/>
          <p:cNvSpPr>
            <a:spLocks noGrp="1"/>
          </p:cNvSpPr>
          <p:nvPr/>
        </p:nvSpPr>
        <p:spPr>
          <a:xfrm>
            <a:off x="10696575" y="1771650"/>
            <a:ext cx="504825" cy="504825"/>
          </a:xfrm>
          <a:prstGeom prst="ellipse">
            <a:avLst/>
          </a:prstGeom>
          <a:solidFill>
            <a:srgbClr val="2F7DEB"/>
          </a:solidFill>
          <a:ln w="12668">
            <a:solidFill>
              <a:srgbClr val="2F7DEB"/>
            </a:solidFill>
            <a:prstDash val="solid"/>
          </a:ln>
        </p:spPr>
        <p:txBody>
          <a:bodyPr/>
          <a:p/>
        </p:txBody>
      </p:sp>
      <p:sp>
        <p:nvSpPr>
          <p:cNvPr id="127" name="矩形 126"/>
          <p:cNvSpPr>
            <a:spLocks noGrp="1"/>
          </p:cNvSpPr>
          <p:nvPr/>
        </p:nvSpPr>
        <p:spPr>
          <a:xfrm>
            <a:off x="10696575" y="1771650"/>
            <a:ext cx="504825" cy="504825"/>
          </a:xfrm>
          <a:prstGeom prst="rect">
            <a:avLst/>
          </a:prstGeom>
        </p:spPr>
        <p:txBody>
          <a:bodyPr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人</a:t>
            </a:r>
          </a:p>
        </p:txBody>
      </p:sp>
      <p:sp>
        <p:nvSpPr>
          <p:cNvPr id="128" name="圆角矩形 127"/>
          <p:cNvSpPr>
            <a:spLocks noGrp="1"/>
          </p:cNvSpPr>
          <p:nvPr/>
        </p:nvSpPr>
        <p:spPr>
          <a:xfrm>
            <a:off x="7972425" y="2686050"/>
            <a:ext cx="3562350" cy="933450"/>
          </a:xfrm>
          <a:prstGeom prst="roundRect">
            <a:avLst>
              <a:gd name="adj" fmla="val 8163"/>
            </a:avLst>
          </a:prstGeom>
          <a:solidFill>
            <a:srgbClr val="FFF1E4"/>
          </a:solidFill>
          <a:ln w="12668">
            <a:solidFill>
              <a:srgbClr val="FFF1E4"/>
            </a:solidFill>
            <a:prstDash val="solid"/>
          </a:ln>
        </p:spPr>
        <p:txBody>
          <a:bodyPr/>
          <a:p/>
        </p:txBody>
      </p:sp>
      <p:sp>
        <p:nvSpPr>
          <p:cNvPr id="129" name="矩形 128"/>
          <p:cNvSpPr>
            <a:spLocks noGrp="1"/>
          </p:cNvSpPr>
          <p:nvPr/>
        </p:nvSpPr>
        <p:spPr>
          <a:xfrm>
            <a:off x="8210550" y="2800350"/>
            <a:ext cx="2238375" cy="381000"/>
          </a:xfrm>
          <a:prstGeom prst="rect">
            <a:avLst/>
          </a:prstGeom>
        </p:spPr>
        <p:txBody>
          <a:bodyPr anchor="ctr"/>
          <a:lstStyle/>
          <a:p>
            <a:pPr algn="l">
              <a:defRPr sz="2100" b="1">
                <a:solidFill>
                  <a:srgbClr val="14383E"/>
                </a:solidFill>
              </a:defRPr>
            </a:pPr>
            <a:r>
              <a:t>三地</a:t>
            </a:r>
          </a:p>
        </p:txBody>
      </p:sp>
      <p:sp>
        <p:nvSpPr>
          <p:cNvPr id="130" name="矩形 129"/>
          <p:cNvSpPr>
            <a:spLocks noGrp="1"/>
          </p:cNvSpPr>
          <p:nvPr/>
        </p:nvSpPr>
        <p:spPr>
          <a:xfrm>
            <a:off x="8210550" y="3200400"/>
            <a:ext cx="2419350" cy="228600"/>
          </a:xfrm>
          <a:prstGeom prst="rect">
            <a:avLst/>
          </a:prstGeom>
        </p:spPr>
        <p:txBody>
          <a:bodyPr anchor="ctr"/>
          <a:lstStyle/>
          <a:p>
            <a:pPr algn="l">
              <a:defRPr sz="950" b="0">
                <a:solidFill>
                  <a:srgbClr val="44585C"/>
                </a:solidFill>
              </a:defRPr>
            </a:pPr>
            <a:r>
              <a:t>中国 · 菲律宾 · 美国</a:t>
            </a:r>
          </a:p>
        </p:txBody>
      </p:sp>
      <p:sp>
        <p:nvSpPr>
          <p:cNvPr id="131" name="椭圆 130"/>
          <p:cNvSpPr>
            <a:spLocks noGrp="1"/>
          </p:cNvSpPr>
          <p:nvPr/>
        </p:nvSpPr>
        <p:spPr>
          <a:xfrm>
            <a:off x="10696575" y="2886075"/>
            <a:ext cx="504825" cy="504825"/>
          </a:xfrm>
          <a:prstGeom prst="ellipse">
            <a:avLst/>
          </a:prstGeom>
          <a:solidFill>
            <a:srgbClr val="F28B2D"/>
          </a:solidFill>
          <a:ln w="12668">
            <a:solidFill>
              <a:srgbClr val="F28B2D"/>
            </a:solidFill>
            <a:prstDash val="solid"/>
          </a:ln>
        </p:spPr>
        <p:txBody>
          <a:bodyPr/>
          <a:p/>
        </p:txBody>
      </p:sp>
      <p:sp>
        <p:nvSpPr>
          <p:cNvPr id="132" name="矩形 131"/>
          <p:cNvSpPr>
            <a:spLocks noGrp="1"/>
          </p:cNvSpPr>
          <p:nvPr/>
        </p:nvSpPr>
        <p:spPr>
          <a:xfrm>
            <a:off x="10696575" y="2886075"/>
            <a:ext cx="504825" cy="504825"/>
          </a:xfrm>
          <a:prstGeom prst="rect">
            <a:avLst/>
          </a:prstGeom>
        </p:spPr>
        <p:txBody>
          <a:bodyPr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地</a:t>
            </a:r>
          </a:p>
        </p:txBody>
      </p:sp>
      <p:sp>
        <p:nvSpPr>
          <p:cNvPr id="133" name="圆角矩形 132"/>
          <p:cNvSpPr>
            <a:spLocks noGrp="1"/>
          </p:cNvSpPr>
          <p:nvPr/>
        </p:nvSpPr>
        <p:spPr>
          <a:xfrm>
            <a:off x="7972425" y="3800475"/>
            <a:ext cx="3562350" cy="933450"/>
          </a:xfrm>
          <a:prstGeom prst="roundRect">
            <a:avLst>
              <a:gd name="adj" fmla="val 8163"/>
            </a:avLst>
          </a:prstGeom>
          <a:solidFill>
            <a:srgbClr val="E8F7F1"/>
          </a:solidFill>
          <a:ln w="12668">
            <a:solidFill>
              <a:srgbClr val="E8F7F1"/>
            </a:solidFill>
            <a:prstDash val="solid"/>
          </a:ln>
        </p:spPr>
        <p:txBody>
          <a:bodyPr/>
          <a:p/>
        </p:txBody>
      </p:sp>
      <p:sp>
        <p:nvSpPr>
          <p:cNvPr id="134" name="矩形 133"/>
          <p:cNvSpPr>
            <a:spLocks noGrp="1"/>
          </p:cNvSpPr>
          <p:nvPr/>
        </p:nvSpPr>
        <p:spPr>
          <a:xfrm>
            <a:off x="8210550" y="3914775"/>
            <a:ext cx="2238375" cy="381000"/>
          </a:xfrm>
          <a:prstGeom prst="rect">
            <a:avLst/>
          </a:prstGeom>
        </p:spPr>
        <p:txBody>
          <a:bodyPr anchor="ctr"/>
          <a:lstStyle/>
          <a:p>
            <a:pPr algn="l">
              <a:defRPr sz="2100" b="1">
                <a:solidFill>
                  <a:srgbClr val="14383E"/>
                </a:solidFill>
              </a:defRPr>
            </a:pPr>
            <a:r>
              <a:t>两段</a:t>
            </a:r>
          </a:p>
        </p:txBody>
      </p:sp>
      <p:sp>
        <p:nvSpPr>
          <p:cNvPr id="135" name="矩形 134"/>
          <p:cNvSpPr>
            <a:spLocks noGrp="1"/>
          </p:cNvSpPr>
          <p:nvPr/>
        </p:nvSpPr>
        <p:spPr>
          <a:xfrm>
            <a:off x="8210550" y="4314825"/>
            <a:ext cx="2419350" cy="228600"/>
          </a:xfrm>
          <a:prstGeom prst="rect">
            <a:avLst/>
          </a:prstGeom>
        </p:spPr>
        <p:txBody>
          <a:bodyPr anchor="ctr"/>
          <a:lstStyle/>
          <a:p>
            <a:pPr algn="l">
              <a:defRPr sz="950" b="0">
                <a:solidFill>
                  <a:srgbClr val="44585C"/>
                </a:solidFill>
              </a:defRPr>
            </a:pPr>
            <a:r>
              <a:t>中美工作时间重叠很小</a:t>
            </a:r>
          </a:p>
        </p:txBody>
      </p:sp>
      <p:sp>
        <p:nvSpPr>
          <p:cNvPr id="136" name="椭圆 135"/>
          <p:cNvSpPr>
            <a:spLocks noGrp="1"/>
          </p:cNvSpPr>
          <p:nvPr/>
        </p:nvSpPr>
        <p:spPr>
          <a:xfrm>
            <a:off x="10696575" y="4000500"/>
            <a:ext cx="504825" cy="504825"/>
          </a:xfrm>
          <a:prstGeom prst="ellipse">
            <a:avLst/>
          </a:prstGeom>
          <a:solidFill>
            <a:srgbClr val="07966F"/>
          </a:solidFill>
          <a:ln w="12668">
            <a:solidFill>
              <a:srgbClr val="07966F"/>
            </a:solidFill>
            <a:prstDash val="solid"/>
          </a:ln>
        </p:spPr>
        <p:txBody>
          <a:bodyPr/>
          <a:p/>
        </p:txBody>
      </p:sp>
      <p:sp>
        <p:nvSpPr>
          <p:cNvPr id="137" name="矩形 136"/>
          <p:cNvSpPr>
            <a:spLocks noGrp="1"/>
          </p:cNvSpPr>
          <p:nvPr/>
        </p:nvSpPr>
        <p:spPr>
          <a:xfrm>
            <a:off x="10696575" y="4000500"/>
            <a:ext cx="504825" cy="504825"/>
          </a:xfrm>
          <a:prstGeom prst="rect">
            <a:avLst/>
          </a:prstGeom>
        </p:spPr>
        <p:txBody>
          <a:bodyPr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时</a:t>
            </a:r>
          </a:p>
        </p:txBody>
      </p:sp>
      <p:sp>
        <p:nvSpPr>
          <p:cNvPr id="138" name="圆角矩形 137"/>
          <p:cNvSpPr>
            <a:spLocks noGrp="1"/>
          </p:cNvSpPr>
          <p:nvPr/>
        </p:nvSpPr>
        <p:spPr>
          <a:xfrm>
            <a:off x="657225" y="5286375"/>
            <a:ext cx="5353050" cy="714375"/>
          </a:xfrm>
          <a:prstGeom prst="roundRect">
            <a:avLst>
              <a:gd name="adj" fmla="val 10667"/>
            </a:avLst>
          </a:prstGeom>
          <a:solidFill>
            <a:srgbClr val="E8F7F1"/>
          </a:solidFill>
          <a:ln w="12668">
            <a:solidFill>
              <a:srgbClr val="E8F7F1"/>
            </a:solidFill>
            <a:prstDash val="solid"/>
          </a:ln>
        </p:spPr>
        <p:txBody>
          <a:bodyPr/>
          <a:p/>
        </p:txBody>
      </p:sp>
      <p:sp>
        <p:nvSpPr>
          <p:cNvPr id="139" name="矩形 138"/>
          <p:cNvSpPr>
            <a:spLocks noGrp="1"/>
          </p:cNvSpPr>
          <p:nvPr/>
        </p:nvSpPr>
        <p:spPr>
          <a:xfrm>
            <a:off x="876300" y="5400675"/>
            <a:ext cx="1143000" cy="228600"/>
          </a:xfrm>
          <a:prstGeom prst="rect">
            <a:avLst/>
          </a:prstGeom>
        </p:spPr>
        <p:txBody>
          <a:bodyPr anchor="ctr"/>
          <a:lstStyle/>
          <a:p>
            <a:pPr algn="l">
              <a:defRPr sz="1150" b="1">
                <a:solidFill>
                  <a:srgbClr val="14383E"/>
                </a:solidFill>
              </a:defRPr>
            </a:pPr>
            <a:r>
              <a:t>优先自动化</a:t>
            </a:r>
          </a:p>
        </p:txBody>
      </p:sp>
      <p:sp>
        <p:nvSpPr>
          <p:cNvPr id="140" name="圆角矩形 139"/>
          <p:cNvSpPr>
            <a:spLocks noGrp="1"/>
          </p:cNvSpPr>
          <p:nvPr/>
        </p:nvSpPr>
        <p:spPr>
          <a:xfrm>
            <a:off x="2057400" y="5467350"/>
            <a:ext cx="962025" cy="228600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12668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41" name="矩形 140"/>
          <p:cNvSpPr>
            <a:spLocks noGrp="1"/>
          </p:cNvSpPr>
          <p:nvPr/>
        </p:nvSpPr>
        <p:spPr>
          <a:xfrm>
            <a:off x="2057400" y="5467350"/>
            <a:ext cx="962025" cy="228600"/>
          </a:xfrm>
          <a:prstGeom prst="rect">
            <a:avLst/>
          </a:prstGeom>
        </p:spPr>
        <p:txBody>
          <a:bodyPr anchor="ctr"/>
          <a:lstStyle/>
          <a:p>
            <a:pPr algn="ctr">
              <a:defRPr sz="870" b="1">
                <a:solidFill>
                  <a:srgbClr val="14383E"/>
                </a:solidFill>
              </a:defRPr>
            </a:pPr>
            <a:r>
              <a:t>信息收集</a:t>
            </a:r>
          </a:p>
        </p:txBody>
      </p:sp>
      <p:sp>
        <p:nvSpPr>
          <p:cNvPr id="142" name="圆角矩形 141"/>
          <p:cNvSpPr>
            <a:spLocks noGrp="1"/>
          </p:cNvSpPr>
          <p:nvPr/>
        </p:nvSpPr>
        <p:spPr>
          <a:xfrm>
            <a:off x="3133725" y="5467350"/>
            <a:ext cx="962025" cy="228600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12668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43" name="矩形 142"/>
          <p:cNvSpPr>
            <a:spLocks noGrp="1"/>
          </p:cNvSpPr>
          <p:nvPr/>
        </p:nvSpPr>
        <p:spPr>
          <a:xfrm>
            <a:off x="3133725" y="5467350"/>
            <a:ext cx="962025" cy="228600"/>
          </a:xfrm>
          <a:prstGeom prst="rect">
            <a:avLst/>
          </a:prstGeom>
        </p:spPr>
        <p:txBody>
          <a:bodyPr anchor="ctr"/>
          <a:lstStyle/>
          <a:p>
            <a:pPr algn="ctr">
              <a:defRPr sz="870" b="1">
                <a:solidFill>
                  <a:srgbClr val="14383E"/>
                </a:solidFill>
              </a:defRPr>
            </a:pPr>
            <a:r>
              <a:t>状态查询</a:t>
            </a:r>
          </a:p>
        </p:txBody>
      </p:sp>
      <p:sp>
        <p:nvSpPr>
          <p:cNvPr id="144" name="圆角矩形 143"/>
          <p:cNvSpPr>
            <a:spLocks noGrp="1"/>
          </p:cNvSpPr>
          <p:nvPr/>
        </p:nvSpPr>
        <p:spPr>
          <a:xfrm>
            <a:off x="4229100" y="5467350"/>
            <a:ext cx="1419225" cy="228600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12668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45" name="矩形 144"/>
          <p:cNvSpPr>
            <a:spLocks noGrp="1"/>
          </p:cNvSpPr>
          <p:nvPr/>
        </p:nvSpPr>
        <p:spPr>
          <a:xfrm>
            <a:off x="4229100" y="5467350"/>
            <a:ext cx="1419225" cy="228600"/>
          </a:xfrm>
          <a:prstGeom prst="rect">
            <a:avLst/>
          </a:prstGeom>
        </p:spPr>
        <p:txBody>
          <a:bodyPr anchor="ctr"/>
          <a:lstStyle/>
          <a:p>
            <a:pPr algn="ctr">
              <a:defRPr sz="870" b="1">
                <a:solidFill>
                  <a:srgbClr val="14383E"/>
                </a:solidFill>
              </a:defRPr>
            </a:pPr>
            <a:r>
              <a:t>结果整理与回写</a:t>
            </a:r>
          </a:p>
        </p:txBody>
      </p:sp>
      <p:sp>
        <p:nvSpPr>
          <p:cNvPr id="146" name="圆角矩形 145"/>
          <p:cNvSpPr>
            <a:spLocks noGrp="1"/>
          </p:cNvSpPr>
          <p:nvPr/>
        </p:nvSpPr>
        <p:spPr>
          <a:xfrm>
            <a:off x="6181725" y="5286375"/>
            <a:ext cx="5362575" cy="714375"/>
          </a:xfrm>
          <a:prstGeom prst="roundRect">
            <a:avLst>
              <a:gd name="adj" fmla="val 10667"/>
            </a:avLst>
          </a:prstGeom>
          <a:solidFill>
            <a:srgbClr val="FFF1E4"/>
          </a:solidFill>
          <a:ln w="12668">
            <a:solidFill>
              <a:srgbClr val="FFF1E4"/>
            </a:solidFill>
            <a:prstDash val="solid"/>
          </a:ln>
        </p:spPr>
        <p:txBody>
          <a:bodyPr/>
          <a:p/>
        </p:txBody>
      </p:sp>
      <p:sp>
        <p:nvSpPr>
          <p:cNvPr id="147" name="矩形 146"/>
          <p:cNvSpPr>
            <a:spLocks noGrp="1"/>
          </p:cNvSpPr>
          <p:nvPr/>
        </p:nvSpPr>
        <p:spPr>
          <a:xfrm>
            <a:off x="6400800" y="5400675"/>
            <a:ext cx="1238250" cy="228600"/>
          </a:xfrm>
          <a:prstGeom prst="rect">
            <a:avLst/>
          </a:prstGeom>
        </p:spPr>
        <p:txBody>
          <a:bodyPr anchor="ctr"/>
          <a:lstStyle/>
          <a:p>
            <a:pPr algn="l">
              <a:defRPr sz="1150" b="1">
                <a:solidFill>
                  <a:srgbClr val="14383E"/>
                </a:solidFill>
              </a:defRPr>
            </a:pPr>
            <a:r>
              <a:t>人工聚焦</a:t>
            </a:r>
          </a:p>
        </p:txBody>
      </p:sp>
      <p:sp>
        <p:nvSpPr>
          <p:cNvPr id="148" name="圆角矩形 147"/>
          <p:cNvSpPr>
            <a:spLocks noGrp="1"/>
          </p:cNvSpPr>
          <p:nvPr/>
        </p:nvSpPr>
        <p:spPr>
          <a:xfrm>
            <a:off x="7734300" y="5467350"/>
            <a:ext cx="962025" cy="228600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12668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49" name="矩形 148"/>
          <p:cNvSpPr>
            <a:spLocks noGrp="1"/>
          </p:cNvSpPr>
          <p:nvPr/>
        </p:nvSpPr>
        <p:spPr>
          <a:xfrm>
            <a:off x="7734300" y="5467350"/>
            <a:ext cx="962025" cy="228600"/>
          </a:xfrm>
          <a:prstGeom prst="rect">
            <a:avLst/>
          </a:prstGeom>
        </p:spPr>
        <p:txBody>
          <a:bodyPr anchor="ctr"/>
          <a:lstStyle/>
          <a:p>
            <a:pPr algn="ctr">
              <a:defRPr sz="870" b="1">
                <a:solidFill>
                  <a:srgbClr val="14383E"/>
                </a:solidFill>
              </a:defRPr>
            </a:pPr>
            <a:r>
              <a:t>复杂判断</a:t>
            </a:r>
          </a:p>
        </p:txBody>
      </p:sp>
      <p:sp>
        <p:nvSpPr>
          <p:cNvPr id="150" name="圆角矩形 149"/>
          <p:cNvSpPr>
            <a:spLocks noGrp="1"/>
          </p:cNvSpPr>
          <p:nvPr/>
        </p:nvSpPr>
        <p:spPr>
          <a:xfrm>
            <a:off x="8810625" y="5467350"/>
            <a:ext cx="962025" cy="228600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12668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51" name="矩形 150"/>
          <p:cNvSpPr>
            <a:spLocks noGrp="1"/>
          </p:cNvSpPr>
          <p:nvPr/>
        </p:nvSpPr>
        <p:spPr>
          <a:xfrm>
            <a:off x="8810625" y="5467350"/>
            <a:ext cx="962025" cy="228600"/>
          </a:xfrm>
          <a:prstGeom prst="rect">
            <a:avLst/>
          </a:prstGeom>
        </p:spPr>
        <p:txBody>
          <a:bodyPr anchor="ctr"/>
          <a:lstStyle/>
          <a:p>
            <a:pPr algn="ctr">
              <a:defRPr sz="870" b="1">
                <a:solidFill>
                  <a:srgbClr val="14383E"/>
                </a:solidFill>
              </a:defRPr>
            </a:pPr>
            <a:r>
              <a:t>线下协同</a:t>
            </a:r>
          </a:p>
        </p:txBody>
      </p:sp>
      <p:sp>
        <p:nvSpPr>
          <p:cNvPr id="152" name="圆角矩形 151"/>
          <p:cNvSpPr>
            <a:spLocks noGrp="1"/>
          </p:cNvSpPr>
          <p:nvPr/>
        </p:nvSpPr>
        <p:spPr>
          <a:xfrm>
            <a:off x="9896475" y="5467350"/>
            <a:ext cx="1276350" cy="228600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12668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53" name="矩形 152"/>
          <p:cNvSpPr>
            <a:spLocks noGrp="1"/>
          </p:cNvSpPr>
          <p:nvPr/>
        </p:nvSpPr>
        <p:spPr>
          <a:xfrm>
            <a:off x="9896475" y="5467350"/>
            <a:ext cx="1276350" cy="228600"/>
          </a:xfrm>
          <a:prstGeom prst="rect">
            <a:avLst/>
          </a:prstGeom>
        </p:spPr>
        <p:txBody>
          <a:bodyPr anchor="ctr"/>
          <a:lstStyle/>
          <a:p>
            <a:pPr algn="ctr">
              <a:defRPr sz="870" b="1">
                <a:solidFill>
                  <a:srgbClr val="14383E"/>
                </a:solidFill>
              </a:defRPr>
            </a:pPr>
            <a:r>
              <a:t>客户沟通</a:t>
            </a:r>
          </a:p>
        </p:txBody>
      </p:sp>
      <p:sp>
        <p:nvSpPr>
          <p:cNvPr id="154" name="圆角矩形 153"/>
          <p:cNvSpPr>
            <a:spLocks noGrp="1"/>
          </p:cNvSpPr>
          <p:nvPr/>
        </p:nvSpPr>
        <p:spPr>
          <a:xfrm>
            <a:off x="6565583" y="127635"/>
            <a:ext cx="4937760" cy="365760"/>
          </a:xfrm>
          <a:prstGeom prst="roundRect">
            <a:avLst>
              <a:gd name="adj" fmla="val 20833"/>
            </a:avLst>
          </a:prstGeom>
          <a:solidFill>
            <a:srgbClr val="F7FBF9"/>
          </a:solidFill>
          <a:ln w="12668">
            <a:solidFill>
              <a:srgbClr val="F7FBF9"/>
            </a:solidFill>
            <a:prstDash val="solid"/>
          </a:ln>
        </p:spPr>
        <p:txBody>
          <a:bodyPr/>
          <a:p/>
        </p:txBody>
      </p:sp>
      <p:sp>
        <p:nvSpPr>
          <p:cNvPr id="155" name="圆角矩形 154"/>
          <p:cNvSpPr>
            <a:spLocks noGrp="1"/>
          </p:cNvSpPr>
          <p:nvPr/>
        </p:nvSpPr>
        <p:spPr>
          <a:xfrm>
            <a:off x="6657023" y="164783"/>
            <a:ext cx="1154430" cy="264795"/>
          </a:xfrm>
          <a:prstGeom prst="roundRect">
            <a:avLst>
              <a:gd name="adj" fmla="val 28777"/>
            </a:avLst>
          </a:prstGeom>
          <a:solidFill>
            <a:srgbClr val="007574"/>
          </a:solidFill>
          <a:ln w="12668">
            <a:solidFill>
              <a:srgbClr val="007574"/>
            </a:solidFill>
            <a:prstDash val="solid"/>
          </a:ln>
        </p:spPr>
        <p:txBody>
          <a:bodyPr/>
          <a:p/>
        </p:txBody>
      </p:sp>
      <p:sp>
        <p:nvSpPr>
          <p:cNvPr id="156" name="矩形 155"/>
          <p:cNvSpPr>
            <a:spLocks noGrp="1"/>
          </p:cNvSpPr>
          <p:nvPr/>
        </p:nvSpPr>
        <p:spPr>
          <a:xfrm>
            <a:off x="6657023" y="187643"/>
            <a:ext cx="1154430" cy="182880"/>
          </a:xfrm>
          <a:prstGeom prst="rect">
            <a:avLst/>
          </a:prstGeom>
        </p:spPr>
        <p:txBody>
          <a:bodyPr anchor="ctr"/>
          <a:lstStyle/>
          <a:p>
            <a:pPr algn="ctr">
              <a:defRPr sz="660" b="1">
                <a:solidFill>
                  <a:srgbClr val="FFFFFF"/>
                </a:solidFill>
              </a:defRPr>
            </a:pPr>
            <a:r>
              <a:t>理解</a:t>
            </a:r>
          </a:p>
        </p:txBody>
      </p:sp>
      <p:sp>
        <p:nvSpPr>
          <p:cNvPr id="157" name="圆角矩形 156"/>
          <p:cNvSpPr>
            <a:spLocks noGrp="1"/>
          </p:cNvSpPr>
          <p:nvPr/>
        </p:nvSpPr>
        <p:spPr>
          <a:xfrm>
            <a:off x="7857173" y="164783"/>
            <a:ext cx="1154430" cy="264795"/>
          </a:xfrm>
          <a:prstGeom prst="roundRect">
            <a:avLst>
              <a:gd name="adj" fmla="val 28777"/>
            </a:avLst>
          </a:prstGeom>
          <a:solidFill>
            <a:srgbClr val="007574"/>
          </a:solidFill>
          <a:ln w="12668">
            <a:solidFill>
              <a:srgbClr val="007574"/>
            </a:solidFill>
            <a:prstDash val="solid"/>
          </a:ln>
        </p:spPr>
        <p:txBody>
          <a:bodyPr/>
          <a:p/>
        </p:txBody>
      </p:sp>
      <p:sp>
        <p:nvSpPr>
          <p:cNvPr id="158" name="矩形 157"/>
          <p:cNvSpPr>
            <a:spLocks noGrp="1"/>
          </p:cNvSpPr>
          <p:nvPr/>
        </p:nvSpPr>
        <p:spPr>
          <a:xfrm>
            <a:off x="7857173" y="187643"/>
            <a:ext cx="1154430" cy="182880"/>
          </a:xfrm>
          <a:prstGeom prst="rect">
            <a:avLst/>
          </a:prstGeom>
        </p:spPr>
        <p:txBody>
          <a:bodyPr anchor="ctr"/>
          <a:lstStyle/>
          <a:p>
            <a:pPr algn="ctr">
              <a:defRPr sz="660" b="1">
                <a:solidFill>
                  <a:srgbClr val="FFFFFF"/>
                </a:solidFill>
              </a:defRPr>
            </a:pPr>
            <a:r>
              <a:t>查询</a:t>
            </a:r>
          </a:p>
        </p:txBody>
      </p:sp>
      <p:sp>
        <p:nvSpPr>
          <p:cNvPr id="159" name="圆角矩形 158"/>
          <p:cNvSpPr>
            <a:spLocks noGrp="1"/>
          </p:cNvSpPr>
          <p:nvPr/>
        </p:nvSpPr>
        <p:spPr>
          <a:xfrm>
            <a:off x="9057323" y="164783"/>
            <a:ext cx="1154430" cy="264795"/>
          </a:xfrm>
          <a:prstGeom prst="roundRect">
            <a:avLst>
              <a:gd name="adj" fmla="val 28777"/>
            </a:avLst>
          </a:prstGeom>
          <a:solidFill>
            <a:srgbClr val="007574"/>
          </a:solidFill>
          <a:ln w="12668">
            <a:solidFill>
              <a:srgbClr val="007574"/>
            </a:solidFill>
            <a:prstDash val="solid"/>
          </a:ln>
        </p:spPr>
        <p:txBody>
          <a:bodyPr/>
          <a:p/>
        </p:txBody>
      </p:sp>
      <p:sp>
        <p:nvSpPr>
          <p:cNvPr id="160" name="矩形 159"/>
          <p:cNvSpPr>
            <a:spLocks noGrp="1"/>
          </p:cNvSpPr>
          <p:nvPr/>
        </p:nvSpPr>
        <p:spPr>
          <a:xfrm>
            <a:off x="9057323" y="187643"/>
            <a:ext cx="1154430" cy="182880"/>
          </a:xfrm>
          <a:prstGeom prst="rect">
            <a:avLst/>
          </a:prstGeom>
        </p:spPr>
        <p:txBody>
          <a:bodyPr anchor="ctr"/>
          <a:lstStyle/>
          <a:p>
            <a:pPr algn="ctr">
              <a:defRPr sz="660" b="1">
                <a:solidFill>
                  <a:srgbClr val="FFFFFF"/>
                </a:solidFill>
              </a:defRPr>
            </a:pPr>
            <a:r>
              <a:t>决策</a:t>
            </a:r>
          </a:p>
        </p:txBody>
      </p:sp>
      <p:sp>
        <p:nvSpPr>
          <p:cNvPr id="161" name="圆角矩形 160"/>
          <p:cNvSpPr>
            <a:spLocks noGrp="1"/>
          </p:cNvSpPr>
          <p:nvPr/>
        </p:nvSpPr>
        <p:spPr>
          <a:xfrm>
            <a:off x="10257473" y="164783"/>
            <a:ext cx="1154430" cy="264795"/>
          </a:xfrm>
          <a:prstGeom prst="roundRect">
            <a:avLst>
              <a:gd name="adj" fmla="val 28777"/>
            </a:avLst>
          </a:prstGeom>
          <a:solidFill>
            <a:srgbClr val="007574"/>
          </a:solidFill>
          <a:ln w="12668">
            <a:solidFill>
              <a:srgbClr val="007574"/>
            </a:solidFill>
            <a:prstDash val="solid"/>
          </a:ln>
        </p:spPr>
        <p:txBody>
          <a:bodyPr/>
          <a:p/>
        </p:txBody>
      </p:sp>
      <p:sp>
        <p:nvSpPr>
          <p:cNvPr id="162" name="矩形 161"/>
          <p:cNvSpPr>
            <a:spLocks noGrp="1"/>
          </p:cNvSpPr>
          <p:nvPr/>
        </p:nvSpPr>
        <p:spPr>
          <a:xfrm>
            <a:off x="10257473" y="187643"/>
            <a:ext cx="1154430" cy="182880"/>
          </a:xfrm>
          <a:prstGeom prst="rect">
            <a:avLst/>
          </a:prstGeom>
        </p:spPr>
        <p:txBody>
          <a:bodyPr anchor="ctr"/>
          <a:lstStyle/>
          <a:p>
            <a:pPr algn="ctr">
              <a:defRPr sz="660" b="1">
                <a:solidFill>
                  <a:srgbClr val="FFFFFF"/>
                </a:solidFill>
              </a:defRPr>
            </a:pPr>
            <a:r>
              <a:t>执行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hape 0"/>
          <p:cNvSpPr>
            <a:spLocks noGrp="1"/>
          </p:cNvSpPr>
          <p:nvPr/>
        </p:nvSpPr>
        <p:spPr>
          <a:xfrm>
            <a:off x="16459" y="16459"/>
            <a:ext cx="38405" cy="6825082"/>
          </a:xfrm>
          <a:prstGeom prst="rect">
            <a:avLst/>
          </a:prstGeom>
          <a:solidFill>
            <a:srgbClr val="0A8F6A"/>
          </a:solidFill>
          <a:ln w="12700">
            <a:solidFill>
              <a:srgbClr val="12B07D"/>
            </a:solidFill>
            <a:prstDash val="solid"/>
          </a:ln>
        </p:spPr>
        <p:txBody>
          <a:bodyPr/>
          <a:lstStyle/>
          <a:p/>
        </p:txBody>
      </p:sp>
      <p:sp>
        <p:nvSpPr>
          <p:cNvPr id="4" name="Shape 2"/>
          <p:cNvSpPr>
            <a:spLocks noGrp="1"/>
          </p:cNvSpPr>
          <p:nvPr/>
        </p:nvSpPr>
        <p:spPr>
          <a:xfrm>
            <a:off x="10104120" y="73152"/>
            <a:ext cx="1874520" cy="1353312"/>
          </a:xfrm>
          <a:prstGeom prst="ellipse">
            <a:avLst/>
          </a:prstGeom>
          <a:solidFill>
            <a:srgbClr val="E8F7F1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/>
        </p:txBody>
      </p:sp>
      <p:sp>
        <p:nvSpPr>
          <p:cNvPr id="5" name="Shape 3"/>
          <p:cNvSpPr>
            <a:spLocks noGrp="1"/>
          </p:cNvSpPr>
          <p:nvPr/>
        </p:nvSpPr>
        <p:spPr>
          <a:xfrm>
            <a:off x="91440" y="5596128"/>
            <a:ext cx="1719072" cy="1051560"/>
          </a:xfrm>
          <a:prstGeom prst="ellipse">
            <a:avLst/>
          </a:prstGeom>
          <a:solidFill>
            <a:srgbClr val="FFF2E8">
              <a:alpha val="68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/>
        </p:txBody>
      </p:sp>
      <p:sp>
        <p:nvSpPr>
          <p:cNvPr id="6" name="Shape 4"/>
          <p:cNvSpPr>
            <a:spLocks noGrp="1"/>
          </p:cNvSpPr>
          <p:nvPr/>
        </p:nvSpPr>
        <p:spPr>
          <a:xfrm>
            <a:off x="658368" y="393192"/>
            <a:ext cx="68580" cy="68580"/>
          </a:xfrm>
          <a:prstGeom prst="ellipse">
            <a:avLst/>
          </a:prstGeom>
          <a:solidFill>
            <a:srgbClr val="0A8F6A"/>
          </a:solidFill>
          <a:ln w="12700">
            <a:solidFill>
              <a:srgbClr val="12B07D"/>
            </a:solidFill>
            <a:prstDash val="solid"/>
          </a:ln>
        </p:spPr>
        <p:txBody>
          <a:bodyPr/>
          <a:lstStyle/>
          <a:p/>
        </p:txBody>
      </p:sp>
      <p:sp>
        <p:nvSpPr>
          <p:cNvPr id="7" name="Shape 5"/>
          <p:cNvSpPr>
            <a:spLocks noGrp="1"/>
          </p:cNvSpPr>
          <p:nvPr/>
        </p:nvSpPr>
        <p:spPr>
          <a:xfrm>
            <a:off x="768096" y="427939"/>
            <a:ext cx="411480" cy="0"/>
          </a:xfrm>
          <a:prstGeom prst="line">
            <a:avLst/>
          </a:prstGeom>
          <a:noFill/>
          <a:ln w="15875">
            <a:solidFill>
              <a:srgbClr val="0A8F6A"/>
            </a:solidFill>
            <a:prstDash val="solid"/>
          </a:ln>
        </p:spPr>
        <p:txBody>
          <a:bodyPr/>
          <a:lstStyle/>
          <a:p/>
        </p:txBody>
      </p:sp>
      <p:sp>
        <p:nvSpPr>
          <p:cNvPr id="8" name="Text 6"/>
          <p:cNvSpPr>
            <a:spLocks noGrp="1"/>
          </p:cNvSpPr>
          <p:nvPr/>
        </p:nvSpPr>
        <p:spPr>
          <a:xfrm>
            <a:off x="1234440" y="265176"/>
            <a:ext cx="2331720" cy="31089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r>
              <a:rPr sz="1050" b="1">
                <a:solidFill>
                  <a:srgbClr val="076B50"/>
                </a:solidFill>
                <a:latin typeface="Noto Sans CJK SC"/>
                <a:ea typeface="Noto Sans CJK SC"/>
                <a:cs typeface="Noto Sans CJK SC"/>
              </a:rPr>
              <a:t>CHAPTER 1 · 业务现状</a:t>
            </a:r>
            <a:endParaRPr sz="1050" b="1">
              <a:solidFill>
                <a:srgbClr val="0A8F6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9" name="Shape 7"/>
          <p:cNvSpPr>
            <a:spLocks noGrp="1"/>
          </p:cNvSpPr>
          <p:nvPr/>
        </p:nvSpPr>
        <p:spPr>
          <a:xfrm>
            <a:off x="9829800" y="301752"/>
            <a:ext cx="68580" cy="68580"/>
          </a:xfrm>
          <a:prstGeom prst="ellipse">
            <a:avLst/>
          </a:prstGeom>
          <a:solidFill>
            <a:srgbClr val="C7DAD6"/>
          </a:solidFill>
          <a:ln w="12700">
            <a:solidFill>
              <a:srgbClr val="C7DAD6"/>
            </a:solidFill>
            <a:prstDash val="solid"/>
          </a:ln>
        </p:spPr>
        <p:txBody>
          <a:bodyPr/>
          <a:lstStyle/>
          <a:p/>
        </p:txBody>
      </p:sp>
      <p:sp>
        <p:nvSpPr>
          <p:cNvPr id="10" name="Shape 8"/>
          <p:cNvSpPr>
            <a:spLocks noGrp="1"/>
          </p:cNvSpPr>
          <p:nvPr/>
        </p:nvSpPr>
        <p:spPr>
          <a:xfrm>
            <a:off x="10040112" y="301752"/>
            <a:ext cx="68580" cy="68580"/>
          </a:xfrm>
          <a:prstGeom prst="ellipse">
            <a:avLst/>
          </a:prstGeom>
          <a:solidFill>
            <a:srgbClr val="C7DAD6"/>
          </a:solidFill>
          <a:ln w="12700">
            <a:solidFill>
              <a:srgbClr val="C7DAD6"/>
            </a:solidFill>
            <a:prstDash val="solid"/>
          </a:ln>
        </p:spPr>
        <p:txBody>
          <a:bodyPr/>
          <a:lstStyle/>
          <a:p/>
        </p:txBody>
      </p:sp>
      <p:sp>
        <p:nvSpPr>
          <p:cNvPr id="11" name="Shape 9"/>
          <p:cNvSpPr>
            <a:spLocks noGrp="1"/>
          </p:cNvSpPr>
          <p:nvPr/>
        </p:nvSpPr>
        <p:spPr>
          <a:xfrm>
            <a:off x="10250424" y="301752"/>
            <a:ext cx="68580" cy="68580"/>
          </a:xfrm>
          <a:prstGeom prst="ellipse">
            <a:avLst/>
          </a:prstGeom>
          <a:solidFill>
            <a:srgbClr val="C7DAD6"/>
          </a:solidFill>
          <a:ln w="12700">
            <a:solidFill>
              <a:srgbClr val="C7DAD6"/>
            </a:solidFill>
            <a:prstDash val="solid"/>
          </a:ln>
        </p:spPr>
        <p:txBody>
          <a:bodyPr/>
          <a:lstStyle/>
          <a:p/>
        </p:txBody>
      </p:sp>
      <p:sp>
        <p:nvSpPr>
          <p:cNvPr id="12" name="Shape 10"/>
          <p:cNvSpPr>
            <a:spLocks noGrp="1"/>
          </p:cNvSpPr>
          <p:nvPr/>
        </p:nvSpPr>
        <p:spPr>
          <a:xfrm>
            <a:off x="10460736" y="301752"/>
            <a:ext cx="68580" cy="68580"/>
          </a:xfrm>
          <a:prstGeom prst="ellipse">
            <a:avLst/>
          </a:prstGeom>
          <a:solidFill>
            <a:srgbClr val="12B07D"/>
          </a:solidFill>
          <a:ln w="12700">
            <a:solidFill>
              <a:srgbClr val="12B07D"/>
            </a:solidFill>
            <a:prstDash val="solid"/>
          </a:ln>
        </p:spPr>
        <p:txBody>
          <a:bodyPr/>
          <a:lstStyle/>
          <a:p/>
        </p:txBody>
      </p:sp>
      <p:sp>
        <p:nvSpPr>
          <p:cNvPr id="13" name="Shape 11"/>
          <p:cNvSpPr>
            <a:spLocks noGrp="1"/>
          </p:cNvSpPr>
          <p:nvPr/>
        </p:nvSpPr>
        <p:spPr>
          <a:xfrm>
            <a:off x="10671048" y="301752"/>
            <a:ext cx="68580" cy="68580"/>
          </a:xfrm>
          <a:prstGeom prst="ellipse">
            <a:avLst/>
          </a:prstGeom>
          <a:solidFill>
            <a:srgbClr val="C7DAD6"/>
          </a:solidFill>
          <a:ln w="12700">
            <a:solidFill>
              <a:srgbClr val="C7DAD6"/>
            </a:solidFill>
            <a:prstDash val="solid"/>
          </a:ln>
        </p:spPr>
        <p:txBody>
          <a:bodyPr/>
          <a:lstStyle/>
          <a:p/>
        </p:txBody>
      </p:sp>
      <p:sp>
        <p:nvSpPr>
          <p:cNvPr id="14" name="Shape 12"/>
          <p:cNvSpPr>
            <a:spLocks noGrp="1"/>
          </p:cNvSpPr>
          <p:nvPr/>
        </p:nvSpPr>
        <p:spPr>
          <a:xfrm>
            <a:off x="10881360" y="301752"/>
            <a:ext cx="68580" cy="68580"/>
          </a:xfrm>
          <a:prstGeom prst="ellipse">
            <a:avLst/>
          </a:prstGeom>
          <a:solidFill>
            <a:srgbClr val="C7DAD6"/>
          </a:solidFill>
          <a:ln w="12700">
            <a:solidFill>
              <a:srgbClr val="C7DAD6"/>
            </a:solidFill>
            <a:prstDash val="solid"/>
          </a:ln>
        </p:spPr>
        <p:txBody>
          <a:bodyPr/>
          <a:lstStyle/>
          <a:p/>
        </p:txBody>
      </p:sp>
      <p:sp>
        <p:nvSpPr>
          <p:cNvPr id="15" name="Shape 13"/>
          <p:cNvSpPr>
            <a:spLocks noGrp="1"/>
          </p:cNvSpPr>
          <p:nvPr/>
        </p:nvSpPr>
        <p:spPr>
          <a:xfrm>
            <a:off x="11091672" y="301752"/>
            <a:ext cx="68580" cy="68580"/>
          </a:xfrm>
          <a:prstGeom prst="ellipse">
            <a:avLst/>
          </a:prstGeom>
          <a:solidFill>
            <a:srgbClr val="C7DAD6"/>
          </a:solidFill>
          <a:ln w="12700">
            <a:solidFill>
              <a:srgbClr val="C7DAD6"/>
            </a:solidFill>
            <a:prstDash val="solid"/>
          </a:ln>
        </p:spPr>
        <p:txBody>
          <a:bodyPr/>
          <a:lstStyle/>
          <a:p/>
        </p:txBody>
      </p:sp>
      <p:sp>
        <p:nvSpPr>
          <p:cNvPr id="16" name="Shape 14"/>
          <p:cNvSpPr>
            <a:spLocks noGrp="1"/>
          </p:cNvSpPr>
          <p:nvPr/>
        </p:nvSpPr>
        <p:spPr>
          <a:xfrm>
            <a:off x="11301984" y="301752"/>
            <a:ext cx="68580" cy="68580"/>
          </a:xfrm>
          <a:prstGeom prst="ellipse">
            <a:avLst/>
          </a:prstGeom>
          <a:solidFill>
            <a:srgbClr val="C7DAD6"/>
          </a:solidFill>
          <a:ln w="12700">
            <a:solidFill>
              <a:srgbClr val="C7DAD6"/>
            </a:solidFill>
            <a:prstDash val="solid"/>
          </a:ln>
        </p:spPr>
        <p:txBody>
          <a:bodyPr/>
          <a:lstStyle/>
          <a:p/>
        </p:txBody>
      </p:sp>
      <p:sp>
        <p:nvSpPr>
          <p:cNvPr id="17" name="Text 15"/>
          <p:cNvSpPr>
            <a:spLocks noGrp="1"/>
          </p:cNvSpPr>
          <p:nvPr/>
        </p:nvSpPr>
        <p:spPr>
          <a:xfrm>
            <a:off x="658368" y="713232"/>
            <a:ext cx="10652760" cy="49377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2550" b="1">
                <a:solidFill>
                  <a:srgbClr val="14383E"/>
                </a:solidFill>
                <a:latin typeface="Noto Sans CJK SC"/>
                <a:ea typeface="Noto Sans CJK SC"/>
                <a:cs typeface="Noto Sans CJK SC"/>
              </a:rPr>
              <a:t>客户入口、客服队列与四类业务系统</a:t>
            </a:r>
            <a:endParaRPr sz="2550"/>
          </a:p>
        </p:txBody>
      </p:sp>
      <p:sp>
        <p:nvSpPr>
          <p:cNvPr id="18" name="Text 16"/>
          <p:cNvSpPr>
            <a:spLocks noGrp="1"/>
          </p:cNvSpPr>
          <p:nvPr/>
        </p:nvSpPr>
        <p:spPr>
          <a:xfrm>
            <a:off x="658368" y="1197864"/>
            <a:ext cx="10469880" cy="29260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r>
              <a:rPr sz="1170">
                <a:solidFill>
                  <a:srgbClr val="44585C"/>
                </a:solidFill>
                <a:latin typeface="Noto Sans CJK SC"/>
                <a:ea typeface="Noto Sans CJK SC"/>
                <a:cs typeface="Noto Sans CJK SC"/>
              </a:rPr>
              <a:t>客户只看到三个入口。客服要在四类系统里操作，订单变更和退款还得交给别的团队。</a:t>
            </a:r>
            <a:endParaRPr sz="1170">
              <a:solidFill>
                <a:srgbClr val="6B8185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9" name="Shape 17"/>
          <p:cNvSpPr>
            <a:spLocks noGrp="1"/>
          </p:cNvSpPr>
          <p:nvPr/>
        </p:nvSpPr>
        <p:spPr>
          <a:xfrm>
            <a:off x="658368" y="6510528"/>
            <a:ext cx="10835640" cy="0"/>
          </a:xfrm>
          <a:prstGeom prst="line">
            <a:avLst/>
          </a:prstGeom>
          <a:noFill/>
          <a:ln w="11430">
            <a:solidFill>
              <a:srgbClr val="D7E7E3"/>
            </a:solidFill>
            <a:prstDash val="solid"/>
          </a:ln>
        </p:spPr>
        <p:txBody>
          <a:bodyPr/>
          <a:lstStyle/>
          <a:p/>
        </p:txBody>
      </p:sp>
      <p:sp>
        <p:nvSpPr>
          <p:cNvPr id="20" name="Text 18"/>
          <p:cNvSpPr>
            <a:spLocks noGrp="1"/>
          </p:cNvSpPr>
          <p:nvPr/>
        </p:nvSpPr>
        <p:spPr>
          <a:xfrm>
            <a:off x="658368" y="6556248"/>
            <a:ext cx="2103120" cy="16459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750" b="1" spc="40">
                <a:solidFill>
                  <a:srgbClr val="5C7276"/>
                </a:solidFill>
                <a:latin typeface="Noto Sans CJK SC"/>
                <a:ea typeface="Noto Sans CJK SC"/>
                <a:cs typeface="Noto Sans CJK SC"/>
              </a:rPr>
              <a:t>CUSTOMER SERVICE AI AGENT</a:t>
            </a:r>
            <a:endParaRPr sz="750"/>
          </a:p>
        </p:txBody>
      </p:sp>
      <p:sp>
        <p:nvSpPr>
          <p:cNvPr id="21" name="Text 19"/>
          <p:cNvSpPr>
            <a:spLocks noGrp="1"/>
          </p:cNvSpPr>
          <p:nvPr/>
        </p:nvSpPr>
        <p:spPr>
          <a:xfrm>
            <a:off x="10698480" y="6519672"/>
            <a:ext cx="749808" cy="21945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</a:pPr>
            <a:r>
              <a:rPr sz="880" b="1">
                <a:solidFill>
                  <a:srgbClr val="076B50"/>
                </a:solidFill>
                <a:latin typeface="Noto Sans CJK SC"/>
                <a:ea typeface="Noto Sans CJK SC"/>
                <a:cs typeface="Noto Sans CJK SC"/>
              </a:rPr>
              <a:t>09</a:t>
            </a:r>
            <a:endParaRPr sz="880" b="1">
              <a:solidFill>
                <a:srgbClr val="0A8F6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3" name="Rectangle 62"/>
          <p:cNvSpPr>
            <a:spLocks noGrp="1"/>
          </p:cNvSpPr>
          <p:nvPr/>
        </p:nvSpPr>
        <p:spPr>
          <a:xfrm>
            <a:off x="0" y="0"/>
            <a:ext cx="41148" cy="6858000"/>
          </a:xfrm>
          <a:prstGeom prst="rect">
            <a:avLst/>
          </a:prstGeom>
          <a:solidFill>
            <a:srgbClr val="0A8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75" name="矩形 74"/>
          <p:cNvSpPr>
            <a:spLocks noGrp="1"/>
          </p:cNvSpPr>
          <p:nvPr/>
        </p:nvSpPr>
        <p:spPr>
          <a:xfrm>
            <a:off x="657225" y="1638300"/>
            <a:ext cx="2000250" cy="190500"/>
          </a:xfrm>
          <a:prstGeom prst="rect">
            <a:avLst/>
          </a:prstGeom>
        </p:spPr>
        <p:txBody>
          <a:bodyPr anchor="ctr"/>
          <a:lstStyle/>
          <a:p>
            <a:pPr algn="l">
              <a:defRPr sz="800" b="1">
                <a:solidFill>
                  <a:srgbClr val="00706F"/>
                </a:solidFill>
              </a:defRPr>
            </a:pPr>
            <a:r>
              <a:t>客户入口</a:t>
            </a:r>
          </a:p>
        </p:txBody>
      </p:sp>
      <p:sp>
        <p:nvSpPr>
          <p:cNvPr id="76" name="矩形 75"/>
          <p:cNvSpPr>
            <a:spLocks noGrp="1"/>
          </p:cNvSpPr>
          <p:nvPr/>
        </p:nvSpPr>
        <p:spPr>
          <a:xfrm>
            <a:off x="2838450" y="1638300"/>
            <a:ext cx="3143250" cy="190500"/>
          </a:xfrm>
          <a:prstGeom prst="rect">
            <a:avLst/>
          </a:prstGeom>
        </p:spPr>
        <p:txBody>
          <a:bodyPr anchor="ctr"/>
          <a:lstStyle/>
          <a:p>
            <a:pPr algn="l">
              <a:defRPr sz="800" b="1">
                <a:solidFill>
                  <a:srgbClr val="00706F"/>
                </a:solidFill>
              </a:defRPr>
            </a:pPr>
            <a:r>
              <a:t>一线客服 · 工单平台</a:t>
            </a:r>
          </a:p>
        </p:txBody>
      </p:sp>
      <p:sp>
        <p:nvSpPr>
          <p:cNvPr id="77" name="矩形 76"/>
          <p:cNvSpPr>
            <a:spLocks noGrp="1"/>
          </p:cNvSpPr>
          <p:nvPr/>
        </p:nvSpPr>
        <p:spPr>
          <a:xfrm>
            <a:off x="6238875" y="1638300"/>
            <a:ext cx="5295900" cy="190500"/>
          </a:xfrm>
          <a:prstGeom prst="rect">
            <a:avLst/>
          </a:prstGeom>
        </p:spPr>
        <p:txBody>
          <a:bodyPr anchor="ctr"/>
          <a:lstStyle/>
          <a:p>
            <a:pPr algn="l">
              <a:defRPr sz="800" b="1">
                <a:solidFill>
                  <a:srgbClr val="00706F"/>
                </a:solidFill>
              </a:defRPr>
            </a:pPr>
            <a:r>
              <a:t>客服要同时驱动的四类系统</a:t>
            </a:r>
          </a:p>
        </p:txBody>
      </p:sp>
      <p:sp>
        <p:nvSpPr>
          <p:cNvPr id="78" name="圆角矩形 77"/>
          <p:cNvSpPr>
            <a:spLocks noGrp="1"/>
          </p:cNvSpPr>
          <p:nvPr/>
        </p:nvSpPr>
        <p:spPr>
          <a:xfrm>
            <a:off x="657225" y="1905000"/>
            <a:ext cx="2000250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668">
            <a:solidFill>
              <a:srgbClr val="C7DAD6"/>
            </a:solidFill>
            <a:prstDash val="solid"/>
          </a:ln>
        </p:spPr>
        <p:txBody>
          <a:bodyPr/>
          <a:p/>
        </p:txBody>
      </p:sp>
      <p:sp>
        <p:nvSpPr>
          <p:cNvPr id="79" name="矩形 78"/>
          <p:cNvSpPr>
            <a:spLocks noGrp="1"/>
          </p:cNvSpPr>
          <p:nvPr/>
        </p:nvSpPr>
        <p:spPr>
          <a:xfrm>
            <a:off x="657225" y="1905000"/>
            <a:ext cx="34290" cy="552450"/>
          </a:xfrm>
          <a:prstGeom prst="rect">
            <a:avLst/>
          </a:prstGeom>
          <a:solidFill>
            <a:srgbClr val="12B07D"/>
          </a:solidFill>
          <a:ln w="12668">
            <a:solidFill>
              <a:srgbClr val="12B07D"/>
            </a:solidFill>
            <a:prstDash val="solid"/>
          </a:ln>
        </p:spPr>
        <p:txBody>
          <a:bodyPr/>
          <a:p/>
        </p:txBody>
      </p:sp>
      <p:sp>
        <p:nvSpPr>
          <p:cNvPr id="80" name="矩形 79"/>
          <p:cNvSpPr>
            <a:spLocks noGrp="1"/>
          </p:cNvSpPr>
          <p:nvPr/>
        </p:nvSpPr>
        <p:spPr>
          <a:xfrm>
            <a:off x="781050" y="1981200"/>
            <a:ext cx="1809750" cy="171450"/>
          </a:xfrm>
          <a:prstGeom prst="rect">
            <a:avLst/>
          </a:prstGeom>
        </p:spPr>
        <p:txBody>
          <a:bodyPr anchor="ctr"/>
          <a:lstStyle/>
          <a:p>
            <a:pPr algn="l">
              <a:defRPr sz="760" b="1">
                <a:solidFill>
                  <a:srgbClr val="14383E"/>
                </a:solidFill>
              </a:defRPr>
            </a:pPr>
            <a:r>
              <a:t>邮件来信</a:t>
            </a:r>
          </a:p>
        </p:txBody>
      </p:sp>
      <p:sp>
        <p:nvSpPr>
          <p:cNvPr id="81" name="矩形 80"/>
          <p:cNvSpPr>
            <a:spLocks noGrp="1"/>
          </p:cNvSpPr>
          <p:nvPr/>
        </p:nvSpPr>
        <p:spPr>
          <a:xfrm>
            <a:off x="781050" y="2171700"/>
            <a:ext cx="1809750" cy="228600"/>
          </a:xfrm>
          <a:prstGeom prst="rect">
            <a:avLst/>
          </a:prstGeom>
        </p:spPr>
        <p:txBody>
          <a:bodyPr anchor="ctr"/>
          <a:lstStyle/>
          <a:p>
            <a:pPr algn="l">
              <a:defRPr sz="660" b="0">
                <a:solidFill>
                  <a:srgbClr val="44585C"/>
                </a:solidFill>
              </a:defRPr>
            </a:pPr>
            <a:r>
              <a:t>主渠道 · 全部进入邮件队列</a:t>
            </a:r>
          </a:p>
        </p:txBody>
      </p:sp>
      <p:sp>
        <p:nvSpPr>
          <p:cNvPr id="82" name="圆角矩形 81"/>
          <p:cNvSpPr>
            <a:spLocks noGrp="1"/>
          </p:cNvSpPr>
          <p:nvPr/>
        </p:nvSpPr>
        <p:spPr>
          <a:xfrm>
            <a:off x="657225" y="2552700"/>
            <a:ext cx="2000250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668">
            <a:solidFill>
              <a:srgbClr val="C7DAD6"/>
            </a:solidFill>
            <a:prstDash val="solid"/>
          </a:ln>
        </p:spPr>
        <p:txBody>
          <a:bodyPr/>
          <a:p/>
        </p:txBody>
      </p:sp>
      <p:sp>
        <p:nvSpPr>
          <p:cNvPr id="83" name="矩形 82"/>
          <p:cNvSpPr>
            <a:spLocks noGrp="1"/>
          </p:cNvSpPr>
          <p:nvPr/>
        </p:nvSpPr>
        <p:spPr>
          <a:xfrm>
            <a:off x="657225" y="2552700"/>
            <a:ext cx="34290" cy="552450"/>
          </a:xfrm>
          <a:prstGeom prst="rect">
            <a:avLst/>
          </a:prstGeom>
          <a:solidFill>
            <a:srgbClr val="12B07D"/>
          </a:solidFill>
          <a:ln w="12668">
            <a:solidFill>
              <a:srgbClr val="12B07D"/>
            </a:solidFill>
            <a:prstDash val="solid"/>
          </a:ln>
        </p:spPr>
        <p:txBody>
          <a:bodyPr/>
          <a:p/>
        </p:txBody>
      </p:sp>
      <p:sp>
        <p:nvSpPr>
          <p:cNvPr id="84" name="矩形 83"/>
          <p:cNvSpPr>
            <a:spLocks noGrp="1"/>
          </p:cNvSpPr>
          <p:nvPr/>
        </p:nvSpPr>
        <p:spPr>
          <a:xfrm>
            <a:off x="781050" y="2628900"/>
            <a:ext cx="1809750" cy="171450"/>
          </a:xfrm>
          <a:prstGeom prst="rect">
            <a:avLst/>
          </a:prstGeom>
        </p:spPr>
        <p:txBody>
          <a:bodyPr anchor="ctr"/>
          <a:lstStyle/>
          <a:p>
            <a:pPr algn="l">
              <a:defRPr sz="760" b="1">
                <a:solidFill>
                  <a:srgbClr val="14383E"/>
                </a:solidFill>
              </a:defRPr>
            </a:pPr>
            <a:r>
              <a:t>在线聊天</a:t>
            </a:r>
          </a:p>
        </p:txBody>
      </p:sp>
      <p:sp>
        <p:nvSpPr>
          <p:cNvPr id="85" name="矩形 84"/>
          <p:cNvSpPr>
            <a:spLocks noGrp="1"/>
          </p:cNvSpPr>
          <p:nvPr/>
        </p:nvSpPr>
        <p:spPr>
          <a:xfrm>
            <a:off x="781050" y="2819400"/>
            <a:ext cx="1809750" cy="228600"/>
          </a:xfrm>
          <a:prstGeom prst="rect">
            <a:avLst/>
          </a:prstGeom>
        </p:spPr>
        <p:txBody>
          <a:bodyPr anchor="ctr"/>
          <a:lstStyle/>
          <a:p>
            <a:pPr algn="l">
              <a:defRPr sz="660" b="0">
                <a:solidFill>
                  <a:srgbClr val="44585C"/>
                </a:solidFill>
              </a:defRPr>
            </a:pPr>
            <a:r>
              <a:t>固定时段 · 新人满期后才接</a:t>
            </a:r>
          </a:p>
        </p:txBody>
      </p:sp>
      <p:sp>
        <p:nvSpPr>
          <p:cNvPr id="86" name="圆角矩形 85"/>
          <p:cNvSpPr>
            <a:spLocks noGrp="1"/>
          </p:cNvSpPr>
          <p:nvPr/>
        </p:nvSpPr>
        <p:spPr>
          <a:xfrm>
            <a:off x="657225" y="3200400"/>
            <a:ext cx="2000250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668">
            <a:solidFill>
              <a:srgbClr val="C7DAD6"/>
            </a:solidFill>
            <a:prstDash val="solid"/>
          </a:ln>
        </p:spPr>
        <p:txBody>
          <a:bodyPr/>
          <a:p/>
        </p:txBody>
      </p:sp>
      <p:sp>
        <p:nvSpPr>
          <p:cNvPr id="87" name="矩形 86"/>
          <p:cNvSpPr>
            <a:spLocks noGrp="1"/>
          </p:cNvSpPr>
          <p:nvPr/>
        </p:nvSpPr>
        <p:spPr>
          <a:xfrm>
            <a:off x="657225" y="3200400"/>
            <a:ext cx="34290" cy="552450"/>
          </a:xfrm>
          <a:prstGeom prst="rect">
            <a:avLst/>
          </a:prstGeom>
          <a:solidFill>
            <a:srgbClr val="C7DAD6"/>
          </a:solidFill>
          <a:ln w="12668">
            <a:solidFill>
              <a:srgbClr val="C7DAD6"/>
            </a:solidFill>
            <a:prstDash val="solid"/>
          </a:ln>
        </p:spPr>
        <p:txBody>
          <a:bodyPr/>
          <a:p/>
        </p:txBody>
      </p:sp>
      <p:sp>
        <p:nvSpPr>
          <p:cNvPr id="88" name="矩形 87"/>
          <p:cNvSpPr>
            <a:spLocks noGrp="1"/>
          </p:cNvSpPr>
          <p:nvPr/>
        </p:nvSpPr>
        <p:spPr>
          <a:xfrm>
            <a:off x="781050" y="3276600"/>
            <a:ext cx="1809750" cy="171450"/>
          </a:xfrm>
          <a:prstGeom prst="rect">
            <a:avLst/>
          </a:prstGeom>
        </p:spPr>
        <p:txBody>
          <a:bodyPr anchor="ctr"/>
          <a:lstStyle/>
          <a:p>
            <a:pPr algn="l">
              <a:defRPr sz="760" b="1">
                <a:solidFill>
                  <a:srgbClr val="14383E"/>
                </a:solidFill>
              </a:defRPr>
            </a:pPr>
            <a:r>
              <a:t>官网自助</a:t>
            </a:r>
          </a:p>
        </p:txBody>
      </p:sp>
      <p:sp>
        <p:nvSpPr>
          <p:cNvPr id="89" name="矩形 88"/>
          <p:cNvSpPr>
            <a:spLocks noGrp="1"/>
          </p:cNvSpPr>
          <p:nvPr/>
        </p:nvSpPr>
        <p:spPr>
          <a:xfrm>
            <a:off x="781050" y="3467100"/>
            <a:ext cx="1809750" cy="228600"/>
          </a:xfrm>
          <a:prstGeom prst="rect">
            <a:avLst/>
          </a:prstGeom>
        </p:spPr>
        <p:txBody>
          <a:bodyPr anchor="ctr"/>
          <a:lstStyle/>
          <a:p>
            <a:pPr algn="l">
              <a:defRPr sz="660" b="0">
                <a:solidFill>
                  <a:srgbClr val="44585C"/>
                </a:solidFill>
              </a:defRPr>
            </a:pPr>
            <a:r>
              <a:t>帮助中心与自助查询，不产生工单</a:t>
            </a:r>
          </a:p>
        </p:txBody>
      </p:sp>
      <p:sp>
        <p:nvSpPr>
          <p:cNvPr id="90" name="圆角矩形 89"/>
          <p:cNvSpPr>
            <a:spLocks noGrp="1"/>
          </p:cNvSpPr>
          <p:nvPr/>
        </p:nvSpPr>
        <p:spPr>
          <a:xfrm>
            <a:off x="657225" y="3848100"/>
            <a:ext cx="2000250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668">
            <a:solidFill>
              <a:srgbClr val="C7DAD6"/>
            </a:solidFill>
            <a:prstDash val="solid"/>
          </a:ln>
        </p:spPr>
        <p:txBody>
          <a:bodyPr/>
          <a:p/>
        </p:txBody>
      </p:sp>
      <p:sp>
        <p:nvSpPr>
          <p:cNvPr id="91" name="矩形 90"/>
          <p:cNvSpPr>
            <a:spLocks noGrp="1"/>
          </p:cNvSpPr>
          <p:nvPr/>
        </p:nvSpPr>
        <p:spPr>
          <a:xfrm>
            <a:off x="657225" y="3848100"/>
            <a:ext cx="34290" cy="552450"/>
          </a:xfrm>
          <a:prstGeom prst="rect">
            <a:avLst/>
          </a:prstGeom>
          <a:solidFill>
            <a:srgbClr val="F28B36"/>
          </a:solidFill>
          <a:ln w="12668">
            <a:solidFill>
              <a:srgbClr val="F28B36"/>
            </a:solidFill>
            <a:prstDash val="solid"/>
          </a:ln>
        </p:spPr>
        <p:txBody>
          <a:bodyPr/>
          <a:p/>
        </p:txBody>
      </p:sp>
      <p:sp>
        <p:nvSpPr>
          <p:cNvPr id="92" name="矩形 91"/>
          <p:cNvSpPr>
            <a:spLocks noGrp="1"/>
          </p:cNvSpPr>
          <p:nvPr/>
        </p:nvSpPr>
        <p:spPr>
          <a:xfrm>
            <a:off x="781050" y="3924300"/>
            <a:ext cx="1809750" cy="171450"/>
          </a:xfrm>
          <a:prstGeom prst="rect">
            <a:avLst/>
          </a:prstGeom>
        </p:spPr>
        <p:txBody>
          <a:bodyPr anchor="ctr"/>
          <a:lstStyle/>
          <a:p>
            <a:pPr algn="l">
              <a:defRPr sz="760" b="1">
                <a:solidFill>
                  <a:srgbClr val="14383E"/>
                </a:solidFill>
              </a:defRPr>
            </a:pPr>
            <a:r>
              <a:t>电话</a:t>
            </a:r>
          </a:p>
        </p:txBody>
      </p:sp>
      <p:sp>
        <p:nvSpPr>
          <p:cNvPr id="93" name="矩形 92"/>
          <p:cNvSpPr>
            <a:spLocks noGrp="1"/>
          </p:cNvSpPr>
          <p:nvPr/>
        </p:nvSpPr>
        <p:spPr>
          <a:xfrm>
            <a:off x="781050" y="4114800"/>
            <a:ext cx="1809750" cy="228600"/>
          </a:xfrm>
          <a:prstGeom prst="rect">
            <a:avLst/>
          </a:prstGeom>
        </p:spPr>
        <p:txBody>
          <a:bodyPr anchor="ctr"/>
          <a:lstStyle/>
          <a:p>
            <a:pPr algn="l">
              <a:defRPr sz="660" b="0">
                <a:solidFill>
                  <a:srgbClr val="44585C"/>
                </a:solidFill>
              </a:defRPr>
            </a:pPr>
            <a:r>
              <a:t>一线不受理，直接升级二线</a:t>
            </a:r>
          </a:p>
        </p:txBody>
      </p:sp>
      <p:sp>
        <p:nvSpPr>
          <p:cNvPr id="94" name="矩形 93"/>
          <p:cNvSpPr>
            <a:spLocks noGrp="1"/>
          </p:cNvSpPr>
          <p:nvPr/>
        </p:nvSpPr>
        <p:spPr>
          <a:xfrm>
            <a:off x="657225" y="4552950"/>
            <a:ext cx="2000250" cy="323850"/>
          </a:xfrm>
          <a:prstGeom prst="rect">
            <a:avLst/>
          </a:prstGeom>
        </p:spPr>
        <p:txBody>
          <a:bodyPr anchor="ctr"/>
          <a:lstStyle/>
          <a:p>
            <a:pPr algn="l">
              <a:defRPr sz="630" b="0">
                <a:solidFill>
                  <a:srgbClr val="44585C"/>
                </a:solidFill>
              </a:defRPr>
            </a:pPr>
            <a:r>
              <a:t>客户看不到后面的系统和团队，</a:t>
            </a:r>
          </a:p>
          <a:p>
            <a:pPr algn="l">
              <a:defRPr sz="630" b="0">
                <a:solidFill>
                  <a:srgbClr val="44585C"/>
                </a:solidFill>
              </a:defRPr>
            </a:pPr>
            <a:r>
              <a:t>只知道自己发了一封邮件。</a:t>
            </a:r>
          </a:p>
        </p:txBody>
      </p:sp>
      <p:sp>
        <p:nvSpPr>
          <p:cNvPr id="95" name="圆角矩形 94"/>
          <p:cNvSpPr>
            <a:spLocks noGrp="1"/>
          </p:cNvSpPr>
          <p:nvPr/>
        </p:nvSpPr>
        <p:spPr>
          <a:xfrm>
            <a:off x="2838450" y="1905000"/>
            <a:ext cx="3143250" cy="400050"/>
          </a:xfrm>
          <a:prstGeom prst="roundRect">
            <a:avLst>
              <a:gd name="adj" fmla="val 19048"/>
            </a:avLst>
          </a:prstGeom>
          <a:solidFill>
            <a:srgbClr val="E8F7F1"/>
          </a:solidFill>
          <a:ln w="12668">
            <a:solidFill>
              <a:srgbClr val="12B07D"/>
            </a:solidFill>
            <a:prstDash val="solid"/>
          </a:ln>
        </p:spPr>
        <p:txBody>
          <a:bodyPr/>
          <a:p/>
        </p:txBody>
      </p:sp>
      <p:sp>
        <p:nvSpPr>
          <p:cNvPr id="96" name="矩形 95"/>
          <p:cNvSpPr>
            <a:spLocks noGrp="1"/>
          </p:cNvSpPr>
          <p:nvPr/>
        </p:nvSpPr>
        <p:spPr>
          <a:xfrm>
            <a:off x="2971800" y="1905000"/>
            <a:ext cx="2876550" cy="400050"/>
          </a:xfrm>
          <a:prstGeom prst="rect">
            <a:avLst/>
          </a:prstGeom>
        </p:spPr>
        <p:txBody>
          <a:bodyPr anchor="ctr"/>
          <a:lstStyle/>
          <a:p>
            <a:pPr algn="l">
              <a:defRPr sz="760" b="1">
                <a:solidFill>
                  <a:srgbClr val="14383E"/>
                </a:solidFill>
              </a:defRPr>
            </a:pPr>
            <a:r>
              <a:t>一线客服（一线 / 新人）在工单平台里工作</a:t>
            </a:r>
          </a:p>
        </p:txBody>
      </p:sp>
      <p:sp>
        <p:nvSpPr>
          <p:cNvPr id="97" name="圆角矩形 96"/>
          <p:cNvSpPr>
            <a:spLocks noGrp="1"/>
          </p:cNvSpPr>
          <p:nvPr/>
        </p:nvSpPr>
        <p:spPr>
          <a:xfrm>
            <a:off x="2838450" y="2419350"/>
            <a:ext cx="3143250" cy="304800"/>
          </a:xfrm>
          <a:prstGeom prst="roundRect">
            <a:avLst>
              <a:gd name="adj" fmla="val 25000"/>
            </a:avLst>
          </a:prstGeom>
          <a:solidFill>
            <a:srgbClr val="F7FBF9"/>
          </a:solidFill>
          <a:ln w="12668">
            <a:solidFill>
              <a:srgbClr val="D7E7E3"/>
            </a:solidFill>
            <a:prstDash val="solid"/>
          </a:ln>
        </p:spPr>
        <p:txBody>
          <a:bodyPr/>
          <a:p/>
        </p:txBody>
      </p:sp>
      <p:sp>
        <p:nvSpPr>
          <p:cNvPr id="98" name="矩形 97"/>
          <p:cNvSpPr>
            <a:spLocks noGrp="1"/>
          </p:cNvSpPr>
          <p:nvPr/>
        </p:nvSpPr>
        <p:spPr>
          <a:xfrm>
            <a:off x="2933700" y="2419350"/>
            <a:ext cx="895350" cy="304800"/>
          </a:xfrm>
          <a:prstGeom prst="rect">
            <a:avLst/>
          </a:prstGeom>
        </p:spPr>
        <p:txBody>
          <a:bodyPr anchor="ctr"/>
          <a:lstStyle/>
          <a:p>
            <a:pPr algn="l">
              <a:defRPr sz="660" b="1">
                <a:solidFill>
                  <a:srgbClr val="00706F"/>
                </a:solidFill>
              </a:defRPr>
            </a:pPr>
            <a:r>
              <a:t>邮件队列</a:t>
            </a:r>
          </a:p>
        </p:txBody>
      </p:sp>
      <p:sp>
        <p:nvSpPr>
          <p:cNvPr id="99" name="矩形 98"/>
          <p:cNvSpPr>
            <a:spLocks noGrp="1"/>
          </p:cNvSpPr>
          <p:nvPr/>
        </p:nvSpPr>
        <p:spPr>
          <a:xfrm>
            <a:off x="3848100" y="2419350"/>
            <a:ext cx="2057400" cy="304800"/>
          </a:xfrm>
          <a:prstGeom prst="rect">
            <a:avLst/>
          </a:prstGeom>
        </p:spPr>
        <p:txBody>
          <a:bodyPr anchor="ctr"/>
          <a:lstStyle/>
          <a:p>
            <a:pPr algn="l">
              <a:defRPr sz="660" b="0">
                <a:solidFill>
                  <a:srgbClr val="44585C"/>
                </a:solidFill>
              </a:defRPr>
            </a:pPr>
            <a:r>
              <a:t>按新到旧领单，不撞单</a:t>
            </a:r>
          </a:p>
        </p:txBody>
      </p:sp>
      <p:sp>
        <p:nvSpPr>
          <p:cNvPr id="100" name="圆角矩形 99"/>
          <p:cNvSpPr>
            <a:spLocks noGrp="1"/>
          </p:cNvSpPr>
          <p:nvPr/>
        </p:nvSpPr>
        <p:spPr>
          <a:xfrm>
            <a:off x="2838450" y="2762250"/>
            <a:ext cx="3143250" cy="304800"/>
          </a:xfrm>
          <a:prstGeom prst="roundRect">
            <a:avLst>
              <a:gd name="adj" fmla="val 25000"/>
            </a:avLst>
          </a:prstGeom>
          <a:solidFill>
            <a:srgbClr val="F7FBF9"/>
          </a:solidFill>
          <a:ln w="12668">
            <a:solidFill>
              <a:srgbClr val="D7E7E3"/>
            </a:solidFill>
            <a:prstDash val="solid"/>
          </a:ln>
        </p:spPr>
        <p:txBody>
          <a:bodyPr/>
          <a:p/>
        </p:txBody>
      </p:sp>
      <p:sp>
        <p:nvSpPr>
          <p:cNvPr id="101" name="矩形 100"/>
          <p:cNvSpPr>
            <a:spLocks noGrp="1"/>
          </p:cNvSpPr>
          <p:nvPr/>
        </p:nvSpPr>
        <p:spPr>
          <a:xfrm>
            <a:off x="2933700" y="2762250"/>
            <a:ext cx="895350" cy="304800"/>
          </a:xfrm>
          <a:prstGeom prst="rect">
            <a:avLst/>
          </a:prstGeom>
        </p:spPr>
        <p:txBody>
          <a:bodyPr anchor="ctr"/>
          <a:lstStyle/>
          <a:p>
            <a:pPr algn="l">
              <a:defRPr sz="660" b="1">
                <a:solidFill>
                  <a:srgbClr val="00706F"/>
                </a:solidFill>
              </a:defRPr>
            </a:pPr>
            <a:r>
              <a:t>待处理</a:t>
            </a:r>
          </a:p>
        </p:txBody>
      </p:sp>
      <p:sp>
        <p:nvSpPr>
          <p:cNvPr id="102" name="矩形 101"/>
          <p:cNvSpPr>
            <a:spLocks noGrp="1"/>
          </p:cNvSpPr>
          <p:nvPr/>
        </p:nvSpPr>
        <p:spPr>
          <a:xfrm>
            <a:off x="3848100" y="2762250"/>
            <a:ext cx="2057400" cy="304800"/>
          </a:xfrm>
          <a:prstGeom prst="rect">
            <a:avLst/>
          </a:prstGeom>
        </p:spPr>
        <p:txBody>
          <a:bodyPr anchor="ctr"/>
          <a:lstStyle/>
          <a:p>
            <a:pPr algn="l">
              <a:defRPr sz="660" b="0">
                <a:solidFill>
                  <a:srgbClr val="44585C"/>
                </a:solidFill>
              </a:defRPr>
            </a:pPr>
            <a:r>
              <a:t>客户已回，当日清空</a:t>
            </a:r>
          </a:p>
        </p:txBody>
      </p:sp>
      <p:sp>
        <p:nvSpPr>
          <p:cNvPr id="103" name="圆角矩形 102"/>
          <p:cNvSpPr>
            <a:spLocks noGrp="1"/>
          </p:cNvSpPr>
          <p:nvPr/>
        </p:nvSpPr>
        <p:spPr>
          <a:xfrm>
            <a:off x="2838450" y="3105150"/>
            <a:ext cx="3143250" cy="304800"/>
          </a:xfrm>
          <a:prstGeom prst="roundRect">
            <a:avLst>
              <a:gd name="adj" fmla="val 25000"/>
            </a:avLst>
          </a:prstGeom>
          <a:solidFill>
            <a:srgbClr val="F7FBF9"/>
          </a:solidFill>
          <a:ln w="12668">
            <a:solidFill>
              <a:srgbClr val="D7E7E3"/>
            </a:solidFill>
            <a:prstDash val="solid"/>
          </a:ln>
        </p:spPr>
        <p:txBody>
          <a:bodyPr/>
          <a:p/>
        </p:txBody>
      </p:sp>
      <p:sp>
        <p:nvSpPr>
          <p:cNvPr id="104" name="矩形 103"/>
          <p:cNvSpPr>
            <a:spLocks noGrp="1"/>
          </p:cNvSpPr>
          <p:nvPr/>
        </p:nvSpPr>
        <p:spPr>
          <a:xfrm>
            <a:off x="2933700" y="3105150"/>
            <a:ext cx="895350" cy="304800"/>
          </a:xfrm>
          <a:prstGeom prst="rect">
            <a:avLst/>
          </a:prstGeom>
        </p:spPr>
        <p:txBody>
          <a:bodyPr anchor="ctr"/>
          <a:lstStyle/>
          <a:p>
            <a:pPr algn="l">
              <a:defRPr sz="660" b="1">
                <a:solidFill>
                  <a:srgbClr val="00706F"/>
                </a:solidFill>
              </a:defRPr>
            </a:pPr>
            <a:r>
              <a:t>待客户</a:t>
            </a:r>
          </a:p>
        </p:txBody>
      </p:sp>
      <p:sp>
        <p:nvSpPr>
          <p:cNvPr id="105" name="矩形 104"/>
          <p:cNvSpPr>
            <a:spLocks noGrp="1"/>
          </p:cNvSpPr>
          <p:nvPr/>
        </p:nvSpPr>
        <p:spPr>
          <a:xfrm>
            <a:off x="3848100" y="3105150"/>
            <a:ext cx="2057400" cy="304800"/>
          </a:xfrm>
          <a:prstGeom prst="rect">
            <a:avLst/>
          </a:prstGeom>
        </p:spPr>
        <p:txBody>
          <a:bodyPr anchor="ctr"/>
          <a:lstStyle/>
          <a:p>
            <a:pPr algn="l">
              <a:defRPr sz="660" b="0">
                <a:solidFill>
                  <a:srgbClr val="44585C"/>
                </a:solidFill>
              </a:defRPr>
            </a:pPr>
            <a:r>
              <a:t>第 3、5 天提醒，第 7 天自动关</a:t>
            </a:r>
          </a:p>
        </p:txBody>
      </p:sp>
      <p:sp>
        <p:nvSpPr>
          <p:cNvPr id="106" name="圆角矩形 105"/>
          <p:cNvSpPr>
            <a:spLocks noGrp="1"/>
          </p:cNvSpPr>
          <p:nvPr/>
        </p:nvSpPr>
        <p:spPr>
          <a:xfrm>
            <a:off x="2838450" y="3448050"/>
            <a:ext cx="3143250" cy="304800"/>
          </a:xfrm>
          <a:prstGeom prst="roundRect">
            <a:avLst>
              <a:gd name="adj" fmla="val 25000"/>
            </a:avLst>
          </a:prstGeom>
          <a:solidFill>
            <a:srgbClr val="F7FBF9"/>
          </a:solidFill>
          <a:ln w="12668">
            <a:solidFill>
              <a:srgbClr val="D7E7E3"/>
            </a:solidFill>
            <a:prstDash val="solid"/>
          </a:ln>
        </p:spPr>
        <p:txBody>
          <a:bodyPr/>
          <a:p/>
        </p:txBody>
      </p:sp>
      <p:sp>
        <p:nvSpPr>
          <p:cNvPr id="107" name="矩形 106"/>
          <p:cNvSpPr>
            <a:spLocks noGrp="1"/>
          </p:cNvSpPr>
          <p:nvPr/>
        </p:nvSpPr>
        <p:spPr>
          <a:xfrm>
            <a:off x="2933700" y="3448050"/>
            <a:ext cx="895350" cy="304800"/>
          </a:xfrm>
          <a:prstGeom prst="rect">
            <a:avLst/>
          </a:prstGeom>
        </p:spPr>
        <p:txBody>
          <a:bodyPr anchor="ctr"/>
          <a:lstStyle/>
          <a:p>
            <a:pPr algn="l">
              <a:defRPr sz="660" b="1">
                <a:solidFill>
                  <a:srgbClr val="00706F"/>
                </a:solidFill>
              </a:defRPr>
            </a:pPr>
            <a:r>
              <a:t>内部挂起</a:t>
            </a:r>
          </a:p>
        </p:txBody>
      </p:sp>
      <p:sp>
        <p:nvSpPr>
          <p:cNvPr id="108" name="矩形 107"/>
          <p:cNvSpPr>
            <a:spLocks noGrp="1"/>
          </p:cNvSpPr>
          <p:nvPr/>
        </p:nvSpPr>
        <p:spPr>
          <a:xfrm>
            <a:off x="3848100" y="3448050"/>
            <a:ext cx="2057400" cy="304800"/>
          </a:xfrm>
          <a:prstGeom prst="rect">
            <a:avLst/>
          </a:prstGeom>
        </p:spPr>
        <p:txBody>
          <a:bodyPr anchor="ctr"/>
          <a:lstStyle/>
          <a:p>
            <a:pPr algn="l">
              <a:defRPr sz="660" b="0">
                <a:solidFill>
                  <a:srgbClr val="44585C"/>
                </a:solidFill>
              </a:defRPr>
            </a:pPr>
            <a:r>
              <a:t>到期跳回待处理</a:t>
            </a:r>
          </a:p>
        </p:txBody>
      </p:sp>
      <p:sp>
        <p:nvSpPr>
          <p:cNvPr id="109" name="圆角矩形 108"/>
          <p:cNvSpPr>
            <a:spLocks noGrp="1"/>
          </p:cNvSpPr>
          <p:nvPr/>
        </p:nvSpPr>
        <p:spPr>
          <a:xfrm>
            <a:off x="2838450" y="3790950"/>
            <a:ext cx="3143250" cy="304800"/>
          </a:xfrm>
          <a:prstGeom prst="roundRect">
            <a:avLst>
              <a:gd name="adj" fmla="val 25000"/>
            </a:avLst>
          </a:prstGeom>
          <a:solidFill>
            <a:srgbClr val="F7FBF9"/>
          </a:solidFill>
          <a:ln w="12668">
            <a:solidFill>
              <a:srgbClr val="D7E7E3"/>
            </a:solidFill>
            <a:prstDash val="solid"/>
          </a:ln>
        </p:spPr>
        <p:txBody>
          <a:bodyPr/>
          <a:p/>
        </p:txBody>
      </p:sp>
      <p:sp>
        <p:nvSpPr>
          <p:cNvPr id="110" name="矩形 109"/>
          <p:cNvSpPr>
            <a:spLocks noGrp="1"/>
          </p:cNvSpPr>
          <p:nvPr/>
        </p:nvSpPr>
        <p:spPr>
          <a:xfrm>
            <a:off x="2933700" y="3790950"/>
            <a:ext cx="895350" cy="304800"/>
          </a:xfrm>
          <a:prstGeom prst="rect">
            <a:avLst/>
          </a:prstGeom>
        </p:spPr>
        <p:txBody>
          <a:bodyPr anchor="ctr"/>
          <a:lstStyle/>
          <a:p>
            <a:pPr algn="l">
              <a:defRPr sz="660" b="1">
                <a:solidFill>
                  <a:srgbClr val="00706F"/>
                </a:solidFill>
              </a:defRPr>
            </a:pPr>
            <a:r>
              <a:t>外联队列</a:t>
            </a:r>
          </a:p>
        </p:txBody>
      </p:sp>
      <p:sp>
        <p:nvSpPr>
          <p:cNvPr id="111" name="矩形 110"/>
          <p:cNvSpPr>
            <a:spLocks noGrp="1"/>
          </p:cNvSpPr>
          <p:nvPr/>
        </p:nvSpPr>
        <p:spPr>
          <a:xfrm>
            <a:off x="3848100" y="3790950"/>
            <a:ext cx="2057400" cy="304800"/>
          </a:xfrm>
          <a:prstGeom prst="rect">
            <a:avLst/>
          </a:prstGeom>
        </p:spPr>
        <p:txBody>
          <a:bodyPr anchor="ctr"/>
          <a:lstStyle/>
          <a:p>
            <a:pPr algn="l">
              <a:defRPr sz="660" b="0">
                <a:solidFill>
                  <a:srgbClr val="44585C"/>
                </a:solidFill>
              </a:defRPr>
            </a:pPr>
            <a:r>
              <a:t>其他团队发起，当日清</a:t>
            </a:r>
          </a:p>
        </p:txBody>
      </p:sp>
      <p:sp>
        <p:nvSpPr>
          <p:cNvPr id="112" name="圆角矩形 111"/>
          <p:cNvSpPr>
            <a:spLocks noGrp="1"/>
          </p:cNvSpPr>
          <p:nvPr/>
        </p:nvSpPr>
        <p:spPr>
          <a:xfrm>
            <a:off x="2838450" y="4133850"/>
            <a:ext cx="3143250" cy="304800"/>
          </a:xfrm>
          <a:prstGeom prst="roundRect">
            <a:avLst>
              <a:gd name="adj" fmla="val 25000"/>
            </a:avLst>
          </a:prstGeom>
          <a:solidFill>
            <a:srgbClr val="F7FBF9"/>
          </a:solidFill>
          <a:ln w="12668">
            <a:solidFill>
              <a:srgbClr val="D7E7E3"/>
            </a:solidFill>
            <a:prstDash val="solid"/>
          </a:ln>
        </p:spPr>
        <p:txBody>
          <a:bodyPr/>
          <a:p/>
        </p:txBody>
      </p:sp>
      <p:sp>
        <p:nvSpPr>
          <p:cNvPr id="113" name="矩形 112"/>
          <p:cNvSpPr>
            <a:spLocks noGrp="1"/>
          </p:cNvSpPr>
          <p:nvPr/>
        </p:nvSpPr>
        <p:spPr>
          <a:xfrm>
            <a:off x="2933700" y="4133850"/>
            <a:ext cx="895350" cy="304800"/>
          </a:xfrm>
          <a:prstGeom prst="rect">
            <a:avLst/>
          </a:prstGeom>
        </p:spPr>
        <p:txBody>
          <a:bodyPr anchor="ctr"/>
          <a:lstStyle/>
          <a:p>
            <a:pPr algn="l">
              <a:defRPr sz="660" b="1">
                <a:solidFill>
                  <a:srgbClr val="00706F"/>
                </a:solidFill>
              </a:defRPr>
            </a:pPr>
            <a:r>
              <a:t>二线 / 三线</a:t>
            </a:r>
          </a:p>
        </p:txBody>
      </p:sp>
      <p:sp>
        <p:nvSpPr>
          <p:cNvPr id="114" name="矩形 113"/>
          <p:cNvSpPr>
            <a:spLocks noGrp="1"/>
          </p:cNvSpPr>
          <p:nvPr/>
        </p:nvSpPr>
        <p:spPr>
          <a:xfrm>
            <a:off x="3848100" y="4133850"/>
            <a:ext cx="2057400" cy="304800"/>
          </a:xfrm>
          <a:prstGeom prst="rect">
            <a:avLst/>
          </a:prstGeom>
        </p:spPr>
        <p:txBody>
          <a:bodyPr anchor="ctr"/>
          <a:lstStyle/>
          <a:p>
            <a:pPr algn="l">
              <a:defRPr sz="660" b="0">
                <a:solidFill>
                  <a:srgbClr val="44585C"/>
                </a:solidFill>
              </a:defRPr>
            </a:pPr>
            <a:r>
              <a:t>升级客诉与电话要求</a:t>
            </a:r>
          </a:p>
        </p:txBody>
      </p:sp>
      <p:sp>
        <p:nvSpPr>
          <p:cNvPr id="115" name="圆角矩形 114"/>
          <p:cNvSpPr>
            <a:spLocks noGrp="1"/>
          </p:cNvSpPr>
          <p:nvPr/>
        </p:nvSpPr>
        <p:spPr>
          <a:xfrm>
            <a:off x="2838450" y="4591050"/>
            <a:ext cx="3143250" cy="552450"/>
          </a:xfrm>
          <a:prstGeom prst="roundRect">
            <a:avLst>
              <a:gd name="adj" fmla="val 13793"/>
            </a:avLst>
          </a:prstGeom>
          <a:solidFill>
            <a:srgbClr val="E7F7F7"/>
          </a:solidFill>
          <a:ln w="12668">
            <a:solidFill>
              <a:srgbClr val="C7DAD6"/>
            </a:solidFill>
            <a:prstDash val="solid"/>
          </a:ln>
        </p:spPr>
        <p:txBody>
          <a:bodyPr/>
          <a:p/>
        </p:txBody>
      </p:sp>
      <p:sp>
        <p:nvSpPr>
          <p:cNvPr id="116" name="矩形 115"/>
          <p:cNvSpPr>
            <a:spLocks noGrp="1"/>
          </p:cNvSpPr>
          <p:nvPr/>
        </p:nvSpPr>
        <p:spPr>
          <a:xfrm>
            <a:off x="2952750" y="4591050"/>
            <a:ext cx="2914650" cy="552450"/>
          </a:xfrm>
          <a:prstGeom prst="rect">
            <a:avLst/>
          </a:prstGeom>
        </p:spPr>
        <p:txBody>
          <a:bodyPr anchor="ctr"/>
          <a:lstStyle/>
          <a:p>
            <a:pPr algn="l">
              <a:defRPr sz="630" b="0">
                <a:solidFill>
                  <a:srgbClr val="44585C"/>
                </a:solidFill>
              </a:defRPr>
            </a:pPr>
            <a:r>
              <a:t>平台动作：回复模板 · 订单号必填 · 超 12 小时未回标红</a:t>
            </a:r>
          </a:p>
          <a:p>
            <a:pPr algn="l">
              <a:defRPr sz="630" b="0">
                <a:solidFill>
                  <a:srgbClr val="44585C"/>
                </a:solidFill>
              </a:defRPr>
            </a:pPr>
            <a:r>
              <a:t>重复来信合并 · 跨部门协同单 · 关闭后发满意度调查</a:t>
            </a:r>
          </a:p>
        </p:txBody>
      </p:sp>
      <p:sp>
        <p:nvSpPr>
          <p:cNvPr id="117" name="圆角矩形 116"/>
          <p:cNvSpPr>
            <a:spLocks noGrp="1"/>
          </p:cNvSpPr>
          <p:nvPr/>
        </p:nvSpPr>
        <p:spPr>
          <a:xfrm>
            <a:off x="6238875" y="1905000"/>
            <a:ext cx="5295900" cy="72390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668">
            <a:solidFill>
              <a:srgbClr val="C7DAD6"/>
            </a:solidFill>
            <a:prstDash val="solid"/>
          </a:ln>
        </p:spPr>
        <p:txBody>
          <a:bodyPr/>
          <a:p/>
        </p:txBody>
      </p:sp>
      <p:sp>
        <p:nvSpPr>
          <p:cNvPr id="118" name="矩形 117"/>
          <p:cNvSpPr>
            <a:spLocks noGrp="1"/>
          </p:cNvSpPr>
          <p:nvPr/>
        </p:nvSpPr>
        <p:spPr>
          <a:xfrm>
            <a:off x="6238875" y="1905000"/>
            <a:ext cx="34290" cy="723900"/>
          </a:xfrm>
          <a:prstGeom prst="rect">
            <a:avLst/>
          </a:prstGeom>
          <a:solidFill>
            <a:srgbClr val="12B07D"/>
          </a:solidFill>
          <a:ln w="12668">
            <a:solidFill>
              <a:srgbClr val="12B07D"/>
            </a:solidFill>
            <a:prstDash val="solid"/>
          </a:ln>
        </p:spPr>
        <p:txBody>
          <a:bodyPr/>
          <a:p/>
        </p:txBody>
      </p:sp>
      <p:sp>
        <p:nvSpPr>
          <p:cNvPr id="119" name="矩形 118"/>
          <p:cNvSpPr>
            <a:spLocks noGrp="1"/>
          </p:cNvSpPr>
          <p:nvPr/>
        </p:nvSpPr>
        <p:spPr>
          <a:xfrm>
            <a:off x="6391275" y="1981200"/>
            <a:ext cx="4991100" cy="190500"/>
          </a:xfrm>
          <a:prstGeom prst="rect">
            <a:avLst/>
          </a:prstGeom>
        </p:spPr>
        <p:txBody>
          <a:bodyPr anchor="ctr"/>
          <a:lstStyle/>
          <a:p>
            <a:pPr algn="l">
              <a:defRPr sz="760" b="1">
                <a:solidFill>
                  <a:srgbClr val="14383E"/>
                </a:solidFill>
              </a:defRPr>
            </a:pPr>
            <a:r>
              <a:t>订单履约系统（ERP）</a:t>
            </a:r>
          </a:p>
        </p:txBody>
      </p:sp>
      <p:sp>
        <p:nvSpPr>
          <p:cNvPr id="120" name="矩形 119"/>
          <p:cNvSpPr>
            <a:spLocks noGrp="1"/>
          </p:cNvSpPr>
          <p:nvPr/>
        </p:nvSpPr>
        <p:spPr>
          <a:xfrm>
            <a:off x="6391275" y="2190750"/>
            <a:ext cx="4991100" cy="381000"/>
          </a:xfrm>
          <a:prstGeom prst="rect">
            <a:avLst/>
          </a:prstGeom>
        </p:spPr>
        <p:txBody>
          <a:bodyPr anchor="t"/>
          <a:lstStyle/>
          <a:p>
            <a:pPr algn="l">
              <a:defRPr sz="660" b="0">
                <a:solidFill>
                  <a:srgbClr val="44585C"/>
                </a:solidFill>
              </a:defRPr>
            </a:pPr>
            <a:r>
              <a:t>查单判读 · 改收件信息 · 重发邮件 · 四类备注</a:t>
            </a:r>
          </a:p>
          <a:p>
            <a:pPr algn="l">
              <a:defRPr sz="660" b="0">
                <a:solidFill>
                  <a:srgbClr val="44585C"/>
                </a:solidFill>
              </a:defRPr>
            </a:pPr>
            <a:r>
              <a:t>退货申请与面单 · 退款申请 · 阻止扣款</a:t>
            </a:r>
          </a:p>
        </p:txBody>
      </p:sp>
      <p:sp>
        <p:nvSpPr>
          <p:cNvPr id="121" name="圆角矩形 120"/>
          <p:cNvSpPr>
            <a:spLocks noGrp="1"/>
          </p:cNvSpPr>
          <p:nvPr/>
        </p:nvSpPr>
        <p:spPr>
          <a:xfrm>
            <a:off x="6238875" y="2743200"/>
            <a:ext cx="5295900" cy="72390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668">
            <a:solidFill>
              <a:srgbClr val="C7DAD6"/>
            </a:solidFill>
            <a:prstDash val="solid"/>
          </a:ln>
        </p:spPr>
        <p:txBody>
          <a:bodyPr/>
          <a:p/>
        </p:txBody>
      </p:sp>
      <p:sp>
        <p:nvSpPr>
          <p:cNvPr id="122" name="矩形 121"/>
          <p:cNvSpPr>
            <a:spLocks noGrp="1"/>
          </p:cNvSpPr>
          <p:nvPr/>
        </p:nvSpPr>
        <p:spPr>
          <a:xfrm>
            <a:off x="6238875" y="2743200"/>
            <a:ext cx="34290" cy="723900"/>
          </a:xfrm>
          <a:prstGeom prst="rect">
            <a:avLst/>
          </a:prstGeom>
          <a:solidFill>
            <a:srgbClr val="2F80ED"/>
          </a:solidFill>
          <a:ln w="12668">
            <a:solidFill>
              <a:srgbClr val="2F80ED"/>
            </a:solidFill>
            <a:prstDash val="solid"/>
          </a:ln>
        </p:spPr>
        <p:txBody>
          <a:bodyPr/>
          <a:p/>
        </p:txBody>
      </p:sp>
      <p:sp>
        <p:nvSpPr>
          <p:cNvPr id="123" name="矩形 122"/>
          <p:cNvSpPr>
            <a:spLocks noGrp="1"/>
          </p:cNvSpPr>
          <p:nvPr/>
        </p:nvSpPr>
        <p:spPr>
          <a:xfrm>
            <a:off x="6391275" y="2819400"/>
            <a:ext cx="4991100" cy="190500"/>
          </a:xfrm>
          <a:prstGeom prst="rect">
            <a:avLst/>
          </a:prstGeom>
        </p:spPr>
        <p:txBody>
          <a:bodyPr anchor="ctr"/>
          <a:lstStyle/>
          <a:p>
            <a:pPr algn="l">
              <a:defRPr sz="760" b="1">
                <a:solidFill>
                  <a:srgbClr val="14383E"/>
                </a:solidFill>
              </a:defRPr>
            </a:pPr>
            <a:r>
              <a:t>商城后台（CMS）</a:t>
            </a:r>
          </a:p>
        </p:txBody>
      </p:sp>
      <p:sp>
        <p:nvSpPr>
          <p:cNvPr id="124" name="矩形 123"/>
          <p:cNvSpPr>
            <a:spLocks noGrp="1"/>
          </p:cNvSpPr>
          <p:nvPr/>
        </p:nvSpPr>
        <p:spPr>
          <a:xfrm>
            <a:off x="6391275" y="3028950"/>
            <a:ext cx="4991100" cy="381000"/>
          </a:xfrm>
          <a:prstGeom prst="rect">
            <a:avLst/>
          </a:prstGeom>
        </p:spPr>
        <p:txBody>
          <a:bodyPr anchor="t"/>
          <a:lstStyle/>
          <a:p>
            <a:pPr algn="l">
              <a:defRPr sz="660" b="0">
                <a:solidFill>
                  <a:srgbClr val="44585C"/>
                </a:solidFill>
              </a:defRPr>
            </a:pPr>
            <a:r>
              <a:t>订单管理与历史 · 拆单与推仓 · 账号邮箱与密码</a:t>
            </a:r>
          </a:p>
          <a:p>
            <a:pPr algn="l">
              <a:defRPr sz="660" b="0">
                <a:solidFill>
                  <a:srgbClr val="44585C"/>
                </a:solidFill>
              </a:defRPr>
            </a:pPr>
            <a:r>
              <a:t>折扣与修补费审核 · 试穿件库存</a:t>
            </a:r>
          </a:p>
        </p:txBody>
      </p:sp>
      <p:sp>
        <p:nvSpPr>
          <p:cNvPr id="125" name="圆角矩形 124"/>
          <p:cNvSpPr>
            <a:spLocks noGrp="1"/>
          </p:cNvSpPr>
          <p:nvPr/>
        </p:nvSpPr>
        <p:spPr>
          <a:xfrm>
            <a:off x="6238875" y="3581400"/>
            <a:ext cx="5295900" cy="72390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668">
            <a:solidFill>
              <a:srgbClr val="C7DAD6"/>
            </a:solidFill>
            <a:prstDash val="solid"/>
          </a:ln>
        </p:spPr>
        <p:txBody>
          <a:bodyPr/>
          <a:p/>
        </p:txBody>
      </p:sp>
      <p:sp>
        <p:nvSpPr>
          <p:cNvPr id="126" name="矩形 125"/>
          <p:cNvSpPr>
            <a:spLocks noGrp="1"/>
          </p:cNvSpPr>
          <p:nvPr/>
        </p:nvSpPr>
        <p:spPr>
          <a:xfrm>
            <a:off x="6238875" y="3581400"/>
            <a:ext cx="34290" cy="723900"/>
          </a:xfrm>
          <a:prstGeom prst="rect">
            <a:avLst/>
          </a:prstGeom>
          <a:solidFill>
            <a:srgbClr val="00706F"/>
          </a:solidFill>
          <a:ln w="12668">
            <a:solidFill>
              <a:srgbClr val="00706F"/>
            </a:solidFill>
            <a:prstDash val="solid"/>
          </a:ln>
        </p:spPr>
        <p:txBody>
          <a:bodyPr/>
          <a:p/>
        </p:txBody>
      </p:sp>
      <p:sp>
        <p:nvSpPr>
          <p:cNvPr id="127" name="矩形 126"/>
          <p:cNvSpPr>
            <a:spLocks noGrp="1"/>
          </p:cNvSpPr>
          <p:nvPr/>
        </p:nvSpPr>
        <p:spPr>
          <a:xfrm>
            <a:off x="6391275" y="3657600"/>
            <a:ext cx="4991100" cy="190500"/>
          </a:xfrm>
          <a:prstGeom prst="rect">
            <a:avLst/>
          </a:prstGeom>
        </p:spPr>
        <p:txBody>
          <a:bodyPr anchor="ctr"/>
          <a:lstStyle/>
          <a:p>
            <a:pPr algn="l">
              <a:defRPr sz="760" b="1">
                <a:solidFill>
                  <a:srgbClr val="14383E"/>
                </a:solidFill>
              </a:defRPr>
            </a:pPr>
            <a:r>
              <a:t>官网 · 帮助中心 · 内部知识库</a:t>
            </a:r>
          </a:p>
        </p:txBody>
      </p:sp>
      <p:sp>
        <p:nvSpPr>
          <p:cNvPr id="128" name="矩形 127"/>
          <p:cNvSpPr>
            <a:spLocks noGrp="1"/>
          </p:cNvSpPr>
          <p:nvPr/>
        </p:nvSpPr>
        <p:spPr>
          <a:xfrm>
            <a:off x="6391275" y="3867150"/>
            <a:ext cx="4991100" cy="381000"/>
          </a:xfrm>
          <a:prstGeom prst="rect">
            <a:avLst/>
          </a:prstGeom>
        </p:spPr>
        <p:txBody>
          <a:bodyPr anchor="t"/>
          <a:lstStyle/>
          <a:p>
            <a:pPr algn="l">
              <a:defRPr sz="660" b="0">
                <a:solidFill>
                  <a:srgbClr val="44585C"/>
                </a:solidFill>
              </a:defRPr>
            </a:pPr>
            <a:r>
              <a:t>对外政策唯一口径 · 尺码与定制可填范围</a:t>
            </a:r>
          </a:p>
          <a:p>
            <a:pPr algn="l">
              <a:defRPr sz="660" b="0">
                <a:solidFill>
                  <a:srgbClr val="44585C"/>
                </a:solidFill>
              </a:defRPr>
            </a:pPr>
            <a:r>
              <a:t>内部文章优先于培训材料</a:t>
            </a:r>
          </a:p>
        </p:txBody>
      </p:sp>
      <p:sp>
        <p:nvSpPr>
          <p:cNvPr id="129" name="圆角矩形 128"/>
          <p:cNvSpPr>
            <a:spLocks noGrp="1"/>
          </p:cNvSpPr>
          <p:nvPr/>
        </p:nvSpPr>
        <p:spPr>
          <a:xfrm>
            <a:off x="6238875" y="4419600"/>
            <a:ext cx="5295900" cy="72390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668">
            <a:solidFill>
              <a:srgbClr val="C7DAD6"/>
            </a:solidFill>
            <a:prstDash val="solid"/>
          </a:ln>
        </p:spPr>
        <p:txBody>
          <a:bodyPr/>
          <a:p/>
        </p:txBody>
      </p:sp>
      <p:sp>
        <p:nvSpPr>
          <p:cNvPr id="130" name="矩形 129"/>
          <p:cNvSpPr>
            <a:spLocks noGrp="1"/>
          </p:cNvSpPr>
          <p:nvPr/>
        </p:nvSpPr>
        <p:spPr>
          <a:xfrm>
            <a:off x="6238875" y="4419600"/>
            <a:ext cx="34290" cy="723900"/>
          </a:xfrm>
          <a:prstGeom prst="rect">
            <a:avLst/>
          </a:prstGeom>
          <a:solidFill>
            <a:srgbClr val="F28B36"/>
          </a:solidFill>
          <a:ln w="12668">
            <a:solidFill>
              <a:srgbClr val="F28B36"/>
            </a:solidFill>
            <a:prstDash val="solid"/>
          </a:ln>
        </p:spPr>
        <p:txBody>
          <a:bodyPr/>
          <a:p/>
        </p:txBody>
      </p:sp>
      <p:sp>
        <p:nvSpPr>
          <p:cNvPr id="131" name="矩形 130"/>
          <p:cNvSpPr>
            <a:spLocks noGrp="1"/>
          </p:cNvSpPr>
          <p:nvPr/>
        </p:nvSpPr>
        <p:spPr>
          <a:xfrm>
            <a:off x="6391275" y="4495800"/>
            <a:ext cx="4991100" cy="190500"/>
          </a:xfrm>
          <a:prstGeom prst="rect">
            <a:avLst/>
          </a:prstGeom>
        </p:spPr>
        <p:txBody>
          <a:bodyPr anchor="ctr"/>
          <a:lstStyle/>
          <a:p>
            <a:pPr algn="l">
              <a:defRPr sz="760" b="1">
                <a:solidFill>
                  <a:srgbClr val="14383E"/>
                </a:solidFill>
              </a:defRPr>
            </a:pPr>
            <a:r>
              <a:t>承运商 · 线下退货网络 · 仓储</a:t>
            </a:r>
          </a:p>
        </p:txBody>
      </p:sp>
      <p:sp>
        <p:nvSpPr>
          <p:cNvPr id="132" name="矩形 131"/>
          <p:cNvSpPr>
            <a:spLocks noGrp="1"/>
          </p:cNvSpPr>
          <p:nvPr/>
        </p:nvSpPr>
        <p:spPr>
          <a:xfrm>
            <a:off x="6391275" y="4705350"/>
            <a:ext cx="4991100" cy="381000"/>
          </a:xfrm>
          <a:prstGeom prst="rect">
            <a:avLst/>
          </a:prstGeom>
        </p:spPr>
        <p:txBody>
          <a:bodyPr anchor="t"/>
          <a:lstStyle/>
          <a:p>
            <a:pPr algn="l">
              <a:defRPr sz="660" b="0">
                <a:solidFill>
                  <a:srgbClr val="44585C"/>
                </a:solidFill>
              </a:defRPr>
            </a:pPr>
            <a:r>
              <a:t>物流轨迹与签收凭证 · 线下退货记录</a:t>
            </a:r>
          </a:p>
          <a:p>
            <a:pPr algn="l">
              <a:defRPr sz="660" b="0">
                <a:solidFill>
                  <a:srgbClr val="44585C"/>
                </a:solidFill>
              </a:defRPr>
            </a:pPr>
            <a:r>
              <a:t>入库与归还确认</a:t>
            </a:r>
          </a:p>
        </p:txBody>
      </p:sp>
      <p:sp>
        <p:nvSpPr>
          <p:cNvPr id="133" name="圆角矩形 132"/>
          <p:cNvSpPr>
            <a:spLocks noGrp="1"/>
          </p:cNvSpPr>
          <p:nvPr/>
        </p:nvSpPr>
        <p:spPr>
          <a:xfrm>
            <a:off x="657225" y="5295900"/>
            <a:ext cx="10877550" cy="571500"/>
          </a:xfrm>
          <a:prstGeom prst="roundRect">
            <a:avLst>
              <a:gd name="adj" fmla="val 13333"/>
            </a:avLst>
          </a:prstGeom>
          <a:solidFill>
            <a:srgbClr val="FFF2E8"/>
          </a:solidFill>
          <a:ln w="12668">
            <a:solidFill>
              <a:srgbClr val="F28B36"/>
            </a:solidFill>
            <a:prstDash val="solid"/>
          </a:ln>
        </p:spPr>
        <p:txBody>
          <a:bodyPr/>
          <a:p/>
        </p:txBody>
      </p:sp>
      <p:sp>
        <p:nvSpPr>
          <p:cNvPr id="134" name="矩形 133"/>
          <p:cNvSpPr>
            <a:spLocks noGrp="1"/>
          </p:cNvSpPr>
          <p:nvPr/>
        </p:nvSpPr>
        <p:spPr>
          <a:xfrm>
            <a:off x="781050" y="5353050"/>
            <a:ext cx="2571750" cy="190500"/>
          </a:xfrm>
          <a:prstGeom prst="rect">
            <a:avLst/>
          </a:prstGeom>
        </p:spPr>
        <p:txBody>
          <a:bodyPr anchor="ctr"/>
          <a:lstStyle/>
          <a:p>
            <a:pPr algn="l">
              <a:defRPr sz="660" b="1">
                <a:solidFill>
                  <a:srgbClr val="14383E"/>
                </a:solidFill>
              </a:defRPr>
            </a:pPr>
            <a:r>
              <a:t>订单变更 · 退款</a:t>
            </a:r>
          </a:p>
        </p:txBody>
      </p:sp>
      <p:sp>
        <p:nvSpPr>
          <p:cNvPr id="135" name="矩形 134"/>
          <p:cNvSpPr>
            <a:spLocks noGrp="1"/>
          </p:cNvSpPr>
          <p:nvPr/>
        </p:nvSpPr>
        <p:spPr>
          <a:xfrm>
            <a:off x="781050" y="5562600"/>
            <a:ext cx="2571750" cy="190500"/>
          </a:xfrm>
          <a:prstGeom prst="rect">
            <a:avLst/>
          </a:prstGeom>
        </p:spPr>
        <p:txBody>
          <a:bodyPr anchor="ctr"/>
          <a:lstStyle/>
          <a:p>
            <a:pPr algn="l">
              <a:defRPr sz="660" b="1">
                <a:solidFill>
                  <a:srgbClr val="9A5210"/>
                </a:solidFill>
              </a:defRPr>
            </a:pPr>
            <a:r>
              <a:t>→ 订单组</a:t>
            </a:r>
          </a:p>
        </p:txBody>
      </p:sp>
      <p:sp>
        <p:nvSpPr>
          <p:cNvPr id="136" name="矩形 135"/>
          <p:cNvSpPr>
            <a:spLocks noGrp="1"/>
          </p:cNvSpPr>
          <p:nvPr/>
        </p:nvSpPr>
        <p:spPr>
          <a:xfrm>
            <a:off x="3476625" y="5353050"/>
            <a:ext cx="2571750" cy="190500"/>
          </a:xfrm>
          <a:prstGeom prst="rect">
            <a:avLst/>
          </a:prstGeom>
        </p:spPr>
        <p:txBody>
          <a:bodyPr anchor="ctr"/>
          <a:lstStyle/>
          <a:p>
            <a:pPr algn="l">
              <a:defRPr sz="660" b="1">
                <a:solidFill>
                  <a:srgbClr val="14383E"/>
                </a:solidFill>
              </a:defRPr>
            </a:pPr>
            <a:r>
              <a:t>物流异常 · 入库确认</a:t>
            </a:r>
          </a:p>
        </p:txBody>
      </p:sp>
      <p:sp>
        <p:nvSpPr>
          <p:cNvPr id="137" name="矩形 136"/>
          <p:cNvSpPr>
            <a:spLocks noGrp="1"/>
          </p:cNvSpPr>
          <p:nvPr/>
        </p:nvSpPr>
        <p:spPr>
          <a:xfrm>
            <a:off x="3476625" y="5562600"/>
            <a:ext cx="2571750" cy="190500"/>
          </a:xfrm>
          <a:prstGeom prst="rect">
            <a:avLst/>
          </a:prstGeom>
        </p:spPr>
        <p:txBody>
          <a:bodyPr anchor="ctr"/>
          <a:lstStyle/>
          <a:p>
            <a:pPr algn="l">
              <a:defRPr sz="660" b="1">
                <a:solidFill>
                  <a:srgbClr val="9A5210"/>
                </a:solidFill>
              </a:defRPr>
            </a:pPr>
            <a:r>
              <a:t>→ 物流 / 海外仓</a:t>
            </a:r>
          </a:p>
        </p:txBody>
      </p:sp>
      <p:sp>
        <p:nvSpPr>
          <p:cNvPr id="138" name="矩形 137"/>
          <p:cNvSpPr>
            <a:spLocks noGrp="1"/>
          </p:cNvSpPr>
          <p:nvPr/>
        </p:nvSpPr>
        <p:spPr>
          <a:xfrm>
            <a:off x="6172200" y="5353050"/>
            <a:ext cx="2571750" cy="190500"/>
          </a:xfrm>
          <a:prstGeom prst="rect">
            <a:avLst/>
          </a:prstGeom>
        </p:spPr>
        <p:txBody>
          <a:bodyPr anchor="ctr"/>
          <a:lstStyle/>
          <a:p>
            <a:pPr algn="l">
              <a:defRPr sz="660" b="1">
                <a:solidFill>
                  <a:srgbClr val="14383E"/>
                </a:solidFill>
              </a:defRPr>
            </a:pPr>
            <a:r>
              <a:t>退款到账</a:t>
            </a:r>
          </a:p>
        </p:txBody>
      </p:sp>
      <p:sp>
        <p:nvSpPr>
          <p:cNvPr id="139" name="矩形 138"/>
          <p:cNvSpPr>
            <a:spLocks noGrp="1"/>
          </p:cNvSpPr>
          <p:nvPr/>
        </p:nvSpPr>
        <p:spPr>
          <a:xfrm>
            <a:off x="6172200" y="5562600"/>
            <a:ext cx="2571750" cy="190500"/>
          </a:xfrm>
          <a:prstGeom prst="rect">
            <a:avLst/>
          </a:prstGeom>
        </p:spPr>
        <p:txBody>
          <a:bodyPr anchor="ctr"/>
          <a:lstStyle/>
          <a:p>
            <a:pPr algn="l">
              <a:defRPr sz="660" b="1">
                <a:solidFill>
                  <a:srgbClr val="9A5210"/>
                </a:solidFill>
              </a:defRPr>
            </a:pPr>
            <a:r>
              <a:t>→ 财务（三步审核最后一步）</a:t>
            </a:r>
          </a:p>
        </p:txBody>
      </p:sp>
      <p:sp>
        <p:nvSpPr>
          <p:cNvPr id="140" name="矩形 139"/>
          <p:cNvSpPr>
            <a:spLocks noGrp="1"/>
          </p:cNvSpPr>
          <p:nvPr/>
        </p:nvSpPr>
        <p:spPr>
          <a:xfrm>
            <a:off x="8867775" y="5353050"/>
            <a:ext cx="2571750" cy="190500"/>
          </a:xfrm>
          <a:prstGeom prst="rect">
            <a:avLst/>
          </a:prstGeom>
        </p:spPr>
        <p:txBody>
          <a:bodyPr anchor="ctr"/>
          <a:lstStyle/>
          <a:p>
            <a:pPr algn="l">
              <a:defRPr sz="660" b="1">
                <a:solidFill>
                  <a:srgbClr val="14383E"/>
                </a:solidFill>
              </a:defRPr>
            </a:pPr>
            <a:r>
              <a:t>不满 · 要求电话</a:t>
            </a:r>
          </a:p>
        </p:txBody>
      </p:sp>
      <p:sp>
        <p:nvSpPr>
          <p:cNvPr id="141" name="矩形 140"/>
          <p:cNvSpPr>
            <a:spLocks noGrp="1"/>
          </p:cNvSpPr>
          <p:nvPr/>
        </p:nvSpPr>
        <p:spPr>
          <a:xfrm>
            <a:off x="8867775" y="5562600"/>
            <a:ext cx="2571750" cy="190500"/>
          </a:xfrm>
          <a:prstGeom prst="rect">
            <a:avLst/>
          </a:prstGeom>
        </p:spPr>
        <p:txBody>
          <a:bodyPr anchor="ctr"/>
          <a:lstStyle/>
          <a:p>
            <a:pPr algn="l">
              <a:defRPr sz="660" b="1">
                <a:solidFill>
                  <a:srgbClr val="9A5210"/>
                </a:solidFill>
              </a:defRPr>
            </a:pPr>
            <a:r>
              <a:t>→ 二线 / 三线</a:t>
            </a:r>
          </a:p>
        </p:txBody>
      </p:sp>
      <p:sp>
        <p:nvSpPr>
          <p:cNvPr id="142" name="矩形 141"/>
          <p:cNvSpPr>
            <a:spLocks noGrp="1"/>
          </p:cNvSpPr>
          <p:nvPr/>
        </p:nvSpPr>
        <p:spPr>
          <a:xfrm>
            <a:off x="657225" y="6038850"/>
            <a:ext cx="10877550" cy="190500"/>
          </a:xfrm>
          <a:prstGeom prst="rect">
            <a:avLst/>
          </a:prstGeom>
        </p:spPr>
        <p:txBody>
          <a:bodyPr anchor="ctr"/>
          <a:lstStyle/>
          <a:p>
            <a:pPr algn="l">
              <a:defRPr sz="740" b="1">
                <a:solidFill>
                  <a:srgbClr val="9A5210"/>
                </a:solidFill>
              </a:defRPr>
            </a:pPr>
            <a:r>
              <a:t>一个人同时管四类系统、四个下游团队。要做自动化，先接的是这段协同。</a:t>
            </a:r>
          </a:p>
        </p:txBody>
      </p:sp>
      <p:sp>
        <p:nvSpPr>
          <p:cNvPr id="143" name="圆角矩形 142"/>
          <p:cNvSpPr>
            <a:spLocks noGrp="1"/>
          </p:cNvSpPr>
          <p:nvPr/>
        </p:nvSpPr>
        <p:spPr>
          <a:xfrm>
            <a:off x="6565583" y="127635"/>
            <a:ext cx="4937760" cy="365760"/>
          </a:xfrm>
          <a:prstGeom prst="roundRect">
            <a:avLst>
              <a:gd name="adj" fmla="val 20833"/>
            </a:avLst>
          </a:prstGeom>
          <a:solidFill>
            <a:srgbClr val="F7FBF9"/>
          </a:solidFill>
          <a:ln w="12668">
            <a:solidFill>
              <a:srgbClr val="F7FBF9"/>
            </a:solidFill>
            <a:prstDash val="solid"/>
          </a:ln>
        </p:spPr>
        <p:txBody>
          <a:bodyPr/>
          <a:p/>
        </p:txBody>
      </p:sp>
      <p:sp>
        <p:nvSpPr>
          <p:cNvPr id="144" name="圆角矩形 143"/>
          <p:cNvSpPr>
            <a:spLocks noGrp="1"/>
          </p:cNvSpPr>
          <p:nvPr/>
        </p:nvSpPr>
        <p:spPr>
          <a:xfrm>
            <a:off x="6657023" y="164783"/>
            <a:ext cx="1154430" cy="264795"/>
          </a:xfrm>
          <a:prstGeom prst="roundRect">
            <a:avLst>
              <a:gd name="adj" fmla="val 28777"/>
            </a:avLst>
          </a:prstGeom>
          <a:solidFill>
            <a:srgbClr val="007574"/>
          </a:solidFill>
          <a:ln w="12668">
            <a:solidFill>
              <a:srgbClr val="007574"/>
            </a:solidFill>
            <a:prstDash val="solid"/>
          </a:ln>
        </p:spPr>
        <p:txBody>
          <a:bodyPr/>
          <a:p/>
        </p:txBody>
      </p:sp>
      <p:sp>
        <p:nvSpPr>
          <p:cNvPr id="145" name="矩形 144"/>
          <p:cNvSpPr>
            <a:spLocks noGrp="1"/>
          </p:cNvSpPr>
          <p:nvPr/>
        </p:nvSpPr>
        <p:spPr>
          <a:xfrm>
            <a:off x="6657023" y="187643"/>
            <a:ext cx="1154430" cy="182880"/>
          </a:xfrm>
          <a:prstGeom prst="rect">
            <a:avLst/>
          </a:prstGeom>
        </p:spPr>
        <p:txBody>
          <a:bodyPr anchor="ctr"/>
          <a:lstStyle/>
          <a:p>
            <a:pPr algn="ctr">
              <a:defRPr sz="660" b="1">
                <a:solidFill>
                  <a:srgbClr val="FFFFFF"/>
                </a:solidFill>
              </a:defRPr>
            </a:pPr>
            <a:r>
              <a:t>理解</a:t>
            </a:r>
          </a:p>
        </p:txBody>
      </p:sp>
      <p:sp>
        <p:nvSpPr>
          <p:cNvPr id="146" name="圆角矩形 145"/>
          <p:cNvSpPr>
            <a:spLocks noGrp="1"/>
          </p:cNvSpPr>
          <p:nvPr/>
        </p:nvSpPr>
        <p:spPr>
          <a:xfrm>
            <a:off x="7857173" y="164783"/>
            <a:ext cx="1154430" cy="264795"/>
          </a:xfrm>
          <a:prstGeom prst="roundRect">
            <a:avLst>
              <a:gd name="adj" fmla="val 28777"/>
            </a:avLst>
          </a:prstGeom>
          <a:solidFill>
            <a:srgbClr val="007574"/>
          </a:solidFill>
          <a:ln w="12668">
            <a:solidFill>
              <a:srgbClr val="007574"/>
            </a:solidFill>
            <a:prstDash val="solid"/>
          </a:ln>
        </p:spPr>
        <p:txBody>
          <a:bodyPr/>
          <a:p/>
        </p:txBody>
      </p:sp>
      <p:sp>
        <p:nvSpPr>
          <p:cNvPr id="147" name="矩形 146"/>
          <p:cNvSpPr>
            <a:spLocks noGrp="1"/>
          </p:cNvSpPr>
          <p:nvPr/>
        </p:nvSpPr>
        <p:spPr>
          <a:xfrm>
            <a:off x="7857173" y="187643"/>
            <a:ext cx="1154430" cy="182880"/>
          </a:xfrm>
          <a:prstGeom prst="rect">
            <a:avLst/>
          </a:prstGeom>
        </p:spPr>
        <p:txBody>
          <a:bodyPr anchor="ctr"/>
          <a:lstStyle/>
          <a:p>
            <a:pPr algn="ctr">
              <a:defRPr sz="660" b="1">
                <a:solidFill>
                  <a:srgbClr val="FFFFFF"/>
                </a:solidFill>
              </a:defRPr>
            </a:pPr>
            <a:r>
              <a:t>查询</a:t>
            </a:r>
          </a:p>
        </p:txBody>
      </p:sp>
      <p:sp>
        <p:nvSpPr>
          <p:cNvPr id="148" name="圆角矩形 147"/>
          <p:cNvSpPr>
            <a:spLocks noGrp="1"/>
          </p:cNvSpPr>
          <p:nvPr/>
        </p:nvSpPr>
        <p:spPr>
          <a:xfrm>
            <a:off x="9057323" y="164783"/>
            <a:ext cx="1154430" cy="264795"/>
          </a:xfrm>
          <a:prstGeom prst="roundRect">
            <a:avLst>
              <a:gd name="adj" fmla="val 28777"/>
            </a:avLst>
          </a:prstGeom>
          <a:solidFill>
            <a:srgbClr val="007574"/>
          </a:solidFill>
          <a:ln w="12668">
            <a:solidFill>
              <a:srgbClr val="007574"/>
            </a:solidFill>
            <a:prstDash val="solid"/>
          </a:ln>
        </p:spPr>
        <p:txBody>
          <a:bodyPr/>
          <a:p/>
        </p:txBody>
      </p:sp>
      <p:sp>
        <p:nvSpPr>
          <p:cNvPr id="149" name="矩形 148"/>
          <p:cNvSpPr>
            <a:spLocks noGrp="1"/>
          </p:cNvSpPr>
          <p:nvPr/>
        </p:nvSpPr>
        <p:spPr>
          <a:xfrm>
            <a:off x="9057323" y="187643"/>
            <a:ext cx="1154430" cy="182880"/>
          </a:xfrm>
          <a:prstGeom prst="rect">
            <a:avLst/>
          </a:prstGeom>
        </p:spPr>
        <p:txBody>
          <a:bodyPr anchor="ctr"/>
          <a:lstStyle/>
          <a:p>
            <a:pPr algn="ctr">
              <a:defRPr sz="660" b="1">
                <a:solidFill>
                  <a:srgbClr val="FFFFFF"/>
                </a:solidFill>
              </a:defRPr>
            </a:pPr>
            <a:r>
              <a:t>决策</a:t>
            </a:r>
          </a:p>
        </p:txBody>
      </p:sp>
      <p:sp>
        <p:nvSpPr>
          <p:cNvPr id="150" name="圆角矩形 149"/>
          <p:cNvSpPr>
            <a:spLocks noGrp="1"/>
          </p:cNvSpPr>
          <p:nvPr/>
        </p:nvSpPr>
        <p:spPr>
          <a:xfrm>
            <a:off x="10257473" y="164783"/>
            <a:ext cx="1154430" cy="264795"/>
          </a:xfrm>
          <a:prstGeom prst="roundRect">
            <a:avLst>
              <a:gd name="adj" fmla="val 28777"/>
            </a:avLst>
          </a:prstGeom>
          <a:solidFill>
            <a:srgbClr val="007574"/>
          </a:solidFill>
          <a:ln w="12668">
            <a:solidFill>
              <a:srgbClr val="007574"/>
            </a:solidFill>
            <a:prstDash val="solid"/>
          </a:ln>
        </p:spPr>
        <p:txBody>
          <a:bodyPr/>
          <a:p/>
        </p:txBody>
      </p:sp>
      <p:sp>
        <p:nvSpPr>
          <p:cNvPr id="151" name="矩形 150"/>
          <p:cNvSpPr>
            <a:spLocks noGrp="1"/>
          </p:cNvSpPr>
          <p:nvPr/>
        </p:nvSpPr>
        <p:spPr>
          <a:xfrm>
            <a:off x="10257473" y="187643"/>
            <a:ext cx="1154430" cy="182880"/>
          </a:xfrm>
          <a:prstGeom prst="rect">
            <a:avLst/>
          </a:prstGeom>
        </p:spPr>
        <p:txBody>
          <a:bodyPr anchor="ctr"/>
          <a:lstStyle/>
          <a:p>
            <a:pPr algn="ctr">
              <a:defRPr sz="660" b="1">
                <a:solidFill>
                  <a:srgbClr val="FFFFFF"/>
                </a:solidFill>
              </a:defRPr>
            </a:pPr>
            <a:r>
              <a:t>执行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hape 0"/>
          <p:cNvSpPr>
            <a:spLocks noGrp="1"/>
          </p:cNvSpPr>
          <p:nvPr/>
        </p:nvSpPr>
        <p:spPr>
          <a:xfrm>
            <a:off x="16459" y="16459"/>
            <a:ext cx="38405" cy="6825082"/>
          </a:xfrm>
          <a:prstGeom prst="rect">
            <a:avLst/>
          </a:prstGeom>
          <a:solidFill>
            <a:srgbClr val="0A8F6A"/>
          </a:solidFill>
          <a:ln w="12700">
            <a:solidFill>
              <a:srgbClr val="12B07D"/>
            </a:solidFill>
            <a:prstDash val="solid"/>
          </a:ln>
        </p:spPr>
        <p:txBody>
          <a:bodyPr/>
          <a:lstStyle/>
          <a:p/>
        </p:txBody>
      </p:sp>
      <p:sp>
        <p:nvSpPr>
          <p:cNvPr id="4" name="Shape 2"/>
          <p:cNvSpPr>
            <a:spLocks noGrp="1"/>
          </p:cNvSpPr>
          <p:nvPr/>
        </p:nvSpPr>
        <p:spPr>
          <a:xfrm>
            <a:off x="10104120" y="73152"/>
            <a:ext cx="1874520" cy="1353312"/>
          </a:xfrm>
          <a:prstGeom prst="ellipse">
            <a:avLst/>
          </a:prstGeom>
          <a:solidFill>
            <a:srgbClr val="E8F7F1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/>
        </p:txBody>
      </p:sp>
      <p:sp>
        <p:nvSpPr>
          <p:cNvPr id="5" name="Shape 3"/>
          <p:cNvSpPr>
            <a:spLocks noGrp="1"/>
          </p:cNvSpPr>
          <p:nvPr/>
        </p:nvSpPr>
        <p:spPr>
          <a:xfrm>
            <a:off x="91440" y="5596128"/>
            <a:ext cx="1719072" cy="1051560"/>
          </a:xfrm>
          <a:prstGeom prst="ellipse">
            <a:avLst/>
          </a:prstGeom>
          <a:solidFill>
            <a:srgbClr val="FFF2E8">
              <a:alpha val="68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/>
        </p:txBody>
      </p:sp>
      <p:sp>
        <p:nvSpPr>
          <p:cNvPr id="6" name="Shape 4"/>
          <p:cNvSpPr>
            <a:spLocks noGrp="1"/>
          </p:cNvSpPr>
          <p:nvPr/>
        </p:nvSpPr>
        <p:spPr>
          <a:xfrm>
            <a:off x="658368" y="393192"/>
            <a:ext cx="68580" cy="68580"/>
          </a:xfrm>
          <a:prstGeom prst="ellipse">
            <a:avLst/>
          </a:prstGeom>
          <a:solidFill>
            <a:srgbClr val="0A8F6A"/>
          </a:solidFill>
          <a:ln w="12700">
            <a:solidFill>
              <a:srgbClr val="12B07D"/>
            </a:solidFill>
            <a:prstDash val="solid"/>
          </a:ln>
        </p:spPr>
        <p:txBody>
          <a:bodyPr/>
          <a:lstStyle/>
          <a:p/>
        </p:txBody>
      </p:sp>
      <p:sp>
        <p:nvSpPr>
          <p:cNvPr id="7" name="Shape 5"/>
          <p:cNvSpPr>
            <a:spLocks noGrp="1"/>
          </p:cNvSpPr>
          <p:nvPr/>
        </p:nvSpPr>
        <p:spPr>
          <a:xfrm>
            <a:off x="768096" y="427939"/>
            <a:ext cx="411480" cy="0"/>
          </a:xfrm>
          <a:prstGeom prst="line">
            <a:avLst/>
          </a:prstGeom>
          <a:noFill/>
          <a:ln w="15875">
            <a:solidFill>
              <a:srgbClr val="0A8F6A"/>
            </a:solidFill>
            <a:prstDash val="solid"/>
          </a:ln>
        </p:spPr>
        <p:txBody>
          <a:bodyPr/>
          <a:lstStyle/>
          <a:p/>
        </p:txBody>
      </p:sp>
      <p:sp>
        <p:nvSpPr>
          <p:cNvPr id="8" name="Text 6"/>
          <p:cNvSpPr>
            <a:spLocks noGrp="1"/>
          </p:cNvSpPr>
          <p:nvPr/>
        </p:nvSpPr>
        <p:spPr>
          <a:xfrm>
            <a:off x="1234440" y="265176"/>
            <a:ext cx="2331720" cy="31089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r>
              <a:rPr sz="1050" b="1">
                <a:solidFill>
                  <a:srgbClr val="076B50"/>
                </a:solidFill>
                <a:latin typeface="Noto Sans CJK SC"/>
                <a:ea typeface="Noto Sans CJK SC"/>
                <a:cs typeface="Noto Sans CJK SC"/>
              </a:rPr>
              <a:t>CHAPTER 1 · 业务现状</a:t>
            </a:r>
            <a:endParaRPr sz="1050" b="1">
              <a:solidFill>
                <a:srgbClr val="0A8F6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9" name="Shape 7"/>
          <p:cNvSpPr>
            <a:spLocks noGrp="1"/>
          </p:cNvSpPr>
          <p:nvPr/>
        </p:nvSpPr>
        <p:spPr>
          <a:xfrm>
            <a:off x="9829800" y="301752"/>
            <a:ext cx="68580" cy="68580"/>
          </a:xfrm>
          <a:prstGeom prst="ellipse">
            <a:avLst/>
          </a:prstGeom>
          <a:solidFill>
            <a:srgbClr val="C7DAD6"/>
          </a:solidFill>
          <a:ln w="12700">
            <a:solidFill>
              <a:srgbClr val="C7DAD6"/>
            </a:solidFill>
            <a:prstDash val="solid"/>
          </a:ln>
        </p:spPr>
        <p:txBody>
          <a:bodyPr/>
          <a:lstStyle/>
          <a:p/>
        </p:txBody>
      </p:sp>
      <p:sp>
        <p:nvSpPr>
          <p:cNvPr id="10" name="Shape 8"/>
          <p:cNvSpPr>
            <a:spLocks noGrp="1"/>
          </p:cNvSpPr>
          <p:nvPr/>
        </p:nvSpPr>
        <p:spPr>
          <a:xfrm>
            <a:off x="10040112" y="301752"/>
            <a:ext cx="68580" cy="68580"/>
          </a:xfrm>
          <a:prstGeom prst="ellipse">
            <a:avLst/>
          </a:prstGeom>
          <a:solidFill>
            <a:srgbClr val="C7DAD6"/>
          </a:solidFill>
          <a:ln w="12700">
            <a:solidFill>
              <a:srgbClr val="C7DAD6"/>
            </a:solidFill>
            <a:prstDash val="solid"/>
          </a:ln>
        </p:spPr>
        <p:txBody>
          <a:bodyPr/>
          <a:lstStyle/>
          <a:p/>
        </p:txBody>
      </p:sp>
      <p:sp>
        <p:nvSpPr>
          <p:cNvPr id="11" name="Shape 9"/>
          <p:cNvSpPr>
            <a:spLocks noGrp="1"/>
          </p:cNvSpPr>
          <p:nvPr/>
        </p:nvSpPr>
        <p:spPr>
          <a:xfrm>
            <a:off x="10250424" y="301752"/>
            <a:ext cx="68580" cy="68580"/>
          </a:xfrm>
          <a:prstGeom prst="ellipse">
            <a:avLst/>
          </a:prstGeom>
          <a:solidFill>
            <a:srgbClr val="C7DAD6"/>
          </a:solidFill>
          <a:ln w="12700">
            <a:solidFill>
              <a:srgbClr val="C7DAD6"/>
            </a:solidFill>
            <a:prstDash val="solid"/>
          </a:ln>
        </p:spPr>
        <p:txBody>
          <a:bodyPr/>
          <a:lstStyle/>
          <a:p/>
        </p:txBody>
      </p:sp>
      <p:sp>
        <p:nvSpPr>
          <p:cNvPr id="12" name="Shape 10"/>
          <p:cNvSpPr>
            <a:spLocks noGrp="1"/>
          </p:cNvSpPr>
          <p:nvPr/>
        </p:nvSpPr>
        <p:spPr>
          <a:xfrm>
            <a:off x="10460736" y="301752"/>
            <a:ext cx="68580" cy="68580"/>
          </a:xfrm>
          <a:prstGeom prst="ellipse">
            <a:avLst/>
          </a:prstGeom>
          <a:solidFill>
            <a:srgbClr val="12B07D"/>
          </a:solidFill>
          <a:ln w="12700">
            <a:solidFill>
              <a:srgbClr val="12B07D"/>
            </a:solidFill>
            <a:prstDash val="solid"/>
          </a:ln>
        </p:spPr>
        <p:txBody>
          <a:bodyPr/>
          <a:lstStyle/>
          <a:p/>
        </p:txBody>
      </p:sp>
      <p:sp>
        <p:nvSpPr>
          <p:cNvPr id="13" name="Shape 11"/>
          <p:cNvSpPr>
            <a:spLocks noGrp="1"/>
          </p:cNvSpPr>
          <p:nvPr/>
        </p:nvSpPr>
        <p:spPr>
          <a:xfrm>
            <a:off x="10671048" y="301752"/>
            <a:ext cx="68580" cy="68580"/>
          </a:xfrm>
          <a:prstGeom prst="ellipse">
            <a:avLst/>
          </a:prstGeom>
          <a:solidFill>
            <a:srgbClr val="C7DAD6"/>
          </a:solidFill>
          <a:ln w="12700">
            <a:solidFill>
              <a:srgbClr val="C7DAD6"/>
            </a:solidFill>
            <a:prstDash val="solid"/>
          </a:ln>
        </p:spPr>
        <p:txBody>
          <a:bodyPr/>
          <a:lstStyle/>
          <a:p/>
        </p:txBody>
      </p:sp>
      <p:sp>
        <p:nvSpPr>
          <p:cNvPr id="14" name="Shape 12"/>
          <p:cNvSpPr>
            <a:spLocks noGrp="1"/>
          </p:cNvSpPr>
          <p:nvPr/>
        </p:nvSpPr>
        <p:spPr>
          <a:xfrm>
            <a:off x="10881360" y="301752"/>
            <a:ext cx="68580" cy="68580"/>
          </a:xfrm>
          <a:prstGeom prst="ellipse">
            <a:avLst/>
          </a:prstGeom>
          <a:solidFill>
            <a:srgbClr val="C7DAD6"/>
          </a:solidFill>
          <a:ln w="12700">
            <a:solidFill>
              <a:srgbClr val="C7DAD6"/>
            </a:solidFill>
            <a:prstDash val="solid"/>
          </a:ln>
        </p:spPr>
        <p:txBody>
          <a:bodyPr/>
          <a:lstStyle/>
          <a:p/>
        </p:txBody>
      </p:sp>
      <p:sp>
        <p:nvSpPr>
          <p:cNvPr id="15" name="Shape 13"/>
          <p:cNvSpPr>
            <a:spLocks noGrp="1"/>
          </p:cNvSpPr>
          <p:nvPr/>
        </p:nvSpPr>
        <p:spPr>
          <a:xfrm>
            <a:off x="11091672" y="301752"/>
            <a:ext cx="68580" cy="68580"/>
          </a:xfrm>
          <a:prstGeom prst="ellipse">
            <a:avLst/>
          </a:prstGeom>
          <a:solidFill>
            <a:srgbClr val="C7DAD6"/>
          </a:solidFill>
          <a:ln w="12700">
            <a:solidFill>
              <a:srgbClr val="C7DAD6"/>
            </a:solidFill>
            <a:prstDash val="solid"/>
          </a:ln>
        </p:spPr>
        <p:txBody>
          <a:bodyPr/>
          <a:lstStyle/>
          <a:p/>
        </p:txBody>
      </p:sp>
      <p:sp>
        <p:nvSpPr>
          <p:cNvPr id="16" name="Shape 14"/>
          <p:cNvSpPr>
            <a:spLocks noGrp="1"/>
          </p:cNvSpPr>
          <p:nvPr/>
        </p:nvSpPr>
        <p:spPr>
          <a:xfrm>
            <a:off x="11301984" y="301752"/>
            <a:ext cx="68580" cy="68580"/>
          </a:xfrm>
          <a:prstGeom prst="ellipse">
            <a:avLst/>
          </a:prstGeom>
          <a:solidFill>
            <a:srgbClr val="C7DAD6"/>
          </a:solidFill>
          <a:ln w="12700">
            <a:solidFill>
              <a:srgbClr val="C7DAD6"/>
            </a:solidFill>
            <a:prstDash val="solid"/>
          </a:ln>
        </p:spPr>
        <p:txBody>
          <a:bodyPr/>
          <a:lstStyle/>
          <a:p/>
        </p:txBody>
      </p:sp>
      <p:sp>
        <p:nvSpPr>
          <p:cNvPr id="17" name="Text 15"/>
          <p:cNvSpPr>
            <a:spLocks noGrp="1"/>
          </p:cNvSpPr>
          <p:nvPr/>
        </p:nvSpPr>
        <p:spPr>
          <a:xfrm>
            <a:off x="658368" y="713232"/>
            <a:ext cx="10652760" cy="49377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2550" b="1">
                <a:solidFill>
                  <a:srgbClr val="14383E"/>
                </a:solidFill>
                <a:latin typeface="Noto Sans CJK SC"/>
                <a:ea typeface="Noto Sans CJK SC"/>
                <a:cs typeface="Noto Sans CJK SC"/>
              </a:rPr>
              <a:t>一张工单的九步与两处分岔</a:t>
            </a:r>
            <a:endParaRPr sz="2550"/>
          </a:p>
        </p:txBody>
      </p:sp>
      <p:sp>
        <p:nvSpPr>
          <p:cNvPr id="18" name="Text 16"/>
          <p:cNvSpPr>
            <a:spLocks noGrp="1"/>
          </p:cNvSpPr>
          <p:nvPr/>
        </p:nvSpPr>
        <p:spPr>
          <a:xfrm>
            <a:off x="658368" y="1197864"/>
            <a:ext cx="10469880" cy="29260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r>
              <a:rPr sz="1170">
                <a:solidFill>
                  <a:srgbClr val="44585C"/>
                </a:solidFill>
                <a:latin typeface="Noto Sans CJK SC"/>
                <a:ea typeface="Noto Sans CJK SC"/>
                <a:cs typeface="Noto Sans CJK SC"/>
              </a:rPr>
              <a:t>九步里只有第五步和第七步分岔。第五步看谁来做，第七步看在等谁。</a:t>
            </a:r>
            <a:endParaRPr sz="1170">
              <a:solidFill>
                <a:srgbClr val="6B8185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9" name="Shape 17"/>
          <p:cNvSpPr>
            <a:spLocks noGrp="1"/>
          </p:cNvSpPr>
          <p:nvPr/>
        </p:nvSpPr>
        <p:spPr>
          <a:xfrm>
            <a:off x="658368" y="6510528"/>
            <a:ext cx="10835640" cy="0"/>
          </a:xfrm>
          <a:prstGeom prst="line">
            <a:avLst/>
          </a:prstGeom>
          <a:noFill/>
          <a:ln w="11430">
            <a:solidFill>
              <a:srgbClr val="D7E7E3"/>
            </a:solidFill>
            <a:prstDash val="solid"/>
          </a:ln>
        </p:spPr>
        <p:txBody>
          <a:bodyPr/>
          <a:lstStyle/>
          <a:p/>
        </p:txBody>
      </p:sp>
      <p:sp>
        <p:nvSpPr>
          <p:cNvPr id="20" name="Text 18"/>
          <p:cNvSpPr>
            <a:spLocks noGrp="1"/>
          </p:cNvSpPr>
          <p:nvPr/>
        </p:nvSpPr>
        <p:spPr>
          <a:xfrm>
            <a:off x="658368" y="6556248"/>
            <a:ext cx="2103120" cy="16459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750" b="1" spc="40">
                <a:solidFill>
                  <a:srgbClr val="5C7276"/>
                </a:solidFill>
                <a:latin typeface="Noto Sans CJK SC"/>
                <a:ea typeface="Noto Sans CJK SC"/>
                <a:cs typeface="Noto Sans CJK SC"/>
              </a:rPr>
              <a:t>CUSTOMER SERVICE AI AGENT</a:t>
            </a:r>
            <a:endParaRPr sz="750"/>
          </a:p>
        </p:txBody>
      </p:sp>
      <p:sp>
        <p:nvSpPr>
          <p:cNvPr id="21" name="Text 19"/>
          <p:cNvSpPr>
            <a:spLocks noGrp="1"/>
          </p:cNvSpPr>
          <p:nvPr/>
        </p:nvSpPr>
        <p:spPr>
          <a:xfrm>
            <a:off x="10698480" y="6519672"/>
            <a:ext cx="749808" cy="21945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</a:pPr>
            <a:r>
              <a:rPr sz="880" b="1">
                <a:solidFill>
                  <a:srgbClr val="076B50"/>
                </a:solidFill>
                <a:latin typeface="Noto Sans CJK SC"/>
                <a:ea typeface="Noto Sans CJK SC"/>
                <a:cs typeface="Noto Sans CJK SC"/>
              </a:rPr>
              <a:t>10</a:t>
            </a:r>
            <a:endParaRPr sz="880" b="1">
              <a:solidFill>
                <a:srgbClr val="0A8F6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3" name="Rectangle 62"/>
          <p:cNvSpPr>
            <a:spLocks noGrp="1"/>
          </p:cNvSpPr>
          <p:nvPr/>
        </p:nvSpPr>
        <p:spPr>
          <a:xfrm>
            <a:off x="0" y="0"/>
            <a:ext cx="41148" cy="6858000"/>
          </a:xfrm>
          <a:prstGeom prst="rect">
            <a:avLst/>
          </a:prstGeom>
          <a:solidFill>
            <a:srgbClr val="0A8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75" name="矩形 74"/>
          <p:cNvSpPr>
            <a:spLocks noGrp="1"/>
          </p:cNvSpPr>
          <p:nvPr/>
        </p:nvSpPr>
        <p:spPr>
          <a:xfrm>
            <a:off x="838200" y="1638300"/>
            <a:ext cx="4095750" cy="190500"/>
          </a:xfrm>
          <a:prstGeom prst="rect">
            <a:avLst/>
          </a:prstGeom>
        </p:spPr>
        <p:txBody>
          <a:bodyPr anchor="ctr"/>
          <a:lstStyle/>
          <a:p>
            <a:pPr algn="l">
              <a:defRPr sz="800" b="1">
                <a:solidFill>
                  <a:srgbClr val="00706F"/>
                </a:solidFill>
              </a:defRPr>
            </a:pPr>
            <a:r>
              <a:t>一张工单的九步</a:t>
            </a:r>
          </a:p>
        </p:txBody>
      </p:sp>
      <p:sp>
        <p:nvSpPr>
          <p:cNvPr id="76" name="矩形 75"/>
          <p:cNvSpPr>
            <a:spLocks noGrp="1"/>
          </p:cNvSpPr>
          <p:nvPr/>
        </p:nvSpPr>
        <p:spPr>
          <a:xfrm>
            <a:off x="5191125" y="1638300"/>
            <a:ext cx="6343650" cy="190500"/>
          </a:xfrm>
          <a:prstGeom prst="rect">
            <a:avLst/>
          </a:prstGeom>
        </p:spPr>
        <p:txBody>
          <a:bodyPr anchor="ctr"/>
          <a:lstStyle/>
          <a:p>
            <a:pPr algn="l">
              <a:defRPr sz="800" b="1">
                <a:solidFill>
                  <a:srgbClr val="00706F"/>
                </a:solidFill>
              </a:defRPr>
            </a:pPr>
            <a:r>
              <a:t>两处分岔的具体去向</a:t>
            </a:r>
          </a:p>
        </p:txBody>
      </p:sp>
      <p:sp>
        <p:nvSpPr>
          <p:cNvPr id="77" name="圆角矩形 76"/>
          <p:cNvSpPr>
            <a:spLocks noGrp="1"/>
          </p:cNvSpPr>
          <p:nvPr/>
        </p:nvSpPr>
        <p:spPr>
          <a:xfrm>
            <a:off x="838200" y="1905000"/>
            <a:ext cx="4095750" cy="323850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668">
            <a:solidFill>
              <a:srgbClr val="C7DAD6"/>
            </a:solidFill>
            <a:prstDash val="solid"/>
          </a:ln>
        </p:spPr>
        <p:txBody>
          <a:bodyPr/>
          <a:p/>
        </p:txBody>
      </p:sp>
      <p:sp>
        <p:nvSpPr>
          <p:cNvPr id="78" name="椭圆 77"/>
          <p:cNvSpPr>
            <a:spLocks noGrp="1"/>
          </p:cNvSpPr>
          <p:nvPr/>
        </p:nvSpPr>
        <p:spPr>
          <a:xfrm>
            <a:off x="914400" y="1981200"/>
            <a:ext cx="171450" cy="171450"/>
          </a:xfrm>
          <a:prstGeom prst="ellipse">
            <a:avLst/>
          </a:prstGeom>
          <a:solidFill>
            <a:srgbClr val="00706F"/>
          </a:solidFill>
          <a:ln w="12668">
            <a:solidFill>
              <a:srgbClr val="00706F"/>
            </a:solidFill>
            <a:prstDash val="solid"/>
          </a:ln>
        </p:spPr>
        <p:txBody>
          <a:bodyPr/>
          <a:p/>
        </p:txBody>
      </p:sp>
      <p:sp>
        <p:nvSpPr>
          <p:cNvPr id="79" name="矩形 78"/>
          <p:cNvSpPr>
            <a:spLocks noGrp="1"/>
          </p:cNvSpPr>
          <p:nvPr/>
        </p:nvSpPr>
        <p:spPr>
          <a:xfrm>
            <a:off x="914400" y="1981200"/>
            <a:ext cx="171450" cy="171450"/>
          </a:xfrm>
          <a:prstGeom prst="rect">
            <a:avLst/>
          </a:prstGeom>
        </p:spPr>
        <p:txBody>
          <a:bodyPr anchor="ctr"/>
          <a:lstStyle/>
          <a:p>
            <a:pPr algn="ctr">
              <a:defRPr sz="63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80" name="矩形 79"/>
          <p:cNvSpPr>
            <a:spLocks noGrp="1"/>
          </p:cNvSpPr>
          <p:nvPr/>
        </p:nvSpPr>
        <p:spPr>
          <a:xfrm>
            <a:off x="1162050" y="1905000"/>
            <a:ext cx="590550" cy="323850"/>
          </a:xfrm>
          <a:prstGeom prst="rect">
            <a:avLst/>
          </a:prstGeom>
        </p:spPr>
        <p:txBody>
          <a:bodyPr anchor="ctr"/>
          <a:lstStyle/>
          <a:p>
            <a:pPr algn="l">
              <a:defRPr sz="760" b="1">
                <a:solidFill>
                  <a:srgbClr val="14383E"/>
                </a:solidFill>
              </a:defRPr>
            </a:pPr>
            <a:r>
              <a:t>领单</a:t>
            </a:r>
          </a:p>
        </p:txBody>
      </p:sp>
      <p:sp>
        <p:nvSpPr>
          <p:cNvPr id="81" name="矩形 80"/>
          <p:cNvSpPr>
            <a:spLocks noGrp="1"/>
          </p:cNvSpPr>
          <p:nvPr/>
        </p:nvSpPr>
        <p:spPr>
          <a:xfrm>
            <a:off x="1809750" y="1905000"/>
            <a:ext cx="3048000" cy="323850"/>
          </a:xfrm>
          <a:prstGeom prst="rect">
            <a:avLst/>
          </a:prstGeom>
        </p:spPr>
        <p:txBody>
          <a:bodyPr anchor="ctr"/>
          <a:lstStyle/>
          <a:p>
            <a:pPr algn="l">
              <a:defRPr sz="660" b="0">
                <a:solidFill>
                  <a:srgbClr val="44585C"/>
                </a:solidFill>
              </a:defRPr>
            </a:pPr>
            <a:r>
              <a:t>邮件队列按新到旧，不撞单</a:t>
            </a:r>
          </a:p>
        </p:txBody>
      </p:sp>
      <p:sp>
        <p:nvSpPr>
          <p:cNvPr id="82" name="圆角矩形 81"/>
          <p:cNvSpPr>
            <a:spLocks noGrp="1"/>
          </p:cNvSpPr>
          <p:nvPr/>
        </p:nvSpPr>
        <p:spPr>
          <a:xfrm>
            <a:off x="838200" y="2305050"/>
            <a:ext cx="4095750" cy="323850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668">
            <a:solidFill>
              <a:srgbClr val="C7DAD6"/>
            </a:solidFill>
            <a:prstDash val="solid"/>
          </a:ln>
        </p:spPr>
        <p:txBody>
          <a:bodyPr/>
          <a:p/>
        </p:txBody>
      </p:sp>
      <p:sp>
        <p:nvSpPr>
          <p:cNvPr id="83" name="椭圆 82"/>
          <p:cNvSpPr>
            <a:spLocks noGrp="1"/>
          </p:cNvSpPr>
          <p:nvPr/>
        </p:nvSpPr>
        <p:spPr>
          <a:xfrm>
            <a:off x="914400" y="2381250"/>
            <a:ext cx="171450" cy="171450"/>
          </a:xfrm>
          <a:prstGeom prst="ellipse">
            <a:avLst/>
          </a:prstGeom>
          <a:solidFill>
            <a:srgbClr val="00706F"/>
          </a:solidFill>
          <a:ln w="12668">
            <a:solidFill>
              <a:srgbClr val="00706F"/>
            </a:solidFill>
            <a:prstDash val="solid"/>
          </a:ln>
        </p:spPr>
        <p:txBody>
          <a:bodyPr/>
          <a:p/>
        </p:txBody>
      </p:sp>
      <p:sp>
        <p:nvSpPr>
          <p:cNvPr id="84" name="矩形 83"/>
          <p:cNvSpPr>
            <a:spLocks noGrp="1"/>
          </p:cNvSpPr>
          <p:nvPr/>
        </p:nvSpPr>
        <p:spPr>
          <a:xfrm>
            <a:off x="914400" y="2381250"/>
            <a:ext cx="171450" cy="171450"/>
          </a:xfrm>
          <a:prstGeom prst="rect">
            <a:avLst/>
          </a:prstGeom>
        </p:spPr>
        <p:txBody>
          <a:bodyPr anchor="ctr"/>
          <a:lstStyle/>
          <a:p>
            <a:pPr algn="ctr">
              <a:defRPr sz="63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85" name="矩形 84"/>
          <p:cNvSpPr>
            <a:spLocks noGrp="1"/>
          </p:cNvSpPr>
          <p:nvPr/>
        </p:nvSpPr>
        <p:spPr>
          <a:xfrm>
            <a:off x="1162050" y="2305050"/>
            <a:ext cx="590550" cy="323850"/>
          </a:xfrm>
          <a:prstGeom prst="rect">
            <a:avLst/>
          </a:prstGeom>
        </p:spPr>
        <p:txBody>
          <a:bodyPr anchor="ctr"/>
          <a:lstStyle/>
          <a:p>
            <a:pPr algn="l">
              <a:defRPr sz="760" b="1">
                <a:solidFill>
                  <a:srgbClr val="14383E"/>
                </a:solidFill>
              </a:defRPr>
            </a:pPr>
            <a:r>
              <a:t>识别</a:t>
            </a:r>
          </a:p>
        </p:txBody>
      </p:sp>
      <p:sp>
        <p:nvSpPr>
          <p:cNvPr id="86" name="矩形 85"/>
          <p:cNvSpPr>
            <a:spLocks noGrp="1"/>
          </p:cNvSpPr>
          <p:nvPr/>
        </p:nvSpPr>
        <p:spPr>
          <a:xfrm>
            <a:off x="1809750" y="2305050"/>
            <a:ext cx="3048000" cy="323850"/>
          </a:xfrm>
          <a:prstGeom prst="rect">
            <a:avLst/>
          </a:prstGeom>
        </p:spPr>
        <p:txBody>
          <a:bodyPr anchor="ctr"/>
          <a:lstStyle/>
          <a:p>
            <a:pPr algn="l">
              <a:defRPr sz="660" b="0">
                <a:solidFill>
                  <a:srgbClr val="44585C"/>
                </a:solidFill>
              </a:defRPr>
            </a:pPr>
            <a:r>
              <a:t>归类咨询类型，取订单号与邮箱</a:t>
            </a:r>
          </a:p>
        </p:txBody>
      </p:sp>
      <p:sp>
        <p:nvSpPr>
          <p:cNvPr id="87" name="圆角矩形 86"/>
          <p:cNvSpPr>
            <a:spLocks noGrp="1"/>
          </p:cNvSpPr>
          <p:nvPr/>
        </p:nvSpPr>
        <p:spPr>
          <a:xfrm>
            <a:off x="838200" y="2705100"/>
            <a:ext cx="4095750" cy="323850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668">
            <a:solidFill>
              <a:srgbClr val="C7DAD6"/>
            </a:solidFill>
            <a:prstDash val="solid"/>
          </a:ln>
        </p:spPr>
        <p:txBody>
          <a:bodyPr/>
          <a:p/>
        </p:txBody>
      </p:sp>
      <p:sp>
        <p:nvSpPr>
          <p:cNvPr id="88" name="椭圆 87"/>
          <p:cNvSpPr>
            <a:spLocks noGrp="1"/>
          </p:cNvSpPr>
          <p:nvPr/>
        </p:nvSpPr>
        <p:spPr>
          <a:xfrm>
            <a:off x="914400" y="2781300"/>
            <a:ext cx="171450" cy="171450"/>
          </a:xfrm>
          <a:prstGeom prst="ellipse">
            <a:avLst/>
          </a:prstGeom>
          <a:solidFill>
            <a:srgbClr val="00706F"/>
          </a:solidFill>
          <a:ln w="12668">
            <a:solidFill>
              <a:srgbClr val="00706F"/>
            </a:solidFill>
            <a:prstDash val="solid"/>
          </a:ln>
        </p:spPr>
        <p:txBody>
          <a:bodyPr/>
          <a:p/>
        </p:txBody>
      </p:sp>
      <p:sp>
        <p:nvSpPr>
          <p:cNvPr id="89" name="矩形 88"/>
          <p:cNvSpPr>
            <a:spLocks noGrp="1"/>
          </p:cNvSpPr>
          <p:nvPr/>
        </p:nvSpPr>
        <p:spPr>
          <a:xfrm>
            <a:off x="914400" y="2781300"/>
            <a:ext cx="171450" cy="171450"/>
          </a:xfrm>
          <a:prstGeom prst="rect">
            <a:avLst/>
          </a:prstGeom>
        </p:spPr>
        <p:txBody>
          <a:bodyPr anchor="ctr"/>
          <a:lstStyle/>
          <a:p>
            <a:pPr algn="ctr">
              <a:defRPr sz="63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90" name="矩形 89"/>
          <p:cNvSpPr>
            <a:spLocks noGrp="1"/>
          </p:cNvSpPr>
          <p:nvPr/>
        </p:nvSpPr>
        <p:spPr>
          <a:xfrm>
            <a:off x="1162050" y="2705100"/>
            <a:ext cx="590550" cy="323850"/>
          </a:xfrm>
          <a:prstGeom prst="rect">
            <a:avLst/>
          </a:prstGeom>
        </p:spPr>
        <p:txBody>
          <a:bodyPr anchor="ctr"/>
          <a:lstStyle/>
          <a:p>
            <a:pPr algn="l">
              <a:defRPr sz="760" b="1">
                <a:solidFill>
                  <a:srgbClr val="14383E"/>
                </a:solidFill>
              </a:defRPr>
            </a:pPr>
            <a:r>
              <a:t>查证</a:t>
            </a:r>
          </a:p>
        </p:txBody>
      </p:sp>
      <p:sp>
        <p:nvSpPr>
          <p:cNvPr id="91" name="矩形 90"/>
          <p:cNvSpPr>
            <a:spLocks noGrp="1"/>
          </p:cNvSpPr>
          <p:nvPr/>
        </p:nvSpPr>
        <p:spPr>
          <a:xfrm>
            <a:off x="1809750" y="2705100"/>
            <a:ext cx="3048000" cy="323850"/>
          </a:xfrm>
          <a:prstGeom prst="rect">
            <a:avLst/>
          </a:prstGeom>
        </p:spPr>
        <p:txBody>
          <a:bodyPr anchor="ctr"/>
          <a:lstStyle/>
          <a:p>
            <a:pPr algn="l">
              <a:defRPr sz="660" b="0">
                <a:solidFill>
                  <a:srgbClr val="44585C"/>
                </a:solidFill>
              </a:defRPr>
            </a:pPr>
            <a:r>
              <a:t>在两套业务系统里查品类、状态与支付</a:t>
            </a:r>
          </a:p>
        </p:txBody>
      </p:sp>
      <p:sp>
        <p:nvSpPr>
          <p:cNvPr id="92" name="圆角矩形 91"/>
          <p:cNvSpPr>
            <a:spLocks noGrp="1"/>
          </p:cNvSpPr>
          <p:nvPr/>
        </p:nvSpPr>
        <p:spPr>
          <a:xfrm>
            <a:off x="838200" y="3105150"/>
            <a:ext cx="4095750" cy="323850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668">
            <a:solidFill>
              <a:srgbClr val="C7DAD6"/>
            </a:solidFill>
            <a:prstDash val="solid"/>
          </a:ln>
        </p:spPr>
        <p:txBody>
          <a:bodyPr/>
          <a:p/>
        </p:txBody>
      </p:sp>
      <p:sp>
        <p:nvSpPr>
          <p:cNvPr id="93" name="椭圆 92"/>
          <p:cNvSpPr>
            <a:spLocks noGrp="1"/>
          </p:cNvSpPr>
          <p:nvPr/>
        </p:nvSpPr>
        <p:spPr>
          <a:xfrm>
            <a:off x="914400" y="3181350"/>
            <a:ext cx="171450" cy="171450"/>
          </a:xfrm>
          <a:prstGeom prst="ellipse">
            <a:avLst/>
          </a:prstGeom>
          <a:solidFill>
            <a:srgbClr val="00706F"/>
          </a:solidFill>
          <a:ln w="12668">
            <a:solidFill>
              <a:srgbClr val="00706F"/>
            </a:solidFill>
            <a:prstDash val="solid"/>
          </a:ln>
        </p:spPr>
        <p:txBody>
          <a:bodyPr/>
          <a:p/>
        </p:txBody>
      </p:sp>
      <p:sp>
        <p:nvSpPr>
          <p:cNvPr id="94" name="矩形 93"/>
          <p:cNvSpPr>
            <a:spLocks noGrp="1"/>
          </p:cNvSpPr>
          <p:nvPr/>
        </p:nvSpPr>
        <p:spPr>
          <a:xfrm>
            <a:off x="914400" y="3181350"/>
            <a:ext cx="171450" cy="171450"/>
          </a:xfrm>
          <a:prstGeom prst="rect">
            <a:avLst/>
          </a:prstGeom>
        </p:spPr>
        <p:txBody>
          <a:bodyPr anchor="ctr"/>
          <a:lstStyle/>
          <a:p>
            <a:pPr algn="ctr">
              <a:defRPr sz="63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95" name="矩形 94"/>
          <p:cNvSpPr>
            <a:spLocks noGrp="1"/>
          </p:cNvSpPr>
          <p:nvPr/>
        </p:nvSpPr>
        <p:spPr>
          <a:xfrm>
            <a:off x="1162050" y="3105150"/>
            <a:ext cx="590550" cy="323850"/>
          </a:xfrm>
          <a:prstGeom prst="rect">
            <a:avLst/>
          </a:prstGeom>
        </p:spPr>
        <p:txBody>
          <a:bodyPr anchor="ctr"/>
          <a:lstStyle/>
          <a:p>
            <a:pPr algn="l">
              <a:defRPr sz="760" b="1">
                <a:solidFill>
                  <a:srgbClr val="14383E"/>
                </a:solidFill>
              </a:defRPr>
            </a:pPr>
            <a:r>
              <a:t>判断</a:t>
            </a:r>
          </a:p>
        </p:txBody>
      </p:sp>
      <p:sp>
        <p:nvSpPr>
          <p:cNvPr id="96" name="矩形 95"/>
          <p:cNvSpPr>
            <a:spLocks noGrp="1"/>
          </p:cNvSpPr>
          <p:nvPr/>
        </p:nvSpPr>
        <p:spPr>
          <a:xfrm>
            <a:off x="1809750" y="3105150"/>
            <a:ext cx="3048000" cy="323850"/>
          </a:xfrm>
          <a:prstGeom prst="rect">
            <a:avLst/>
          </a:prstGeom>
        </p:spPr>
        <p:txBody>
          <a:bodyPr anchor="ctr"/>
          <a:lstStyle/>
          <a:p>
            <a:pPr algn="l">
              <a:defRPr sz="660" b="0">
                <a:solidFill>
                  <a:srgbClr val="44585C"/>
                </a:solidFill>
              </a:defRPr>
            </a:pPr>
            <a:r>
              <a:t>时效 × 政策口径：能做 / 需审批 / 给补偿</a:t>
            </a:r>
          </a:p>
        </p:txBody>
      </p:sp>
      <p:sp>
        <p:nvSpPr>
          <p:cNvPr id="97" name="圆角矩形 96"/>
          <p:cNvSpPr>
            <a:spLocks noGrp="1"/>
          </p:cNvSpPr>
          <p:nvPr/>
        </p:nvSpPr>
        <p:spPr>
          <a:xfrm>
            <a:off x="838200" y="3505200"/>
            <a:ext cx="4095750" cy="323850"/>
          </a:xfrm>
          <a:prstGeom prst="roundRect">
            <a:avLst>
              <a:gd name="adj" fmla="val 23529"/>
            </a:avLst>
          </a:prstGeom>
          <a:solidFill>
            <a:srgbClr val="FFF2E8"/>
          </a:solidFill>
          <a:ln w="12668">
            <a:solidFill>
              <a:srgbClr val="F28B36"/>
            </a:solidFill>
            <a:prstDash val="solid"/>
          </a:ln>
        </p:spPr>
        <p:txBody>
          <a:bodyPr/>
          <a:p/>
        </p:txBody>
      </p:sp>
      <p:sp>
        <p:nvSpPr>
          <p:cNvPr id="98" name="椭圆 97"/>
          <p:cNvSpPr>
            <a:spLocks noGrp="1"/>
          </p:cNvSpPr>
          <p:nvPr/>
        </p:nvSpPr>
        <p:spPr>
          <a:xfrm>
            <a:off x="914400" y="3581400"/>
            <a:ext cx="171450" cy="171450"/>
          </a:xfrm>
          <a:prstGeom prst="ellipse">
            <a:avLst/>
          </a:prstGeom>
          <a:solidFill>
            <a:srgbClr val="F28B36"/>
          </a:solidFill>
          <a:ln w="12668">
            <a:solidFill>
              <a:srgbClr val="F28B36"/>
            </a:solidFill>
            <a:prstDash val="solid"/>
          </a:ln>
        </p:spPr>
        <p:txBody>
          <a:bodyPr/>
          <a:p/>
        </p:txBody>
      </p:sp>
      <p:sp>
        <p:nvSpPr>
          <p:cNvPr id="99" name="矩形 98"/>
          <p:cNvSpPr>
            <a:spLocks noGrp="1"/>
          </p:cNvSpPr>
          <p:nvPr/>
        </p:nvSpPr>
        <p:spPr>
          <a:xfrm>
            <a:off x="914400" y="3581400"/>
            <a:ext cx="171450" cy="171450"/>
          </a:xfrm>
          <a:prstGeom prst="rect">
            <a:avLst/>
          </a:prstGeom>
        </p:spPr>
        <p:txBody>
          <a:bodyPr anchor="ctr"/>
          <a:lstStyle/>
          <a:p>
            <a:pPr algn="ctr">
              <a:defRPr sz="63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00" name="矩形 99"/>
          <p:cNvSpPr>
            <a:spLocks noGrp="1"/>
          </p:cNvSpPr>
          <p:nvPr/>
        </p:nvSpPr>
        <p:spPr>
          <a:xfrm>
            <a:off x="1162050" y="3505200"/>
            <a:ext cx="590550" cy="323850"/>
          </a:xfrm>
          <a:prstGeom prst="rect">
            <a:avLst/>
          </a:prstGeom>
        </p:spPr>
        <p:txBody>
          <a:bodyPr anchor="ctr"/>
          <a:lstStyle/>
          <a:p>
            <a:pPr algn="l">
              <a:defRPr sz="760" b="1">
                <a:solidFill>
                  <a:srgbClr val="14383E"/>
                </a:solidFill>
              </a:defRPr>
            </a:pPr>
            <a:r>
              <a:t>动作</a:t>
            </a:r>
          </a:p>
        </p:txBody>
      </p:sp>
      <p:sp>
        <p:nvSpPr>
          <p:cNvPr id="101" name="矩形 100"/>
          <p:cNvSpPr>
            <a:spLocks noGrp="1"/>
          </p:cNvSpPr>
          <p:nvPr/>
        </p:nvSpPr>
        <p:spPr>
          <a:xfrm>
            <a:off x="1809750" y="3505200"/>
            <a:ext cx="3048000" cy="323850"/>
          </a:xfrm>
          <a:prstGeom prst="rect">
            <a:avLst/>
          </a:prstGeom>
        </p:spPr>
        <p:txBody>
          <a:bodyPr anchor="ctr"/>
          <a:lstStyle/>
          <a:p>
            <a:pPr algn="l">
              <a:defRPr sz="660" b="1">
                <a:solidFill>
                  <a:srgbClr val="9A5210"/>
                </a:solidFill>
              </a:defRPr>
            </a:pPr>
            <a:r>
              <a:t>★ 分岔一：自己做 / 交订单组 / 交物流</a:t>
            </a:r>
          </a:p>
        </p:txBody>
      </p:sp>
      <p:sp>
        <p:nvSpPr>
          <p:cNvPr id="102" name="圆角矩形 101"/>
          <p:cNvSpPr>
            <a:spLocks noGrp="1"/>
          </p:cNvSpPr>
          <p:nvPr/>
        </p:nvSpPr>
        <p:spPr>
          <a:xfrm>
            <a:off x="838200" y="3905250"/>
            <a:ext cx="4095750" cy="323850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668">
            <a:solidFill>
              <a:srgbClr val="C7DAD6"/>
            </a:solidFill>
            <a:prstDash val="solid"/>
          </a:ln>
        </p:spPr>
        <p:txBody>
          <a:bodyPr/>
          <a:p/>
        </p:txBody>
      </p:sp>
      <p:sp>
        <p:nvSpPr>
          <p:cNvPr id="103" name="椭圆 102"/>
          <p:cNvSpPr>
            <a:spLocks noGrp="1"/>
          </p:cNvSpPr>
          <p:nvPr/>
        </p:nvSpPr>
        <p:spPr>
          <a:xfrm>
            <a:off x="914400" y="3981450"/>
            <a:ext cx="171450" cy="171450"/>
          </a:xfrm>
          <a:prstGeom prst="ellipse">
            <a:avLst/>
          </a:prstGeom>
          <a:solidFill>
            <a:srgbClr val="00706F"/>
          </a:solidFill>
          <a:ln w="12668">
            <a:solidFill>
              <a:srgbClr val="00706F"/>
            </a:solidFill>
            <a:prstDash val="solid"/>
          </a:ln>
        </p:spPr>
        <p:txBody>
          <a:bodyPr/>
          <a:p/>
        </p:txBody>
      </p:sp>
      <p:sp>
        <p:nvSpPr>
          <p:cNvPr id="104" name="矩形 103"/>
          <p:cNvSpPr>
            <a:spLocks noGrp="1"/>
          </p:cNvSpPr>
          <p:nvPr/>
        </p:nvSpPr>
        <p:spPr>
          <a:xfrm>
            <a:off x="914400" y="3981450"/>
            <a:ext cx="171450" cy="171450"/>
          </a:xfrm>
          <a:prstGeom prst="rect">
            <a:avLst/>
          </a:prstGeom>
        </p:spPr>
        <p:txBody>
          <a:bodyPr anchor="ctr"/>
          <a:lstStyle/>
          <a:p>
            <a:pPr algn="ctr">
              <a:defRPr sz="63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105" name="矩形 104"/>
          <p:cNvSpPr>
            <a:spLocks noGrp="1"/>
          </p:cNvSpPr>
          <p:nvPr/>
        </p:nvSpPr>
        <p:spPr>
          <a:xfrm>
            <a:off x="1162050" y="3905250"/>
            <a:ext cx="590550" cy="323850"/>
          </a:xfrm>
          <a:prstGeom prst="rect">
            <a:avLst/>
          </a:prstGeom>
        </p:spPr>
        <p:txBody>
          <a:bodyPr anchor="ctr"/>
          <a:lstStyle/>
          <a:p>
            <a:pPr algn="l">
              <a:defRPr sz="760" b="1">
                <a:solidFill>
                  <a:srgbClr val="14383E"/>
                </a:solidFill>
              </a:defRPr>
            </a:pPr>
            <a:r>
              <a:t>回复</a:t>
            </a:r>
          </a:p>
        </p:txBody>
      </p:sp>
      <p:sp>
        <p:nvSpPr>
          <p:cNvPr id="106" name="矩形 105"/>
          <p:cNvSpPr>
            <a:spLocks noGrp="1"/>
          </p:cNvSpPr>
          <p:nvPr/>
        </p:nvSpPr>
        <p:spPr>
          <a:xfrm>
            <a:off x="1809750" y="3905250"/>
            <a:ext cx="3048000" cy="323850"/>
          </a:xfrm>
          <a:prstGeom prst="rect">
            <a:avLst/>
          </a:prstGeom>
        </p:spPr>
        <p:txBody>
          <a:bodyPr anchor="ctr"/>
          <a:lstStyle/>
          <a:p>
            <a:pPr algn="l">
              <a:defRPr sz="660" b="0">
                <a:solidFill>
                  <a:srgbClr val="44585C"/>
                </a:solidFill>
              </a:defRPr>
            </a:pPr>
            <a:r>
              <a:t>回复模板，订单号必填，沿用原标题</a:t>
            </a:r>
          </a:p>
        </p:txBody>
      </p:sp>
      <p:sp>
        <p:nvSpPr>
          <p:cNvPr id="107" name="圆角矩形 106"/>
          <p:cNvSpPr>
            <a:spLocks noGrp="1"/>
          </p:cNvSpPr>
          <p:nvPr/>
        </p:nvSpPr>
        <p:spPr>
          <a:xfrm>
            <a:off x="838200" y="4305300"/>
            <a:ext cx="4095750" cy="323850"/>
          </a:xfrm>
          <a:prstGeom prst="roundRect">
            <a:avLst>
              <a:gd name="adj" fmla="val 23529"/>
            </a:avLst>
          </a:prstGeom>
          <a:solidFill>
            <a:srgbClr val="FFF2E8"/>
          </a:solidFill>
          <a:ln w="12668">
            <a:solidFill>
              <a:srgbClr val="F28B36"/>
            </a:solidFill>
            <a:prstDash val="solid"/>
          </a:ln>
        </p:spPr>
        <p:txBody>
          <a:bodyPr/>
          <a:p/>
        </p:txBody>
      </p:sp>
      <p:sp>
        <p:nvSpPr>
          <p:cNvPr id="108" name="椭圆 107"/>
          <p:cNvSpPr>
            <a:spLocks noGrp="1"/>
          </p:cNvSpPr>
          <p:nvPr/>
        </p:nvSpPr>
        <p:spPr>
          <a:xfrm>
            <a:off x="914400" y="4381500"/>
            <a:ext cx="171450" cy="171450"/>
          </a:xfrm>
          <a:prstGeom prst="ellipse">
            <a:avLst/>
          </a:prstGeom>
          <a:solidFill>
            <a:srgbClr val="F28B36"/>
          </a:solidFill>
          <a:ln w="12668">
            <a:solidFill>
              <a:srgbClr val="F28B36"/>
            </a:solidFill>
            <a:prstDash val="solid"/>
          </a:ln>
        </p:spPr>
        <p:txBody>
          <a:bodyPr/>
          <a:p/>
        </p:txBody>
      </p:sp>
      <p:sp>
        <p:nvSpPr>
          <p:cNvPr id="109" name="矩形 108"/>
          <p:cNvSpPr>
            <a:spLocks noGrp="1"/>
          </p:cNvSpPr>
          <p:nvPr/>
        </p:nvSpPr>
        <p:spPr>
          <a:xfrm>
            <a:off x="914400" y="4381500"/>
            <a:ext cx="171450" cy="171450"/>
          </a:xfrm>
          <a:prstGeom prst="rect">
            <a:avLst/>
          </a:prstGeom>
        </p:spPr>
        <p:txBody>
          <a:bodyPr anchor="ctr"/>
          <a:lstStyle/>
          <a:p>
            <a:pPr algn="ctr">
              <a:defRPr sz="630" b="1">
                <a:solidFill>
                  <a:srgbClr val="FFFFFF"/>
                </a:solidFill>
              </a:defRPr>
            </a:pPr>
            <a:r>
              <a:t>7</a:t>
            </a:r>
          </a:p>
        </p:txBody>
      </p:sp>
      <p:sp>
        <p:nvSpPr>
          <p:cNvPr id="110" name="矩形 109"/>
          <p:cNvSpPr>
            <a:spLocks noGrp="1"/>
          </p:cNvSpPr>
          <p:nvPr/>
        </p:nvSpPr>
        <p:spPr>
          <a:xfrm>
            <a:off x="1162050" y="4305300"/>
            <a:ext cx="590550" cy="323850"/>
          </a:xfrm>
          <a:prstGeom prst="rect">
            <a:avLst/>
          </a:prstGeom>
        </p:spPr>
        <p:txBody>
          <a:bodyPr anchor="ctr"/>
          <a:lstStyle/>
          <a:p>
            <a:pPr algn="l">
              <a:defRPr sz="760" b="1">
                <a:solidFill>
                  <a:srgbClr val="14383E"/>
                </a:solidFill>
              </a:defRPr>
            </a:pPr>
            <a:r>
              <a:t>状态</a:t>
            </a:r>
          </a:p>
        </p:txBody>
      </p:sp>
      <p:sp>
        <p:nvSpPr>
          <p:cNvPr id="111" name="矩形 110"/>
          <p:cNvSpPr>
            <a:spLocks noGrp="1"/>
          </p:cNvSpPr>
          <p:nvPr/>
        </p:nvSpPr>
        <p:spPr>
          <a:xfrm>
            <a:off x="1809750" y="4305300"/>
            <a:ext cx="3048000" cy="323850"/>
          </a:xfrm>
          <a:prstGeom prst="rect">
            <a:avLst/>
          </a:prstGeom>
        </p:spPr>
        <p:txBody>
          <a:bodyPr anchor="ctr"/>
          <a:lstStyle/>
          <a:p>
            <a:pPr algn="l">
              <a:defRPr sz="660" b="1">
                <a:solidFill>
                  <a:srgbClr val="9A5210"/>
                </a:solidFill>
              </a:defRPr>
            </a:pPr>
            <a:r>
              <a:t>★ 分岔二：待客户 / 内部挂起 / 关闭</a:t>
            </a:r>
          </a:p>
        </p:txBody>
      </p:sp>
      <p:sp>
        <p:nvSpPr>
          <p:cNvPr id="112" name="圆角矩形 111"/>
          <p:cNvSpPr>
            <a:spLocks noGrp="1"/>
          </p:cNvSpPr>
          <p:nvPr/>
        </p:nvSpPr>
        <p:spPr>
          <a:xfrm>
            <a:off x="838200" y="4705350"/>
            <a:ext cx="4095750" cy="323850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668">
            <a:solidFill>
              <a:srgbClr val="C7DAD6"/>
            </a:solidFill>
            <a:prstDash val="solid"/>
          </a:ln>
        </p:spPr>
        <p:txBody>
          <a:bodyPr/>
          <a:p/>
        </p:txBody>
      </p:sp>
      <p:sp>
        <p:nvSpPr>
          <p:cNvPr id="113" name="椭圆 112"/>
          <p:cNvSpPr>
            <a:spLocks noGrp="1"/>
          </p:cNvSpPr>
          <p:nvPr/>
        </p:nvSpPr>
        <p:spPr>
          <a:xfrm>
            <a:off x="914400" y="4781550"/>
            <a:ext cx="171450" cy="171450"/>
          </a:xfrm>
          <a:prstGeom prst="ellipse">
            <a:avLst/>
          </a:prstGeom>
          <a:solidFill>
            <a:srgbClr val="076B50"/>
          </a:solidFill>
          <a:ln w="12668">
            <a:solidFill>
              <a:srgbClr val="076B50"/>
            </a:solidFill>
            <a:prstDash val="solid"/>
          </a:ln>
        </p:spPr>
        <p:txBody>
          <a:bodyPr/>
          <a:p/>
        </p:txBody>
      </p:sp>
      <p:sp>
        <p:nvSpPr>
          <p:cNvPr id="114" name="矩形 113"/>
          <p:cNvSpPr>
            <a:spLocks noGrp="1"/>
          </p:cNvSpPr>
          <p:nvPr/>
        </p:nvSpPr>
        <p:spPr>
          <a:xfrm>
            <a:off x="914400" y="4781550"/>
            <a:ext cx="171450" cy="171450"/>
          </a:xfrm>
          <a:prstGeom prst="rect">
            <a:avLst/>
          </a:prstGeom>
        </p:spPr>
        <p:txBody>
          <a:bodyPr anchor="ctr"/>
          <a:lstStyle/>
          <a:p>
            <a:pPr algn="ctr">
              <a:defRPr sz="630" b="1">
                <a:solidFill>
                  <a:srgbClr val="FFFFFF"/>
                </a:solidFill>
              </a:defRPr>
            </a:pPr>
            <a:r>
              <a:t>8</a:t>
            </a:r>
          </a:p>
        </p:txBody>
      </p:sp>
      <p:sp>
        <p:nvSpPr>
          <p:cNvPr id="115" name="矩形 114"/>
          <p:cNvSpPr>
            <a:spLocks noGrp="1"/>
          </p:cNvSpPr>
          <p:nvPr/>
        </p:nvSpPr>
        <p:spPr>
          <a:xfrm>
            <a:off x="1162050" y="4705350"/>
            <a:ext cx="590550" cy="323850"/>
          </a:xfrm>
          <a:prstGeom prst="rect">
            <a:avLst/>
          </a:prstGeom>
        </p:spPr>
        <p:txBody>
          <a:bodyPr anchor="ctr"/>
          <a:lstStyle/>
          <a:p>
            <a:pPr algn="l">
              <a:defRPr sz="760" b="1">
                <a:solidFill>
                  <a:srgbClr val="14383E"/>
                </a:solidFill>
              </a:defRPr>
            </a:pPr>
            <a:r>
              <a:t>跟进</a:t>
            </a:r>
          </a:p>
        </p:txBody>
      </p:sp>
      <p:sp>
        <p:nvSpPr>
          <p:cNvPr id="116" name="矩形 115"/>
          <p:cNvSpPr>
            <a:spLocks noGrp="1"/>
          </p:cNvSpPr>
          <p:nvPr/>
        </p:nvSpPr>
        <p:spPr>
          <a:xfrm>
            <a:off x="1809750" y="4705350"/>
            <a:ext cx="3048000" cy="323850"/>
          </a:xfrm>
          <a:prstGeom prst="rect">
            <a:avLst/>
          </a:prstGeom>
        </p:spPr>
        <p:txBody>
          <a:bodyPr anchor="ctr"/>
          <a:lstStyle/>
          <a:p>
            <a:pPr algn="l">
              <a:defRPr sz="660" b="0">
                <a:solidFill>
                  <a:srgbClr val="44585C"/>
                </a:solidFill>
              </a:defRPr>
            </a:pPr>
            <a:r>
              <a:t>待处理当日清，超 12 小时未回标红</a:t>
            </a:r>
          </a:p>
        </p:txBody>
      </p:sp>
      <p:sp>
        <p:nvSpPr>
          <p:cNvPr id="117" name="圆角矩形 116"/>
          <p:cNvSpPr>
            <a:spLocks noGrp="1"/>
          </p:cNvSpPr>
          <p:nvPr/>
        </p:nvSpPr>
        <p:spPr>
          <a:xfrm>
            <a:off x="838200" y="5105400"/>
            <a:ext cx="4095750" cy="323850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668">
            <a:solidFill>
              <a:srgbClr val="C7DAD6"/>
            </a:solidFill>
            <a:prstDash val="solid"/>
          </a:ln>
        </p:spPr>
        <p:txBody>
          <a:bodyPr/>
          <a:p/>
        </p:txBody>
      </p:sp>
      <p:sp>
        <p:nvSpPr>
          <p:cNvPr id="118" name="椭圆 117"/>
          <p:cNvSpPr>
            <a:spLocks noGrp="1"/>
          </p:cNvSpPr>
          <p:nvPr/>
        </p:nvSpPr>
        <p:spPr>
          <a:xfrm>
            <a:off x="914400" y="5181600"/>
            <a:ext cx="171450" cy="171450"/>
          </a:xfrm>
          <a:prstGeom prst="ellipse">
            <a:avLst/>
          </a:prstGeom>
          <a:solidFill>
            <a:srgbClr val="076B50"/>
          </a:solidFill>
          <a:ln w="12668">
            <a:solidFill>
              <a:srgbClr val="076B50"/>
            </a:solidFill>
            <a:prstDash val="solid"/>
          </a:ln>
        </p:spPr>
        <p:txBody>
          <a:bodyPr/>
          <a:p/>
        </p:txBody>
      </p:sp>
      <p:sp>
        <p:nvSpPr>
          <p:cNvPr id="119" name="矩形 118"/>
          <p:cNvSpPr>
            <a:spLocks noGrp="1"/>
          </p:cNvSpPr>
          <p:nvPr/>
        </p:nvSpPr>
        <p:spPr>
          <a:xfrm>
            <a:off x="914400" y="5181600"/>
            <a:ext cx="171450" cy="171450"/>
          </a:xfrm>
          <a:prstGeom prst="rect">
            <a:avLst/>
          </a:prstGeom>
        </p:spPr>
        <p:txBody>
          <a:bodyPr anchor="ctr"/>
          <a:lstStyle/>
          <a:p>
            <a:pPr algn="ctr">
              <a:defRPr sz="630" b="1">
                <a:solidFill>
                  <a:srgbClr val="FFFFFF"/>
                </a:solidFill>
              </a:defRPr>
            </a:pPr>
            <a:r>
              <a:t>9</a:t>
            </a:r>
          </a:p>
        </p:txBody>
      </p:sp>
      <p:sp>
        <p:nvSpPr>
          <p:cNvPr id="120" name="矩形 119"/>
          <p:cNvSpPr>
            <a:spLocks noGrp="1"/>
          </p:cNvSpPr>
          <p:nvPr/>
        </p:nvSpPr>
        <p:spPr>
          <a:xfrm>
            <a:off x="1162050" y="5105400"/>
            <a:ext cx="590550" cy="323850"/>
          </a:xfrm>
          <a:prstGeom prst="rect">
            <a:avLst/>
          </a:prstGeom>
        </p:spPr>
        <p:txBody>
          <a:bodyPr anchor="ctr"/>
          <a:lstStyle/>
          <a:p>
            <a:pPr algn="l">
              <a:defRPr sz="760" b="1">
                <a:solidFill>
                  <a:srgbClr val="14383E"/>
                </a:solidFill>
              </a:defRPr>
            </a:pPr>
            <a:r>
              <a:t>关闭</a:t>
            </a:r>
          </a:p>
        </p:txBody>
      </p:sp>
      <p:sp>
        <p:nvSpPr>
          <p:cNvPr id="121" name="矩形 120"/>
          <p:cNvSpPr>
            <a:spLocks noGrp="1"/>
          </p:cNvSpPr>
          <p:nvPr/>
        </p:nvSpPr>
        <p:spPr>
          <a:xfrm>
            <a:off x="1809750" y="5105400"/>
            <a:ext cx="3048000" cy="323850"/>
          </a:xfrm>
          <a:prstGeom prst="rect">
            <a:avLst/>
          </a:prstGeom>
        </p:spPr>
        <p:txBody>
          <a:bodyPr anchor="ctr"/>
          <a:lstStyle/>
          <a:p>
            <a:pPr algn="l">
              <a:defRPr sz="660" b="0">
                <a:solidFill>
                  <a:srgbClr val="44585C"/>
                </a:solidFill>
              </a:defRPr>
            </a:pPr>
            <a:r>
              <a:t>关闭后 2–3 个工作日发满意度调查</a:t>
            </a:r>
          </a:p>
        </p:txBody>
      </p:sp>
      <p:sp>
        <p:nvSpPr>
          <p:cNvPr id="122" name="圆角矩形 121"/>
          <p:cNvSpPr>
            <a:spLocks noGrp="1"/>
          </p:cNvSpPr>
          <p:nvPr/>
        </p:nvSpPr>
        <p:spPr>
          <a:xfrm>
            <a:off x="5191125" y="1943100"/>
            <a:ext cx="6343650" cy="1447800"/>
          </a:xfrm>
          <a:prstGeom prst="roundRect">
            <a:avLst>
              <a:gd name="adj" fmla="val 5263"/>
            </a:avLst>
          </a:prstGeom>
          <a:solidFill>
            <a:srgbClr val="FFF2E8"/>
          </a:solidFill>
          <a:ln w="12668">
            <a:solidFill>
              <a:srgbClr val="F28B36"/>
            </a:solidFill>
            <a:prstDash val="solid"/>
          </a:ln>
        </p:spPr>
        <p:txBody>
          <a:bodyPr/>
          <a:p/>
        </p:txBody>
      </p:sp>
      <p:sp>
        <p:nvSpPr>
          <p:cNvPr id="123" name="矩形 122"/>
          <p:cNvSpPr>
            <a:spLocks noGrp="1"/>
          </p:cNvSpPr>
          <p:nvPr/>
        </p:nvSpPr>
        <p:spPr>
          <a:xfrm>
            <a:off x="5314950" y="2019300"/>
            <a:ext cx="6096000" cy="190500"/>
          </a:xfrm>
          <a:prstGeom prst="rect">
            <a:avLst/>
          </a:prstGeom>
        </p:spPr>
        <p:txBody>
          <a:bodyPr anchor="ctr"/>
          <a:lstStyle/>
          <a:p>
            <a:pPr algn="l">
              <a:defRPr sz="760" b="1">
                <a:solidFill>
                  <a:srgbClr val="14383E"/>
                </a:solidFill>
              </a:defRPr>
            </a:pPr>
            <a:r>
              <a:t>分岔一 · 第 ⑤ 步：按谁来做</a:t>
            </a:r>
          </a:p>
        </p:txBody>
      </p:sp>
      <p:sp>
        <p:nvSpPr>
          <p:cNvPr id="124" name="圆角矩形 123"/>
          <p:cNvSpPr>
            <a:spLocks noGrp="1"/>
          </p:cNvSpPr>
          <p:nvPr/>
        </p:nvSpPr>
        <p:spPr>
          <a:xfrm>
            <a:off x="5314950" y="2286000"/>
            <a:ext cx="1962150" cy="952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668">
            <a:solidFill>
              <a:srgbClr val="F28B36"/>
            </a:solidFill>
            <a:prstDash val="solid"/>
          </a:ln>
        </p:spPr>
        <p:txBody>
          <a:bodyPr/>
          <a:p/>
        </p:txBody>
      </p:sp>
      <p:sp>
        <p:nvSpPr>
          <p:cNvPr id="125" name="矩形 124"/>
          <p:cNvSpPr>
            <a:spLocks noGrp="1"/>
          </p:cNvSpPr>
          <p:nvPr/>
        </p:nvSpPr>
        <p:spPr>
          <a:xfrm>
            <a:off x="5429250" y="2362200"/>
            <a:ext cx="1733550" cy="190500"/>
          </a:xfrm>
          <a:prstGeom prst="rect">
            <a:avLst/>
          </a:prstGeom>
        </p:spPr>
        <p:txBody>
          <a:bodyPr anchor="ctr"/>
          <a:lstStyle/>
          <a:p>
            <a:pPr algn="l">
              <a:defRPr sz="760" b="1">
                <a:solidFill>
                  <a:srgbClr val="14383E"/>
                </a:solidFill>
              </a:defRPr>
            </a:pPr>
            <a:r>
              <a:t>自己做</a:t>
            </a:r>
          </a:p>
        </p:txBody>
      </p:sp>
      <p:sp>
        <p:nvSpPr>
          <p:cNvPr id="126" name="矩形 125"/>
          <p:cNvSpPr>
            <a:spLocks noGrp="1"/>
          </p:cNvSpPr>
          <p:nvPr/>
        </p:nvSpPr>
        <p:spPr>
          <a:xfrm>
            <a:off x="5429250" y="2571750"/>
            <a:ext cx="1733550" cy="590550"/>
          </a:xfrm>
          <a:prstGeom prst="rect">
            <a:avLst/>
          </a:prstGeom>
        </p:spPr>
        <p:txBody>
          <a:bodyPr anchor="t"/>
          <a:lstStyle/>
          <a:p>
            <a:pPr algn="l">
              <a:defRPr sz="660" b="0">
                <a:solidFill>
                  <a:srgbClr val="44585C"/>
                </a:solidFill>
              </a:defRPr>
            </a:pPr>
            <a:r>
              <a:t>在订单履约系统和商城后台改收件信息、发退货面单、重发邮件、加备注</a:t>
            </a:r>
          </a:p>
        </p:txBody>
      </p:sp>
      <p:sp>
        <p:nvSpPr>
          <p:cNvPr id="127" name="圆角矩形 126"/>
          <p:cNvSpPr>
            <a:spLocks noGrp="1"/>
          </p:cNvSpPr>
          <p:nvPr/>
        </p:nvSpPr>
        <p:spPr>
          <a:xfrm>
            <a:off x="7410450" y="2286000"/>
            <a:ext cx="1962150" cy="952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668">
            <a:solidFill>
              <a:srgbClr val="F28B36"/>
            </a:solidFill>
            <a:prstDash val="solid"/>
          </a:ln>
        </p:spPr>
        <p:txBody>
          <a:bodyPr/>
          <a:p/>
        </p:txBody>
      </p:sp>
      <p:sp>
        <p:nvSpPr>
          <p:cNvPr id="128" name="矩形 127"/>
          <p:cNvSpPr>
            <a:spLocks noGrp="1"/>
          </p:cNvSpPr>
          <p:nvPr/>
        </p:nvSpPr>
        <p:spPr>
          <a:xfrm>
            <a:off x="7524750" y="2362200"/>
            <a:ext cx="1733550" cy="190500"/>
          </a:xfrm>
          <a:prstGeom prst="rect">
            <a:avLst/>
          </a:prstGeom>
        </p:spPr>
        <p:txBody>
          <a:bodyPr anchor="ctr"/>
          <a:lstStyle/>
          <a:p>
            <a:pPr algn="l">
              <a:defRPr sz="760" b="1">
                <a:solidFill>
                  <a:srgbClr val="14383E"/>
                </a:solidFill>
              </a:defRPr>
            </a:pPr>
            <a:r>
              <a:t>交订单组</a:t>
            </a:r>
          </a:p>
        </p:txBody>
      </p:sp>
      <p:sp>
        <p:nvSpPr>
          <p:cNvPr id="129" name="矩形 128"/>
          <p:cNvSpPr>
            <a:spLocks noGrp="1"/>
          </p:cNvSpPr>
          <p:nvPr/>
        </p:nvSpPr>
        <p:spPr>
          <a:xfrm>
            <a:off x="7524750" y="2571750"/>
            <a:ext cx="1733550" cy="590550"/>
          </a:xfrm>
          <a:prstGeom prst="rect">
            <a:avLst/>
          </a:prstGeom>
        </p:spPr>
        <p:txBody>
          <a:bodyPr anchor="t"/>
          <a:lstStyle/>
          <a:p>
            <a:pPr algn="l">
              <a:defRPr sz="660" b="0">
                <a:solidFill>
                  <a:srgbClr val="44585C"/>
                </a:solidFill>
              </a:defRPr>
            </a:pPr>
            <a:r>
              <a:t>跨部门协同单 + 变更通知单（取消 / 改色码 / 退款），发完转内部挂起</a:t>
            </a:r>
          </a:p>
        </p:txBody>
      </p:sp>
      <p:sp>
        <p:nvSpPr>
          <p:cNvPr id="130" name="圆角矩形 129"/>
          <p:cNvSpPr>
            <a:spLocks noGrp="1"/>
          </p:cNvSpPr>
          <p:nvPr/>
        </p:nvSpPr>
        <p:spPr>
          <a:xfrm>
            <a:off x="9505950" y="2286000"/>
            <a:ext cx="1962150" cy="952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668">
            <a:solidFill>
              <a:srgbClr val="F28B36"/>
            </a:solidFill>
            <a:prstDash val="solid"/>
          </a:ln>
        </p:spPr>
        <p:txBody>
          <a:bodyPr/>
          <a:p/>
        </p:txBody>
      </p:sp>
      <p:sp>
        <p:nvSpPr>
          <p:cNvPr id="131" name="矩形 130"/>
          <p:cNvSpPr>
            <a:spLocks noGrp="1"/>
          </p:cNvSpPr>
          <p:nvPr/>
        </p:nvSpPr>
        <p:spPr>
          <a:xfrm>
            <a:off x="9620250" y="2362200"/>
            <a:ext cx="1733550" cy="190500"/>
          </a:xfrm>
          <a:prstGeom prst="rect">
            <a:avLst/>
          </a:prstGeom>
        </p:spPr>
        <p:txBody>
          <a:bodyPr anchor="ctr"/>
          <a:lstStyle/>
          <a:p>
            <a:pPr algn="l">
              <a:defRPr sz="760" b="1">
                <a:solidFill>
                  <a:srgbClr val="14383E"/>
                </a:solidFill>
              </a:defRPr>
            </a:pPr>
            <a:r>
              <a:t>交物流或仓</a:t>
            </a:r>
          </a:p>
        </p:txBody>
      </p:sp>
      <p:sp>
        <p:nvSpPr>
          <p:cNvPr id="132" name="矩形 131"/>
          <p:cNvSpPr>
            <a:spLocks noGrp="1"/>
          </p:cNvSpPr>
          <p:nvPr/>
        </p:nvSpPr>
        <p:spPr>
          <a:xfrm>
            <a:off x="9620250" y="2571750"/>
            <a:ext cx="1733550" cy="590550"/>
          </a:xfrm>
          <a:prstGeom prst="rect">
            <a:avLst/>
          </a:prstGeom>
        </p:spPr>
        <p:txBody>
          <a:bodyPr anchor="t"/>
          <a:lstStyle/>
          <a:p>
            <a:pPr algn="l">
              <a:defRPr sz="660" b="0">
                <a:solidFill>
                  <a:srgbClr val="44585C"/>
                </a:solidFill>
              </a:defRPr>
            </a:pPr>
            <a:r>
              <a:t>物流异常、入库与归还确认，也可发起外联联系客户</a:t>
            </a:r>
          </a:p>
        </p:txBody>
      </p:sp>
      <p:sp>
        <p:nvSpPr>
          <p:cNvPr id="133" name="圆角矩形 132"/>
          <p:cNvSpPr>
            <a:spLocks noGrp="1"/>
          </p:cNvSpPr>
          <p:nvPr/>
        </p:nvSpPr>
        <p:spPr>
          <a:xfrm>
            <a:off x="5191125" y="3771900"/>
            <a:ext cx="6343650" cy="1447800"/>
          </a:xfrm>
          <a:prstGeom prst="roundRect">
            <a:avLst>
              <a:gd name="adj" fmla="val 5263"/>
            </a:avLst>
          </a:prstGeom>
          <a:solidFill>
            <a:srgbClr val="EAF3FF"/>
          </a:solidFill>
          <a:ln w="12668">
            <a:solidFill>
              <a:srgbClr val="2F80ED"/>
            </a:solidFill>
            <a:prstDash val="solid"/>
          </a:ln>
        </p:spPr>
        <p:txBody>
          <a:bodyPr/>
          <a:p/>
        </p:txBody>
      </p:sp>
      <p:sp>
        <p:nvSpPr>
          <p:cNvPr id="134" name="矩形 133"/>
          <p:cNvSpPr>
            <a:spLocks noGrp="1"/>
          </p:cNvSpPr>
          <p:nvPr/>
        </p:nvSpPr>
        <p:spPr>
          <a:xfrm>
            <a:off x="5314950" y="3848100"/>
            <a:ext cx="6096000" cy="190500"/>
          </a:xfrm>
          <a:prstGeom prst="rect">
            <a:avLst/>
          </a:prstGeom>
        </p:spPr>
        <p:txBody>
          <a:bodyPr anchor="ctr"/>
          <a:lstStyle/>
          <a:p>
            <a:pPr algn="l">
              <a:defRPr sz="760" b="1">
                <a:solidFill>
                  <a:srgbClr val="14383E"/>
                </a:solidFill>
              </a:defRPr>
            </a:pPr>
            <a:r>
              <a:t>分岔二 · 第 ⑦ 步：按在等谁</a:t>
            </a:r>
          </a:p>
        </p:txBody>
      </p:sp>
      <p:sp>
        <p:nvSpPr>
          <p:cNvPr id="135" name="圆角矩形 134"/>
          <p:cNvSpPr>
            <a:spLocks noGrp="1"/>
          </p:cNvSpPr>
          <p:nvPr/>
        </p:nvSpPr>
        <p:spPr>
          <a:xfrm>
            <a:off x="5314950" y="4114800"/>
            <a:ext cx="1962150" cy="952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668">
            <a:solidFill>
              <a:srgbClr val="2F80ED"/>
            </a:solidFill>
            <a:prstDash val="solid"/>
          </a:ln>
        </p:spPr>
        <p:txBody>
          <a:bodyPr/>
          <a:p/>
        </p:txBody>
      </p:sp>
      <p:sp>
        <p:nvSpPr>
          <p:cNvPr id="136" name="矩形 135"/>
          <p:cNvSpPr>
            <a:spLocks noGrp="1"/>
          </p:cNvSpPr>
          <p:nvPr/>
        </p:nvSpPr>
        <p:spPr>
          <a:xfrm>
            <a:off x="5429250" y="4191000"/>
            <a:ext cx="1733550" cy="190500"/>
          </a:xfrm>
          <a:prstGeom prst="rect">
            <a:avLst/>
          </a:prstGeom>
        </p:spPr>
        <p:txBody>
          <a:bodyPr anchor="ctr"/>
          <a:lstStyle/>
          <a:p>
            <a:pPr algn="l">
              <a:defRPr sz="760" b="1">
                <a:solidFill>
                  <a:srgbClr val="14383E"/>
                </a:solidFill>
              </a:defRPr>
            </a:pPr>
            <a:r>
              <a:t>待客户</a:t>
            </a:r>
          </a:p>
        </p:txBody>
      </p:sp>
      <p:sp>
        <p:nvSpPr>
          <p:cNvPr id="137" name="矩形 136"/>
          <p:cNvSpPr>
            <a:spLocks noGrp="1"/>
          </p:cNvSpPr>
          <p:nvPr/>
        </p:nvSpPr>
        <p:spPr>
          <a:xfrm>
            <a:off x="5429250" y="4400550"/>
            <a:ext cx="1733550" cy="590550"/>
          </a:xfrm>
          <a:prstGeom prst="rect">
            <a:avLst/>
          </a:prstGeom>
        </p:spPr>
        <p:txBody>
          <a:bodyPr anchor="t"/>
          <a:lstStyle/>
          <a:p>
            <a:pPr algn="l">
              <a:defRPr sz="660" b="0">
                <a:solidFill>
                  <a:srgbClr val="44585C"/>
                </a:solidFill>
              </a:defRPr>
            </a:pPr>
            <a:r>
              <a:t>第 3、5 天自动提醒，第 7 天无回复自动关闭</a:t>
            </a:r>
          </a:p>
        </p:txBody>
      </p:sp>
      <p:sp>
        <p:nvSpPr>
          <p:cNvPr id="138" name="圆角矩形 137"/>
          <p:cNvSpPr>
            <a:spLocks noGrp="1"/>
          </p:cNvSpPr>
          <p:nvPr/>
        </p:nvSpPr>
        <p:spPr>
          <a:xfrm>
            <a:off x="7410450" y="4114800"/>
            <a:ext cx="1962150" cy="952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668">
            <a:solidFill>
              <a:srgbClr val="2F80ED"/>
            </a:solidFill>
            <a:prstDash val="solid"/>
          </a:ln>
        </p:spPr>
        <p:txBody>
          <a:bodyPr/>
          <a:p/>
        </p:txBody>
      </p:sp>
      <p:sp>
        <p:nvSpPr>
          <p:cNvPr id="139" name="矩形 138"/>
          <p:cNvSpPr>
            <a:spLocks noGrp="1"/>
          </p:cNvSpPr>
          <p:nvPr/>
        </p:nvSpPr>
        <p:spPr>
          <a:xfrm>
            <a:off x="7524750" y="4191000"/>
            <a:ext cx="1733550" cy="190500"/>
          </a:xfrm>
          <a:prstGeom prst="rect">
            <a:avLst/>
          </a:prstGeom>
        </p:spPr>
        <p:txBody>
          <a:bodyPr anchor="ctr"/>
          <a:lstStyle/>
          <a:p>
            <a:pPr algn="l">
              <a:defRPr sz="760" b="1">
                <a:solidFill>
                  <a:srgbClr val="14383E"/>
                </a:solidFill>
              </a:defRPr>
            </a:pPr>
            <a:r>
              <a:t>内部挂起</a:t>
            </a:r>
          </a:p>
        </p:txBody>
      </p:sp>
      <p:sp>
        <p:nvSpPr>
          <p:cNvPr id="140" name="矩形 139"/>
          <p:cNvSpPr>
            <a:spLocks noGrp="1"/>
          </p:cNvSpPr>
          <p:nvPr/>
        </p:nvSpPr>
        <p:spPr>
          <a:xfrm>
            <a:off x="7524750" y="4400550"/>
            <a:ext cx="1733550" cy="590550"/>
          </a:xfrm>
          <a:prstGeom prst="rect">
            <a:avLst/>
          </a:prstGeom>
        </p:spPr>
        <p:txBody>
          <a:bodyPr anchor="t"/>
          <a:lstStyle/>
          <a:p>
            <a:pPr algn="l">
              <a:defRPr sz="660" b="0">
                <a:solidFill>
                  <a:srgbClr val="44585C"/>
                </a:solidFill>
              </a:defRPr>
            </a:pPr>
            <a:r>
              <a:t>设跳回时间（默认次日），到期自动回到待处理</a:t>
            </a:r>
          </a:p>
        </p:txBody>
      </p:sp>
      <p:sp>
        <p:nvSpPr>
          <p:cNvPr id="141" name="圆角矩形 140"/>
          <p:cNvSpPr>
            <a:spLocks noGrp="1"/>
          </p:cNvSpPr>
          <p:nvPr/>
        </p:nvSpPr>
        <p:spPr>
          <a:xfrm>
            <a:off x="9505950" y="4114800"/>
            <a:ext cx="1962150" cy="952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668">
            <a:solidFill>
              <a:srgbClr val="2F80ED"/>
            </a:solidFill>
            <a:prstDash val="solid"/>
          </a:ln>
        </p:spPr>
        <p:txBody>
          <a:bodyPr/>
          <a:p/>
        </p:txBody>
      </p:sp>
      <p:sp>
        <p:nvSpPr>
          <p:cNvPr id="142" name="矩形 141"/>
          <p:cNvSpPr>
            <a:spLocks noGrp="1"/>
          </p:cNvSpPr>
          <p:nvPr/>
        </p:nvSpPr>
        <p:spPr>
          <a:xfrm>
            <a:off x="9620250" y="4191000"/>
            <a:ext cx="1733550" cy="190500"/>
          </a:xfrm>
          <a:prstGeom prst="rect">
            <a:avLst/>
          </a:prstGeom>
        </p:spPr>
        <p:txBody>
          <a:bodyPr anchor="ctr"/>
          <a:lstStyle/>
          <a:p>
            <a:pPr algn="l">
              <a:defRPr sz="760" b="1">
                <a:solidFill>
                  <a:srgbClr val="14383E"/>
                </a:solidFill>
              </a:defRPr>
            </a:pPr>
            <a:r>
              <a:t>关闭</a:t>
            </a:r>
          </a:p>
        </p:txBody>
      </p:sp>
      <p:sp>
        <p:nvSpPr>
          <p:cNvPr id="143" name="矩形 142"/>
          <p:cNvSpPr>
            <a:spLocks noGrp="1"/>
          </p:cNvSpPr>
          <p:nvPr/>
        </p:nvSpPr>
        <p:spPr>
          <a:xfrm>
            <a:off x="9620250" y="4400550"/>
            <a:ext cx="1733550" cy="590550"/>
          </a:xfrm>
          <a:prstGeom prst="rect">
            <a:avLst/>
          </a:prstGeom>
        </p:spPr>
        <p:txBody>
          <a:bodyPr anchor="t"/>
          <a:lstStyle/>
          <a:p>
            <a:pPr algn="l">
              <a:defRPr sz="660" b="0">
                <a:solidFill>
                  <a:srgbClr val="44585C"/>
                </a:solidFill>
              </a:defRPr>
            </a:pPr>
            <a:r>
              <a:t>已解决又不急的，可先挂待客户等它自然关闭</a:t>
            </a:r>
          </a:p>
        </p:txBody>
      </p:sp>
      <p:sp>
        <p:nvSpPr>
          <p:cNvPr id="144" name="矩形 143"/>
          <p:cNvSpPr>
            <a:spLocks noGrp="1"/>
          </p:cNvSpPr>
          <p:nvPr/>
        </p:nvSpPr>
        <p:spPr>
          <a:xfrm>
            <a:off x="838200" y="5657850"/>
            <a:ext cx="10696575" cy="190500"/>
          </a:xfrm>
          <a:prstGeom prst="rect">
            <a:avLst/>
          </a:prstGeom>
        </p:spPr>
        <p:txBody>
          <a:bodyPr anchor="ctr"/>
          <a:lstStyle/>
          <a:p>
            <a:pPr algn="l">
              <a:defRPr sz="740" b="1">
                <a:solidFill>
                  <a:srgbClr val="9A5210"/>
                </a:solidFill>
              </a:defRPr>
            </a:pPr>
            <a:r>
              <a:t>硬性要求：能取消、能修改的必须发变更通知单，只回复客户不算完成。</a:t>
            </a:r>
          </a:p>
        </p:txBody>
      </p:sp>
      <p:sp>
        <p:nvSpPr>
          <p:cNvPr id="145" name="矩形 144"/>
          <p:cNvSpPr>
            <a:spLocks noGrp="1"/>
          </p:cNvSpPr>
          <p:nvPr/>
        </p:nvSpPr>
        <p:spPr>
          <a:xfrm>
            <a:off x="838200" y="5886450"/>
            <a:ext cx="10696575" cy="190500"/>
          </a:xfrm>
          <a:prstGeom prst="rect">
            <a:avLst/>
          </a:prstGeom>
        </p:spPr>
        <p:txBody>
          <a:bodyPr anchor="ctr"/>
          <a:lstStyle/>
          <a:p>
            <a:pPr algn="l">
              <a:defRPr sz="740" b="1">
                <a:solidFill>
                  <a:srgbClr val="9A5210"/>
                </a:solidFill>
              </a:defRPr>
            </a:pPr>
            <a:r>
              <a:t>内部流程节点和后台信息不外发，含他人信息的界面不给第三方。</a:t>
            </a:r>
          </a:p>
        </p:txBody>
      </p:sp>
      <p:sp>
        <p:nvSpPr>
          <p:cNvPr id="146" name="圆角矩形 145"/>
          <p:cNvSpPr>
            <a:spLocks noGrp="1"/>
          </p:cNvSpPr>
          <p:nvPr/>
        </p:nvSpPr>
        <p:spPr>
          <a:xfrm>
            <a:off x="6565583" y="127635"/>
            <a:ext cx="4937760" cy="365760"/>
          </a:xfrm>
          <a:prstGeom prst="roundRect">
            <a:avLst>
              <a:gd name="adj" fmla="val 20833"/>
            </a:avLst>
          </a:prstGeom>
          <a:solidFill>
            <a:srgbClr val="F7FBF9"/>
          </a:solidFill>
          <a:ln w="12668">
            <a:solidFill>
              <a:srgbClr val="F7FBF9"/>
            </a:solidFill>
            <a:prstDash val="solid"/>
          </a:ln>
        </p:spPr>
        <p:txBody>
          <a:bodyPr/>
          <a:p/>
        </p:txBody>
      </p:sp>
      <p:sp>
        <p:nvSpPr>
          <p:cNvPr id="147" name="圆角矩形 146"/>
          <p:cNvSpPr>
            <a:spLocks noGrp="1"/>
          </p:cNvSpPr>
          <p:nvPr/>
        </p:nvSpPr>
        <p:spPr>
          <a:xfrm>
            <a:off x="6657023" y="164783"/>
            <a:ext cx="1154430" cy="264795"/>
          </a:xfrm>
          <a:prstGeom prst="roundRect">
            <a:avLst>
              <a:gd name="adj" fmla="val 28777"/>
            </a:avLst>
          </a:prstGeom>
          <a:solidFill>
            <a:srgbClr val="007574"/>
          </a:solidFill>
          <a:ln w="12668">
            <a:solidFill>
              <a:srgbClr val="007574"/>
            </a:solidFill>
            <a:prstDash val="solid"/>
          </a:ln>
        </p:spPr>
        <p:txBody>
          <a:bodyPr/>
          <a:p/>
        </p:txBody>
      </p:sp>
      <p:sp>
        <p:nvSpPr>
          <p:cNvPr id="148" name="矩形 147"/>
          <p:cNvSpPr>
            <a:spLocks noGrp="1"/>
          </p:cNvSpPr>
          <p:nvPr/>
        </p:nvSpPr>
        <p:spPr>
          <a:xfrm>
            <a:off x="6657023" y="187643"/>
            <a:ext cx="1154430" cy="182880"/>
          </a:xfrm>
          <a:prstGeom prst="rect">
            <a:avLst/>
          </a:prstGeom>
        </p:spPr>
        <p:txBody>
          <a:bodyPr anchor="ctr"/>
          <a:lstStyle/>
          <a:p>
            <a:pPr algn="ctr">
              <a:defRPr sz="660" b="1">
                <a:solidFill>
                  <a:srgbClr val="FFFFFF"/>
                </a:solidFill>
              </a:defRPr>
            </a:pPr>
            <a:r>
              <a:t>理解</a:t>
            </a:r>
          </a:p>
        </p:txBody>
      </p:sp>
      <p:sp>
        <p:nvSpPr>
          <p:cNvPr id="149" name="圆角矩形 148"/>
          <p:cNvSpPr>
            <a:spLocks noGrp="1"/>
          </p:cNvSpPr>
          <p:nvPr/>
        </p:nvSpPr>
        <p:spPr>
          <a:xfrm>
            <a:off x="7857173" y="164783"/>
            <a:ext cx="1154430" cy="264795"/>
          </a:xfrm>
          <a:prstGeom prst="roundRect">
            <a:avLst>
              <a:gd name="adj" fmla="val 28777"/>
            </a:avLst>
          </a:prstGeom>
          <a:solidFill>
            <a:srgbClr val="007574"/>
          </a:solidFill>
          <a:ln w="12668">
            <a:solidFill>
              <a:srgbClr val="007574"/>
            </a:solidFill>
            <a:prstDash val="solid"/>
          </a:ln>
        </p:spPr>
        <p:txBody>
          <a:bodyPr/>
          <a:p/>
        </p:txBody>
      </p:sp>
      <p:sp>
        <p:nvSpPr>
          <p:cNvPr id="150" name="矩形 149"/>
          <p:cNvSpPr>
            <a:spLocks noGrp="1"/>
          </p:cNvSpPr>
          <p:nvPr/>
        </p:nvSpPr>
        <p:spPr>
          <a:xfrm>
            <a:off x="7857173" y="187643"/>
            <a:ext cx="1154430" cy="182880"/>
          </a:xfrm>
          <a:prstGeom prst="rect">
            <a:avLst/>
          </a:prstGeom>
        </p:spPr>
        <p:txBody>
          <a:bodyPr anchor="ctr"/>
          <a:lstStyle/>
          <a:p>
            <a:pPr algn="ctr">
              <a:defRPr sz="660" b="1">
                <a:solidFill>
                  <a:srgbClr val="FFFFFF"/>
                </a:solidFill>
              </a:defRPr>
            </a:pPr>
            <a:r>
              <a:t>查询</a:t>
            </a:r>
          </a:p>
        </p:txBody>
      </p:sp>
      <p:sp>
        <p:nvSpPr>
          <p:cNvPr id="151" name="圆角矩形 150"/>
          <p:cNvSpPr>
            <a:spLocks noGrp="1"/>
          </p:cNvSpPr>
          <p:nvPr/>
        </p:nvSpPr>
        <p:spPr>
          <a:xfrm>
            <a:off x="9057323" y="164783"/>
            <a:ext cx="1154430" cy="264795"/>
          </a:xfrm>
          <a:prstGeom prst="roundRect">
            <a:avLst>
              <a:gd name="adj" fmla="val 28777"/>
            </a:avLst>
          </a:prstGeom>
          <a:solidFill>
            <a:srgbClr val="007574"/>
          </a:solidFill>
          <a:ln w="12668">
            <a:solidFill>
              <a:srgbClr val="007574"/>
            </a:solidFill>
            <a:prstDash val="solid"/>
          </a:ln>
        </p:spPr>
        <p:txBody>
          <a:bodyPr/>
          <a:p/>
        </p:txBody>
      </p:sp>
      <p:sp>
        <p:nvSpPr>
          <p:cNvPr id="152" name="矩形 151"/>
          <p:cNvSpPr>
            <a:spLocks noGrp="1"/>
          </p:cNvSpPr>
          <p:nvPr/>
        </p:nvSpPr>
        <p:spPr>
          <a:xfrm>
            <a:off x="9057323" y="187643"/>
            <a:ext cx="1154430" cy="182880"/>
          </a:xfrm>
          <a:prstGeom prst="rect">
            <a:avLst/>
          </a:prstGeom>
        </p:spPr>
        <p:txBody>
          <a:bodyPr anchor="ctr"/>
          <a:lstStyle/>
          <a:p>
            <a:pPr algn="ctr">
              <a:defRPr sz="660" b="1">
                <a:solidFill>
                  <a:srgbClr val="FFFFFF"/>
                </a:solidFill>
              </a:defRPr>
            </a:pPr>
            <a:r>
              <a:t>决策</a:t>
            </a:r>
          </a:p>
        </p:txBody>
      </p:sp>
      <p:sp>
        <p:nvSpPr>
          <p:cNvPr id="153" name="圆角矩形 152"/>
          <p:cNvSpPr>
            <a:spLocks noGrp="1"/>
          </p:cNvSpPr>
          <p:nvPr/>
        </p:nvSpPr>
        <p:spPr>
          <a:xfrm>
            <a:off x="10257473" y="164783"/>
            <a:ext cx="1154430" cy="264795"/>
          </a:xfrm>
          <a:prstGeom prst="roundRect">
            <a:avLst>
              <a:gd name="adj" fmla="val 28777"/>
            </a:avLst>
          </a:prstGeom>
          <a:solidFill>
            <a:srgbClr val="007574"/>
          </a:solidFill>
          <a:ln w="12668">
            <a:solidFill>
              <a:srgbClr val="007574"/>
            </a:solidFill>
            <a:prstDash val="solid"/>
          </a:ln>
        </p:spPr>
        <p:txBody>
          <a:bodyPr/>
          <a:p/>
        </p:txBody>
      </p:sp>
      <p:sp>
        <p:nvSpPr>
          <p:cNvPr id="154" name="矩形 153"/>
          <p:cNvSpPr>
            <a:spLocks noGrp="1"/>
          </p:cNvSpPr>
          <p:nvPr/>
        </p:nvSpPr>
        <p:spPr>
          <a:xfrm>
            <a:off x="10257473" y="187643"/>
            <a:ext cx="1154430" cy="182880"/>
          </a:xfrm>
          <a:prstGeom prst="rect">
            <a:avLst/>
          </a:prstGeom>
        </p:spPr>
        <p:txBody>
          <a:bodyPr anchor="ctr"/>
          <a:lstStyle/>
          <a:p>
            <a:pPr algn="ctr">
              <a:defRPr sz="660" b="1">
                <a:solidFill>
                  <a:srgbClr val="FFFFFF"/>
                </a:solidFill>
              </a:defRPr>
            </a:pPr>
            <a:r>
              <a:t>执行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hape 0"/>
          <p:cNvSpPr>
            <a:spLocks noGrp="1"/>
          </p:cNvSpPr>
          <p:nvPr/>
        </p:nvSpPr>
        <p:spPr>
          <a:xfrm>
            <a:off x="16459" y="16459"/>
            <a:ext cx="38405" cy="6825082"/>
          </a:xfrm>
          <a:prstGeom prst="rect">
            <a:avLst/>
          </a:prstGeom>
          <a:solidFill>
            <a:srgbClr val="0A8F6A"/>
          </a:solidFill>
          <a:ln w="12700">
            <a:solidFill>
              <a:srgbClr val="12B07D"/>
            </a:solidFill>
            <a:prstDash val="solid"/>
          </a:ln>
        </p:spPr>
        <p:txBody>
          <a:bodyPr/>
          <a:lstStyle/>
          <a:p/>
        </p:txBody>
      </p:sp>
      <p:sp>
        <p:nvSpPr>
          <p:cNvPr id="4" name="Shape 2"/>
          <p:cNvSpPr>
            <a:spLocks noGrp="1"/>
          </p:cNvSpPr>
          <p:nvPr/>
        </p:nvSpPr>
        <p:spPr>
          <a:xfrm>
            <a:off x="10104120" y="73152"/>
            <a:ext cx="1874520" cy="1353312"/>
          </a:xfrm>
          <a:prstGeom prst="ellipse">
            <a:avLst/>
          </a:prstGeom>
          <a:solidFill>
            <a:srgbClr val="E8F7F1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/>
        </p:txBody>
      </p:sp>
      <p:sp>
        <p:nvSpPr>
          <p:cNvPr id="5" name="Shape 3"/>
          <p:cNvSpPr>
            <a:spLocks noGrp="1"/>
          </p:cNvSpPr>
          <p:nvPr/>
        </p:nvSpPr>
        <p:spPr>
          <a:xfrm>
            <a:off x="91440" y="5596128"/>
            <a:ext cx="1719072" cy="1051560"/>
          </a:xfrm>
          <a:prstGeom prst="ellipse">
            <a:avLst/>
          </a:prstGeom>
          <a:solidFill>
            <a:srgbClr val="FFF2E8">
              <a:alpha val="68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/>
        </p:txBody>
      </p:sp>
      <p:sp>
        <p:nvSpPr>
          <p:cNvPr id="6" name="Shape 4"/>
          <p:cNvSpPr>
            <a:spLocks noGrp="1"/>
          </p:cNvSpPr>
          <p:nvPr/>
        </p:nvSpPr>
        <p:spPr>
          <a:xfrm>
            <a:off x="658368" y="393192"/>
            <a:ext cx="68580" cy="68580"/>
          </a:xfrm>
          <a:prstGeom prst="ellipse">
            <a:avLst/>
          </a:prstGeom>
          <a:solidFill>
            <a:srgbClr val="0A8F6A"/>
          </a:solidFill>
          <a:ln w="12700">
            <a:solidFill>
              <a:srgbClr val="12B07D"/>
            </a:solidFill>
            <a:prstDash val="solid"/>
          </a:ln>
        </p:spPr>
        <p:txBody>
          <a:bodyPr/>
          <a:lstStyle/>
          <a:p/>
        </p:txBody>
      </p:sp>
      <p:sp>
        <p:nvSpPr>
          <p:cNvPr id="7" name="Shape 5"/>
          <p:cNvSpPr>
            <a:spLocks noGrp="1"/>
          </p:cNvSpPr>
          <p:nvPr/>
        </p:nvSpPr>
        <p:spPr>
          <a:xfrm>
            <a:off x="768096" y="427939"/>
            <a:ext cx="411480" cy="0"/>
          </a:xfrm>
          <a:prstGeom prst="line">
            <a:avLst/>
          </a:prstGeom>
          <a:noFill/>
          <a:ln w="15875">
            <a:solidFill>
              <a:srgbClr val="0A8F6A"/>
            </a:solidFill>
            <a:prstDash val="solid"/>
          </a:ln>
        </p:spPr>
        <p:txBody>
          <a:bodyPr/>
          <a:lstStyle/>
          <a:p/>
        </p:txBody>
      </p:sp>
      <p:sp>
        <p:nvSpPr>
          <p:cNvPr id="8" name="Text 6"/>
          <p:cNvSpPr>
            <a:spLocks noGrp="1"/>
          </p:cNvSpPr>
          <p:nvPr/>
        </p:nvSpPr>
        <p:spPr>
          <a:xfrm>
            <a:off x="1234440" y="265176"/>
            <a:ext cx="2331720" cy="31089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r>
              <a:rPr sz="1050" b="1">
                <a:solidFill>
                  <a:srgbClr val="076B50"/>
                </a:solidFill>
                <a:latin typeface="Noto Sans CJK SC"/>
                <a:ea typeface="Noto Sans CJK SC"/>
                <a:cs typeface="Noto Sans CJK SC"/>
              </a:rPr>
              <a:t>CHAPTER 2 · 场景与移交边界</a:t>
            </a:r>
            <a:endParaRPr sz="1050" b="1">
              <a:solidFill>
                <a:srgbClr val="0A8F6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9" name="Shape 7"/>
          <p:cNvSpPr>
            <a:spLocks noGrp="1"/>
          </p:cNvSpPr>
          <p:nvPr/>
        </p:nvSpPr>
        <p:spPr>
          <a:xfrm>
            <a:off x="9829800" y="301752"/>
            <a:ext cx="68580" cy="68580"/>
          </a:xfrm>
          <a:prstGeom prst="ellipse">
            <a:avLst/>
          </a:prstGeom>
          <a:solidFill>
            <a:srgbClr val="C7DAD6"/>
          </a:solidFill>
          <a:ln w="12700">
            <a:solidFill>
              <a:srgbClr val="C7DAD6"/>
            </a:solidFill>
            <a:prstDash val="solid"/>
          </a:ln>
        </p:spPr>
        <p:txBody>
          <a:bodyPr/>
          <a:lstStyle/>
          <a:p/>
        </p:txBody>
      </p:sp>
      <p:sp>
        <p:nvSpPr>
          <p:cNvPr id="10" name="Shape 8"/>
          <p:cNvSpPr>
            <a:spLocks noGrp="1"/>
          </p:cNvSpPr>
          <p:nvPr/>
        </p:nvSpPr>
        <p:spPr>
          <a:xfrm>
            <a:off x="10040112" y="301752"/>
            <a:ext cx="68580" cy="68580"/>
          </a:xfrm>
          <a:prstGeom prst="ellipse">
            <a:avLst/>
          </a:prstGeom>
          <a:solidFill>
            <a:srgbClr val="C7DAD6"/>
          </a:solidFill>
          <a:ln w="12700">
            <a:solidFill>
              <a:srgbClr val="C7DAD6"/>
            </a:solidFill>
            <a:prstDash val="solid"/>
          </a:ln>
        </p:spPr>
        <p:txBody>
          <a:bodyPr/>
          <a:lstStyle/>
          <a:p/>
        </p:txBody>
      </p:sp>
      <p:sp>
        <p:nvSpPr>
          <p:cNvPr id="11" name="Shape 9"/>
          <p:cNvSpPr>
            <a:spLocks noGrp="1"/>
          </p:cNvSpPr>
          <p:nvPr/>
        </p:nvSpPr>
        <p:spPr>
          <a:xfrm>
            <a:off x="10250424" y="301752"/>
            <a:ext cx="68580" cy="68580"/>
          </a:xfrm>
          <a:prstGeom prst="ellipse">
            <a:avLst/>
          </a:prstGeom>
          <a:solidFill>
            <a:srgbClr val="C7DAD6"/>
          </a:solidFill>
          <a:ln w="12700">
            <a:solidFill>
              <a:srgbClr val="C7DAD6"/>
            </a:solidFill>
            <a:prstDash val="solid"/>
          </a:ln>
        </p:spPr>
        <p:txBody>
          <a:bodyPr/>
          <a:lstStyle/>
          <a:p/>
        </p:txBody>
      </p:sp>
      <p:sp>
        <p:nvSpPr>
          <p:cNvPr id="12" name="Shape 10"/>
          <p:cNvSpPr>
            <a:spLocks noGrp="1"/>
          </p:cNvSpPr>
          <p:nvPr/>
        </p:nvSpPr>
        <p:spPr>
          <a:xfrm>
            <a:off x="10460736" y="301752"/>
            <a:ext cx="68580" cy="68580"/>
          </a:xfrm>
          <a:prstGeom prst="ellipse">
            <a:avLst/>
          </a:prstGeom>
          <a:solidFill>
            <a:srgbClr val="12B07D"/>
          </a:solidFill>
          <a:ln w="12700">
            <a:solidFill>
              <a:srgbClr val="12B07D"/>
            </a:solidFill>
            <a:prstDash val="solid"/>
          </a:ln>
        </p:spPr>
        <p:txBody>
          <a:bodyPr/>
          <a:lstStyle/>
          <a:p/>
        </p:txBody>
      </p:sp>
      <p:sp>
        <p:nvSpPr>
          <p:cNvPr id="13" name="Shape 11"/>
          <p:cNvSpPr>
            <a:spLocks noGrp="1"/>
          </p:cNvSpPr>
          <p:nvPr/>
        </p:nvSpPr>
        <p:spPr>
          <a:xfrm>
            <a:off x="10671048" y="301752"/>
            <a:ext cx="68580" cy="68580"/>
          </a:xfrm>
          <a:prstGeom prst="ellipse">
            <a:avLst/>
          </a:prstGeom>
          <a:solidFill>
            <a:srgbClr val="C7DAD6"/>
          </a:solidFill>
          <a:ln w="12700">
            <a:solidFill>
              <a:srgbClr val="C7DAD6"/>
            </a:solidFill>
            <a:prstDash val="solid"/>
          </a:ln>
        </p:spPr>
        <p:txBody>
          <a:bodyPr/>
          <a:lstStyle/>
          <a:p/>
        </p:txBody>
      </p:sp>
      <p:sp>
        <p:nvSpPr>
          <p:cNvPr id="14" name="Shape 12"/>
          <p:cNvSpPr>
            <a:spLocks noGrp="1"/>
          </p:cNvSpPr>
          <p:nvPr/>
        </p:nvSpPr>
        <p:spPr>
          <a:xfrm>
            <a:off x="10881360" y="301752"/>
            <a:ext cx="68580" cy="68580"/>
          </a:xfrm>
          <a:prstGeom prst="ellipse">
            <a:avLst/>
          </a:prstGeom>
          <a:solidFill>
            <a:srgbClr val="C7DAD6"/>
          </a:solidFill>
          <a:ln w="12700">
            <a:solidFill>
              <a:srgbClr val="C7DAD6"/>
            </a:solidFill>
            <a:prstDash val="solid"/>
          </a:ln>
        </p:spPr>
        <p:txBody>
          <a:bodyPr/>
          <a:lstStyle/>
          <a:p/>
        </p:txBody>
      </p:sp>
      <p:sp>
        <p:nvSpPr>
          <p:cNvPr id="15" name="Shape 13"/>
          <p:cNvSpPr>
            <a:spLocks noGrp="1"/>
          </p:cNvSpPr>
          <p:nvPr/>
        </p:nvSpPr>
        <p:spPr>
          <a:xfrm>
            <a:off x="11091672" y="301752"/>
            <a:ext cx="68580" cy="68580"/>
          </a:xfrm>
          <a:prstGeom prst="ellipse">
            <a:avLst/>
          </a:prstGeom>
          <a:solidFill>
            <a:srgbClr val="C7DAD6"/>
          </a:solidFill>
          <a:ln w="12700">
            <a:solidFill>
              <a:srgbClr val="C7DAD6"/>
            </a:solidFill>
            <a:prstDash val="solid"/>
          </a:ln>
        </p:spPr>
        <p:txBody>
          <a:bodyPr/>
          <a:lstStyle/>
          <a:p/>
        </p:txBody>
      </p:sp>
      <p:sp>
        <p:nvSpPr>
          <p:cNvPr id="16" name="Shape 14"/>
          <p:cNvSpPr>
            <a:spLocks noGrp="1"/>
          </p:cNvSpPr>
          <p:nvPr/>
        </p:nvSpPr>
        <p:spPr>
          <a:xfrm>
            <a:off x="11301984" y="301752"/>
            <a:ext cx="68580" cy="68580"/>
          </a:xfrm>
          <a:prstGeom prst="ellipse">
            <a:avLst/>
          </a:prstGeom>
          <a:solidFill>
            <a:srgbClr val="C7DAD6"/>
          </a:solidFill>
          <a:ln w="12700">
            <a:solidFill>
              <a:srgbClr val="C7DAD6"/>
            </a:solidFill>
            <a:prstDash val="solid"/>
          </a:ln>
        </p:spPr>
        <p:txBody>
          <a:bodyPr/>
          <a:lstStyle/>
          <a:p/>
        </p:txBody>
      </p:sp>
      <p:sp>
        <p:nvSpPr>
          <p:cNvPr id="17" name="Text 15"/>
          <p:cNvSpPr>
            <a:spLocks noGrp="1"/>
          </p:cNvSpPr>
          <p:nvPr/>
        </p:nvSpPr>
        <p:spPr>
          <a:xfrm>
            <a:off x="658368" y="713232"/>
            <a:ext cx="10652760" cy="49377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2550" b="1">
                <a:solidFill>
                  <a:srgbClr val="14383E"/>
                </a:solidFill>
                <a:latin typeface="Noto Sans CJK SC"/>
                <a:ea typeface="Noto Sans CJK SC"/>
                <a:cs typeface="Noto Sans CJK SC"/>
              </a:rPr>
              <a:t>第二章 · 场景与移交边界</a:t>
            </a:r>
            <a:endParaRPr sz="2550"/>
          </a:p>
        </p:txBody>
      </p:sp>
      <p:sp>
        <p:nvSpPr>
          <p:cNvPr id="18" name="Text 16"/>
          <p:cNvSpPr>
            <a:spLocks noGrp="1"/>
          </p:cNvSpPr>
          <p:nvPr/>
        </p:nvSpPr>
        <p:spPr>
          <a:xfrm>
            <a:off x="658368" y="1197864"/>
            <a:ext cx="10469880" cy="29260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r>
              <a:rPr sz="1170">
                <a:solidFill>
                  <a:srgbClr val="44585C"/>
                </a:solidFill>
                <a:latin typeface="Noto Sans CJK SC"/>
                <a:ea typeface="Noto Sans CJK SC"/>
                <a:cs typeface="Noto Sans CJK SC"/>
              </a:rPr>
              <a:t>这一块回答：哪些事能交给 AI，四步里交出去几步。共 6 页，约 14 分钟。</a:t>
            </a:r>
            <a:endParaRPr sz="1170">
              <a:solidFill>
                <a:srgbClr val="6B8185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9" name="Shape 17"/>
          <p:cNvSpPr>
            <a:spLocks noGrp="1"/>
          </p:cNvSpPr>
          <p:nvPr/>
        </p:nvSpPr>
        <p:spPr>
          <a:xfrm>
            <a:off x="658368" y="6510528"/>
            <a:ext cx="10835640" cy="0"/>
          </a:xfrm>
          <a:prstGeom prst="line">
            <a:avLst/>
          </a:prstGeom>
          <a:noFill/>
          <a:ln w="11430">
            <a:solidFill>
              <a:srgbClr val="D7E7E3"/>
            </a:solidFill>
            <a:prstDash val="solid"/>
          </a:ln>
        </p:spPr>
        <p:txBody>
          <a:bodyPr/>
          <a:lstStyle/>
          <a:p/>
        </p:txBody>
      </p:sp>
      <p:sp>
        <p:nvSpPr>
          <p:cNvPr id="20" name="Text 18"/>
          <p:cNvSpPr>
            <a:spLocks noGrp="1"/>
          </p:cNvSpPr>
          <p:nvPr/>
        </p:nvSpPr>
        <p:spPr>
          <a:xfrm>
            <a:off x="658368" y="6556248"/>
            <a:ext cx="2103120" cy="16459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750" b="1" spc="40">
                <a:solidFill>
                  <a:srgbClr val="5C7276"/>
                </a:solidFill>
                <a:latin typeface="Noto Sans CJK SC"/>
                <a:ea typeface="Noto Sans CJK SC"/>
                <a:cs typeface="Noto Sans CJK SC"/>
              </a:rPr>
              <a:t>CUSTOMER SERVICE AI AGENT</a:t>
            </a:r>
            <a:endParaRPr sz="750"/>
          </a:p>
        </p:txBody>
      </p:sp>
      <p:sp>
        <p:nvSpPr>
          <p:cNvPr id="63" name="Rectangle 62"/>
          <p:cNvSpPr>
            <a:spLocks noGrp="1"/>
          </p:cNvSpPr>
          <p:nvPr/>
        </p:nvSpPr>
        <p:spPr>
          <a:xfrm>
            <a:off x="0" y="0"/>
            <a:ext cx="41148" cy="6858000"/>
          </a:xfrm>
          <a:prstGeom prst="rect">
            <a:avLst/>
          </a:prstGeom>
          <a:solidFill>
            <a:srgbClr val="0A8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64" name="圆角矩形 63"/>
          <p:cNvSpPr>
            <a:spLocks noGrp="1"/>
          </p:cNvSpPr>
          <p:nvPr/>
        </p:nvSpPr>
        <p:spPr>
          <a:xfrm>
            <a:off x="657225" y="2743200"/>
            <a:ext cx="10877550" cy="1657350"/>
          </a:xfrm>
          <a:prstGeom prst="roundRect">
            <a:avLst>
              <a:gd name="adj" fmla="val 4598"/>
            </a:avLst>
          </a:prstGeom>
          <a:solidFill>
            <a:srgbClr val="EAF2FF"/>
          </a:solidFill>
          <a:ln w="12668">
            <a:solidFill>
              <a:srgbClr val="2F80ED"/>
            </a:solidFill>
            <a:prstDash val="solid"/>
          </a:ln>
        </p:spPr>
        <p:txBody>
          <a:bodyPr/>
          <a:p/>
        </p:txBody>
      </p:sp>
      <p:sp>
        <p:nvSpPr>
          <p:cNvPr id="65" name="圆角矩形 64"/>
          <p:cNvSpPr>
            <a:spLocks noGrp="1"/>
          </p:cNvSpPr>
          <p:nvPr/>
        </p:nvSpPr>
        <p:spPr>
          <a:xfrm>
            <a:off x="947738" y="3009900"/>
            <a:ext cx="1628775" cy="1123950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668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67" name="矩形 66"/>
          <p:cNvSpPr>
            <a:spLocks noGrp="1"/>
          </p:cNvSpPr>
          <p:nvPr/>
        </p:nvSpPr>
        <p:spPr>
          <a:xfrm>
            <a:off x="1042988" y="3124200"/>
            <a:ext cx="1438275" cy="895350"/>
          </a:xfrm>
          <a:prstGeom prst="rect">
            <a:avLst/>
          </a:prstGeom>
        </p:spPr>
        <p:txBody>
          <a:bodyPr anchor="ctr"/>
          <a:lstStyle/>
          <a:p>
            <a:pPr algn="ctr">
              <a:defRPr sz="740" b="0">
                <a:solidFill>
                  <a:srgbClr val="14383E"/>
                </a:solidFill>
              </a:defRPr>
            </a:pPr>
            <a:r>
              <a:t>四类工单与风险等级</a:t>
            </a:r>
          </a:p>
        </p:txBody>
      </p:sp>
      <p:sp>
        <p:nvSpPr>
          <p:cNvPr id="68" name="圆角矩形 67"/>
          <p:cNvSpPr>
            <a:spLocks noGrp="1"/>
          </p:cNvSpPr>
          <p:nvPr/>
        </p:nvSpPr>
        <p:spPr>
          <a:xfrm>
            <a:off x="2681288" y="3009900"/>
            <a:ext cx="1628775" cy="1123950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668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70" name="矩形 69"/>
          <p:cNvSpPr>
            <a:spLocks noGrp="1"/>
          </p:cNvSpPr>
          <p:nvPr/>
        </p:nvSpPr>
        <p:spPr>
          <a:xfrm>
            <a:off x="2776538" y="3124200"/>
            <a:ext cx="1438275" cy="895350"/>
          </a:xfrm>
          <a:prstGeom prst="rect">
            <a:avLst/>
          </a:prstGeom>
        </p:spPr>
        <p:txBody>
          <a:bodyPr anchor="ctr"/>
          <a:lstStyle/>
          <a:p>
            <a:pPr algn="ctr">
              <a:defRPr sz="740" b="0">
                <a:solidFill>
                  <a:srgbClr val="14383E"/>
                </a:solidFill>
              </a:defRPr>
            </a:pPr>
            <a:r>
              <a:t>26 个场景的技术分类：</a:t>
            </a:r>
            <a:br/>
            <a:r>
              <a:t>五种类型</a:t>
            </a:r>
          </a:p>
        </p:txBody>
      </p:sp>
      <p:sp>
        <p:nvSpPr>
          <p:cNvPr id="71" name="圆角矩形 70"/>
          <p:cNvSpPr>
            <a:spLocks noGrp="1"/>
          </p:cNvSpPr>
          <p:nvPr/>
        </p:nvSpPr>
        <p:spPr>
          <a:xfrm>
            <a:off x="4414838" y="3009900"/>
            <a:ext cx="1628775" cy="1123950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668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73" name="矩形 72"/>
          <p:cNvSpPr>
            <a:spLocks noGrp="1"/>
          </p:cNvSpPr>
          <p:nvPr/>
        </p:nvSpPr>
        <p:spPr>
          <a:xfrm>
            <a:off x="4510088" y="3124200"/>
            <a:ext cx="1438275" cy="895350"/>
          </a:xfrm>
          <a:prstGeom prst="rect">
            <a:avLst/>
          </a:prstGeom>
        </p:spPr>
        <p:txBody>
          <a:bodyPr anchor="ctr"/>
          <a:lstStyle/>
          <a:p>
            <a:pPr algn="ctr">
              <a:defRPr sz="740" b="0">
                <a:solidFill>
                  <a:srgbClr val="14383E"/>
                </a:solidFill>
              </a:defRPr>
            </a:pPr>
            <a:r>
              <a:t>类型 × 风险矩阵</a:t>
            </a:r>
          </a:p>
        </p:txBody>
      </p:sp>
      <p:sp>
        <p:nvSpPr>
          <p:cNvPr id="74" name="圆角矩形 73"/>
          <p:cNvSpPr>
            <a:spLocks noGrp="1"/>
          </p:cNvSpPr>
          <p:nvPr/>
        </p:nvSpPr>
        <p:spPr>
          <a:xfrm>
            <a:off x="6148388" y="3009900"/>
            <a:ext cx="1628775" cy="1123950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668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76" name="矩形 75"/>
          <p:cNvSpPr>
            <a:spLocks noGrp="1"/>
          </p:cNvSpPr>
          <p:nvPr/>
        </p:nvSpPr>
        <p:spPr>
          <a:xfrm>
            <a:off x="6243638" y="3124200"/>
            <a:ext cx="1438275" cy="895350"/>
          </a:xfrm>
          <a:prstGeom prst="rect">
            <a:avLst/>
          </a:prstGeom>
        </p:spPr>
        <p:txBody>
          <a:bodyPr anchor="ctr"/>
          <a:lstStyle/>
          <a:p>
            <a:pPr algn="ctr">
              <a:defRPr sz="740" b="0">
                <a:solidFill>
                  <a:srgbClr val="14383E"/>
                </a:solidFill>
              </a:defRPr>
            </a:pPr>
            <a:r>
              <a:t>处理权评估的六个维度</a:t>
            </a:r>
          </a:p>
        </p:txBody>
      </p:sp>
      <p:sp>
        <p:nvSpPr>
          <p:cNvPr id="77" name="圆角矩形 76"/>
          <p:cNvSpPr>
            <a:spLocks noGrp="1"/>
          </p:cNvSpPr>
          <p:nvPr/>
        </p:nvSpPr>
        <p:spPr>
          <a:xfrm>
            <a:off x="7881938" y="3009900"/>
            <a:ext cx="1628775" cy="1123950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668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79" name="矩形 78"/>
          <p:cNvSpPr>
            <a:spLocks noGrp="1"/>
          </p:cNvSpPr>
          <p:nvPr/>
        </p:nvSpPr>
        <p:spPr>
          <a:xfrm>
            <a:off x="7977188" y="3124200"/>
            <a:ext cx="1438275" cy="895350"/>
          </a:xfrm>
          <a:prstGeom prst="rect">
            <a:avLst/>
          </a:prstGeom>
        </p:spPr>
        <p:txBody>
          <a:bodyPr anchor="ctr"/>
          <a:lstStyle/>
          <a:p>
            <a:pPr algn="ctr">
              <a:defRPr sz="740" b="0">
                <a:solidFill>
                  <a:srgbClr val="14383E"/>
                </a:solidFill>
              </a:defRPr>
            </a:pPr>
            <a:r>
              <a:t>场景地图与意图体系</a:t>
            </a:r>
          </a:p>
        </p:txBody>
      </p:sp>
      <p:sp>
        <p:nvSpPr>
          <p:cNvPr id="80" name="圆角矩形 79"/>
          <p:cNvSpPr>
            <a:spLocks noGrp="1"/>
          </p:cNvSpPr>
          <p:nvPr/>
        </p:nvSpPr>
        <p:spPr>
          <a:xfrm>
            <a:off x="9615488" y="3009900"/>
            <a:ext cx="1628775" cy="1123950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668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82" name="矩形 81"/>
          <p:cNvSpPr>
            <a:spLocks noGrp="1"/>
          </p:cNvSpPr>
          <p:nvPr/>
        </p:nvSpPr>
        <p:spPr>
          <a:xfrm>
            <a:off x="9710738" y="3124200"/>
            <a:ext cx="1438275" cy="895350"/>
          </a:xfrm>
          <a:prstGeom prst="rect">
            <a:avLst/>
          </a:prstGeom>
        </p:spPr>
        <p:txBody>
          <a:bodyPr anchor="ctr"/>
          <a:lstStyle/>
          <a:p>
            <a:pPr algn="ctr">
              <a:defRPr sz="740" b="0">
                <a:solidFill>
                  <a:srgbClr val="14383E"/>
                </a:solidFill>
              </a:defRPr>
            </a:pPr>
            <a:r>
              <a:t>处理权配置：谁判断、谁确认、谁执行</a:t>
            </a:r>
          </a:p>
        </p:txBody>
      </p:sp>
      <p:sp>
        <p:nvSpPr>
          <p:cNvPr id="83" name="圆角矩形 82"/>
          <p:cNvSpPr>
            <a:spLocks noGrp="1"/>
          </p:cNvSpPr>
          <p:nvPr/>
        </p:nvSpPr>
        <p:spPr>
          <a:xfrm>
            <a:off x="657225" y="5486400"/>
            <a:ext cx="10877550" cy="609600"/>
          </a:xfrm>
          <a:prstGeom prst="roundRect">
            <a:avLst>
              <a:gd name="adj" fmla="val 12500"/>
            </a:avLst>
          </a:prstGeom>
          <a:solidFill>
            <a:srgbClr val="F7FBF9"/>
          </a:solidFill>
          <a:ln w="12668">
            <a:solidFill>
              <a:srgbClr val="BFD9D4"/>
            </a:solidFill>
            <a:prstDash val="solid"/>
          </a:ln>
        </p:spPr>
        <p:txBody>
          <a:bodyPr/>
          <a:p/>
        </p:txBody>
      </p:sp>
      <p:sp>
        <p:nvSpPr>
          <p:cNvPr id="84" name="矩形 83"/>
          <p:cNvSpPr>
            <a:spLocks noGrp="1"/>
          </p:cNvSpPr>
          <p:nvPr/>
        </p:nvSpPr>
        <p:spPr>
          <a:xfrm>
            <a:off x="876300" y="5562600"/>
            <a:ext cx="1238250" cy="190500"/>
          </a:xfrm>
          <a:prstGeom prst="rect">
            <a:avLst/>
          </a:prstGeom>
        </p:spPr>
        <p:txBody>
          <a:bodyPr anchor="ctr"/>
          <a:lstStyle/>
          <a:p>
            <a:pPr algn="l">
              <a:defRPr sz="720" b="1">
                <a:solidFill>
                  <a:srgbClr val="2F80ED"/>
                </a:solidFill>
              </a:defRPr>
            </a:pPr>
            <a:r>
              <a:t>这一章</a:t>
            </a:r>
          </a:p>
        </p:txBody>
      </p:sp>
      <p:sp>
        <p:nvSpPr>
          <p:cNvPr id="85" name="矩形 84"/>
          <p:cNvSpPr>
            <a:spLocks noGrp="1"/>
          </p:cNvSpPr>
          <p:nvPr/>
        </p:nvSpPr>
        <p:spPr>
          <a:xfrm>
            <a:off x="876300" y="5753100"/>
            <a:ext cx="1238250" cy="190500"/>
          </a:xfrm>
          <a:prstGeom prst="rect">
            <a:avLst/>
          </a:prstGeom>
        </p:spPr>
        <p:txBody>
          <a:bodyPr anchor="ctr"/>
          <a:lstStyle/>
          <a:p>
            <a:pPr algn="l">
              <a:defRPr sz="720" b="1">
                <a:solidFill>
                  <a:srgbClr val="2F80ED"/>
                </a:solidFill>
              </a:defRPr>
            </a:pPr>
            <a:r>
              <a:t>服务哪一步</a:t>
            </a:r>
          </a:p>
        </p:txBody>
      </p:sp>
      <p:sp>
        <p:nvSpPr>
          <p:cNvPr id="86" name="矩形 85"/>
          <p:cNvSpPr>
            <a:spLocks noGrp="1"/>
          </p:cNvSpPr>
          <p:nvPr/>
        </p:nvSpPr>
        <p:spPr>
          <a:xfrm>
            <a:off x="2247900" y="5619750"/>
            <a:ext cx="9525" cy="342900"/>
          </a:xfrm>
          <a:prstGeom prst="rect">
            <a:avLst/>
          </a:prstGeom>
          <a:solidFill>
            <a:srgbClr val="C7DAD6"/>
          </a:solidFill>
          <a:ln w="12668">
            <a:solidFill>
              <a:srgbClr val="C7DAD6"/>
            </a:solidFill>
            <a:prstDash val="solid"/>
          </a:ln>
        </p:spPr>
        <p:txBody>
          <a:bodyPr/>
          <a:p/>
        </p:txBody>
      </p:sp>
      <p:sp>
        <p:nvSpPr>
          <p:cNvPr id="87" name="矩形 86"/>
          <p:cNvSpPr>
            <a:spLocks noGrp="1"/>
          </p:cNvSpPr>
          <p:nvPr/>
        </p:nvSpPr>
        <p:spPr>
          <a:xfrm>
            <a:off x="2438400" y="5562600"/>
            <a:ext cx="6286500" cy="381000"/>
          </a:xfrm>
          <a:prstGeom prst="rect">
            <a:avLst/>
          </a:prstGeom>
        </p:spPr>
        <p:txBody>
          <a:bodyPr anchor="ctr"/>
          <a:lstStyle/>
          <a:p>
            <a:pPr algn="l">
              <a:defRPr sz="840" b="1">
                <a:solidFill>
                  <a:srgbClr val="14383E"/>
                </a:solidFill>
              </a:defRPr>
            </a:pPr>
            <a:r>
              <a:t>决定每个场景里，这四步能交出去几步。</a:t>
            </a:r>
          </a:p>
        </p:txBody>
      </p:sp>
      <p:sp>
        <p:nvSpPr>
          <p:cNvPr id="88" name="圆角矩形 87"/>
          <p:cNvSpPr>
            <a:spLocks noGrp="1"/>
          </p:cNvSpPr>
          <p:nvPr/>
        </p:nvSpPr>
        <p:spPr>
          <a:xfrm>
            <a:off x="9067800" y="5581650"/>
            <a:ext cx="514350" cy="209550"/>
          </a:xfrm>
          <a:prstGeom prst="roundRect">
            <a:avLst>
              <a:gd name="adj" fmla="val 36364"/>
            </a:avLst>
          </a:prstGeom>
          <a:solidFill>
            <a:srgbClr val="2F80ED"/>
          </a:solidFill>
          <a:ln w="12668">
            <a:solidFill>
              <a:srgbClr val="2F80ED"/>
            </a:solidFill>
            <a:prstDash val="solid"/>
          </a:ln>
        </p:spPr>
        <p:txBody>
          <a:bodyPr/>
          <a:p/>
        </p:txBody>
      </p:sp>
      <p:sp>
        <p:nvSpPr>
          <p:cNvPr id="89" name="矩形 88"/>
          <p:cNvSpPr>
            <a:spLocks noGrp="1"/>
          </p:cNvSpPr>
          <p:nvPr/>
        </p:nvSpPr>
        <p:spPr>
          <a:xfrm>
            <a:off x="9067800" y="5581650"/>
            <a:ext cx="514350" cy="209550"/>
          </a:xfrm>
          <a:prstGeom prst="rect">
            <a:avLst/>
          </a:prstGeom>
        </p:spPr>
        <p:txBody>
          <a:bodyPr anchor="ctr"/>
          <a:lstStyle/>
          <a:p>
            <a:pPr algn="ctr">
              <a:defRPr sz="680" b="1">
                <a:solidFill>
                  <a:srgbClr val="FFFFFF"/>
                </a:solidFill>
              </a:defRPr>
            </a:pPr>
            <a:r>
              <a:t>理解</a:t>
            </a:r>
          </a:p>
        </p:txBody>
      </p:sp>
      <p:sp>
        <p:nvSpPr>
          <p:cNvPr id="90" name="圆角矩形 89"/>
          <p:cNvSpPr>
            <a:spLocks noGrp="1"/>
          </p:cNvSpPr>
          <p:nvPr/>
        </p:nvSpPr>
        <p:spPr>
          <a:xfrm>
            <a:off x="9658350" y="5581650"/>
            <a:ext cx="514350" cy="209550"/>
          </a:xfrm>
          <a:prstGeom prst="roundRect">
            <a:avLst>
              <a:gd name="adj" fmla="val 36364"/>
            </a:avLst>
          </a:prstGeom>
          <a:solidFill>
            <a:srgbClr val="2F80ED"/>
          </a:solidFill>
          <a:ln w="12668">
            <a:solidFill>
              <a:srgbClr val="2F80ED"/>
            </a:solidFill>
            <a:prstDash val="solid"/>
          </a:ln>
        </p:spPr>
        <p:txBody>
          <a:bodyPr/>
          <a:p/>
        </p:txBody>
      </p:sp>
      <p:sp>
        <p:nvSpPr>
          <p:cNvPr id="91" name="矩形 90"/>
          <p:cNvSpPr>
            <a:spLocks noGrp="1"/>
          </p:cNvSpPr>
          <p:nvPr/>
        </p:nvSpPr>
        <p:spPr>
          <a:xfrm>
            <a:off x="9658350" y="5581650"/>
            <a:ext cx="514350" cy="209550"/>
          </a:xfrm>
          <a:prstGeom prst="rect">
            <a:avLst/>
          </a:prstGeom>
        </p:spPr>
        <p:txBody>
          <a:bodyPr anchor="ctr"/>
          <a:lstStyle/>
          <a:p>
            <a:pPr algn="ctr">
              <a:defRPr sz="680" b="1">
                <a:solidFill>
                  <a:srgbClr val="FFFFFF"/>
                </a:solidFill>
              </a:defRPr>
            </a:pPr>
            <a:r>
              <a:t>查询</a:t>
            </a:r>
          </a:p>
        </p:txBody>
      </p:sp>
      <p:sp>
        <p:nvSpPr>
          <p:cNvPr id="92" name="圆角矩形 91"/>
          <p:cNvSpPr>
            <a:spLocks noGrp="1"/>
          </p:cNvSpPr>
          <p:nvPr/>
        </p:nvSpPr>
        <p:spPr>
          <a:xfrm>
            <a:off x="10248900" y="5581650"/>
            <a:ext cx="514350" cy="209550"/>
          </a:xfrm>
          <a:prstGeom prst="roundRect">
            <a:avLst>
              <a:gd name="adj" fmla="val 36364"/>
            </a:avLst>
          </a:prstGeom>
          <a:solidFill>
            <a:srgbClr val="2F80ED"/>
          </a:solidFill>
          <a:ln w="12668">
            <a:solidFill>
              <a:srgbClr val="2F80ED"/>
            </a:solidFill>
            <a:prstDash val="solid"/>
          </a:ln>
        </p:spPr>
        <p:txBody>
          <a:bodyPr/>
          <a:p/>
        </p:txBody>
      </p:sp>
      <p:sp>
        <p:nvSpPr>
          <p:cNvPr id="93" name="矩形 92"/>
          <p:cNvSpPr>
            <a:spLocks noGrp="1"/>
          </p:cNvSpPr>
          <p:nvPr/>
        </p:nvSpPr>
        <p:spPr>
          <a:xfrm>
            <a:off x="10248900" y="5581650"/>
            <a:ext cx="514350" cy="209550"/>
          </a:xfrm>
          <a:prstGeom prst="rect">
            <a:avLst/>
          </a:prstGeom>
        </p:spPr>
        <p:txBody>
          <a:bodyPr anchor="ctr"/>
          <a:lstStyle/>
          <a:p>
            <a:pPr algn="ctr">
              <a:defRPr sz="680" b="1">
                <a:solidFill>
                  <a:srgbClr val="FFFFFF"/>
                </a:solidFill>
              </a:defRPr>
            </a:pPr>
            <a:r>
              <a:t>决策</a:t>
            </a:r>
          </a:p>
        </p:txBody>
      </p:sp>
      <p:sp>
        <p:nvSpPr>
          <p:cNvPr id="94" name="圆角矩形 93"/>
          <p:cNvSpPr>
            <a:spLocks noGrp="1"/>
          </p:cNvSpPr>
          <p:nvPr/>
        </p:nvSpPr>
        <p:spPr>
          <a:xfrm>
            <a:off x="10839450" y="5581650"/>
            <a:ext cx="514350" cy="209550"/>
          </a:xfrm>
          <a:prstGeom prst="roundRect">
            <a:avLst>
              <a:gd name="adj" fmla="val 36364"/>
            </a:avLst>
          </a:prstGeom>
          <a:solidFill>
            <a:srgbClr val="2F80ED"/>
          </a:solidFill>
          <a:ln w="12668">
            <a:solidFill>
              <a:srgbClr val="2F80ED"/>
            </a:solidFill>
            <a:prstDash val="solid"/>
          </a:ln>
        </p:spPr>
        <p:txBody>
          <a:bodyPr/>
          <a:p/>
        </p:txBody>
      </p:sp>
      <p:sp>
        <p:nvSpPr>
          <p:cNvPr id="95" name="矩形 94"/>
          <p:cNvSpPr>
            <a:spLocks noGrp="1"/>
          </p:cNvSpPr>
          <p:nvPr/>
        </p:nvSpPr>
        <p:spPr>
          <a:xfrm>
            <a:off x="10839450" y="5581650"/>
            <a:ext cx="514350" cy="209550"/>
          </a:xfrm>
          <a:prstGeom prst="rect">
            <a:avLst/>
          </a:prstGeom>
        </p:spPr>
        <p:txBody>
          <a:bodyPr anchor="ctr"/>
          <a:lstStyle/>
          <a:p>
            <a:pPr algn="ctr">
              <a:defRPr sz="680" b="1">
                <a:solidFill>
                  <a:srgbClr val="FFFFFF"/>
                </a:solidFill>
              </a:defRPr>
            </a:pPr>
            <a:r>
              <a:t>执行</a:t>
            </a:r>
          </a:p>
        </p:txBody>
      </p:sp>
      <p:sp>
        <p:nvSpPr>
          <p:cNvPr id="96" name="矩形 95"/>
          <p:cNvSpPr>
            <a:spLocks noGrp="1"/>
          </p:cNvSpPr>
          <p:nvPr/>
        </p:nvSpPr>
        <p:spPr>
          <a:xfrm>
            <a:off x="657225" y="6172200"/>
            <a:ext cx="10877550" cy="190500"/>
          </a:xfrm>
          <a:prstGeom prst="rect">
            <a:avLst/>
          </a:prstGeom>
        </p:spPr>
        <p:txBody>
          <a:bodyPr anchor="ctr"/>
          <a:lstStyle/>
          <a:p>
            <a:pPr algn="l">
              <a:defRPr sz="720" b="0">
                <a:solidFill>
                  <a:srgbClr val="44585C"/>
                </a:solidFill>
              </a:defRPr>
            </a:pPr>
            <a:r>
              <a:t>本章讲完进入第三章 · 系统蓝图。</a:t>
            </a:r>
          </a:p>
        </p:txBody>
      </p:sp>
      <p:sp>
        <p:nvSpPr>
          <p:cNvPr id="97" name="圆角矩形 96"/>
          <p:cNvSpPr>
            <a:spLocks noGrp="1"/>
          </p:cNvSpPr>
          <p:nvPr/>
        </p:nvSpPr>
        <p:spPr>
          <a:xfrm>
            <a:off x="6565583" y="127635"/>
            <a:ext cx="4937760" cy="365760"/>
          </a:xfrm>
          <a:prstGeom prst="roundRect">
            <a:avLst>
              <a:gd name="adj" fmla="val 20833"/>
            </a:avLst>
          </a:prstGeom>
          <a:solidFill>
            <a:srgbClr val="F7FBF9"/>
          </a:solidFill>
          <a:ln w="12668">
            <a:solidFill>
              <a:srgbClr val="F7FBF9"/>
            </a:solidFill>
            <a:prstDash val="solid"/>
          </a:ln>
        </p:spPr>
        <p:txBody>
          <a:bodyPr/>
          <a:p/>
        </p:txBody>
      </p:sp>
      <p:sp>
        <p:nvSpPr>
          <p:cNvPr id="98" name="圆角矩形 97"/>
          <p:cNvSpPr>
            <a:spLocks noGrp="1"/>
          </p:cNvSpPr>
          <p:nvPr/>
        </p:nvSpPr>
        <p:spPr>
          <a:xfrm>
            <a:off x="6657023" y="164783"/>
            <a:ext cx="1154430" cy="264795"/>
          </a:xfrm>
          <a:prstGeom prst="roundRect">
            <a:avLst>
              <a:gd name="adj" fmla="val 28777"/>
            </a:avLst>
          </a:prstGeom>
          <a:solidFill>
            <a:srgbClr val="007574"/>
          </a:solidFill>
          <a:ln w="12668">
            <a:solidFill>
              <a:srgbClr val="007574"/>
            </a:solidFill>
            <a:prstDash val="solid"/>
          </a:ln>
        </p:spPr>
        <p:txBody>
          <a:bodyPr/>
          <a:p/>
        </p:txBody>
      </p:sp>
      <p:sp>
        <p:nvSpPr>
          <p:cNvPr id="99" name="矩形 98"/>
          <p:cNvSpPr>
            <a:spLocks noGrp="1"/>
          </p:cNvSpPr>
          <p:nvPr/>
        </p:nvSpPr>
        <p:spPr>
          <a:xfrm>
            <a:off x="6657023" y="187643"/>
            <a:ext cx="1154430" cy="182880"/>
          </a:xfrm>
          <a:prstGeom prst="rect">
            <a:avLst/>
          </a:prstGeom>
        </p:spPr>
        <p:txBody>
          <a:bodyPr anchor="ctr"/>
          <a:lstStyle/>
          <a:p>
            <a:pPr algn="ctr">
              <a:defRPr sz="660" b="1">
                <a:solidFill>
                  <a:srgbClr val="FFFFFF"/>
                </a:solidFill>
              </a:defRPr>
            </a:pPr>
            <a:r>
              <a:t>理解</a:t>
            </a:r>
          </a:p>
        </p:txBody>
      </p:sp>
      <p:sp>
        <p:nvSpPr>
          <p:cNvPr id="100" name="圆角矩形 99"/>
          <p:cNvSpPr>
            <a:spLocks noGrp="1"/>
          </p:cNvSpPr>
          <p:nvPr/>
        </p:nvSpPr>
        <p:spPr>
          <a:xfrm>
            <a:off x="7857173" y="164783"/>
            <a:ext cx="1154430" cy="264795"/>
          </a:xfrm>
          <a:prstGeom prst="roundRect">
            <a:avLst>
              <a:gd name="adj" fmla="val 28777"/>
            </a:avLst>
          </a:prstGeom>
          <a:solidFill>
            <a:srgbClr val="007574"/>
          </a:solidFill>
          <a:ln w="12668">
            <a:solidFill>
              <a:srgbClr val="007574"/>
            </a:solidFill>
            <a:prstDash val="solid"/>
          </a:ln>
        </p:spPr>
        <p:txBody>
          <a:bodyPr/>
          <a:p/>
        </p:txBody>
      </p:sp>
      <p:sp>
        <p:nvSpPr>
          <p:cNvPr id="101" name="矩形 100"/>
          <p:cNvSpPr>
            <a:spLocks noGrp="1"/>
          </p:cNvSpPr>
          <p:nvPr/>
        </p:nvSpPr>
        <p:spPr>
          <a:xfrm>
            <a:off x="7857173" y="187643"/>
            <a:ext cx="1154430" cy="182880"/>
          </a:xfrm>
          <a:prstGeom prst="rect">
            <a:avLst/>
          </a:prstGeom>
        </p:spPr>
        <p:txBody>
          <a:bodyPr anchor="ctr"/>
          <a:lstStyle/>
          <a:p>
            <a:pPr algn="ctr">
              <a:defRPr sz="660" b="1">
                <a:solidFill>
                  <a:srgbClr val="FFFFFF"/>
                </a:solidFill>
              </a:defRPr>
            </a:pPr>
            <a:r>
              <a:t>查询</a:t>
            </a:r>
          </a:p>
        </p:txBody>
      </p:sp>
      <p:sp>
        <p:nvSpPr>
          <p:cNvPr id="102" name="圆角矩形 101"/>
          <p:cNvSpPr>
            <a:spLocks noGrp="1"/>
          </p:cNvSpPr>
          <p:nvPr/>
        </p:nvSpPr>
        <p:spPr>
          <a:xfrm>
            <a:off x="9057323" y="164783"/>
            <a:ext cx="1154430" cy="264795"/>
          </a:xfrm>
          <a:prstGeom prst="roundRect">
            <a:avLst>
              <a:gd name="adj" fmla="val 28777"/>
            </a:avLst>
          </a:prstGeom>
          <a:solidFill>
            <a:srgbClr val="007574"/>
          </a:solidFill>
          <a:ln w="12668">
            <a:solidFill>
              <a:srgbClr val="007574"/>
            </a:solidFill>
            <a:prstDash val="solid"/>
          </a:ln>
        </p:spPr>
        <p:txBody>
          <a:bodyPr/>
          <a:p/>
        </p:txBody>
      </p:sp>
      <p:sp>
        <p:nvSpPr>
          <p:cNvPr id="103" name="矩形 102"/>
          <p:cNvSpPr>
            <a:spLocks noGrp="1"/>
          </p:cNvSpPr>
          <p:nvPr/>
        </p:nvSpPr>
        <p:spPr>
          <a:xfrm>
            <a:off x="9057323" y="187643"/>
            <a:ext cx="1154430" cy="182880"/>
          </a:xfrm>
          <a:prstGeom prst="rect">
            <a:avLst/>
          </a:prstGeom>
        </p:spPr>
        <p:txBody>
          <a:bodyPr anchor="ctr"/>
          <a:lstStyle/>
          <a:p>
            <a:pPr algn="ctr">
              <a:defRPr sz="660" b="1">
                <a:solidFill>
                  <a:srgbClr val="FFFFFF"/>
                </a:solidFill>
              </a:defRPr>
            </a:pPr>
            <a:r>
              <a:t>决策</a:t>
            </a:r>
          </a:p>
        </p:txBody>
      </p:sp>
      <p:sp>
        <p:nvSpPr>
          <p:cNvPr id="104" name="圆角矩形 103"/>
          <p:cNvSpPr>
            <a:spLocks noGrp="1"/>
          </p:cNvSpPr>
          <p:nvPr/>
        </p:nvSpPr>
        <p:spPr>
          <a:xfrm>
            <a:off x="10257473" y="164783"/>
            <a:ext cx="1154430" cy="264795"/>
          </a:xfrm>
          <a:prstGeom prst="roundRect">
            <a:avLst>
              <a:gd name="adj" fmla="val 28777"/>
            </a:avLst>
          </a:prstGeom>
          <a:solidFill>
            <a:srgbClr val="007574"/>
          </a:solidFill>
          <a:ln w="12668">
            <a:solidFill>
              <a:srgbClr val="007574"/>
            </a:solidFill>
            <a:prstDash val="solid"/>
          </a:ln>
        </p:spPr>
        <p:txBody>
          <a:bodyPr/>
          <a:p/>
        </p:txBody>
      </p:sp>
      <p:sp>
        <p:nvSpPr>
          <p:cNvPr id="105" name="矩形 104"/>
          <p:cNvSpPr>
            <a:spLocks noGrp="1"/>
          </p:cNvSpPr>
          <p:nvPr/>
        </p:nvSpPr>
        <p:spPr>
          <a:xfrm>
            <a:off x="10257473" y="187643"/>
            <a:ext cx="1154430" cy="182880"/>
          </a:xfrm>
          <a:prstGeom prst="rect">
            <a:avLst/>
          </a:prstGeom>
        </p:spPr>
        <p:txBody>
          <a:bodyPr anchor="ctr"/>
          <a:lstStyle/>
          <a:p>
            <a:pPr algn="ctr">
              <a:defRPr sz="660" b="1">
                <a:solidFill>
                  <a:srgbClr val="FFFFFF"/>
                </a:solidFill>
              </a:defRPr>
            </a:pPr>
            <a:r>
              <a:t>执行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hape 0"/>
          <p:cNvSpPr>
            <a:spLocks noGrp="1"/>
          </p:cNvSpPr>
          <p:nvPr/>
        </p:nvSpPr>
        <p:spPr>
          <a:xfrm>
            <a:off x="0" y="0"/>
            <a:ext cx="41148" cy="6858000"/>
          </a:xfrm>
          <a:prstGeom prst="rect">
            <a:avLst/>
          </a:prstGeom>
          <a:solidFill>
            <a:srgbClr val="0A8F6A"/>
          </a:solidFill>
          <a:ln w="12700">
            <a:solidFill>
              <a:srgbClr val="2F7DEB"/>
            </a:solidFill>
            <a:prstDash val="solid"/>
          </a:ln>
        </p:spPr>
        <p:txBody>
          <a:bodyPr/>
          <a:lstStyle/>
          <a:p/>
        </p:txBody>
      </p:sp>
      <p:sp>
        <p:nvSpPr>
          <p:cNvPr id="3" name="Shape 1"/>
          <p:cNvSpPr>
            <a:spLocks noGrp="1"/>
          </p:cNvSpPr>
          <p:nvPr/>
        </p:nvSpPr>
        <p:spPr>
          <a:xfrm>
            <a:off x="658368" y="429768"/>
            <a:ext cx="237744" cy="0"/>
          </a:xfrm>
          <a:prstGeom prst="line">
            <a:avLst/>
          </a:prstGeom>
          <a:noFill/>
          <a:ln w="15875">
            <a:solidFill>
              <a:srgbClr val="0A8F6A"/>
            </a:solidFill>
            <a:prstDash val="solid"/>
          </a:ln>
        </p:spPr>
        <p:txBody>
          <a:bodyPr/>
          <a:lstStyle/>
          <a:p/>
        </p:txBody>
      </p:sp>
      <p:sp>
        <p:nvSpPr>
          <p:cNvPr id="4" name="Text 2"/>
          <p:cNvSpPr>
            <a:spLocks noGrp="1"/>
          </p:cNvSpPr>
          <p:nvPr/>
        </p:nvSpPr>
        <p:spPr>
          <a:xfrm>
            <a:off x="941832" y="292608"/>
            <a:ext cx="3474720" cy="2286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r>
              <a:rPr sz="1050" b="1">
                <a:solidFill>
                  <a:srgbClr val="076B50"/>
                </a:solidFill>
                <a:latin typeface="Noto Sans CJK SC"/>
                <a:ea typeface="Noto Sans CJK SC"/>
                <a:cs typeface="Noto Sans CJK SC"/>
              </a:rPr>
              <a:t>CHAPTER 2 · 场景与移交边界</a:t>
            </a:r>
            <a:endParaRPr sz="1050" b="1">
              <a:solidFill>
                <a:srgbClr val="0A8F6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" name="Text 3"/>
          <p:cNvSpPr>
            <a:spLocks noGrp="1"/>
          </p:cNvSpPr>
          <p:nvPr/>
        </p:nvSpPr>
        <p:spPr>
          <a:xfrm>
            <a:off x="640080" y="667512"/>
            <a:ext cx="10698480" cy="43891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buNone/>
            </a:pPr>
            <a:r>
              <a:rPr sz="2550" b="1">
                <a:solidFill>
                  <a:srgbClr val="163B36"/>
                </a:solidFill>
                <a:latin typeface="Noto Sans CJK SC"/>
                <a:ea typeface="Noto Sans CJK SC"/>
                <a:cs typeface="Noto Sans CJK SC"/>
              </a:rPr>
              <a:t>四类工单与风险等级</a:t>
            </a:r>
            <a:endParaRPr sz="2550"/>
          </a:p>
        </p:txBody>
      </p:sp>
      <p:sp>
        <p:nvSpPr>
          <p:cNvPr id="6" name="Text 4"/>
          <p:cNvSpPr>
            <a:spLocks noGrp="1"/>
          </p:cNvSpPr>
          <p:nvPr/>
        </p:nvSpPr>
        <p:spPr>
          <a:xfrm>
            <a:off x="640080" y="1115568"/>
            <a:ext cx="10424160" cy="30175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buNone/>
            </a:pPr>
            <a:r>
              <a:rPr sz="1120">
                <a:solidFill>
                  <a:srgbClr val="44585C"/>
                </a:solidFill>
                <a:latin typeface="Noto Sans CJK SC"/>
                <a:ea typeface="Noto Sans CJK SC"/>
                <a:cs typeface="Noto Sans CJK SC"/>
              </a:rPr>
              <a:t>查询需要实时事实，判断需要规则，执行时还要补上确认、权限和幂等。</a:t>
            </a:r>
            <a:endParaRPr sz="1120"/>
          </a:p>
        </p:txBody>
      </p:sp>
      <p:sp>
        <p:nvSpPr>
          <p:cNvPr id="7" name="Shape 5"/>
          <p:cNvSpPr>
            <a:spLocks noGrp="1"/>
          </p:cNvSpPr>
          <p:nvPr/>
        </p:nvSpPr>
        <p:spPr>
          <a:xfrm>
            <a:off x="10533888" y="54864"/>
            <a:ext cx="1298448" cy="713232"/>
          </a:xfrm>
          <a:prstGeom prst="ellipse">
            <a:avLst/>
          </a:prstGeom>
          <a:solidFill>
            <a:srgbClr val="2F7DEB">
              <a:alpha val="8000"/>
            </a:srgbClr>
          </a:solidFill>
          <a:ln w="12700">
            <a:solidFill>
              <a:srgbClr val="2F7DEB">
                <a:alpha val="0"/>
              </a:srgbClr>
            </a:solidFill>
            <a:prstDash val="solid"/>
          </a:ln>
        </p:spPr>
        <p:txBody>
          <a:bodyPr/>
          <a:lstStyle/>
          <a:p/>
        </p:txBody>
      </p:sp>
      <p:sp>
        <p:nvSpPr>
          <p:cNvPr id="8" name="Shape 6"/>
          <p:cNvSpPr>
            <a:spLocks noGrp="1"/>
          </p:cNvSpPr>
          <p:nvPr/>
        </p:nvSpPr>
        <p:spPr>
          <a:xfrm>
            <a:off x="9802368" y="283464"/>
            <a:ext cx="36576" cy="36576"/>
          </a:xfrm>
          <a:prstGeom prst="ellipse">
            <a:avLst/>
          </a:prstGeom>
          <a:solidFill>
            <a:srgbClr val="C6DCD5"/>
          </a:solidFill>
          <a:ln w="12700">
            <a:solidFill>
              <a:srgbClr val="C6DCD5"/>
            </a:solidFill>
            <a:prstDash val="solid"/>
          </a:ln>
        </p:spPr>
        <p:txBody>
          <a:bodyPr/>
          <a:lstStyle/>
          <a:p/>
        </p:txBody>
      </p:sp>
      <p:sp>
        <p:nvSpPr>
          <p:cNvPr id="9" name="Shape 7"/>
          <p:cNvSpPr>
            <a:spLocks noGrp="1"/>
          </p:cNvSpPr>
          <p:nvPr/>
        </p:nvSpPr>
        <p:spPr>
          <a:xfrm>
            <a:off x="9930384" y="283464"/>
            <a:ext cx="36576" cy="36576"/>
          </a:xfrm>
          <a:prstGeom prst="ellipse">
            <a:avLst/>
          </a:prstGeom>
          <a:solidFill>
            <a:srgbClr val="2F7DEB"/>
          </a:solidFill>
          <a:ln w="12700">
            <a:solidFill>
              <a:srgbClr val="2F7DEB"/>
            </a:solidFill>
            <a:prstDash val="solid"/>
          </a:ln>
        </p:spPr>
        <p:txBody>
          <a:bodyPr/>
          <a:lstStyle/>
          <a:p/>
        </p:txBody>
      </p:sp>
      <p:sp>
        <p:nvSpPr>
          <p:cNvPr id="10" name="Shape 8"/>
          <p:cNvSpPr>
            <a:spLocks noGrp="1"/>
          </p:cNvSpPr>
          <p:nvPr/>
        </p:nvSpPr>
        <p:spPr>
          <a:xfrm>
            <a:off x="10058400" y="283464"/>
            <a:ext cx="36576" cy="36576"/>
          </a:xfrm>
          <a:prstGeom prst="ellipse">
            <a:avLst/>
          </a:prstGeom>
          <a:solidFill>
            <a:srgbClr val="C6DCD5"/>
          </a:solidFill>
          <a:ln w="12700">
            <a:solidFill>
              <a:srgbClr val="C6DCD5"/>
            </a:solidFill>
            <a:prstDash val="solid"/>
          </a:ln>
        </p:spPr>
        <p:txBody>
          <a:bodyPr/>
          <a:lstStyle/>
          <a:p/>
        </p:txBody>
      </p:sp>
      <p:sp>
        <p:nvSpPr>
          <p:cNvPr id="11" name="Shape 9"/>
          <p:cNvSpPr>
            <a:spLocks noGrp="1"/>
          </p:cNvSpPr>
          <p:nvPr/>
        </p:nvSpPr>
        <p:spPr>
          <a:xfrm>
            <a:off x="10186416" y="283464"/>
            <a:ext cx="36576" cy="36576"/>
          </a:xfrm>
          <a:prstGeom prst="ellipse">
            <a:avLst/>
          </a:prstGeom>
          <a:solidFill>
            <a:srgbClr val="C6DCD5"/>
          </a:solidFill>
          <a:ln w="12700">
            <a:solidFill>
              <a:srgbClr val="C6DCD5"/>
            </a:solidFill>
            <a:prstDash val="solid"/>
          </a:ln>
        </p:spPr>
        <p:txBody>
          <a:bodyPr/>
          <a:lstStyle/>
          <a:p/>
        </p:txBody>
      </p:sp>
      <p:sp>
        <p:nvSpPr>
          <p:cNvPr id="12" name="Shape 10"/>
          <p:cNvSpPr>
            <a:spLocks noGrp="1"/>
          </p:cNvSpPr>
          <p:nvPr/>
        </p:nvSpPr>
        <p:spPr>
          <a:xfrm>
            <a:off x="10314432" y="283464"/>
            <a:ext cx="36576" cy="36576"/>
          </a:xfrm>
          <a:prstGeom prst="ellipse">
            <a:avLst/>
          </a:prstGeom>
          <a:solidFill>
            <a:srgbClr val="C6DCD5"/>
          </a:solidFill>
          <a:ln w="12700">
            <a:solidFill>
              <a:srgbClr val="C6DCD5"/>
            </a:solidFill>
            <a:prstDash val="solid"/>
          </a:ln>
        </p:spPr>
        <p:txBody>
          <a:bodyPr/>
          <a:lstStyle/>
          <a:p/>
        </p:txBody>
      </p:sp>
      <p:sp>
        <p:nvSpPr>
          <p:cNvPr id="13" name="Shape 11"/>
          <p:cNvSpPr>
            <a:spLocks noGrp="1"/>
          </p:cNvSpPr>
          <p:nvPr/>
        </p:nvSpPr>
        <p:spPr>
          <a:xfrm>
            <a:off x="10442448" y="283464"/>
            <a:ext cx="36576" cy="36576"/>
          </a:xfrm>
          <a:prstGeom prst="ellipse">
            <a:avLst/>
          </a:prstGeom>
          <a:solidFill>
            <a:srgbClr val="C6DCD5"/>
          </a:solidFill>
          <a:ln w="12700">
            <a:solidFill>
              <a:srgbClr val="C6DCD5"/>
            </a:solidFill>
            <a:prstDash val="solid"/>
          </a:ln>
        </p:spPr>
        <p:txBody>
          <a:bodyPr/>
          <a:lstStyle/>
          <a:p/>
        </p:txBody>
      </p:sp>
      <p:sp>
        <p:nvSpPr>
          <p:cNvPr id="14" name="Shape 12"/>
          <p:cNvSpPr>
            <a:spLocks noGrp="1"/>
          </p:cNvSpPr>
          <p:nvPr/>
        </p:nvSpPr>
        <p:spPr>
          <a:xfrm>
            <a:off x="640080" y="6528816"/>
            <a:ext cx="10927080" cy="0"/>
          </a:xfrm>
          <a:prstGeom prst="line">
            <a:avLst/>
          </a:prstGeom>
          <a:noFill/>
          <a:ln w="10160">
            <a:solidFill>
              <a:srgbClr val="D8E7E2"/>
            </a:solidFill>
            <a:prstDash val="solid"/>
          </a:ln>
        </p:spPr>
        <p:txBody>
          <a:bodyPr/>
          <a:lstStyle/>
          <a:p/>
        </p:txBody>
      </p:sp>
      <p:sp>
        <p:nvSpPr>
          <p:cNvPr id="15" name="Text 13"/>
          <p:cNvSpPr>
            <a:spLocks noGrp="1"/>
          </p:cNvSpPr>
          <p:nvPr/>
        </p:nvSpPr>
        <p:spPr>
          <a:xfrm>
            <a:off x="658368" y="6565392"/>
            <a:ext cx="3108960" cy="16459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buNone/>
            </a:pPr>
            <a:r>
              <a:rPr sz="750">
                <a:solidFill>
                  <a:srgbClr val="55696A"/>
                </a:solidFill>
                <a:latin typeface="Noto Sans CJK SC"/>
                <a:ea typeface="Noto Sans CJK SC"/>
                <a:cs typeface="Noto Sans CJK SC"/>
              </a:rPr>
              <a:t>CUSTOMER SERVICE AI AGENT</a:t>
            </a:r>
            <a:endParaRPr sz="750"/>
          </a:p>
        </p:txBody>
      </p:sp>
      <p:sp>
        <p:nvSpPr>
          <p:cNvPr id="16" name="Text 14"/>
          <p:cNvSpPr>
            <a:spLocks noGrp="1"/>
          </p:cNvSpPr>
          <p:nvPr/>
        </p:nvSpPr>
        <p:spPr>
          <a:xfrm>
            <a:off x="10881360" y="6537960"/>
            <a:ext cx="658368" cy="18288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</a:pPr>
            <a:r>
              <a:rPr sz="880" b="1">
                <a:solidFill>
                  <a:srgbClr val="076B50"/>
                </a:solidFill>
                <a:latin typeface="Noto Sans CJK SC"/>
                <a:ea typeface="Noto Sans CJK SC"/>
                <a:cs typeface="Noto Sans CJK SC"/>
              </a:rPr>
              <a:t>12</a:t>
            </a:r>
            <a:endParaRPr sz="880" b="1">
              <a:solidFill>
                <a:srgbClr val="0A8F6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7" name="Shape 15"/>
          <p:cNvSpPr>
            <a:spLocks noGrp="1"/>
          </p:cNvSpPr>
          <p:nvPr/>
        </p:nvSpPr>
        <p:spPr>
          <a:xfrm>
            <a:off x="658368" y="1572768"/>
            <a:ext cx="2377440" cy="43159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1A19D"/>
            </a:solidFill>
            <a:prstDash val="solid"/>
          </a:ln>
          <a:effectLst>
            <a:outerShdw blurRad="2147483647" dist="2147483647" dir="9" algn="bl" rotWithShape="0">
              <a:srgbClr val="74857F">
                <a:alpha val="1"/>
              </a:srgbClr>
            </a:outerShdw>
          </a:effectLst>
        </p:spPr>
        <p:txBody>
          <a:bodyPr/>
          <a:lstStyle/>
          <a:p/>
        </p:txBody>
      </p:sp>
      <p:sp>
        <p:nvSpPr>
          <p:cNvPr id="19" name="Text 17"/>
          <p:cNvSpPr>
            <a:spLocks noGrp="1"/>
          </p:cNvSpPr>
          <p:nvPr/>
        </p:nvSpPr>
        <p:spPr>
          <a:xfrm>
            <a:off x="2523744" y="1792224"/>
            <a:ext cx="292608" cy="21945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r">
              <a:buNone/>
            </a:pPr>
            <a:r>
              <a:rPr sz="900" b="1">
                <a:solidFill>
                  <a:srgbClr val="91A19D"/>
                </a:solidFill>
                <a:latin typeface="Noto Sans CJK SC"/>
                <a:ea typeface="Noto Sans CJK SC"/>
                <a:cs typeface="Noto Sans CJK SC"/>
              </a:rPr>
              <a:t>01</a:t>
            </a:r>
            <a:endParaRPr sz="900"/>
          </a:p>
        </p:txBody>
      </p:sp>
      <p:sp>
        <p:nvSpPr>
          <p:cNvPr id="20" name="Shape 18"/>
          <p:cNvSpPr>
            <a:spLocks noGrp="1"/>
          </p:cNvSpPr>
          <p:nvPr/>
        </p:nvSpPr>
        <p:spPr>
          <a:xfrm>
            <a:off x="859536" y="1792224"/>
            <a:ext cx="502920" cy="502920"/>
          </a:xfrm>
          <a:prstGeom prst="ellipse">
            <a:avLst/>
          </a:prstGeom>
          <a:solidFill>
            <a:srgbClr val="91A19D"/>
          </a:solidFill>
          <a:ln w="6350">
            <a:solidFill>
              <a:srgbClr val="91A19D"/>
            </a:solidFill>
            <a:prstDash val="solid"/>
          </a:ln>
          <a:effectLst>
            <a:outerShdw blurRad="2147483647" dist="2147483647" dir="5" algn="bl" rotWithShape="0">
              <a:srgbClr val="74857F">
                <a:alpha val="1"/>
              </a:srgbClr>
            </a:outerShdw>
          </a:effectLst>
        </p:spPr>
        <p:txBody>
          <a:bodyPr/>
          <a:lstStyle/>
          <a:p/>
        </p:txBody>
      </p:sp>
      <p:sp>
        <p:nvSpPr>
          <p:cNvPr id="21" name="Text 19"/>
          <p:cNvSpPr>
            <a:spLocks noGrp="1"/>
          </p:cNvSpPr>
          <p:nvPr/>
        </p:nvSpPr>
        <p:spPr>
          <a:xfrm>
            <a:off x="859536" y="1792224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回</a:t>
            </a:r>
            <a:endParaRPr sz="1400"/>
          </a:p>
        </p:txBody>
      </p:sp>
      <p:sp>
        <p:nvSpPr>
          <p:cNvPr id="22" name="Text 20"/>
          <p:cNvSpPr>
            <a:spLocks noGrp="1"/>
          </p:cNvSpPr>
          <p:nvPr/>
        </p:nvSpPr>
        <p:spPr>
          <a:xfrm>
            <a:off x="1481328" y="1783080"/>
            <a:ext cx="914400" cy="29260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buNone/>
            </a:pPr>
            <a:r>
              <a:rPr sz="1700" b="1">
                <a:solidFill>
                  <a:srgbClr val="163B36"/>
                </a:solidFill>
                <a:latin typeface="Noto Sans CJK SC"/>
                <a:ea typeface="Noto Sans CJK SC"/>
                <a:cs typeface="Noto Sans CJK SC"/>
              </a:rPr>
              <a:t>回答</a:t>
            </a:r>
            <a:endParaRPr sz="1700"/>
          </a:p>
        </p:txBody>
      </p:sp>
      <p:sp>
        <p:nvSpPr>
          <p:cNvPr id="23" name="Shape 21"/>
          <p:cNvSpPr>
            <a:spLocks noGrp="1"/>
          </p:cNvSpPr>
          <p:nvPr/>
        </p:nvSpPr>
        <p:spPr>
          <a:xfrm>
            <a:off x="859536" y="2286000"/>
            <a:ext cx="1024128" cy="256032"/>
          </a:xfrm>
          <a:prstGeom prst="roundRect">
            <a:avLst/>
          </a:prstGeom>
          <a:solidFill>
            <a:srgbClr val="EEF3F1"/>
          </a:solidFill>
          <a:ln w="10160">
            <a:solidFill>
              <a:srgbClr val="91A19D"/>
            </a:solidFill>
            <a:prstDash val="solid"/>
          </a:ln>
        </p:spPr>
        <p:txBody>
          <a:bodyPr/>
          <a:lstStyle/>
          <a:p/>
        </p:txBody>
      </p:sp>
      <p:sp>
        <p:nvSpPr>
          <p:cNvPr id="24" name="Text 22"/>
          <p:cNvSpPr>
            <a:spLocks noGrp="1"/>
          </p:cNvSpPr>
          <p:nvPr/>
        </p:nvSpPr>
        <p:spPr>
          <a:xfrm>
            <a:off x="859536" y="2286000"/>
            <a:ext cx="1024128" cy="25603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880" b="1">
                <a:solidFill>
                  <a:srgbClr val="91A19D"/>
                </a:solidFill>
                <a:latin typeface="Noto Sans CJK SC"/>
                <a:ea typeface="Noto Sans CJK SC"/>
                <a:cs typeface="Noto Sans CJK SC"/>
              </a:rPr>
              <a:t>低风险</a:t>
            </a:r>
            <a:endParaRPr sz="880"/>
          </a:p>
        </p:txBody>
      </p:sp>
      <p:sp>
        <p:nvSpPr>
          <p:cNvPr id="25" name="Text 23"/>
          <p:cNvSpPr>
            <a:spLocks noGrp="1"/>
          </p:cNvSpPr>
          <p:nvPr/>
        </p:nvSpPr>
        <p:spPr>
          <a:xfrm>
            <a:off x="859536" y="2688336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buNone/>
            </a:pPr>
            <a:r>
              <a:rPr sz="1250" b="1">
                <a:solidFill>
                  <a:srgbClr val="44585C"/>
                </a:solidFill>
                <a:latin typeface="Noto Sans CJK SC"/>
                <a:ea typeface="Noto Sans CJK SC"/>
                <a:cs typeface="Noto Sans CJK SC"/>
              </a:rPr>
              <a:t>典型问题</a:t>
            </a:r>
            <a:endParaRPr sz="1250"/>
          </a:p>
        </p:txBody>
      </p:sp>
      <p:sp>
        <p:nvSpPr>
          <p:cNvPr id="26" name="Text 24"/>
          <p:cNvSpPr>
            <a:spLocks noGrp="1"/>
          </p:cNvSpPr>
          <p:nvPr/>
        </p:nvSpPr>
        <p:spPr>
          <a:xfrm>
            <a:off x="859536" y="2944368"/>
            <a:ext cx="1938528" cy="74980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buNone/>
            </a:pPr>
            <a:r>
              <a:rPr sz="1050">
                <a:solidFill>
                  <a:srgbClr val="163B36"/>
                </a:solidFill>
                <a:latin typeface="Noto Sans CJK SC"/>
                <a:ea typeface="Noto Sans CJK SC"/>
                <a:cs typeface="Noto Sans CJK SC"/>
              </a:rPr>
              <a:t>政策说明</a:t>
            </a:r>
            <a:endParaRPr sz="1050"/>
          </a:p>
          <a:p>
            <a:pPr marL="0" indent="0" algn="l">
              <a:buNone/>
            </a:pPr>
            <a:r>
              <a:rPr sz="1050">
                <a:solidFill>
                  <a:srgbClr val="163B36"/>
                </a:solidFill>
                <a:latin typeface="Noto Sans CJK SC"/>
                <a:ea typeface="Noto Sans CJK SC"/>
                <a:cs typeface="Noto Sans CJK SC"/>
              </a:rPr>
              <a:t>尺码 / 护理</a:t>
            </a:r>
            <a:endParaRPr sz="1050"/>
          </a:p>
          <a:p>
            <a:pPr marL="0" indent="0" algn="l">
              <a:buNone/>
            </a:pPr>
            <a:r>
              <a:rPr sz="1050">
                <a:solidFill>
                  <a:srgbClr val="163B36"/>
                </a:solidFill>
                <a:latin typeface="Noto Sans CJK SC"/>
                <a:ea typeface="Noto Sans CJK SC"/>
                <a:cs typeface="Noto Sans CJK SC"/>
              </a:rPr>
              <a:t>优惠规则</a:t>
            </a:r>
            <a:endParaRPr sz="1050"/>
          </a:p>
        </p:txBody>
      </p:sp>
      <p:sp>
        <p:nvSpPr>
          <p:cNvPr id="27" name="Shape 25"/>
          <p:cNvSpPr>
            <a:spLocks noGrp="1"/>
          </p:cNvSpPr>
          <p:nvPr/>
        </p:nvSpPr>
        <p:spPr>
          <a:xfrm>
            <a:off x="859536" y="3785616"/>
            <a:ext cx="1938528" cy="0"/>
          </a:xfrm>
          <a:prstGeom prst="line">
            <a:avLst/>
          </a:prstGeom>
          <a:noFill/>
          <a:ln w="10160">
            <a:solidFill>
              <a:srgbClr val="D8E7E2"/>
            </a:solidFill>
            <a:prstDash val="solid"/>
          </a:ln>
        </p:spPr>
        <p:txBody>
          <a:bodyPr/>
          <a:lstStyle/>
          <a:p/>
        </p:txBody>
      </p:sp>
      <p:sp>
        <p:nvSpPr>
          <p:cNvPr id="28" name="Text 26"/>
          <p:cNvSpPr>
            <a:spLocks noGrp="1"/>
          </p:cNvSpPr>
          <p:nvPr/>
        </p:nvSpPr>
        <p:spPr>
          <a:xfrm>
            <a:off x="859536" y="3913632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buNone/>
            </a:pPr>
            <a:r>
              <a:rPr sz="1250" b="1">
                <a:solidFill>
                  <a:srgbClr val="44585C"/>
                </a:solidFill>
                <a:latin typeface="Noto Sans CJK SC"/>
                <a:ea typeface="Noto Sans CJK SC"/>
                <a:cs typeface="Noto Sans CJK SC"/>
              </a:rPr>
              <a:t>系统依赖</a:t>
            </a:r>
            <a:endParaRPr sz="1250"/>
          </a:p>
        </p:txBody>
      </p:sp>
      <p:sp>
        <p:nvSpPr>
          <p:cNvPr id="29" name="Text 27"/>
          <p:cNvSpPr>
            <a:spLocks noGrp="1"/>
          </p:cNvSpPr>
          <p:nvPr/>
        </p:nvSpPr>
        <p:spPr>
          <a:xfrm>
            <a:off x="859536" y="4187952"/>
            <a:ext cx="1938528" cy="34747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buNone/>
            </a:pPr>
            <a:r>
              <a:rPr sz="1040" b="1">
                <a:solidFill>
                  <a:srgbClr val="91A19D"/>
                </a:solidFill>
                <a:latin typeface="Noto Sans CJK SC"/>
                <a:ea typeface="Noto Sans CJK SC"/>
                <a:cs typeface="Noto Sans CJK SC"/>
              </a:rPr>
              <a:t>受控知识</a:t>
            </a:r>
            <a:endParaRPr sz="1040"/>
          </a:p>
        </p:txBody>
      </p:sp>
      <p:sp>
        <p:nvSpPr>
          <p:cNvPr id="30" name="Text 28"/>
          <p:cNvSpPr>
            <a:spLocks noGrp="1"/>
          </p:cNvSpPr>
          <p:nvPr/>
        </p:nvSpPr>
        <p:spPr>
          <a:xfrm>
            <a:off x="859536" y="461772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buNone/>
            </a:pPr>
            <a:r>
              <a:rPr sz="1250" b="1">
                <a:solidFill>
                  <a:srgbClr val="44585C"/>
                </a:solidFill>
                <a:latin typeface="Noto Sans CJK SC"/>
                <a:ea typeface="Noto Sans CJK SC"/>
                <a:cs typeface="Noto Sans CJK SC"/>
              </a:rPr>
              <a:t>处理方式</a:t>
            </a:r>
            <a:endParaRPr sz="1250"/>
          </a:p>
        </p:txBody>
      </p:sp>
      <p:sp>
        <p:nvSpPr>
          <p:cNvPr id="31" name="Text 29"/>
          <p:cNvSpPr>
            <a:spLocks noGrp="1"/>
          </p:cNvSpPr>
          <p:nvPr/>
        </p:nvSpPr>
        <p:spPr>
          <a:xfrm>
            <a:off x="859536" y="4882896"/>
            <a:ext cx="1938528" cy="420624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buNone/>
            </a:pPr>
            <a:r>
              <a:rPr sz="990">
                <a:solidFill>
                  <a:srgbClr val="163B36"/>
                </a:solidFill>
                <a:latin typeface="Noto Sans CJK SC"/>
                <a:ea typeface="Noto Sans CJK SC"/>
                <a:cs typeface="Noto Sans CJK SC"/>
              </a:rPr>
              <a:t>AI 自动回复</a:t>
            </a:r>
            <a:endParaRPr sz="990"/>
          </a:p>
        </p:txBody>
      </p:sp>
      <p:sp>
        <p:nvSpPr>
          <p:cNvPr id="32" name="Shape 30"/>
          <p:cNvSpPr>
            <a:spLocks noGrp="1"/>
          </p:cNvSpPr>
          <p:nvPr/>
        </p:nvSpPr>
        <p:spPr>
          <a:xfrm>
            <a:off x="822960" y="5367528"/>
            <a:ext cx="2011680" cy="347472"/>
          </a:xfrm>
          <a:prstGeom prst="roundRect">
            <a:avLst/>
          </a:prstGeom>
          <a:solidFill>
            <a:srgbClr val="EEF3F1"/>
          </a:solidFill>
          <a:ln w="8890">
            <a:solidFill>
              <a:srgbClr val="91A19D"/>
            </a:solidFill>
            <a:prstDash val="solid"/>
          </a:ln>
        </p:spPr>
        <p:txBody>
          <a:bodyPr/>
          <a:lstStyle/>
          <a:p/>
        </p:txBody>
      </p:sp>
      <p:sp>
        <p:nvSpPr>
          <p:cNvPr id="33" name="Text 31"/>
          <p:cNvSpPr>
            <a:spLocks noGrp="1"/>
          </p:cNvSpPr>
          <p:nvPr/>
        </p:nvSpPr>
        <p:spPr>
          <a:xfrm>
            <a:off x="905256" y="5404104"/>
            <a:ext cx="1847088" cy="27432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880" b="1">
                <a:solidFill>
                  <a:srgbClr val="5C7276"/>
                </a:solidFill>
                <a:latin typeface="Noto Sans CJK SC"/>
                <a:ea typeface="Noto Sans CJK SC"/>
                <a:cs typeface="Noto Sans CJK SC"/>
              </a:rPr>
              <a:t>体验损失</a:t>
            </a:r>
            <a:endParaRPr sz="880"/>
          </a:p>
          <a:p>
            <a:pPr marL="0" indent="0" algn="ctr">
              <a:buNone/>
            </a:pPr>
            <a:r>
              <a:rPr sz="880" b="1">
                <a:solidFill>
                  <a:srgbClr val="5C7276"/>
                </a:solidFill>
                <a:latin typeface="Noto Sans CJK SC"/>
                <a:ea typeface="Noto Sans CJK SC"/>
                <a:cs typeface="Noto Sans CJK SC"/>
              </a:rPr>
              <a:t>口径偏差</a:t>
            </a:r>
            <a:endParaRPr sz="880"/>
          </a:p>
        </p:txBody>
      </p:sp>
      <p:sp>
        <p:nvSpPr>
          <p:cNvPr id="34" name="Shape 32"/>
          <p:cNvSpPr>
            <a:spLocks noGrp="1"/>
          </p:cNvSpPr>
          <p:nvPr/>
        </p:nvSpPr>
        <p:spPr>
          <a:xfrm>
            <a:off x="3493008" y="1572768"/>
            <a:ext cx="2377440" cy="43159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F7DEB"/>
            </a:solidFill>
            <a:prstDash val="solid"/>
          </a:ln>
          <a:effectLst>
            <a:outerShdw blurRad="2147483647" dist="2147483647" dir="3" algn="bl" rotWithShape="0">
              <a:srgbClr val="74857F">
                <a:alpha val="1"/>
              </a:srgbClr>
            </a:outerShdw>
          </a:effectLst>
        </p:spPr>
        <p:txBody>
          <a:bodyPr/>
          <a:lstStyle/>
          <a:p/>
        </p:txBody>
      </p:sp>
      <p:sp>
        <p:nvSpPr>
          <p:cNvPr id="36" name="Text 34"/>
          <p:cNvSpPr>
            <a:spLocks noGrp="1"/>
          </p:cNvSpPr>
          <p:nvPr/>
        </p:nvSpPr>
        <p:spPr>
          <a:xfrm>
            <a:off x="5358384" y="1792224"/>
            <a:ext cx="292608" cy="21945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r">
              <a:buNone/>
            </a:pPr>
            <a:r>
              <a:rPr sz="900" b="1">
                <a:solidFill>
                  <a:srgbClr val="1B5FC4"/>
                </a:solidFill>
                <a:latin typeface="Noto Sans CJK SC"/>
                <a:ea typeface="Noto Sans CJK SC"/>
                <a:cs typeface="Noto Sans CJK SC"/>
              </a:rPr>
              <a:t>02</a:t>
            </a:r>
            <a:endParaRPr sz="900"/>
          </a:p>
        </p:txBody>
      </p:sp>
      <p:sp>
        <p:nvSpPr>
          <p:cNvPr id="37" name="Shape 35"/>
          <p:cNvSpPr>
            <a:spLocks noGrp="1"/>
          </p:cNvSpPr>
          <p:nvPr/>
        </p:nvSpPr>
        <p:spPr>
          <a:xfrm>
            <a:off x="3694176" y="1792224"/>
            <a:ext cx="502920" cy="502920"/>
          </a:xfrm>
          <a:prstGeom prst="ellipse">
            <a:avLst/>
          </a:prstGeom>
          <a:solidFill>
            <a:srgbClr val="2F7DEB"/>
          </a:solidFill>
          <a:ln w="6350">
            <a:solidFill>
              <a:srgbClr val="2F7DEB"/>
            </a:solidFill>
            <a:prstDash val="solid"/>
          </a:ln>
          <a:effectLst>
            <a:outerShdw blurRad="2147483647" dist="2147483647" dir="2" algn="bl" rotWithShape="0">
              <a:srgbClr val="74857F">
                <a:alpha val="1"/>
              </a:srgbClr>
            </a:outerShdw>
          </a:effectLst>
        </p:spPr>
        <p:txBody>
          <a:bodyPr/>
          <a:lstStyle/>
          <a:p/>
        </p:txBody>
      </p:sp>
      <p:sp>
        <p:nvSpPr>
          <p:cNvPr id="38" name="Text 36"/>
          <p:cNvSpPr>
            <a:spLocks noGrp="1"/>
          </p:cNvSpPr>
          <p:nvPr/>
        </p:nvSpPr>
        <p:spPr>
          <a:xfrm>
            <a:off x="3694176" y="1792224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查</a:t>
            </a:r>
            <a:endParaRPr sz="1400"/>
          </a:p>
        </p:txBody>
      </p:sp>
      <p:sp>
        <p:nvSpPr>
          <p:cNvPr id="39" name="Text 37"/>
          <p:cNvSpPr>
            <a:spLocks noGrp="1"/>
          </p:cNvSpPr>
          <p:nvPr/>
        </p:nvSpPr>
        <p:spPr>
          <a:xfrm>
            <a:off x="4315968" y="1783080"/>
            <a:ext cx="914400" cy="29260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buNone/>
            </a:pPr>
            <a:r>
              <a:rPr sz="1700" b="1">
                <a:solidFill>
                  <a:srgbClr val="163B36"/>
                </a:solidFill>
                <a:latin typeface="Noto Sans CJK SC"/>
                <a:ea typeface="Noto Sans CJK SC"/>
                <a:cs typeface="Noto Sans CJK SC"/>
              </a:rPr>
              <a:t>查询</a:t>
            </a:r>
            <a:endParaRPr sz="1700"/>
          </a:p>
        </p:txBody>
      </p:sp>
      <p:sp>
        <p:nvSpPr>
          <p:cNvPr id="40" name="Shape 38"/>
          <p:cNvSpPr>
            <a:spLocks noGrp="1"/>
          </p:cNvSpPr>
          <p:nvPr/>
        </p:nvSpPr>
        <p:spPr>
          <a:xfrm>
            <a:off x="3694176" y="2286000"/>
            <a:ext cx="1024128" cy="256032"/>
          </a:xfrm>
          <a:prstGeom prst="roundRect">
            <a:avLst/>
          </a:prstGeom>
          <a:solidFill>
            <a:srgbClr val="EAF2FF"/>
          </a:solidFill>
          <a:ln w="10160">
            <a:solidFill>
              <a:srgbClr val="2F7DEB"/>
            </a:solidFill>
            <a:prstDash val="solid"/>
          </a:ln>
        </p:spPr>
        <p:txBody>
          <a:bodyPr/>
          <a:lstStyle/>
          <a:p/>
        </p:txBody>
      </p:sp>
      <p:sp>
        <p:nvSpPr>
          <p:cNvPr id="41" name="Text 39"/>
          <p:cNvSpPr>
            <a:spLocks noGrp="1"/>
          </p:cNvSpPr>
          <p:nvPr/>
        </p:nvSpPr>
        <p:spPr>
          <a:xfrm>
            <a:off x="3694176" y="2286000"/>
            <a:ext cx="1024128" cy="25603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880" b="1">
                <a:solidFill>
                  <a:srgbClr val="1B5FC4"/>
                </a:solidFill>
                <a:latin typeface="Noto Sans CJK SC"/>
                <a:ea typeface="Noto Sans CJK SC"/>
                <a:cs typeface="Noto Sans CJK SC"/>
              </a:rPr>
              <a:t>低—中风险</a:t>
            </a:r>
            <a:endParaRPr sz="880"/>
          </a:p>
        </p:txBody>
      </p:sp>
      <p:sp>
        <p:nvSpPr>
          <p:cNvPr id="42" name="Text 40"/>
          <p:cNvSpPr>
            <a:spLocks noGrp="1"/>
          </p:cNvSpPr>
          <p:nvPr/>
        </p:nvSpPr>
        <p:spPr>
          <a:xfrm>
            <a:off x="3694176" y="2688336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buNone/>
            </a:pPr>
            <a:r>
              <a:rPr sz="1250" b="1">
                <a:solidFill>
                  <a:srgbClr val="44585C"/>
                </a:solidFill>
                <a:latin typeface="Noto Sans CJK SC"/>
                <a:ea typeface="Noto Sans CJK SC"/>
                <a:cs typeface="Noto Sans CJK SC"/>
              </a:rPr>
              <a:t>典型问题</a:t>
            </a:r>
            <a:endParaRPr sz="1250"/>
          </a:p>
        </p:txBody>
      </p:sp>
      <p:sp>
        <p:nvSpPr>
          <p:cNvPr id="43" name="Text 41"/>
          <p:cNvSpPr>
            <a:spLocks noGrp="1"/>
          </p:cNvSpPr>
          <p:nvPr/>
        </p:nvSpPr>
        <p:spPr>
          <a:xfrm>
            <a:off x="3694176" y="2944368"/>
            <a:ext cx="1938528" cy="74980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buNone/>
            </a:pPr>
            <a:r>
              <a:rPr sz="1050">
                <a:solidFill>
                  <a:srgbClr val="163B36"/>
                </a:solidFill>
                <a:latin typeface="Noto Sans CJK SC"/>
                <a:ea typeface="Noto Sans CJK SC"/>
                <a:cs typeface="Noto Sans CJK SC"/>
              </a:rPr>
              <a:t>订单状态</a:t>
            </a:r>
            <a:endParaRPr sz="1050"/>
          </a:p>
          <a:p>
            <a:pPr marL="0" indent="0" algn="l">
              <a:buNone/>
            </a:pPr>
            <a:r>
              <a:rPr sz="1050">
                <a:solidFill>
                  <a:srgbClr val="163B36"/>
                </a:solidFill>
                <a:latin typeface="Noto Sans CJK SC"/>
                <a:ea typeface="Noto Sans CJK SC"/>
                <a:cs typeface="Noto Sans CJK SC"/>
              </a:rPr>
              <a:t>物流进度</a:t>
            </a:r>
            <a:endParaRPr sz="1050"/>
          </a:p>
          <a:p>
            <a:pPr marL="0" indent="0" algn="l">
              <a:buNone/>
            </a:pPr>
            <a:r>
              <a:rPr sz="1050">
                <a:solidFill>
                  <a:srgbClr val="163B36"/>
                </a:solidFill>
                <a:latin typeface="Noto Sans CJK SC"/>
                <a:ea typeface="Noto Sans CJK SC"/>
                <a:cs typeface="Noto Sans CJK SC"/>
              </a:rPr>
              <a:t>退款状态</a:t>
            </a:r>
            <a:endParaRPr sz="1050"/>
          </a:p>
        </p:txBody>
      </p:sp>
      <p:sp>
        <p:nvSpPr>
          <p:cNvPr id="44" name="Shape 42"/>
          <p:cNvSpPr>
            <a:spLocks noGrp="1"/>
          </p:cNvSpPr>
          <p:nvPr/>
        </p:nvSpPr>
        <p:spPr>
          <a:xfrm>
            <a:off x="3694176" y="3785616"/>
            <a:ext cx="1938528" cy="0"/>
          </a:xfrm>
          <a:prstGeom prst="line">
            <a:avLst/>
          </a:prstGeom>
          <a:noFill/>
          <a:ln w="10160">
            <a:solidFill>
              <a:srgbClr val="D8E7E2"/>
            </a:solidFill>
            <a:prstDash val="solid"/>
          </a:ln>
        </p:spPr>
        <p:txBody>
          <a:bodyPr/>
          <a:lstStyle/>
          <a:p/>
        </p:txBody>
      </p:sp>
      <p:sp>
        <p:nvSpPr>
          <p:cNvPr id="45" name="Text 43"/>
          <p:cNvSpPr>
            <a:spLocks noGrp="1"/>
          </p:cNvSpPr>
          <p:nvPr/>
        </p:nvSpPr>
        <p:spPr>
          <a:xfrm>
            <a:off x="3694176" y="3913632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buNone/>
            </a:pPr>
            <a:r>
              <a:rPr sz="1250" b="1">
                <a:solidFill>
                  <a:srgbClr val="44585C"/>
                </a:solidFill>
                <a:latin typeface="Noto Sans CJK SC"/>
                <a:ea typeface="Noto Sans CJK SC"/>
                <a:cs typeface="Noto Sans CJK SC"/>
              </a:rPr>
              <a:t>系统依赖</a:t>
            </a:r>
            <a:endParaRPr sz="1250"/>
          </a:p>
        </p:txBody>
      </p:sp>
      <p:sp>
        <p:nvSpPr>
          <p:cNvPr id="46" name="Text 44"/>
          <p:cNvSpPr>
            <a:spLocks noGrp="1"/>
          </p:cNvSpPr>
          <p:nvPr/>
        </p:nvSpPr>
        <p:spPr>
          <a:xfrm>
            <a:off x="3694176" y="4187952"/>
            <a:ext cx="1938528" cy="34747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buNone/>
            </a:pPr>
            <a:r>
              <a:rPr sz="1040" b="1">
                <a:solidFill>
                  <a:srgbClr val="1B5FC4"/>
                </a:solidFill>
                <a:latin typeface="Noto Sans CJK SC"/>
                <a:ea typeface="Noto Sans CJK SC"/>
                <a:cs typeface="Noto Sans CJK SC"/>
              </a:rPr>
              <a:t>实时只读系统</a:t>
            </a:r>
            <a:endParaRPr sz="1040"/>
          </a:p>
        </p:txBody>
      </p:sp>
      <p:sp>
        <p:nvSpPr>
          <p:cNvPr id="47" name="Text 45"/>
          <p:cNvSpPr>
            <a:spLocks noGrp="1"/>
          </p:cNvSpPr>
          <p:nvPr/>
        </p:nvSpPr>
        <p:spPr>
          <a:xfrm>
            <a:off x="3694176" y="461772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buNone/>
            </a:pPr>
            <a:r>
              <a:rPr sz="1250" b="1">
                <a:solidFill>
                  <a:srgbClr val="44585C"/>
                </a:solidFill>
                <a:latin typeface="Noto Sans CJK SC"/>
                <a:ea typeface="Noto Sans CJK SC"/>
                <a:cs typeface="Noto Sans CJK SC"/>
              </a:rPr>
              <a:t>处理方式</a:t>
            </a:r>
            <a:endParaRPr sz="1250"/>
          </a:p>
        </p:txBody>
      </p:sp>
      <p:sp>
        <p:nvSpPr>
          <p:cNvPr id="48" name="Text 46"/>
          <p:cNvSpPr>
            <a:spLocks noGrp="1"/>
          </p:cNvSpPr>
          <p:nvPr/>
        </p:nvSpPr>
        <p:spPr>
          <a:xfrm>
            <a:off x="3694176" y="4882896"/>
            <a:ext cx="1938528" cy="420624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buNone/>
            </a:pPr>
            <a:r>
              <a:rPr sz="990">
                <a:solidFill>
                  <a:srgbClr val="163B36"/>
                </a:solidFill>
                <a:latin typeface="Noto Sans CJK SC"/>
                <a:ea typeface="Noto Sans CJK SC"/>
                <a:cs typeface="Noto Sans CJK SC"/>
              </a:rPr>
              <a:t>AI 自动 + 事实校验</a:t>
            </a:r>
            <a:endParaRPr sz="990"/>
          </a:p>
        </p:txBody>
      </p:sp>
      <p:sp>
        <p:nvSpPr>
          <p:cNvPr id="49" name="Shape 47"/>
          <p:cNvSpPr>
            <a:spLocks noGrp="1"/>
          </p:cNvSpPr>
          <p:nvPr/>
        </p:nvSpPr>
        <p:spPr>
          <a:xfrm>
            <a:off x="3657600" y="5367528"/>
            <a:ext cx="2011680" cy="347472"/>
          </a:xfrm>
          <a:prstGeom prst="roundRect">
            <a:avLst/>
          </a:prstGeom>
          <a:solidFill>
            <a:srgbClr val="EAF2FF"/>
          </a:solidFill>
          <a:ln w="8890">
            <a:solidFill>
              <a:srgbClr val="2F7DEB"/>
            </a:solidFill>
            <a:prstDash val="solid"/>
          </a:ln>
        </p:spPr>
        <p:txBody>
          <a:bodyPr/>
          <a:lstStyle/>
          <a:p/>
        </p:txBody>
      </p:sp>
      <p:sp>
        <p:nvSpPr>
          <p:cNvPr id="50" name="Text 48"/>
          <p:cNvSpPr>
            <a:spLocks noGrp="1"/>
          </p:cNvSpPr>
          <p:nvPr/>
        </p:nvSpPr>
        <p:spPr>
          <a:xfrm>
            <a:off x="3739896" y="5404104"/>
            <a:ext cx="1847088" cy="27432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880" b="1">
                <a:solidFill>
                  <a:srgbClr val="1B5FC4"/>
                </a:solidFill>
                <a:latin typeface="Noto Sans CJK SC"/>
                <a:ea typeface="Noto Sans CJK SC"/>
                <a:cs typeface="Noto Sans CJK SC"/>
              </a:rPr>
              <a:t>误导客户</a:t>
            </a:r>
            <a:endParaRPr sz="880"/>
          </a:p>
          <a:p>
            <a:pPr marL="0" indent="0" algn="ctr">
              <a:buNone/>
            </a:pPr>
            <a:r>
              <a:rPr sz="880" b="1">
                <a:solidFill>
                  <a:srgbClr val="1B5FC4"/>
                </a:solidFill>
                <a:latin typeface="Noto Sans CJK SC"/>
                <a:ea typeface="Noto Sans CJK SC"/>
                <a:cs typeface="Noto Sans CJK SC"/>
              </a:rPr>
              <a:t>信息过期</a:t>
            </a:r>
            <a:endParaRPr sz="880"/>
          </a:p>
        </p:txBody>
      </p:sp>
      <p:sp>
        <p:nvSpPr>
          <p:cNvPr id="51" name="Shape 49"/>
          <p:cNvSpPr>
            <a:spLocks noGrp="1"/>
          </p:cNvSpPr>
          <p:nvPr/>
        </p:nvSpPr>
        <p:spPr>
          <a:xfrm>
            <a:off x="6327648" y="1572768"/>
            <a:ext cx="2377440" cy="43159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9AA18"/>
            </a:solidFill>
            <a:prstDash val="solid"/>
          </a:ln>
          <a:effectLst>
            <a:outerShdw blurRad="2147483647" dist="2147483647" dir="1" algn="bl" rotWithShape="0">
              <a:srgbClr val="74857F">
                <a:alpha val="1"/>
              </a:srgbClr>
            </a:outerShdw>
          </a:effectLst>
        </p:spPr>
        <p:txBody>
          <a:bodyPr/>
          <a:lstStyle/>
          <a:p/>
        </p:txBody>
      </p:sp>
      <p:sp>
        <p:nvSpPr>
          <p:cNvPr id="53" name="Text 51"/>
          <p:cNvSpPr>
            <a:spLocks noGrp="1"/>
          </p:cNvSpPr>
          <p:nvPr/>
        </p:nvSpPr>
        <p:spPr>
          <a:xfrm>
            <a:off x="8193024" y="1792224"/>
            <a:ext cx="292608" cy="21945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r">
              <a:buNone/>
            </a:pPr>
            <a:r>
              <a:rPr sz="900" b="1">
                <a:solidFill>
                  <a:srgbClr val="8A6100"/>
                </a:solidFill>
                <a:latin typeface="Noto Sans CJK SC"/>
                <a:ea typeface="Noto Sans CJK SC"/>
                <a:cs typeface="Noto Sans CJK SC"/>
              </a:rPr>
              <a:t>03</a:t>
            </a:r>
            <a:endParaRPr sz="900"/>
          </a:p>
        </p:txBody>
      </p:sp>
      <p:sp>
        <p:nvSpPr>
          <p:cNvPr id="54" name="Shape 52"/>
          <p:cNvSpPr>
            <a:spLocks noGrp="1"/>
          </p:cNvSpPr>
          <p:nvPr/>
        </p:nvSpPr>
        <p:spPr>
          <a:xfrm>
            <a:off x="6528816" y="1792224"/>
            <a:ext cx="502920" cy="502920"/>
          </a:xfrm>
          <a:prstGeom prst="ellipse">
            <a:avLst/>
          </a:prstGeom>
          <a:solidFill>
            <a:srgbClr val="E9AA18"/>
          </a:solidFill>
          <a:ln w="6350">
            <a:solidFill>
              <a:srgbClr val="E9AA18"/>
            </a:solidFill>
            <a:prstDash val="solid"/>
          </a:ln>
          <a:effectLst>
            <a:outerShdw blurRad="2147483647" dist="2147483647" dir="7" algn="bl" rotWithShape="0">
              <a:srgbClr val="74857F">
                <a:alpha val="1"/>
              </a:srgbClr>
            </a:outerShdw>
          </a:effectLst>
        </p:spPr>
        <p:txBody>
          <a:bodyPr/>
          <a:lstStyle/>
          <a:p/>
        </p:txBody>
      </p:sp>
      <p:sp>
        <p:nvSpPr>
          <p:cNvPr id="55" name="Text 53"/>
          <p:cNvSpPr>
            <a:spLocks noGrp="1"/>
          </p:cNvSpPr>
          <p:nvPr/>
        </p:nvSpPr>
        <p:spPr>
          <a:xfrm>
            <a:off x="6528816" y="1792224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判</a:t>
            </a:r>
            <a:endParaRPr sz="1400"/>
          </a:p>
        </p:txBody>
      </p:sp>
      <p:sp>
        <p:nvSpPr>
          <p:cNvPr id="56" name="Text 54"/>
          <p:cNvSpPr>
            <a:spLocks noGrp="1"/>
          </p:cNvSpPr>
          <p:nvPr/>
        </p:nvSpPr>
        <p:spPr>
          <a:xfrm>
            <a:off x="7150608" y="1783080"/>
            <a:ext cx="914400" cy="29260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buNone/>
            </a:pPr>
            <a:r>
              <a:rPr sz="1700" b="1">
                <a:solidFill>
                  <a:srgbClr val="163B36"/>
                </a:solidFill>
                <a:latin typeface="Noto Sans CJK SC"/>
                <a:ea typeface="Noto Sans CJK SC"/>
                <a:cs typeface="Noto Sans CJK SC"/>
              </a:rPr>
              <a:t>判断</a:t>
            </a:r>
            <a:endParaRPr sz="1700"/>
          </a:p>
        </p:txBody>
      </p:sp>
      <p:sp>
        <p:nvSpPr>
          <p:cNvPr id="57" name="Shape 55"/>
          <p:cNvSpPr>
            <a:spLocks noGrp="1"/>
          </p:cNvSpPr>
          <p:nvPr/>
        </p:nvSpPr>
        <p:spPr>
          <a:xfrm>
            <a:off x="6528816" y="2286000"/>
            <a:ext cx="1024128" cy="256032"/>
          </a:xfrm>
          <a:prstGeom prst="roundRect">
            <a:avLst/>
          </a:prstGeom>
          <a:solidFill>
            <a:srgbClr val="FFF7DF"/>
          </a:solidFill>
          <a:ln w="10160">
            <a:solidFill>
              <a:srgbClr val="E9AA18"/>
            </a:solidFill>
            <a:prstDash val="solid"/>
          </a:ln>
        </p:spPr>
        <p:txBody>
          <a:bodyPr/>
          <a:lstStyle/>
          <a:p/>
        </p:txBody>
      </p:sp>
      <p:sp>
        <p:nvSpPr>
          <p:cNvPr id="58" name="Text 56"/>
          <p:cNvSpPr>
            <a:spLocks noGrp="1"/>
          </p:cNvSpPr>
          <p:nvPr/>
        </p:nvSpPr>
        <p:spPr>
          <a:xfrm>
            <a:off x="6528816" y="2286000"/>
            <a:ext cx="1024128" cy="25603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880" b="1">
                <a:solidFill>
                  <a:srgbClr val="8A6100"/>
                </a:solidFill>
                <a:latin typeface="Noto Sans CJK SC"/>
                <a:ea typeface="Noto Sans CJK SC"/>
                <a:cs typeface="Noto Sans CJK SC"/>
              </a:rPr>
              <a:t>中风险</a:t>
            </a:r>
            <a:endParaRPr sz="880"/>
          </a:p>
        </p:txBody>
      </p:sp>
      <p:sp>
        <p:nvSpPr>
          <p:cNvPr id="59" name="Text 57"/>
          <p:cNvSpPr>
            <a:spLocks noGrp="1"/>
          </p:cNvSpPr>
          <p:nvPr/>
        </p:nvSpPr>
        <p:spPr>
          <a:xfrm>
            <a:off x="6528816" y="2688336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buNone/>
            </a:pPr>
            <a:r>
              <a:rPr sz="1250" b="1">
                <a:solidFill>
                  <a:srgbClr val="44585C"/>
                </a:solidFill>
                <a:latin typeface="Noto Sans CJK SC"/>
                <a:ea typeface="Noto Sans CJK SC"/>
                <a:cs typeface="Noto Sans CJK SC"/>
              </a:rPr>
              <a:t>典型问题</a:t>
            </a:r>
            <a:endParaRPr sz="1250"/>
          </a:p>
        </p:txBody>
      </p:sp>
      <p:sp>
        <p:nvSpPr>
          <p:cNvPr id="60" name="Text 58"/>
          <p:cNvSpPr>
            <a:spLocks noGrp="1"/>
          </p:cNvSpPr>
          <p:nvPr/>
        </p:nvSpPr>
        <p:spPr>
          <a:xfrm>
            <a:off x="6528816" y="2944368"/>
            <a:ext cx="1938528" cy="74980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buNone/>
            </a:pPr>
            <a:r>
              <a:rPr sz="1050">
                <a:solidFill>
                  <a:srgbClr val="163B36"/>
                </a:solidFill>
                <a:latin typeface="Noto Sans CJK SC"/>
                <a:ea typeface="Noto Sans CJK SC"/>
                <a:cs typeface="Noto Sans CJK SC"/>
              </a:rPr>
              <a:t>能否取消</a:t>
            </a:r>
            <a:endParaRPr sz="1050"/>
          </a:p>
          <a:p>
            <a:pPr marL="0" indent="0" algn="l">
              <a:buNone/>
            </a:pPr>
            <a:r>
              <a:rPr sz="1050">
                <a:solidFill>
                  <a:srgbClr val="163B36"/>
                </a:solidFill>
                <a:latin typeface="Noto Sans CJK SC"/>
                <a:ea typeface="Noto Sans CJK SC"/>
                <a:cs typeface="Noto Sans CJK SC"/>
              </a:rPr>
              <a:t>能否退货</a:t>
            </a:r>
            <a:endParaRPr sz="1050"/>
          </a:p>
          <a:p>
            <a:pPr marL="0" indent="0" algn="l">
              <a:buNone/>
            </a:pPr>
            <a:r>
              <a:rPr sz="1050">
                <a:solidFill>
                  <a:srgbClr val="163B36"/>
                </a:solidFill>
                <a:latin typeface="Noto Sans CJK SC"/>
                <a:ea typeface="Noto Sans CJK SC"/>
                <a:cs typeface="Noto Sans CJK SC"/>
              </a:rPr>
              <a:t>能否改地址</a:t>
            </a:r>
            <a:endParaRPr sz="1050"/>
          </a:p>
        </p:txBody>
      </p:sp>
      <p:sp>
        <p:nvSpPr>
          <p:cNvPr id="61" name="Shape 59"/>
          <p:cNvSpPr>
            <a:spLocks noGrp="1"/>
          </p:cNvSpPr>
          <p:nvPr/>
        </p:nvSpPr>
        <p:spPr>
          <a:xfrm>
            <a:off x="6528816" y="3785616"/>
            <a:ext cx="1938528" cy="0"/>
          </a:xfrm>
          <a:prstGeom prst="line">
            <a:avLst/>
          </a:prstGeom>
          <a:noFill/>
          <a:ln w="10160">
            <a:solidFill>
              <a:srgbClr val="D8E7E2"/>
            </a:solidFill>
            <a:prstDash val="solid"/>
          </a:ln>
        </p:spPr>
        <p:txBody>
          <a:bodyPr/>
          <a:lstStyle/>
          <a:p/>
        </p:txBody>
      </p:sp>
      <p:sp>
        <p:nvSpPr>
          <p:cNvPr id="62" name="Text 60"/>
          <p:cNvSpPr>
            <a:spLocks noGrp="1"/>
          </p:cNvSpPr>
          <p:nvPr/>
        </p:nvSpPr>
        <p:spPr>
          <a:xfrm>
            <a:off x="6528816" y="3913632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buNone/>
            </a:pPr>
            <a:r>
              <a:rPr sz="1250" b="1">
                <a:solidFill>
                  <a:srgbClr val="44585C"/>
                </a:solidFill>
                <a:latin typeface="Noto Sans CJK SC"/>
                <a:ea typeface="Noto Sans CJK SC"/>
                <a:cs typeface="Noto Sans CJK SC"/>
              </a:rPr>
              <a:t>系统依赖</a:t>
            </a:r>
            <a:endParaRPr sz="1250"/>
          </a:p>
        </p:txBody>
      </p:sp>
      <p:sp>
        <p:nvSpPr>
          <p:cNvPr id="63" name="Text 61"/>
          <p:cNvSpPr>
            <a:spLocks noGrp="1"/>
          </p:cNvSpPr>
          <p:nvPr/>
        </p:nvSpPr>
        <p:spPr>
          <a:xfrm>
            <a:off x="6528816" y="4187952"/>
            <a:ext cx="1938528" cy="34747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buNone/>
            </a:pPr>
            <a:r>
              <a:rPr sz="1040" b="1">
                <a:solidFill>
                  <a:srgbClr val="8A6100"/>
                </a:solidFill>
                <a:latin typeface="Noto Sans CJK SC"/>
                <a:ea typeface="Noto Sans CJK SC"/>
                <a:cs typeface="Noto Sans CJK SC"/>
              </a:rPr>
              <a:t>规则 + 状态 + 上下文</a:t>
            </a:r>
            <a:endParaRPr sz="1040"/>
          </a:p>
        </p:txBody>
      </p:sp>
      <p:sp>
        <p:nvSpPr>
          <p:cNvPr id="64" name="Text 62"/>
          <p:cNvSpPr>
            <a:spLocks noGrp="1"/>
          </p:cNvSpPr>
          <p:nvPr/>
        </p:nvSpPr>
        <p:spPr>
          <a:xfrm>
            <a:off x="6528816" y="461772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buNone/>
            </a:pPr>
            <a:r>
              <a:rPr sz="1250" b="1">
                <a:solidFill>
                  <a:srgbClr val="44585C"/>
                </a:solidFill>
                <a:latin typeface="Noto Sans CJK SC"/>
                <a:ea typeface="Noto Sans CJK SC"/>
                <a:cs typeface="Noto Sans CJK SC"/>
              </a:rPr>
              <a:t>处理方式</a:t>
            </a:r>
            <a:endParaRPr sz="1250"/>
          </a:p>
        </p:txBody>
      </p:sp>
      <p:sp>
        <p:nvSpPr>
          <p:cNvPr id="65" name="Text 63"/>
          <p:cNvSpPr>
            <a:spLocks noGrp="1"/>
          </p:cNvSpPr>
          <p:nvPr/>
        </p:nvSpPr>
        <p:spPr>
          <a:xfrm>
            <a:off x="6528816" y="4882896"/>
            <a:ext cx="1938528" cy="420624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buNone/>
            </a:pPr>
            <a:r>
              <a:rPr sz="990">
                <a:solidFill>
                  <a:srgbClr val="163B36"/>
                </a:solidFill>
                <a:latin typeface="Noto Sans CJK SC"/>
                <a:ea typeface="Noto Sans CJK SC"/>
                <a:cs typeface="Noto Sans CJK SC"/>
              </a:rPr>
              <a:t>AI 判断，客户/人工确认</a:t>
            </a:r>
            <a:endParaRPr sz="990"/>
          </a:p>
        </p:txBody>
      </p:sp>
      <p:sp>
        <p:nvSpPr>
          <p:cNvPr id="66" name="Shape 64"/>
          <p:cNvSpPr>
            <a:spLocks noGrp="1"/>
          </p:cNvSpPr>
          <p:nvPr/>
        </p:nvSpPr>
        <p:spPr>
          <a:xfrm>
            <a:off x="6492240" y="5367528"/>
            <a:ext cx="2011680" cy="347472"/>
          </a:xfrm>
          <a:prstGeom prst="roundRect">
            <a:avLst/>
          </a:prstGeom>
          <a:solidFill>
            <a:srgbClr val="FFF7DF"/>
          </a:solidFill>
          <a:ln w="8890">
            <a:solidFill>
              <a:srgbClr val="E9AA18"/>
            </a:solidFill>
            <a:prstDash val="solid"/>
          </a:ln>
        </p:spPr>
        <p:txBody>
          <a:bodyPr/>
          <a:lstStyle/>
          <a:p/>
        </p:txBody>
      </p:sp>
      <p:sp>
        <p:nvSpPr>
          <p:cNvPr id="67" name="Text 65"/>
          <p:cNvSpPr>
            <a:spLocks noGrp="1"/>
          </p:cNvSpPr>
          <p:nvPr/>
        </p:nvSpPr>
        <p:spPr>
          <a:xfrm>
            <a:off x="6574536" y="5404104"/>
            <a:ext cx="1847088" cy="27432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880" b="1">
                <a:solidFill>
                  <a:srgbClr val="8A6100"/>
                </a:solidFill>
                <a:latin typeface="Noto Sans CJK SC"/>
                <a:ea typeface="Noto Sans CJK SC"/>
                <a:cs typeface="Noto Sans CJK SC"/>
              </a:rPr>
              <a:t>政策违背</a:t>
            </a:r>
            <a:endParaRPr sz="880"/>
          </a:p>
          <a:p>
            <a:pPr marL="0" indent="0" algn="ctr">
              <a:buNone/>
            </a:pPr>
            <a:r>
              <a:rPr sz="880" b="1">
                <a:solidFill>
                  <a:srgbClr val="8A6100"/>
                </a:solidFill>
                <a:latin typeface="Noto Sans CJK SC"/>
                <a:ea typeface="Noto Sans CJK SC"/>
                <a:cs typeface="Noto Sans CJK SC"/>
              </a:rPr>
              <a:t>责任归属不清</a:t>
            </a:r>
            <a:endParaRPr sz="880"/>
          </a:p>
        </p:txBody>
      </p:sp>
      <p:sp>
        <p:nvSpPr>
          <p:cNvPr id="68" name="Shape 66"/>
          <p:cNvSpPr>
            <a:spLocks noGrp="1"/>
          </p:cNvSpPr>
          <p:nvPr/>
        </p:nvSpPr>
        <p:spPr>
          <a:xfrm>
            <a:off x="9162288" y="1572768"/>
            <a:ext cx="2377440" cy="43159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5858"/>
            </a:solidFill>
            <a:prstDash val="solid"/>
          </a:ln>
          <a:effectLst>
            <a:outerShdw blurRad="2147483647" dist="2147483647" dir="4" algn="bl" rotWithShape="0">
              <a:srgbClr val="74857F">
                <a:alpha val="1"/>
              </a:srgbClr>
            </a:outerShdw>
          </a:effectLst>
        </p:spPr>
        <p:txBody>
          <a:bodyPr/>
          <a:lstStyle/>
          <a:p/>
        </p:txBody>
      </p:sp>
      <p:sp>
        <p:nvSpPr>
          <p:cNvPr id="70" name="Text 68"/>
          <p:cNvSpPr>
            <a:spLocks noGrp="1"/>
          </p:cNvSpPr>
          <p:nvPr/>
        </p:nvSpPr>
        <p:spPr>
          <a:xfrm>
            <a:off x="11027664" y="1792224"/>
            <a:ext cx="292608" cy="21945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r">
              <a:buNone/>
            </a:pPr>
            <a:r>
              <a:rPr sz="900" b="1">
                <a:solidFill>
                  <a:srgbClr val="C23B3B"/>
                </a:solidFill>
                <a:latin typeface="Noto Sans CJK SC"/>
                <a:ea typeface="Noto Sans CJK SC"/>
                <a:cs typeface="Noto Sans CJK SC"/>
              </a:rPr>
              <a:t>04</a:t>
            </a:r>
            <a:endParaRPr sz="900"/>
          </a:p>
        </p:txBody>
      </p:sp>
      <p:sp>
        <p:nvSpPr>
          <p:cNvPr id="71" name="Shape 69"/>
          <p:cNvSpPr>
            <a:spLocks noGrp="1"/>
          </p:cNvSpPr>
          <p:nvPr/>
        </p:nvSpPr>
        <p:spPr>
          <a:xfrm>
            <a:off x="9363456" y="1792224"/>
            <a:ext cx="502920" cy="502920"/>
          </a:xfrm>
          <a:prstGeom prst="ellipse">
            <a:avLst/>
          </a:prstGeom>
          <a:solidFill>
            <a:srgbClr val="E45858"/>
          </a:solidFill>
          <a:ln w="6350">
            <a:solidFill>
              <a:srgbClr val="E45858"/>
            </a:solidFill>
            <a:prstDash val="solid"/>
          </a:ln>
          <a:effectLst>
            <a:outerShdw blurRad="2147483647" dist="2147483647" dir="2" algn="bl" rotWithShape="0">
              <a:srgbClr val="74857F">
                <a:alpha val="1"/>
              </a:srgbClr>
            </a:outerShdw>
          </a:effectLst>
        </p:spPr>
        <p:txBody>
          <a:bodyPr/>
          <a:lstStyle/>
          <a:p/>
        </p:txBody>
      </p:sp>
      <p:sp>
        <p:nvSpPr>
          <p:cNvPr id="72" name="Text 70"/>
          <p:cNvSpPr>
            <a:spLocks noGrp="1"/>
          </p:cNvSpPr>
          <p:nvPr/>
        </p:nvSpPr>
        <p:spPr>
          <a:xfrm>
            <a:off x="9363456" y="1792224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执</a:t>
            </a:r>
            <a:endParaRPr sz="1400"/>
          </a:p>
        </p:txBody>
      </p:sp>
      <p:sp>
        <p:nvSpPr>
          <p:cNvPr id="73" name="Text 71"/>
          <p:cNvSpPr>
            <a:spLocks noGrp="1"/>
          </p:cNvSpPr>
          <p:nvPr/>
        </p:nvSpPr>
        <p:spPr>
          <a:xfrm>
            <a:off x="9985248" y="1783080"/>
            <a:ext cx="914400" cy="29260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buNone/>
            </a:pPr>
            <a:r>
              <a:rPr sz="1700" b="1">
                <a:solidFill>
                  <a:srgbClr val="163B36"/>
                </a:solidFill>
                <a:latin typeface="Noto Sans CJK SC"/>
                <a:ea typeface="Noto Sans CJK SC"/>
                <a:cs typeface="Noto Sans CJK SC"/>
              </a:rPr>
              <a:t>执行</a:t>
            </a:r>
            <a:endParaRPr sz="1700"/>
          </a:p>
        </p:txBody>
      </p:sp>
      <p:sp>
        <p:nvSpPr>
          <p:cNvPr id="74" name="Shape 72"/>
          <p:cNvSpPr>
            <a:spLocks noGrp="1"/>
          </p:cNvSpPr>
          <p:nvPr/>
        </p:nvSpPr>
        <p:spPr>
          <a:xfrm>
            <a:off x="9363456" y="2286000"/>
            <a:ext cx="1024128" cy="256032"/>
          </a:xfrm>
          <a:prstGeom prst="roundRect">
            <a:avLst/>
          </a:prstGeom>
          <a:solidFill>
            <a:srgbClr val="FDEBEC"/>
          </a:solidFill>
          <a:ln w="10160">
            <a:solidFill>
              <a:srgbClr val="E45858"/>
            </a:solidFill>
            <a:prstDash val="solid"/>
          </a:ln>
        </p:spPr>
        <p:txBody>
          <a:bodyPr/>
          <a:lstStyle/>
          <a:p/>
        </p:txBody>
      </p:sp>
      <p:sp>
        <p:nvSpPr>
          <p:cNvPr id="75" name="Text 73"/>
          <p:cNvSpPr>
            <a:spLocks noGrp="1"/>
          </p:cNvSpPr>
          <p:nvPr/>
        </p:nvSpPr>
        <p:spPr>
          <a:xfrm>
            <a:off x="9363456" y="2286000"/>
            <a:ext cx="1024128" cy="25603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880" b="1">
                <a:solidFill>
                  <a:srgbClr val="C23B3B"/>
                </a:solidFill>
                <a:latin typeface="Noto Sans CJK SC"/>
                <a:ea typeface="Noto Sans CJK SC"/>
                <a:cs typeface="Noto Sans CJK SC"/>
              </a:rPr>
              <a:t>高风险</a:t>
            </a:r>
            <a:endParaRPr sz="880"/>
          </a:p>
        </p:txBody>
      </p:sp>
      <p:sp>
        <p:nvSpPr>
          <p:cNvPr id="76" name="Text 74"/>
          <p:cNvSpPr>
            <a:spLocks noGrp="1"/>
          </p:cNvSpPr>
          <p:nvPr/>
        </p:nvSpPr>
        <p:spPr>
          <a:xfrm>
            <a:off x="9363456" y="2688336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buNone/>
            </a:pPr>
            <a:r>
              <a:rPr sz="1250" b="1">
                <a:solidFill>
                  <a:srgbClr val="44585C"/>
                </a:solidFill>
                <a:latin typeface="Noto Sans CJK SC"/>
                <a:ea typeface="Noto Sans CJK SC"/>
                <a:cs typeface="Noto Sans CJK SC"/>
              </a:rPr>
              <a:t>典型问题</a:t>
            </a:r>
            <a:endParaRPr sz="1250"/>
          </a:p>
        </p:txBody>
      </p:sp>
      <p:sp>
        <p:nvSpPr>
          <p:cNvPr id="77" name="Text 75"/>
          <p:cNvSpPr>
            <a:spLocks noGrp="1"/>
          </p:cNvSpPr>
          <p:nvPr/>
        </p:nvSpPr>
        <p:spPr>
          <a:xfrm>
            <a:off x="9363456" y="2944368"/>
            <a:ext cx="1938528" cy="74980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buNone/>
            </a:pPr>
            <a:r>
              <a:rPr sz="1050">
                <a:solidFill>
                  <a:srgbClr val="163B36"/>
                </a:solidFill>
                <a:latin typeface="Noto Sans CJK SC"/>
                <a:ea typeface="Noto Sans CJK SC"/>
                <a:cs typeface="Noto Sans CJK SC"/>
              </a:rPr>
              <a:t>修改地址</a:t>
            </a:r>
            <a:endParaRPr sz="1050"/>
          </a:p>
          <a:p>
            <a:pPr marL="0" indent="0" algn="l">
              <a:buNone/>
            </a:pPr>
            <a:r>
              <a:rPr sz="1050">
                <a:solidFill>
                  <a:srgbClr val="163B36"/>
                </a:solidFill>
                <a:latin typeface="Noto Sans CJK SC"/>
                <a:ea typeface="Noto Sans CJK SC"/>
                <a:cs typeface="Noto Sans CJK SC"/>
              </a:rPr>
              <a:t>取消订单</a:t>
            </a:r>
            <a:endParaRPr sz="1050"/>
          </a:p>
          <a:p>
            <a:pPr marL="0" indent="0" algn="l">
              <a:buNone/>
            </a:pPr>
            <a:r>
              <a:rPr sz="1050">
                <a:solidFill>
                  <a:srgbClr val="163B36"/>
                </a:solidFill>
                <a:latin typeface="Noto Sans CJK SC"/>
                <a:ea typeface="Noto Sans CJK SC"/>
                <a:cs typeface="Noto Sans CJK SC"/>
              </a:rPr>
              <a:t>退款 / 创建退货</a:t>
            </a:r>
            <a:endParaRPr sz="1050"/>
          </a:p>
        </p:txBody>
      </p:sp>
      <p:sp>
        <p:nvSpPr>
          <p:cNvPr id="78" name="Shape 76"/>
          <p:cNvSpPr>
            <a:spLocks noGrp="1"/>
          </p:cNvSpPr>
          <p:nvPr/>
        </p:nvSpPr>
        <p:spPr>
          <a:xfrm>
            <a:off x="9363456" y="3785616"/>
            <a:ext cx="1938528" cy="0"/>
          </a:xfrm>
          <a:prstGeom prst="line">
            <a:avLst/>
          </a:prstGeom>
          <a:noFill/>
          <a:ln w="10160">
            <a:solidFill>
              <a:srgbClr val="D8E7E2"/>
            </a:solidFill>
            <a:prstDash val="solid"/>
          </a:ln>
        </p:spPr>
        <p:txBody>
          <a:bodyPr/>
          <a:lstStyle/>
          <a:p/>
        </p:txBody>
      </p:sp>
      <p:sp>
        <p:nvSpPr>
          <p:cNvPr id="79" name="Text 77"/>
          <p:cNvSpPr>
            <a:spLocks noGrp="1"/>
          </p:cNvSpPr>
          <p:nvPr/>
        </p:nvSpPr>
        <p:spPr>
          <a:xfrm>
            <a:off x="9363456" y="3913632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buNone/>
            </a:pPr>
            <a:r>
              <a:rPr sz="1250" b="1">
                <a:solidFill>
                  <a:srgbClr val="44585C"/>
                </a:solidFill>
                <a:latin typeface="Noto Sans CJK SC"/>
                <a:ea typeface="Noto Sans CJK SC"/>
                <a:cs typeface="Noto Sans CJK SC"/>
              </a:rPr>
              <a:t>系统依赖</a:t>
            </a:r>
            <a:endParaRPr sz="1250"/>
          </a:p>
        </p:txBody>
      </p:sp>
      <p:sp>
        <p:nvSpPr>
          <p:cNvPr id="80" name="Text 78"/>
          <p:cNvSpPr>
            <a:spLocks noGrp="1"/>
          </p:cNvSpPr>
          <p:nvPr/>
        </p:nvSpPr>
        <p:spPr>
          <a:xfrm>
            <a:off x="9363456" y="4187952"/>
            <a:ext cx="1938528" cy="34747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buNone/>
            </a:pPr>
            <a:r>
              <a:rPr sz="1040" b="1">
                <a:solidFill>
                  <a:srgbClr val="C23B3B"/>
                </a:solidFill>
                <a:latin typeface="Noto Sans CJK SC"/>
                <a:ea typeface="Noto Sans CJK SC"/>
                <a:cs typeface="Noto Sans CJK SC"/>
              </a:rPr>
              <a:t>写能力 + 权限 + 幂等</a:t>
            </a:r>
            <a:endParaRPr sz="1040"/>
          </a:p>
        </p:txBody>
      </p:sp>
      <p:sp>
        <p:nvSpPr>
          <p:cNvPr id="81" name="Text 79"/>
          <p:cNvSpPr>
            <a:spLocks noGrp="1"/>
          </p:cNvSpPr>
          <p:nvPr/>
        </p:nvSpPr>
        <p:spPr>
          <a:xfrm>
            <a:off x="9363456" y="461772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buNone/>
            </a:pPr>
            <a:r>
              <a:rPr sz="1250" b="1">
                <a:solidFill>
                  <a:srgbClr val="44585C"/>
                </a:solidFill>
                <a:latin typeface="Noto Sans CJK SC"/>
                <a:ea typeface="Noto Sans CJK SC"/>
                <a:cs typeface="Noto Sans CJK SC"/>
              </a:rPr>
              <a:t>处理方式</a:t>
            </a:r>
            <a:endParaRPr sz="1250"/>
          </a:p>
        </p:txBody>
      </p:sp>
      <p:sp>
        <p:nvSpPr>
          <p:cNvPr id="82" name="Text 80"/>
          <p:cNvSpPr>
            <a:spLocks noGrp="1"/>
          </p:cNvSpPr>
          <p:nvPr/>
        </p:nvSpPr>
        <p:spPr>
          <a:xfrm>
            <a:off x="9363456" y="4882896"/>
            <a:ext cx="1938528" cy="420624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buNone/>
            </a:pPr>
            <a:r>
              <a:rPr sz="990">
                <a:solidFill>
                  <a:srgbClr val="163B36"/>
                </a:solidFill>
                <a:latin typeface="Noto Sans CJK SC"/>
                <a:ea typeface="Noto Sans CJK SC"/>
                <a:cs typeface="Noto Sans CJK SC"/>
              </a:rPr>
              <a:t>Workflow 受控执行</a:t>
            </a:r>
            <a:endParaRPr sz="990"/>
          </a:p>
        </p:txBody>
      </p:sp>
      <p:sp>
        <p:nvSpPr>
          <p:cNvPr id="83" name="Shape 81"/>
          <p:cNvSpPr>
            <a:spLocks noGrp="1"/>
          </p:cNvSpPr>
          <p:nvPr/>
        </p:nvSpPr>
        <p:spPr>
          <a:xfrm>
            <a:off x="9326880" y="5367528"/>
            <a:ext cx="2011680" cy="347472"/>
          </a:xfrm>
          <a:prstGeom prst="roundRect">
            <a:avLst/>
          </a:prstGeom>
          <a:solidFill>
            <a:srgbClr val="FDEBEC"/>
          </a:solidFill>
          <a:ln w="8890">
            <a:solidFill>
              <a:srgbClr val="E45858"/>
            </a:solidFill>
            <a:prstDash val="solid"/>
          </a:ln>
        </p:spPr>
        <p:txBody>
          <a:bodyPr/>
          <a:lstStyle/>
          <a:p/>
        </p:txBody>
      </p:sp>
      <p:sp>
        <p:nvSpPr>
          <p:cNvPr id="84" name="Text 82"/>
          <p:cNvSpPr>
            <a:spLocks noGrp="1"/>
          </p:cNvSpPr>
          <p:nvPr/>
        </p:nvSpPr>
        <p:spPr>
          <a:xfrm>
            <a:off x="9409176" y="5404104"/>
            <a:ext cx="1847088" cy="27432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880" b="1">
                <a:solidFill>
                  <a:srgbClr val="C23B3B"/>
                </a:solidFill>
                <a:latin typeface="Noto Sans CJK SC"/>
                <a:ea typeface="Noto Sans CJK SC"/>
                <a:cs typeface="Noto Sans CJK SC"/>
              </a:rPr>
              <a:t>状态错误</a:t>
            </a:r>
            <a:endParaRPr sz="880"/>
          </a:p>
          <a:p>
            <a:pPr marL="0" indent="0" algn="ctr">
              <a:buNone/>
            </a:pPr>
            <a:r>
              <a:rPr sz="880" b="1">
                <a:solidFill>
                  <a:srgbClr val="C23B3B"/>
                </a:solidFill>
                <a:latin typeface="Noto Sans CJK SC"/>
                <a:ea typeface="Noto Sans CJK SC"/>
                <a:cs typeface="Noto Sans CJK SC"/>
              </a:rPr>
              <a:t>资金与履约损失</a:t>
            </a:r>
            <a:endParaRPr sz="880"/>
          </a:p>
        </p:txBody>
      </p:sp>
      <p:sp>
        <p:nvSpPr>
          <p:cNvPr id="85" name="Shape 83"/>
          <p:cNvSpPr>
            <a:spLocks noGrp="1"/>
          </p:cNvSpPr>
          <p:nvPr/>
        </p:nvSpPr>
        <p:spPr>
          <a:xfrm>
            <a:off x="749808" y="6044184"/>
            <a:ext cx="10698480" cy="256032"/>
          </a:xfrm>
          <a:prstGeom prst="roundRect">
            <a:avLst/>
          </a:prstGeom>
          <a:solidFill>
            <a:srgbClr val="DDE7E4"/>
          </a:solidFill>
          <a:ln w="6350">
            <a:solidFill>
              <a:srgbClr val="DDE7E4"/>
            </a:solidFill>
            <a:prstDash val="solid"/>
          </a:ln>
        </p:spPr>
        <p:txBody>
          <a:bodyPr/>
          <a:lstStyle/>
          <a:p/>
        </p:txBody>
      </p:sp>
      <p:sp>
        <p:nvSpPr>
          <p:cNvPr id="86" name="Shape 84"/>
          <p:cNvSpPr>
            <a:spLocks noGrp="1"/>
          </p:cNvSpPr>
          <p:nvPr/>
        </p:nvSpPr>
        <p:spPr>
          <a:xfrm>
            <a:off x="749808" y="6044184"/>
            <a:ext cx="2743200" cy="256032"/>
          </a:xfrm>
          <a:prstGeom prst="roundRect">
            <a:avLst/>
          </a:prstGeom>
          <a:solidFill>
            <a:srgbClr val="E8F7F1"/>
          </a:solidFill>
          <a:ln w="6350">
            <a:solidFill>
              <a:srgbClr val="07966F"/>
            </a:solidFill>
            <a:prstDash val="solid"/>
          </a:ln>
        </p:spPr>
        <p:txBody>
          <a:bodyPr/>
          <a:lstStyle/>
          <a:p/>
        </p:txBody>
      </p:sp>
      <p:sp>
        <p:nvSpPr>
          <p:cNvPr id="87" name="Shape 85"/>
          <p:cNvSpPr>
            <a:spLocks noGrp="1"/>
          </p:cNvSpPr>
          <p:nvPr/>
        </p:nvSpPr>
        <p:spPr>
          <a:xfrm>
            <a:off x="3337560" y="6044184"/>
            <a:ext cx="2743200" cy="256032"/>
          </a:xfrm>
          <a:prstGeom prst="roundRect">
            <a:avLst/>
          </a:prstGeom>
          <a:solidFill>
            <a:srgbClr val="EAF2FF"/>
          </a:solidFill>
          <a:ln w="6350">
            <a:solidFill>
              <a:srgbClr val="2F7DEB"/>
            </a:solidFill>
            <a:prstDash val="solid"/>
          </a:ln>
        </p:spPr>
        <p:txBody>
          <a:bodyPr/>
          <a:lstStyle/>
          <a:p/>
        </p:txBody>
      </p:sp>
      <p:sp>
        <p:nvSpPr>
          <p:cNvPr id="88" name="Shape 86"/>
          <p:cNvSpPr>
            <a:spLocks noGrp="1"/>
          </p:cNvSpPr>
          <p:nvPr/>
        </p:nvSpPr>
        <p:spPr>
          <a:xfrm>
            <a:off x="5925312" y="6044184"/>
            <a:ext cx="2743200" cy="256032"/>
          </a:xfrm>
          <a:prstGeom prst="roundRect">
            <a:avLst/>
          </a:prstGeom>
          <a:solidFill>
            <a:srgbClr val="FFF7DF"/>
          </a:solidFill>
          <a:ln w="6350">
            <a:solidFill>
              <a:srgbClr val="E9AA18"/>
            </a:solidFill>
            <a:prstDash val="solid"/>
          </a:ln>
        </p:spPr>
        <p:txBody>
          <a:bodyPr/>
          <a:lstStyle/>
          <a:p/>
        </p:txBody>
      </p:sp>
      <p:sp>
        <p:nvSpPr>
          <p:cNvPr id="89" name="Shape 87"/>
          <p:cNvSpPr>
            <a:spLocks noGrp="1"/>
          </p:cNvSpPr>
          <p:nvPr/>
        </p:nvSpPr>
        <p:spPr>
          <a:xfrm>
            <a:off x="8513064" y="6044184"/>
            <a:ext cx="2935224" cy="256032"/>
          </a:xfrm>
          <a:prstGeom prst="roundRect">
            <a:avLst/>
          </a:prstGeom>
          <a:solidFill>
            <a:srgbClr val="FDEBEC"/>
          </a:solidFill>
          <a:ln w="6350">
            <a:solidFill>
              <a:srgbClr val="E45858"/>
            </a:solidFill>
            <a:prstDash val="solid"/>
          </a:ln>
        </p:spPr>
        <p:txBody>
          <a:bodyPr/>
          <a:lstStyle/>
          <a:p/>
        </p:txBody>
      </p:sp>
      <p:sp>
        <p:nvSpPr>
          <p:cNvPr id="90" name="Text 88"/>
          <p:cNvSpPr>
            <a:spLocks noGrp="1"/>
          </p:cNvSpPr>
          <p:nvPr/>
        </p:nvSpPr>
        <p:spPr>
          <a:xfrm>
            <a:off x="4297680" y="6035040"/>
            <a:ext cx="3566160" cy="27432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920" b="1">
                <a:solidFill>
                  <a:srgbClr val="163B36"/>
                </a:solidFill>
                <a:latin typeface="Noto Sans CJK SC"/>
                <a:ea typeface="Noto Sans CJK SC"/>
                <a:cs typeface="Noto Sans CJK SC"/>
              </a:rPr>
              <a:t>从回答到执行，出错代价越来越高</a:t>
            </a:r>
            <a:endParaRPr sz="920"/>
          </a:p>
        </p:txBody>
      </p:sp>
      <p:sp>
        <p:nvSpPr>
          <p:cNvPr id="91" name="Rectangle 90"/>
          <p:cNvSpPr>
            <a:spLocks noGrp="1"/>
          </p:cNvSpPr>
          <p:nvPr/>
        </p:nvSpPr>
        <p:spPr>
          <a:xfrm>
            <a:off x="0" y="0"/>
            <a:ext cx="41148" cy="6858000"/>
          </a:xfrm>
          <a:prstGeom prst="rect">
            <a:avLst/>
          </a:prstGeom>
          <a:solidFill>
            <a:srgbClr val="0A8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92" name="圆角矩形 91"/>
          <p:cNvSpPr>
            <a:spLocks noGrp="1"/>
          </p:cNvSpPr>
          <p:nvPr/>
        </p:nvSpPr>
        <p:spPr>
          <a:xfrm>
            <a:off x="6565583" y="127635"/>
            <a:ext cx="4937760" cy="365760"/>
          </a:xfrm>
          <a:prstGeom prst="roundRect">
            <a:avLst>
              <a:gd name="adj" fmla="val 20833"/>
            </a:avLst>
          </a:prstGeom>
          <a:solidFill>
            <a:srgbClr val="F7FBF9"/>
          </a:solidFill>
          <a:ln w="12668">
            <a:solidFill>
              <a:srgbClr val="F7FBF9"/>
            </a:solidFill>
            <a:prstDash val="solid"/>
          </a:ln>
        </p:spPr>
        <p:txBody>
          <a:bodyPr/>
          <a:p/>
        </p:txBody>
      </p:sp>
      <p:sp>
        <p:nvSpPr>
          <p:cNvPr id="93" name="圆角矩形 92"/>
          <p:cNvSpPr>
            <a:spLocks noGrp="1"/>
          </p:cNvSpPr>
          <p:nvPr/>
        </p:nvSpPr>
        <p:spPr>
          <a:xfrm>
            <a:off x="6657023" y="164783"/>
            <a:ext cx="1154430" cy="264795"/>
          </a:xfrm>
          <a:prstGeom prst="roundRect">
            <a:avLst>
              <a:gd name="adj" fmla="val 28777"/>
            </a:avLst>
          </a:prstGeom>
          <a:solidFill>
            <a:srgbClr val="007574"/>
          </a:solidFill>
          <a:ln w="12668">
            <a:solidFill>
              <a:srgbClr val="007574"/>
            </a:solidFill>
            <a:prstDash val="solid"/>
          </a:ln>
        </p:spPr>
        <p:txBody>
          <a:bodyPr/>
          <a:p/>
        </p:txBody>
      </p:sp>
      <p:sp>
        <p:nvSpPr>
          <p:cNvPr id="94" name="矩形 93"/>
          <p:cNvSpPr>
            <a:spLocks noGrp="1"/>
          </p:cNvSpPr>
          <p:nvPr/>
        </p:nvSpPr>
        <p:spPr>
          <a:xfrm>
            <a:off x="6657023" y="187643"/>
            <a:ext cx="1154430" cy="182880"/>
          </a:xfrm>
          <a:prstGeom prst="rect">
            <a:avLst/>
          </a:prstGeom>
        </p:spPr>
        <p:txBody>
          <a:bodyPr anchor="ctr"/>
          <a:lstStyle/>
          <a:p>
            <a:pPr algn="ctr">
              <a:defRPr sz="660" b="1">
                <a:solidFill>
                  <a:srgbClr val="FFFFFF"/>
                </a:solidFill>
              </a:defRPr>
            </a:pPr>
            <a:r>
              <a:t>理解</a:t>
            </a:r>
          </a:p>
        </p:txBody>
      </p:sp>
      <p:sp>
        <p:nvSpPr>
          <p:cNvPr id="95" name="圆角矩形 94"/>
          <p:cNvSpPr>
            <a:spLocks noGrp="1"/>
          </p:cNvSpPr>
          <p:nvPr/>
        </p:nvSpPr>
        <p:spPr>
          <a:xfrm>
            <a:off x="7857173" y="164783"/>
            <a:ext cx="1154430" cy="264795"/>
          </a:xfrm>
          <a:prstGeom prst="roundRect">
            <a:avLst>
              <a:gd name="adj" fmla="val 28777"/>
            </a:avLst>
          </a:prstGeom>
          <a:solidFill>
            <a:srgbClr val="007574"/>
          </a:solidFill>
          <a:ln w="12668">
            <a:solidFill>
              <a:srgbClr val="007574"/>
            </a:solidFill>
            <a:prstDash val="solid"/>
          </a:ln>
        </p:spPr>
        <p:txBody>
          <a:bodyPr/>
          <a:p/>
        </p:txBody>
      </p:sp>
      <p:sp>
        <p:nvSpPr>
          <p:cNvPr id="96" name="矩形 95"/>
          <p:cNvSpPr>
            <a:spLocks noGrp="1"/>
          </p:cNvSpPr>
          <p:nvPr/>
        </p:nvSpPr>
        <p:spPr>
          <a:xfrm>
            <a:off x="7857173" y="187643"/>
            <a:ext cx="1154430" cy="182880"/>
          </a:xfrm>
          <a:prstGeom prst="rect">
            <a:avLst/>
          </a:prstGeom>
        </p:spPr>
        <p:txBody>
          <a:bodyPr anchor="ctr"/>
          <a:lstStyle/>
          <a:p>
            <a:pPr algn="ctr">
              <a:defRPr sz="660" b="1">
                <a:solidFill>
                  <a:srgbClr val="FFFFFF"/>
                </a:solidFill>
              </a:defRPr>
            </a:pPr>
            <a:r>
              <a:t>查询</a:t>
            </a:r>
          </a:p>
        </p:txBody>
      </p:sp>
      <p:sp>
        <p:nvSpPr>
          <p:cNvPr id="97" name="圆角矩形 96"/>
          <p:cNvSpPr>
            <a:spLocks noGrp="1"/>
          </p:cNvSpPr>
          <p:nvPr/>
        </p:nvSpPr>
        <p:spPr>
          <a:xfrm>
            <a:off x="9057323" y="164783"/>
            <a:ext cx="1154430" cy="264795"/>
          </a:xfrm>
          <a:prstGeom prst="roundRect">
            <a:avLst>
              <a:gd name="adj" fmla="val 28777"/>
            </a:avLst>
          </a:prstGeom>
          <a:solidFill>
            <a:srgbClr val="007574"/>
          </a:solidFill>
          <a:ln w="12668">
            <a:solidFill>
              <a:srgbClr val="007574"/>
            </a:solidFill>
            <a:prstDash val="solid"/>
          </a:ln>
        </p:spPr>
        <p:txBody>
          <a:bodyPr/>
          <a:p/>
        </p:txBody>
      </p:sp>
      <p:sp>
        <p:nvSpPr>
          <p:cNvPr id="98" name="矩形 97"/>
          <p:cNvSpPr>
            <a:spLocks noGrp="1"/>
          </p:cNvSpPr>
          <p:nvPr/>
        </p:nvSpPr>
        <p:spPr>
          <a:xfrm>
            <a:off x="9057323" y="187643"/>
            <a:ext cx="1154430" cy="182880"/>
          </a:xfrm>
          <a:prstGeom prst="rect">
            <a:avLst/>
          </a:prstGeom>
        </p:spPr>
        <p:txBody>
          <a:bodyPr anchor="ctr"/>
          <a:lstStyle/>
          <a:p>
            <a:pPr algn="ctr">
              <a:defRPr sz="660" b="1">
                <a:solidFill>
                  <a:srgbClr val="FFFFFF"/>
                </a:solidFill>
              </a:defRPr>
            </a:pPr>
            <a:r>
              <a:t>决策</a:t>
            </a:r>
          </a:p>
        </p:txBody>
      </p:sp>
      <p:sp>
        <p:nvSpPr>
          <p:cNvPr id="99" name="圆角矩形 98"/>
          <p:cNvSpPr>
            <a:spLocks noGrp="1"/>
          </p:cNvSpPr>
          <p:nvPr/>
        </p:nvSpPr>
        <p:spPr>
          <a:xfrm>
            <a:off x="10257473" y="164783"/>
            <a:ext cx="1154430" cy="264795"/>
          </a:xfrm>
          <a:prstGeom prst="roundRect">
            <a:avLst>
              <a:gd name="adj" fmla="val 28777"/>
            </a:avLst>
          </a:prstGeom>
          <a:solidFill>
            <a:srgbClr val="007574"/>
          </a:solidFill>
          <a:ln w="12668">
            <a:solidFill>
              <a:srgbClr val="007574"/>
            </a:solidFill>
            <a:prstDash val="solid"/>
          </a:ln>
        </p:spPr>
        <p:txBody>
          <a:bodyPr/>
          <a:p/>
        </p:txBody>
      </p:sp>
      <p:sp>
        <p:nvSpPr>
          <p:cNvPr id="100" name="矩形 99"/>
          <p:cNvSpPr>
            <a:spLocks noGrp="1"/>
          </p:cNvSpPr>
          <p:nvPr/>
        </p:nvSpPr>
        <p:spPr>
          <a:xfrm>
            <a:off x="10257473" y="187643"/>
            <a:ext cx="1154430" cy="182880"/>
          </a:xfrm>
          <a:prstGeom prst="rect">
            <a:avLst/>
          </a:prstGeom>
        </p:spPr>
        <p:txBody>
          <a:bodyPr anchor="ctr"/>
          <a:lstStyle/>
          <a:p>
            <a:pPr algn="ctr">
              <a:defRPr sz="660" b="1">
                <a:solidFill>
                  <a:srgbClr val="FFFFFF"/>
                </a:solidFill>
              </a:defRPr>
            </a:pPr>
            <a:r>
              <a:t>执行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hape 0"/>
          <p:cNvSpPr>
            <a:spLocks noGrp="1"/>
          </p:cNvSpPr>
          <p:nvPr/>
        </p:nvSpPr>
        <p:spPr>
          <a:xfrm>
            <a:off x="0" y="0"/>
            <a:ext cx="41148" cy="6858000"/>
          </a:xfrm>
          <a:prstGeom prst="rect">
            <a:avLst/>
          </a:prstGeom>
          <a:solidFill>
            <a:srgbClr val="0A8F6A"/>
          </a:solidFill>
          <a:ln w="12700">
            <a:solidFill>
              <a:srgbClr val="2F7DEB"/>
            </a:solidFill>
            <a:prstDash val="solid"/>
          </a:ln>
        </p:spPr>
        <p:txBody>
          <a:bodyPr/>
          <a:lstStyle/>
          <a:p/>
        </p:txBody>
      </p:sp>
      <p:sp>
        <p:nvSpPr>
          <p:cNvPr id="3" name="Shape 1"/>
          <p:cNvSpPr>
            <a:spLocks noGrp="1"/>
          </p:cNvSpPr>
          <p:nvPr/>
        </p:nvSpPr>
        <p:spPr>
          <a:xfrm>
            <a:off x="658368" y="429768"/>
            <a:ext cx="237744" cy="0"/>
          </a:xfrm>
          <a:prstGeom prst="line">
            <a:avLst/>
          </a:prstGeom>
          <a:noFill/>
          <a:ln w="15875">
            <a:solidFill>
              <a:srgbClr val="0A8F6A"/>
            </a:solidFill>
            <a:prstDash val="solid"/>
          </a:ln>
        </p:spPr>
        <p:txBody>
          <a:bodyPr/>
          <a:lstStyle/>
          <a:p/>
        </p:txBody>
      </p:sp>
      <p:sp>
        <p:nvSpPr>
          <p:cNvPr id="4" name="Text 2"/>
          <p:cNvSpPr>
            <a:spLocks noGrp="1"/>
          </p:cNvSpPr>
          <p:nvPr/>
        </p:nvSpPr>
        <p:spPr>
          <a:xfrm>
            <a:off x="941832" y="292608"/>
            <a:ext cx="3474720" cy="2286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r>
              <a:rPr sz="1050" b="1">
                <a:solidFill>
                  <a:srgbClr val="076B50"/>
                </a:solidFill>
                <a:latin typeface="Noto Sans CJK SC"/>
                <a:ea typeface="Noto Sans CJK SC"/>
                <a:cs typeface="Noto Sans CJK SC"/>
              </a:rPr>
              <a:t>CHAPTER 2 · 场景与移交边界</a:t>
            </a:r>
            <a:endParaRPr sz="1050" b="1">
              <a:solidFill>
                <a:srgbClr val="0A8F6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" name="Text 3"/>
          <p:cNvSpPr>
            <a:spLocks noGrp="1"/>
          </p:cNvSpPr>
          <p:nvPr/>
        </p:nvSpPr>
        <p:spPr>
          <a:xfrm>
            <a:off x="640080" y="667512"/>
            <a:ext cx="10698480" cy="43891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buNone/>
            </a:pPr>
            <a:r>
              <a:rPr sz="2550" b="1">
                <a:solidFill>
                  <a:srgbClr val="163B36"/>
                </a:solidFill>
                <a:latin typeface="Noto Sans CJK SC"/>
                <a:ea typeface="Noto Sans CJK SC"/>
                <a:cs typeface="Noto Sans CJK SC"/>
              </a:rPr>
              <a:t>26 个场景的技术分类：五种类型</a:t>
            </a:r>
            <a:endParaRPr sz="2550"/>
          </a:p>
        </p:txBody>
      </p:sp>
      <p:sp>
        <p:nvSpPr>
          <p:cNvPr id="6" name="Text 4"/>
          <p:cNvSpPr>
            <a:spLocks noGrp="1"/>
          </p:cNvSpPr>
          <p:nvPr/>
        </p:nvSpPr>
        <p:spPr>
          <a:xfrm>
            <a:off x="640080" y="1115568"/>
            <a:ext cx="10424160" cy="30175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buNone/>
            </a:pPr>
            <a:r>
              <a:rPr sz="1120">
                <a:solidFill>
                  <a:srgbClr val="44585C"/>
                </a:solidFill>
                <a:latin typeface="Noto Sans CJK SC"/>
                <a:ea typeface="Noto Sans CJK SC"/>
                <a:cs typeface="Noto Sans CJK SC"/>
              </a:rPr>
              <a:t>业务上看动作，技术上看授权；Type 和工具白名单决定每个场景能走到哪一步。</a:t>
            </a:r>
            <a:endParaRPr sz="1120"/>
          </a:p>
        </p:txBody>
      </p:sp>
      <p:sp>
        <p:nvSpPr>
          <p:cNvPr id="7" name="Shape 5"/>
          <p:cNvSpPr>
            <a:spLocks noGrp="1"/>
          </p:cNvSpPr>
          <p:nvPr/>
        </p:nvSpPr>
        <p:spPr>
          <a:xfrm>
            <a:off x="10533888" y="54864"/>
            <a:ext cx="1298448" cy="713232"/>
          </a:xfrm>
          <a:prstGeom prst="ellipse">
            <a:avLst/>
          </a:prstGeom>
          <a:solidFill>
            <a:srgbClr val="2F7DEB">
              <a:alpha val="8000"/>
            </a:srgbClr>
          </a:solidFill>
          <a:ln w="12700">
            <a:solidFill>
              <a:srgbClr val="2F7DEB">
                <a:alpha val="0"/>
              </a:srgbClr>
            </a:solidFill>
            <a:prstDash val="solid"/>
          </a:ln>
        </p:spPr>
        <p:txBody>
          <a:bodyPr/>
          <a:lstStyle/>
          <a:p/>
        </p:txBody>
      </p:sp>
      <p:sp>
        <p:nvSpPr>
          <p:cNvPr id="8" name="Shape 6"/>
          <p:cNvSpPr>
            <a:spLocks noGrp="1"/>
          </p:cNvSpPr>
          <p:nvPr/>
        </p:nvSpPr>
        <p:spPr>
          <a:xfrm>
            <a:off x="9802368" y="283464"/>
            <a:ext cx="36576" cy="36576"/>
          </a:xfrm>
          <a:prstGeom prst="ellipse">
            <a:avLst/>
          </a:prstGeom>
          <a:solidFill>
            <a:srgbClr val="C6DCD5"/>
          </a:solidFill>
          <a:ln w="12700">
            <a:solidFill>
              <a:srgbClr val="C6DCD5"/>
            </a:solidFill>
            <a:prstDash val="solid"/>
          </a:ln>
        </p:spPr>
        <p:txBody>
          <a:bodyPr/>
          <a:lstStyle/>
          <a:p/>
        </p:txBody>
      </p:sp>
      <p:sp>
        <p:nvSpPr>
          <p:cNvPr id="9" name="Shape 7"/>
          <p:cNvSpPr>
            <a:spLocks noGrp="1"/>
          </p:cNvSpPr>
          <p:nvPr/>
        </p:nvSpPr>
        <p:spPr>
          <a:xfrm>
            <a:off x="9930384" y="283464"/>
            <a:ext cx="36576" cy="36576"/>
          </a:xfrm>
          <a:prstGeom prst="ellipse">
            <a:avLst/>
          </a:prstGeom>
          <a:solidFill>
            <a:srgbClr val="2F7DEB"/>
          </a:solidFill>
          <a:ln w="12700">
            <a:solidFill>
              <a:srgbClr val="2F7DEB"/>
            </a:solidFill>
            <a:prstDash val="solid"/>
          </a:ln>
        </p:spPr>
        <p:txBody>
          <a:bodyPr/>
          <a:lstStyle/>
          <a:p/>
        </p:txBody>
      </p:sp>
      <p:sp>
        <p:nvSpPr>
          <p:cNvPr id="10" name="Shape 8"/>
          <p:cNvSpPr>
            <a:spLocks noGrp="1"/>
          </p:cNvSpPr>
          <p:nvPr/>
        </p:nvSpPr>
        <p:spPr>
          <a:xfrm>
            <a:off x="10058400" y="283464"/>
            <a:ext cx="36576" cy="36576"/>
          </a:xfrm>
          <a:prstGeom prst="ellipse">
            <a:avLst/>
          </a:prstGeom>
          <a:solidFill>
            <a:srgbClr val="C6DCD5"/>
          </a:solidFill>
          <a:ln w="12700">
            <a:solidFill>
              <a:srgbClr val="C6DCD5"/>
            </a:solidFill>
            <a:prstDash val="solid"/>
          </a:ln>
        </p:spPr>
        <p:txBody>
          <a:bodyPr/>
          <a:lstStyle/>
          <a:p/>
        </p:txBody>
      </p:sp>
      <p:sp>
        <p:nvSpPr>
          <p:cNvPr id="11" name="Shape 9"/>
          <p:cNvSpPr>
            <a:spLocks noGrp="1"/>
          </p:cNvSpPr>
          <p:nvPr/>
        </p:nvSpPr>
        <p:spPr>
          <a:xfrm>
            <a:off x="10186416" y="283464"/>
            <a:ext cx="36576" cy="36576"/>
          </a:xfrm>
          <a:prstGeom prst="ellipse">
            <a:avLst/>
          </a:prstGeom>
          <a:solidFill>
            <a:srgbClr val="C6DCD5"/>
          </a:solidFill>
          <a:ln w="12700">
            <a:solidFill>
              <a:srgbClr val="C6DCD5"/>
            </a:solidFill>
            <a:prstDash val="solid"/>
          </a:ln>
        </p:spPr>
        <p:txBody>
          <a:bodyPr/>
          <a:lstStyle/>
          <a:p/>
        </p:txBody>
      </p:sp>
      <p:sp>
        <p:nvSpPr>
          <p:cNvPr id="12" name="Shape 10"/>
          <p:cNvSpPr>
            <a:spLocks noGrp="1"/>
          </p:cNvSpPr>
          <p:nvPr/>
        </p:nvSpPr>
        <p:spPr>
          <a:xfrm>
            <a:off x="10314432" y="283464"/>
            <a:ext cx="36576" cy="36576"/>
          </a:xfrm>
          <a:prstGeom prst="ellipse">
            <a:avLst/>
          </a:prstGeom>
          <a:solidFill>
            <a:srgbClr val="C6DCD5"/>
          </a:solidFill>
          <a:ln w="12700">
            <a:solidFill>
              <a:srgbClr val="C6DCD5"/>
            </a:solidFill>
            <a:prstDash val="solid"/>
          </a:ln>
        </p:spPr>
        <p:txBody>
          <a:bodyPr/>
          <a:lstStyle/>
          <a:p/>
        </p:txBody>
      </p:sp>
      <p:sp>
        <p:nvSpPr>
          <p:cNvPr id="13" name="Shape 11"/>
          <p:cNvSpPr>
            <a:spLocks noGrp="1"/>
          </p:cNvSpPr>
          <p:nvPr/>
        </p:nvSpPr>
        <p:spPr>
          <a:xfrm>
            <a:off x="10442448" y="283464"/>
            <a:ext cx="36576" cy="36576"/>
          </a:xfrm>
          <a:prstGeom prst="ellipse">
            <a:avLst/>
          </a:prstGeom>
          <a:solidFill>
            <a:srgbClr val="C6DCD5"/>
          </a:solidFill>
          <a:ln w="12700">
            <a:solidFill>
              <a:srgbClr val="C6DCD5"/>
            </a:solidFill>
            <a:prstDash val="solid"/>
          </a:ln>
        </p:spPr>
        <p:txBody>
          <a:bodyPr/>
          <a:lstStyle/>
          <a:p/>
        </p:txBody>
      </p:sp>
      <p:sp>
        <p:nvSpPr>
          <p:cNvPr id="14" name="Shape 12"/>
          <p:cNvSpPr>
            <a:spLocks noGrp="1"/>
          </p:cNvSpPr>
          <p:nvPr/>
        </p:nvSpPr>
        <p:spPr>
          <a:xfrm>
            <a:off x="640080" y="6528816"/>
            <a:ext cx="10927080" cy="0"/>
          </a:xfrm>
          <a:prstGeom prst="line">
            <a:avLst/>
          </a:prstGeom>
          <a:noFill/>
          <a:ln w="10160">
            <a:solidFill>
              <a:srgbClr val="D8E7E2"/>
            </a:solidFill>
            <a:prstDash val="solid"/>
          </a:ln>
        </p:spPr>
        <p:txBody>
          <a:bodyPr/>
          <a:lstStyle/>
          <a:p/>
        </p:txBody>
      </p:sp>
      <p:sp>
        <p:nvSpPr>
          <p:cNvPr id="15" name="Text 13"/>
          <p:cNvSpPr>
            <a:spLocks noGrp="1"/>
          </p:cNvSpPr>
          <p:nvPr/>
        </p:nvSpPr>
        <p:spPr>
          <a:xfrm>
            <a:off x="658368" y="6565392"/>
            <a:ext cx="3108960" cy="16459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buNone/>
            </a:pPr>
            <a:r>
              <a:rPr sz="750">
                <a:solidFill>
                  <a:srgbClr val="55696A"/>
                </a:solidFill>
                <a:latin typeface="Noto Sans CJK SC"/>
                <a:ea typeface="Noto Sans CJK SC"/>
                <a:cs typeface="Noto Sans CJK SC"/>
              </a:rPr>
              <a:t>CUSTOMER SERVICE AI AGENT</a:t>
            </a:r>
            <a:endParaRPr sz="750"/>
          </a:p>
        </p:txBody>
      </p:sp>
      <p:sp>
        <p:nvSpPr>
          <p:cNvPr id="16" name="Text 14"/>
          <p:cNvSpPr>
            <a:spLocks noGrp="1"/>
          </p:cNvSpPr>
          <p:nvPr/>
        </p:nvSpPr>
        <p:spPr>
          <a:xfrm>
            <a:off x="10881360" y="6537960"/>
            <a:ext cx="658368" cy="18288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</a:pPr>
            <a:r>
              <a:rPr sz="880" b="1">
                <a:solidFill>
                  <a:srgbClr val="076B50"/>
                </a:solidFill>
                <a:latin typeface="Noto Sans CJK SC"/>
                <a:ea typeface="Noto Sans CJK SC"/>
                <a:cs typeface="Noto Sans CJK SC"/>
              </a:rPr>
              <a:t>13</a:t>
            </a:r>
            <a:endParaRPr sz="880" b="1">
              <a:solidFill>
                <a:srgbClr val="0A8F6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7" name="Shape 15"/>
          <p:cNvSpPr>
            <a:spLocks noGrp="1"/>
          </p:cNvSpPr>
          <p:nvPr/>
        </p:nvSpPr>
        <p:spPr>
          <a:xfrm>
            <a:off x="658368" y="1572768"/>
            <a:ext cx="2377440" cy="43159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1A19D"/>
            </a:solidFill>
            <a:prstDash val="solid"/>
          </a:ln>
          <a:effectLst>
            <a:outerShdw blurRad="2147483647" dist="2147483647" dir="9" algn="bl" rotWithShape="0">
              <a:srgbClr val="74857F">
                <a:alpha val="1"/>
              </a:srgbClr>
            </a:outerShdw>
          </a:effectLst>
        </p:spPr>
        <p:txBody>
          <a:bodyPr/>
          <a:lstStyle/>
          <a:p/>
        </p:txBody>
      </p:sp>
      <p:sp>
        <p:nvSpPr>
          <p:cNvPr id="19" name="Text 17"/>
          <p:cNvSpPr>
            <a:spLocks noGrp="1"/>
          </p:cNvSpPr>
          <p:nvPr/>
        </p:nvSpPr>
        <p:spPr>
          <a:xfrm>
            <a:off x="2523744" y="1792224"/>
            <a:ext cx="292608" cy="21945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r">
              <a:buNone/>
            </a:pPr>
            <a:r>
              <a:rPr sz="900" b="1">
                <a:solidFill>
                  <a:srgbClr val="91A19D"/>
                </a:solidFill>
                <a:latin typeface="Noto Sans CJK SC"/>
                <a:ea typeface="Noto Sans CJK SC"/>
                <a:cs typeface="Noto Sans CJK SC"/>
              </a:rPr>
              <a:t>01</a:t>
            </a:r>
            <a:endParaRPr sz="900"/>
          </a:p>
        </p:txBody>
      </p:sp>
      <p:sp>
        <p:nvSpPr>
          <p:cNvPr id="20" name="Shape 18"/>
          <p:cNvSpPr>
            <a:spLocks noGrp="1"/>
          </p:cNvSpPr>
          <p:nvPr/>
        </p:nvSpPr>
        <p:spPr>
          <a:xfrm>
            <a:off x="859536" y="1792224"/>
            <a:ext cx="502920" cy="502920"/>
          </a:xfrm>
          <a:prstGeom prst="ellipse">
            <a:avLst/>
          </a:prstGeom>
          <a:solidFill>
            <a:srgbClr val="91A19D"/>
          </a:solidFill>
          <a:ln w="6350">
            <a:solidFill>
              <a:srgbClr val="91A19D"/>
            </a:solidFill>
            <a:prstDash val="solid"/>
          </a:ln>
          <a:effectLst>
            <a:outerShdw blurRad="2147483647" dist="2147483647" dir="5" algn="bl" rotWithShape="0">
              <a:srgbClr val="74857F">
                <a:alpha val="1"/>
              </a:srgbClr>
            </a:outerShdw>
          </a:effectLst>
        </p:spPr>
        <p:txBody>
          <a:bodyPr/>
          <a:lstStyle/>
          <a:p/>
        </p:txBody>
      </p:sp>
      <p:sp>
        <p:nvSpPr>
          <p:cNvPr id="21" name="Text 19"/>
          <p:cNvSpPr>
            <a:spLocks noGrp="1"/>
          </p:cNvSpPr>
          <p:nvPr/>
        </p:nvSpPr>
        <p:spPr>
          <a:xfrm>
            <a:off x="859536" y="1792224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知</a:t>
            </a:r>
            <a:endParaRPr sz="1400"/>
          </a:p>
        </p:txBody>
      </p:sp>
      <p:sp>
        <p:nvSpPr>
          <p:cNvPr id="22" name="Text 20"/>
          <p:cNvSpPr>
            <a:spLocks noGrp="1"/>
          </p:cNvSpPr>
          <p:nvPr/>
        </p:nvSpPr>
        <p:spPr>
          <a:xfrm>
            <a:off x="1481328" y="1783080"/>
            <a:ext cx="914400" cy="29260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buNone/>
            </a:pPr>
            <a:r>
              <a:rPr sz="1700" b="1">
                <a:solidFill>
                  <a:srgbClr val="163B36"/>
                </a:solidFill>
                <a:latin typeface="Noto Sans CJK SC"/>
                <a:ea typeface="Noto Sans CJK SC"/>
                <a:cs typeface="Noto Sans CJK SC"/>
              </a:rPr>
              <a:t>知识类查询</a:t>
            </a:r>
            <a:endParaRPr sz="1700"/>
          </a:p>
        </p:txBody>
      </p:sp>
      <p:sp>
        <p:nvSpPr>
          <p:cNvPr id="23" name="Shape 21"/>
          <p:cNvSpPr>
            <a:spLocks noGrp="1"/>
          </p:cNvSpPr>
          <p:nvPr/>
        </p:nvSpPr>
        <p:spPr>
          <a:xfrm>
            <a:off x="859536" y="2286000"/>
            <a:ext cx="1024128" cy="256032"/>
          </a:xfrm>
          <a:prstGeom prst="roundRect">
            <a:avLst/>
          </a:prstGeom>
          <a:solidFill>
            <a:srgbClr val="EEF3F1"/>
          </a:solidFill>
          <a:ln w="10160">
            <a:solidFill>
              <a:srgbClr val="91A19D"/>
            </a:solidFill>
            <a:prstDash val="solid"/>
          </a:ln>
        </p:spPr>
        <p:txBody>
          <a:bodyPr/>
          <a:lstStyle/>
          <a:p/>
        </p:txBody>
      </p:sp>
      <p:sp>
        <p:nvSpPr>
          <p:cNvPr id="24" name="Text 22"/>
          <p:cNvSpPr>
            <a:spLocks noGrp="1"/>
          </p:cNvSpPr>
          <p:nvPr/>
        </p:nvSpPr>
        <p:spPr>
          <a:xfrm>
            <a:off x="859536" y="2286000"/>
            <a:ext cx="1024128" cy="25603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880" b="1">
                <a:solidFill>
                  <a:srgbClr val="91A19D"/>
                </a:solidFill>
                <a:latin typeface="Noto Sans CJK SC"/>
                <a:ea typeface="Noto Sans CJK SC"/>
                <a:cs typeface="Noto Sans CJK SC"/>
              </a:rPr>
              <a:t>8 个场景</a:t>
            </a:r>
            <a:endParaRPr sz="880"/>
          </a:p>
        </p:txBody>
      </p:sp>
      <p:sp>
        <p:nvSpPr>
          <p:cNvPr id="25" name="Text 23"/>
          <p:cNvSpPr>
            <a:spLocks noGrp="1"/>
          </p:cNvSpPr>
          <p:nvPr/>
        </p:nvSpPr>
        <p:spPr>
          <a:xfrm>
            <a:off x="859536" y="2688336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buNone/>
            </a:pPr>
            <a:r>
              <a:rPr sz="1250" b="1">
                <a:solidFill>
                  <a:srgbClr val="44585C"/>
                </a:solidFill>
                <a:latin typeface="Noto Sans CJK SC"/>
                <a:ea typeface="Noto Sans CJK SC"/>
                <a:cs typeface="Noto Sans CJK SC"/>
              </a:rPr>
              <a:t>典型问题</a:t>
            </a:r>
            <a:endParaRPr sz="1250"/>
          </a:p>
        </p:txBody>
      </p:sp>
      <p:sp>
        <p:nvSpPr>
          <p:cNvPr id="26" name="Text 24"/>
          <p:cNvSpPr>
            <a:spLocks noGrp="1"/>
          </p:cNvSpPr>
          <p:nvPr/>
        </p:nvSpPr>
        <p:spPr>
          <a:xfrm>
            <a:off x="859536" y="2944368"/>
            <a:ext cx="1938528" cy="74980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buNone/>
            </a:pPr>
            <a:r>
              <a:rPr sz="1050">
                <a:solidFill>
                  <a:srgbClr val="163B36"/>
                </a:solidFill>
                <a:latin typeface="Noto Sans CJK SC"/>
                <a:ea typeface="Noto Sans CJK SC"/>
                <a:cs typeface="Noto Sans CJK SC"/>
              </a:rPr>
              <a:t>运费政策</a:t>
            </a:r>
            <a:endParaRPr sz="1050"/>
          </a:p>
          <a:p>
            <a:pPr marL="0" indent="0" algn="l">
              <a:buNone/>
            </a:pPr>
            <a:r>
              <a:rPr sz="1050">
                <a:solidFill>
                  <a:srgbClr val="163B36"/>
                </a:solidFill>
                <a:latin typeface="Noto Sans CJK SC"/>
                <a:ea typeface="Noto Sans CJK SC"/>
                <a:cs typeface="Noto Sans CJK SC"/>
              </a:rPr>
              <a:t>支付方式</a:t>
            </a:r>
            <a:endParaRPr sz="1050"/>
          </a:p>
          <a:p>
            <a:pPr marL="0" indent="0" algn="l">
              <a:buNone/>
            </a:pPr>
            <a:r>
              <a:rPr sz="1050">
                <a:solidFill>
                  <a:srgbClr val="163B36"/>
                </a:solidFill>
                <a:latin typeface="Noto Sans CJK SC"/>
                <a:ea typeface="Noto Sans CJK SC"/>
                <a:cs typeface="Noto Sans CJK SC"/>
              </a:rPr>
              <a:t>优惠规则</a:t>
            </a:r>
            <a:endParaRPr sz="1050"/>
          </a:p>
        </p:txBody>
      </p:sp>
      <p:sp>
        <p:nvSpPr>
          <p:cNvPr id="27" name="Shape 25"/>
          <p:cNvSpPr>
            <a:spLocks noGrp="1"/>
          </p:cNvSpPr>
          <p:nvPr/>
        </p:nvSpPr>
        <p:spPr>
          <a:xfrm>
            <a:off x="859536" y="3785616"/>
            <a:ext cx="1938528" cy="0"/>
          </a:xfrm>
          <a:prstGeom prst="line">
            <a:avLst/>
          </a:prstGeom>
          <a:noFill/>
          <a:ln w="10160">
            <a:solidFill>
              <a:srgbClr val="D8E7E2"/>
            </a:solidFill>
            <a:prstDash val="solid"/>
          </a:ln>
        </p:spPr>
        <p:txBody>
          <a:bodyPr/>
          <a:lstStyle/>
          <a:p/>
        </p:txBody>
      </p:sp>
      <p:sp>
        <p:nvSpPr>
          <p:cNvPr id="28" name="Text 26"/>
          <p:cNvSpPr>
            <a:spLocks noGrp="1"/>
          </p:cNvSpPr>
          <p:nvPr/>
        </p:nvSpPr>
        <p:spPr>
          <a:xfrm>
            <a:off x="859536" y="3913632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buNone/>
            </a:pPr>
            <a:r>
              <a:rPr sz="1250" b="1">
                <a:solidFill>
                  <a:srgbClr val="44585C"/>
                </a:solidFill>
                <a:latin typeface="Noto Sans CJK SC"/>
                <a:ea typeface="Noto Sans CJK SC"/>
                <a:cs typeface="Noto Sans CJK SC"/>
              </a:rPr>
              <a:t>系统依赖</a:t>
            </a:r>
            <a:endParaRPr sz="1250"/>
          </a:p>
        </p:txBody>
      </p:sp>
      <p:sp>
        <p:nvSpPr>
          <p:cNvPr id="29" name="Text 27"/>
          <p:cNvSpPr>
            <a:spLocks noGrp="1"/>
          </p:cNvSpPr>
          <p:nvPr/>
        </p:nvSpPr>
        <p:spPr>
          <a:xfrm>
            <a:off x="859536" y="4187952"/>
            <a:ext cx="1938528" cy="34747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buNone/>
            </a:pPr>
            <a:r>
              <a:rPr sz="1040" b="1">
                <a:solidFill>
                  <a:srgbClr val="91A19D"/>
                </a:solidFill>
                <a:latin typeface="Noto Sans CJK SC"/>
                <a:ea typeface="Noto Sans CJK SC"/>
                <a:cs typeface="Noto Sans CJK SC"/>
              </a:rPr>
              <a:t>三种知识绑定方式</a:t>
            </a:r>
            <a:endParaRPr sz="1040"/>
          </a:p>
        </p:txBody>
      </p:sp>
      <p:sp>
        <p:nvSpPr>
          <p:cNvPr id="30" name="Text 28"/>
          <p:cNvSpPr>
            <a:spLocks noGrp="1"/>
          </p:cNvSpPr>
          <p:nvPr/>
        </p:nvSpPr>
        <p:spPr>
          <a:xfrm>
            <a:off x="859536" y="461772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buNone/>
            </a:pPr>
            <a:r>
              <a:rPr sz="1250" b="1">
                <a:solidFill>
                  <a:srgbClr val="44585C"/>
                </a:solidFill>
                <a:latin typeface="Noto Sans CJK SC"/>
                <a:ea typeface="Noto Sans CJK SC"/>
                <a:cs typeface="Noto Sans CJK SC"/>
              </a:rPr>
              <a:t>处理方式</a:t>
            </a:r>
            <a:endParaRPr sz="1250"/>
          </a:p>
        </p:txBody>
      </p:sp>
      <p:sp>
        <p:nvSpPr>
          <p:cNvPr id="31" name="Text 29"/>
          <p:cNvSpPr>
            <a:spLocks noGrp="1"/>
          </p:cNvSpPr>
          <p:nvPr/>
        </p:nvSpPr>
        <p:spPr>
          <a:xfrm>
            <a:off x="859536" y="4882896"/>
            <a:ext cx="1938528" cy="420624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buNone/>
            </a:pPr>
            <a:r>
              <a:rPr sz="990">
                <a:solidFill>
                  <a:srgbClr val="163B36"/>
                </a:solidFill>
                <a:latin typeface="Noto Sans CJK SC"/>
                <a:ea typeface="Noto Sans CJK SC"/>
                <a:cs typeface="Noto Sans CJK SC"/>
              </a:rPr>
              <a:t>AI 自动回复</a:t>
            </a:r>
            <a:endParaRPr sz="990"/>
          </a:p>
        </p:txBody>
      </p:sp>
      <p:sp>
        <p:nvSpPr>
          <p:cNvPr id="32" name="Shape 30"/>
          <p:cNvSpPr>
            <a:spLocks noGrp="1"/>
          </p:cNvSpPr>
          <p:nvPr/>
        </p:nvSpPr>
        <p:spPr>
          <a:xfrm>
            <a:off x="822960" y="5367528"/>
            <a:ext cx="2011680" cy="347472"/>
          </a:xfrm>
          <a:prstGeom prst="roundRect">
            <a:avLst/>
          </a:prstGeom>
          <a:solidFill>
            <a:srgbClr val="EEF3F1"/>
          </a:solidFill>
          <a:ln w="8890">
            <a:solidFill>
              <a:srgbClr val="91A19D"/>
            </a:solidFill>
            <a:prstDash val="solid"/>
          </a:ln>
        </p:spPr>
        <p:txBody>
          <a:bodyPr/>
          <a:lstStyle/>
          <a:p/>
        </p:txBody>
      </p:sp>
      <p:sp>
        <p:nvSpPr>
          <p:cNvPr id="33" name="Text 31"/>
          <p:cNvSpPr>
            <a:spLocks noGrp="1"/>
          </p:cNvSpPr>
          <p:nvPr/>
        </p:nvSpPr>
        <p:spPr>
          <a:xfrm>
            <a:off x="905256" y="5404104"/>
            <a:ext cx="1847088" cy="27432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880" b="1">
                <a:solidFill>
                  <a:srgbClr val="5C7276"/>
                </a:solidFill>
                <a:latin typeface="Noto Sans CJK SC"/>
                <a:ea typeface="Noto Sans CJK SC"/>
                <a:cs typeface="Noto Sans CJK SC"/>
              </a:rPr>
              <a:t>体验损失</a:t>
            </a:r>
            <a:endParaRPr sz="880"/>
          </a:p>
          <a:p>
            <a:pPr marL="0" indent="0" algn="ctr">
              <a:buNone/>
            </a:pPr>
            <a:r>
              <a:rPr sz="880" b="1">
                <a:solidFill>
                  <a:srgbClr val="5C7276"/>
                </a:solidFill>
                <a:latin typeface="Noto Sans CJK SC"/>
                <a:ea typeface="Noto Sans CJK SC"/>
                <a:cs typeface="Noto Sans CJK SC"/>
              </a:rPr>
              <a:t>口径偏差</a:t>
            </a:r>
            <a:endParaRPr sz="880"/>
          </a:p>
        </p:txBody>
      </p:sp>
      <p:sp>
        <p:nvSpPr>
          <p:cNvPr id="34" name="Shape 32"/>
          <p:cNvSpPr>
            <a:spLocks noGrp="1"/>
          </p:cNvSpPr>
          <p:nvPr/>
        </p:nvSpPr>
        <p:spPr>
          <a:xfrm>
            <a:off x="3493008" y="1572768"/>
            <a:ext cx="2377440" cy="43159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F7DEB"/>
            </a:solidFill>
            <a:prstDash val="solid"/>
          </a:ln>
          <a:effectLst>
            <a:outerShdw blurRad="2147483647" dist="2147483647" dir="3" algn="bl" rotWithShape="0">
              <a:srgbClr val="74857F">
                <a:alpha val="1"/>
              </a:srgbClr>
            </a:outerShdw>
          </a:effectLst>
        </p:spPr>
        <p:txBody>
          <a:bodyPr/>
          <a:lstStyle/>
          <a:p/>
        </p:txBody>
      </p:sp>
      <p:sp>
        <p:nvSpPr>
          <p:cNvPr id="36" name="Text 34"/>
          <p:cNvSpPr>
            <a:spLocks noGrp="1"/>
          </p:cNvSpPr>
          <p:nvPr/>
        </p:nvSpPr>
        <p:spPr>
          <a:xfrm>
            <a:off x="5358384" y="1792224"/>
            <a:ext cx="292608" cy="21945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r">
              <a:buNone/>
            </a:pPr>
            <a:r>
              <a:rPr sz="900" b="1">
                <a:solidFill>
                  <a:srgbClr val="1B5FC4"/>
                </a:solidFill>
                <a:latin typeface="Noto Sans CJK SC"/>
                <a:ea typeface="Noto Sans CJK SC"/>
                <a:cs typeface="Noto Sans CJK SC"/>
              </a:rPr>
              <a:t>02</a:t>
            </a:r>
            <a:endParaRPr sz="900"/>
          </a:p>
        </p:txBody>
      </p:sp>
      <p:sp>
        <p:nvSpPr>
          <p:cNvPr id="37" name="Shape 35"/>
          <p:cNvSpPr>
            <a:spLocks noGrp="1"/>
          </p:cNvSpPr>
          <p:nvPr/>
        </p:nvSpPr>
        <p:spPr>
          <a:xfrm>
            <a:off x="3694176" y="1792224"/>
            <a:ext cx="502920" cy="502920"/>
          </a:xfrm>
          <a:prstGeom prst="ellipse">
            <a:avLst/>
          </a:prstGeom>
          <a:solidFill>
            <a:srgbClr val="2F7DEB"/>
          </a:solidFill>
          <a:ln w="6350">
            <a:solidFill>
              <a:srgbClr val="2F7DEB"/>
            </a:solidFill>
            <a:prstDash val="solid"/>
          </a:ln>
          <a:effectLst>
            <a:outerShdw blurRad="2147483647" dist="2147483647" dir="2" algn="bl" rotWithShape="0">
              <a:srgbClr val="74857F">
                <a:alpha val="1"/>
              </a:srgbClr>
            </a:outerShdw>
          </a:effectLst>
        </p:spPr>
        <p:txBody>
          <a:bodyPr/>
          <a:lstStyle/>
          <a:p/>
        </p:txBody>
      </p:sp>
      <p:sp>
        <p:nvSpPr>
          <p:cNvPr id="38" name="Text 36"/>
          <p:cNvSpPr>
            <a:spLocks noGrp="1"/>
          </p:cNvSpPr>
          <p:nvPr/>
        </p:nvSpPr>
        <p:spPr>
          <a:xfrm>
            <a:off x="3694176" y="1792224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查</a:t>
            </a:r>
            <a:endParaRPr sz="1400"/>
          </a:p>
        </p:txBody>
      </p:sp>
      <p:sp>
        <p:nvSpPr>
          <p:cNvPr id="39" name="Text 37"/>
          <p:cNvSpPr>
            <a:spLocks noGrp="1"/>
          </p:cNvSpPr>
          <p:nvPr/>
        </p:nvSpPr>
        <p:spPr>
          <a:xfrm>
            <a:off x="4315968" y="1783080"/>
            <a:ext cx="914400" cy="29260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buNone/>
            </a:pPr>
            <a:r>
              <a:rPr sz="1700" b="1">
                <a:solidFill>
                  <a:srgbClr val="163B36"/>
                </a:solidFill>
                <a:latin typeface="Noto Sans CJK SC"/>
                <a:ea typeface="Noto Sans CJK SC"/>
                <a:cs typeface="Noto Sans CJK SC"/>
              </a:rPr>
              <a:t>系统类查询</a:t>
            </a:r>
            <a:endParaRPr sz="1700"/>
          </a:p>
        </p:txBody>
      </p:sp>
      <p:sp>
        <p:nvSpPr>
          <p:cNvPr id="40" name="Shape 38"/>
          <p:cNvSpPr>
            <a:spLocks noGrp="1"/>
          </p:cNvSpPr>
          <p:nvPr/>
        </p:nvSpPr>
        <p:spPr>
          <a:xfrm>
            <a:off x="3694176" y="2286000"/>
            <a:ext cx="1024128" cy="256032"/>
          </a:xfrm>
          <a:prstGeom prst="roundRect">
            <a:avLst/>
          </a:prstGeom>
          <a:solidFill>
            <a:srgbClr val="EAF2FF"/>
          </a:solidFill>
          <a:ln w="10160">
            <a:solidFill>
              <a:srgbClr val="2F7DEB"/>
            </a:solidFill>
            <a:prstDash val="solid"/>
          </a:ln>
        </p:spPr>
        <p:txBody>
          <a:bodyPr/>
          <a:lstStyle/>
          <a:p/>
        </p:txBody>
      </p:sp>
      <p:sp>
        <p:nvSpPr>
          <p:cNvPr id="41" name="Text 39"/>
          <p:cNvSpPr>
            <a:spLocks noGrp="1"/>
          </p:cNvSpPr>
          <p:nvPr/>
        </p:nvSpPr>
        <p:spPr>
          <a:xfrm>
            <a:off x="3694176" y="2286000"/>
            <a:ext cx="1024128" cy="25603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880" b="1">
                <a:solidFill>
                  <a:srgbClr val="1B5FC4"/>
                </a:solidFill>
                <a:latin typeface="Noto Sans CJK SC"/>
                <a:ea typeface="Noto Sans CJK SC"/>
                <a:cs typeface="Noto Sans CJK SC"/>
              </a:rPr>
              <a:t>6 个场景</a:t>
            </a:r>
            <a:endParaRPr sz="880"/>
          </a:p>
        </p:txBody>
      </p:sp>
      <p:sp>
        <p:nvSpPr>
          <p:cNvPr id="42" name="Text 40"/>
          <p:cNvSpPr>
            <a:spLocks noGrp="1"/>
          </p:cNvSpPr>
          <p:nvPr/>
        </p:nvSpPr>
        <p:spPr>
          <a:xfrm>
            <a:off x="3694176" y="2688336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buNone/>
            </a:pPr>
            <a:r>
              <a:rPr sz="1250" b="1">
                <a:solidFill>
                  <a:srgbClr val="44585C"/>
                </a:solidFill>
                <a:latin typeface="Noto Sans CJK SC"/>
                <a:ea typeface="Noto Sans CJK SC"/>
                <a:cs typeface="Noto Sans CJK SC"/>
              </a:rPr>
              <a:t>典型问题</a:t>
            </a:r>
            <a:endParaRPr sz="1250"/>
          </a:p>
        </p:txBody>
      </p:sp>
      <p:sp>
        <p:nvSpPr>
          <p:cNvPr id="43" name="Text 41"/>
          <p:cNvSpPr>
            <a:spLocks noGrp="1"/>
          </p:cNvSpPr>
          <p:nvPr/>
        </p:nvSpPr>
        <p:spPr>
          <a:xfrm>
            <a:off x="3694176" y="2944368"/>
            <a:ext cx="1938528" cy="74980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buNone/>
            </a:pPr>
            <a:r>
              <a:rPr sz="1050">
                <a:solidFill>
                  <a:srgbClr val="163B36"/>
                </a:solidFill>
                <a:latin typeface="Noto Sans CJK SC"/>
                <a:ea typeface="Noto Sans CJK SC"/>
                <a:cs typeface="Noto Sans CJK SC"/>
              </a:rPr>
              <a:t>订单状态</a:t>
            </a:r>
            <a:endParaRPr sz="1050"/>
          </a:p>
          <a:p>
            <a:pPr marL="0" indent="0" algn="l">
              <a:buNone/>
            </a:pPr>
            <a:r>
              <a:rPr sz="1050">
                <a:solidFill>
                  <a:srgbClr val="163B36"/>
                </a:solidFill>
                <a:latin typeface="Noto Sans CJK SC"/>
                <a:ea typeface="Noto Sans CJK SC"/>
                <a:cs typeface="Noto Sans CJK SC"/>
              </a:rPr>
              <a:t>物流进度</a:t>
            </a:r>
            <a:endParaRPr sz="1050"/>
          </a:p>
          <a:p>
            <a:pPr marL="0" indent="0" algn="l">
              <a:buNone/>
            </a:pPr>
            <a:r>
              <a:rPr sz="1050">
                <a:solidFill>
                  <a:srgbClr val="163B36"/>
                </a:solidFill>
                <a:latin typeface="Noto Sans CJK SC"/>
                <a:ea typeface="Noto Sans CJK SC"/>
                <a:cs typeface="Noto Sans CJK SC"/>
              </a:rPr>
              <a:t>退款状态</a:t>
            </a:r>
            <a:endParaRPr sz="1050"/>
          </a:p>
        </p:txBody>
      </p:sp>
      <p:sp>
        <p:nvSpPr>
          <p:cNvPr id="44" name="Shape 42"/>
          <p:cNvSpPr>
            <a:spLocks noGrp="1"/>
          </p:cNvSpPr>
          <p:nvPr/>
        </p:nvSpPr>
        <p:spPr>
          <a:xfrm>
            <a:off x="3694176" y="3785616"/>
            <a:ext cx="1938528" cy="0"/>
          </a:xfrm>
          <a:prstGeom prst="line">
            <a:avLst/>
          </a:prstGeom>
          <a:noFill/>
          <a:ln w="10160">
            <a:solidFill>
              <a:srgbClr val="D8E7E2"/>
            </a:solidFill>
            <a:prstDash val="solid"/>
          </a:ln>
        </p:spPr>
        <p:txBody>
          <a:bodyPr/>
          <a:lstStyle/>
          <a:p/>
        </p:txBody>
      </p:sp>
      <p:sp>
        <p:nvSpPr>
          <p:cNvPr id="45" name="Text 43"/>
          <p:cNvSpPr>
            <a:spLocks noGrp="1"/>
          </p:cNvSpPr>
          <p:nvPr/>
        </p:nvSpPr>
        <p:spPr>
          <a:xfrm>
            <a:off x="3694176" y="3913632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buNone/>
            </a:pPr>
            <a:r>
              <a:rPr sz="1250" b="1">
                <a:solidFill>
                  <a:srgbClr val="44585C"/>
                </a:solidFill>
                <a:latin typeface="Noto Sans CJK SC"/>
                <a:ea typeface="Noto Sans CJK SC"/>
                <a:cs typeface="Noto Sans CJK SC"/>
              </a:rPr>
              <a:t>系统依赖</a:t>
            </a:r>
            <a:endParaRPr sz="1250"/>
          </a:p>
        </p:txBody>
      </p:sp>
      <p:sp>
        <p:nvSpPr>
          <p:cNvPr id="46" name="Text 44"/>
          <p:cNvSpPr>
            <a:spLocks noGrp="1"/>
          </p:cNvSpPr>
          <p:nvPr/>
        </p:nvSpPr>
        <p:spPr>
          <a:xfrm>
            <a:off x="3694176" y="4187952"/>
            <a:ext cx="1938528" cy="34747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buNone/>
            </a:pPr>
            <a:r>
              <a:rPr sz="1040" b="1">
                <a:solidFill>
                  <a:srgbClr val="1B5FC4"/>
                </a:solidFill>
                <a:latin typeface="Noto Sans CJK SC"/>
                <a:ea typeface="Noto Sans CJK SC"/>
                <a:cs typeface="Noto Sans CJK SC"/>
              </a:rPr>
              <a:t>只读工具</a:t>
            </a:r>
            <a:endParaRPr sz="1040"/>
          </a:p>
        </p:txBody>
      </p:sp>
      <p:sp>
        <p:nvSpPr>
          <p:cNvPr id="47" name="Text 45"/>
          <p:cNvSpPr>
            <a:spLocks noGrp="1"/>
          </p:cNvSpPr>
          <p:nvPr/>
        </p:nvSpPr>
        <p:spPr>
          <a:xfrm>
            <a:off x="3694176" y="461772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buNone/>
            </a:pPr>
            <a:r>
              <a:rPr sz="1250" b="1">
                <a:solidFill>
                  <a:srgbClr val="44585C"/>
                </a:solidFill>
                <a:latin typeface="Noto Sans CJK SC"/>
                <a:ea typeface="Noto Sans CJK SC"/>
                <a:cs typeface="Noto Sans CJK SC"/>
              </a:rPr>
              <a:t>处理方式</a:t>
            </a:r>
            <a:endParaRPr sz="1250"/>
          </a:p>
        </p:txBody>
      </p:sp>
      <p:sp>
        <p:nvSpPr>
          <p:cNvPr id="48" name="Text 46"/>
          <p:cNvSpPr>
            <a:spLocks noGrp="1"/>
          </p:cNvSpPr>
          <p:nvPr/>
        </p:nvSpPr>
        <p:spPr>
          <a:xfrm>
            <a:off x="3694176" y="4882896"/>
            <a:ext cx="1938528" cy="420624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buNone/>
            </a:pPr>
            <a:r>
              <a:rPr sz="990">
                <a:solidFill>
                  <a:srgbClr val="163B36"/>
                </a:solidFill>
                <a:latin typeface="Noto Sans CJK SC"/>
                <a:ea typeface="Noto Sans CJK SC"/>
                <a:cs typeface="Noto Sans CJK SC"/>
              </a:rPr>
              <a:t>AI 自动 + 事实校验</a:t>
            </a:r>
            <a:endParaRPr sz="990"/>
          </a:p>
        </p:txBody>
      </p:sp>
      <p:sp>
        <p:nvSpPr>
          <p:cNvPr id="49" name="Shape 47"/>
          <p:cNvSpPr>
            <a:spLocks noGrp="1"/>
          </p:cNvSpPr>
          <p:nvPr/>
        </p:nvSpPr>
        <p:spPr>
          <a:xfrm>
            <a:off x="3657600" y="5367528"/>
            <a:ext cx="2011680" cy="347472"/>
          </a:xfrm>
          <a:prstGeom prst="roundRect">
            <a:avLst/>
          </a:prstGeom>
          <a:solidFill>
            <a:srgbClr val="EAF2FF"/>
          </a:solidFill>
          <a:ln w="8890">
            <a:solidFill>
              <a:srgbClr val="2F7DEB"/>
            </a:solidFill>
            <a:prstDash val="solid"/>
          </a:ln>
        </p:spPr>
        <p:txBody>
          <a:bodyPr/>
          <a:lstStyle/>
          <a:p/>
        </p:txBody>
      </p:sp>
      <p:sp>
        <p:nvSpPr>
          <p:cNvPr id="50" name="Text 48"/>
          <p:cNvSpPr>
            <a:spLocks noGrp="1"/>
          </p:cNvSpPr>
          <p:nvPr/>
        </p:nvSpPr>
        <p:spPr>
          <a:xfrm>
            <a:off x="3739896" y="5404104"/>
            <a:ext cx="1847088" cy="27432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880" b="1">
                <a:solidFill>
                  <a:srgbClr val="1B5FC4"/>
                </a:solidFill>
                <a:latin typeface="Noto Sans CJK SC"/>
                <a:ea typeface="Noto Sans CJK SC"/>
                <a:cs typeface="Noto Sans CJK SC"/>
              </a:rPr>
              <a:t>误导客户</a:t>
            </a:r>
            <a:endParaRPr sz="880"/>
          </a:p>
          <a:p>
            <a:pPr marL="0" indent="0" algn="ctr">
              <a:buNone/>
            </a:pPr>
            <a:r>
              <a:rPr sz="880" b="1">
                <a:solidFill>
                  <a:srgbClr val="1B5FC4"/>
                </a:solidFill>
                <a:latin typeface="Noto Sans CJK SC"/>
                <a:ea typeface="Noto Sans CJK SC"/>
                <a:cs typeface="Noto Sans CJK SC"/>
              </a:rPr>
              <a:t>信息过期</a:t>
            </a:r>
            <a:endParaRPr sz="880"/>
          </a:p>
        </p:txBody>
      </p:sp>
      <p:sp>
        <p:nvSpPr>
          <p:cNvPr id="51" name="Shape 49"/>
          <p:cNvSpPr>
            <a:spLocks noGrp="1"/>
          </p:cNvSpPr>
          <p:nvPr/>
        </p:nvSpPr>
        <p:spPr>
          <a:xfrm>
            <a:off x="6327648" y="1572768"/>
            <a:ext cx="2377440" cy="43159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9AA18"/>
            </a:solidFill>
            <a:prstDash val="solid"/>
          </a:ln>
          <a:effectLst>
            <a:outerShdw blurRad="2147483647" dist="2147483647" dir="1" algn="bl" rotWithShape="0">
              <a:srgbClr val="74857F">
                <a:alpha val="1"/>
              </a:srgbClr>
            </a:outerShdw>
          </a:effectLst>
        </p:spPr>
        <p:txBody>
          <a:bodyPr/>
          <a:lstStyle/>
          <a:p/>
        </p:txBody>
      </p:sp>
      <p:sp>
        <p:nvSpPr>
          <p:cNvPr id="53" name="Text 51"/>
          <p:cNvSpPr>
            <a:spLocks noGrp="1"/>
          </p:cNvSpPr>
          <p:nvPr/>
        </p:nvSpPr>
        <p:spPr>
          <a:xfrm>
            <a:off x="8193024" y="1792224"/>
            <a:ext cx="292608" cy="21945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r">
              <a:buNone/>
            </a:pPr>
            <a:r>
              <a:rPr sz="900" b="1">
                <a:solidFill>
                  <a:srgbClr val="8A6100"/>
                </a:solidFill>
                <a:latin typeface="Noto Sans CJK SC"/>
                <a:ea typeface="Noto Sans CJK SC"/>
                <a:cs typeface="Noto Sans CJK SC"/>
              </a:rPr>
              <a:t>03</a:t>
            </a:r>
            <a:endParaRPr sz="900"/>
          </a:p>
        </p:txBody>
      </p:sp>
      <p:sp>
        <p:nvSpPr>
          <p:cNvPr id="54" name="Shape 52"/>
          <p:cNvSpPr>
            <a:spLocks noGrp="1"/>
          </p:cNvSpPr>
          <p:nvPr/>
        </p:nvSpPr>
        <p:spPr>
          <a:xfrm>
            <a:off x="6528816" y="1792224"/>
            <a:ext cx="502920" cy="502920"/>
          </a:xfrm>
          <a:prstGeom prst="ellipse">
            <a:avLst/>
          </a:prstGeom>
          <a:solidFill>
            <a:srgbClr val="E9AA18"/>
          </a:solidFill>
          <a:ln w="6350">
            <a:solidFill>
              <a:srgbClr val="E9AA18"/>
            </a:solidFill>
            <a:prstDash val="solid"/>
          </a:ln>
          <a:effectLst>
            <a:outerShdw blurRad="2147483647" dist="2147483647" dir="7" algn="bl" rotWithShape="0">
              <a:srgbClr val="74857F">
                <a:alpha val="1"/>
              </a:srgbClr>
            </a:outerShdw>
          </a:effectLst>
        </p:spPr>
        <p:txBody>
          <a:bodyPr/>
          <a:lstStyle/>
          <a:p/>
        </p:txBody>
      </p:sp>
      <p:sp>
        <p:nvSpPr>
          <p:cNvPr id="55" name="Text 53"/>
          <p:cNvSpPr>
            <a:spLocks noGrp="1"/>
          </p:cNvSpPr>
          <p:nvPr/>
        </p:nvSpPr>
        <p:spPr>
          <a:xfrm>
            <a:off x="6528816" y="1792224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分</a:t>
            </a:r>
            <a:endParaRPr sz="1400"/>
          </a:p>
        </p:txBody>
      </p:sp>
      <p:sp>
        <p:nvSpPr>
          <p:cNvPr id="56" name="Text 54"/>
          <p:cNvSpPr>
            <a:spLocks noGrp="1"/>
          </p:cNvSpPr>
          <p:nvPr/>
        </p:nvSpPr>
        <p:spPr>
          <a:xfrm>
            <a:off x="7150608" y="1783080"/>
            <a:ext cx="914400" cy="29260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buNone/>
            </a:pPr>
            <a:r>
              <a:rPr sz="1700" b="1">
                <a:solidFill>
                  <a:srgbClr val="163B36"/>
                </a:solidFill>
                <a:latin typeface="Noto Sans CJK SC"/>
                <a:ea typeface="Noto Sans CJK SC"/>
                <a:cs typeface="Noto Sans CJK SC"/>
              </a:rPr>
              <a:t>无工具分诊</a:t>
            </a:r>
            <a:endParaRPr sz="1700"/>
          </a:p>
        </p:txBody>
      </p:sp>
      <p:sp>
        <p:nvSpPr>
          <p:cNvPr id="57" name="Shape 55"/>
          <p:cNvSpPr>
            <a:spLocks noGrp="1"/>
          </p:cNvSpPr>
          <p:nvPr/>
        </p:nvSpPr>
        <p:spPr>
          <a:xfrm>
            <a:off x="6528816" y="2286000"/>
            <a:ext cx="1024128" cy="256032"/>
          </a:xfrm>
          <a:prstGeom prst="roundRect">
            <a:avLst/>
          </a:prstGeom>
          <a:solidFill>
            <a:srgbClr val="FFF7DF"/>
          </a:solidFill>
          <a:ln w="10160">
            <a:solidFill>
              <a:srgbClr val="E9AA18"/>
            </a:solidFill>
            <a:prstDash val="solid"/>
          </a:ln>
        </p:spPr>
        <p:txBody>
          <a:bodyPr/>
          <a:lstStyle/>
          <a:p/>
        </p:txBody>
      </p:sp>
      <p:sp>
        <p:nvSpPr>
          <p:cNvPr id="58" name="Text 56"/>
          <p:cNvSpPr>
            <a:spLocks noGrp="1"/>
          </p:cNvSpPr>
          <p:nvPr/>
        </p:nvSpPr>
        <p:spPr>
          <a:xfrm>
            <a:off x="6528816" y="2286000"/>
            <a:ext cx="1024128" cy="25603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880" b="1">
                <a:solidFill>
                  <a:srgbClr val="8A6100"/>
                </a:solidFill>
                <a:latin typeface="Noto Sans CJK SC"/>
                <a:ea typeface="Noto Sans CJK SC"/>
                <a:cs typeface="Noto Sans CJK SC"/>
              </a:rPr>
              <a:t>3 个场景</a:t>
            </a:r>
            <a:endParaRPr sz="880"/>
          </a:p>
        </p:txBody>
      </p:sp>
      <p:sp>
        <p:nvSpPr>
          <p:cNvPr id="59" name="Text 57"/>
          <p:cNvSpPr>
            <a:spLocks noGrp="1"/>
          </p:cNvSpPr>
          <p:nvPr/>
        </p:nvSpPr>
        <p:spPr>
          <a:xfrm>
            <a:off x="6528816" y="2688336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buNone/>
            </a:pPr>
            <a:r>
              <a:rPr sz="1250" b="1">
                <a:solidFill>
                  <a:srgbClr val="44585C"/>
                </a:solidFill>
                <a:latin typeface="Noto Sans CJK SC"/>
                <a:ea typeface="Noto Sans CJK SC"/>
                <a:cs typeface="Noto Sans CJK SC"/>
              </a:rPr>
              <a:t>典型问题</a:t>
            </a:r>
            <a:endParaRPr sz="1250"/>
          </a:p>
        </p:txBody>
      </p:sp>
      <p:sp>
        <p:nvSpPr>
          <p:cNvPr id="60" name="Text 58"/>
          <p:cNvSpPr>
            <a:spLocks noGrp="1"/>
          </p:cNvSpPr>
          <p:nvPr/>
        </p:nvSpPr>
        <p:spPr>
          <a:xfrm>
            <a:off x="6528816" y="2944368"/>
            <a:ext cx="1938528" cy="74980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buNone/>
            </a:pPr>
            <a:r>
              <a:rPr sz="1050">
                <a:solidFill>
                  <a:srgbClr val="163B36"/>
                </a:solidFill>
                <a:latin typeface="Noto Sans CJK SC"/>
                <a:ea typeface="Noto Sans CJK SC"/>
                <a:cs typeface="Noto Sans CJK SC"/>
              </a:rPr>
              <a:t>无明确诉求</a:t>
            </a:r>
            <a:endParaRPr sz="1050"/>
          </a:p>
          <a:p>
            <a:pPr marL="0" indent="0" algn="l">
              <a:buNone/>
            </a:pPr>
            <a:r>
              <a:rPr sz="1050">
                <a:solidFill>
                  <a:srgbClr val="163B36"/>
                </a:solidFill>
                <a:latin typeface="Noto Sans CJK SC"/>
                <a:ea typeface="Noto Sans CJK SC"/>
                <a:cs typeface="Noto Sans CJK SC"/>
              </a:rPr>
              <a:t>仅情绪表达</a:t>
            </a:r>
            <a:endParaRPr sz="1050"/>
          </a:p>
          <a:p>
            <a:pPr marL="0" indent="0" algn="l">
              <a:buNone/>
            </a:pPr>
            <a:r>
              <a:rPr sz="1050">
                <a:solidFill>
                  <a:srgbClr val="163B36"/>
                </a:solidFill>
                <a:latin typeface="Noto Sans CJK SC"/>
                <a:ea typeface="Noto Sans CJK SC"/>
                <a:cs typeface="Noto Sans CJK SC"/>
              </a:rPr>
              <a:t>需要澄清</a:t>
            </a:r>
            <a:endParaRPr sz="1050"/>
          </a:p>
        </p:txBody>
      </p:sp>
      <p:sp>
        <p:nvSpPr>
          <p:cNvPr id="61" name="Shape 59"/>
          <p:cNvSpPr>
            <a:spLocks noGrp="1"/>
          </p:cNvSpPr>
          <p:nvPr/>
        </p:nvSpPr>
        <p:spPr>
          <a:xfrm>
            <a:off x="6528816" y="3785616"/>
            <a:ext cx="1938528" cy="0"/>
          </a:xfrm>
          <a:prstGeom prst="line">
            <a:avLst/>
          </a:prstGeom>
          <a:noFill/>
          <a:ln w="10160">
            <a:solidFill>
              <a:srgbClr val="D8E7E2"/>
            </a:solidFill>
            <a:prstDash val="solid"/>
          </a:ln>
        </p:spPr>
        <p:txBody>
          <a:bodyPr/>
          <a:lstStyle/>
          <a:p/>
        </p:txBody>
      </p:sp>
      <p:sp>
        <p:nvSpPr>
          <p:cNvPr id="62" name="Text 60"/>
          <p:cNvSpPr>
            <a:spLocks noGrp="1"/>
          </p:cNvSpPr>
          <p:nvPr/>
        </p:nvSpPr>
        <p:spPr>
          <a:xfrm>
            <a:off x="6528816" y="3913632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buNone/>
            </a:pPr>
            <a:r>
              <a:rPr sz="1250" b="1">
                <a:solidFill>
                  <a:srgbClr val="44585C"/>
                </a:solidFill>
                <a:latin typeface="Noto Sans CJK SC"/>
                <a:ea typeface="Noto Sans CJK SC"/>
                <a:cs typeface="Noto Sans CJK SC"/>
              </a:rPr>
              <a:t>系统依赖</a:t>
            </a:r>
            <a:endParaRPr sz="1250"/>
          </a:p>
        </p:txBody>
      </p:sp>
      <p:sp>
        <p:nvSpPr>
          <p:cNvPr id="63" name="Text 61"/>
          <p:cNvSpPr>
            <a:spLocks noGrp="1"/>
          </p:cNvSpPr>
          <p:nvPr/>
        </p:nvSpPr>
        <p:spPr>
          <a:xfrm>
            <a:off x="6528816" y="4187952"/>
            <a:ext cx="1938528" cy="34747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buNone/>
            </a:pPr>
            <a:r>
              <a:rPr sz="1040" b="1">
                <a:solidFill>
                  <a:srgbClr val="8A6100"/>
                </a:solidFill>
                <a:latin typeface="Noto Sans CJK SC"/>
                <a:ea typeface="Noto Sans CJK SC"/>
                <a:cs typeface="Noto Sans CJK SC"/>
              </a:rPr>
              <a:t>零工具，只判断与转接</a:t>
            </a:r>
            <a:endParaRPr sz="1040"/>
          </a:p>
        </p:txBody>
      </p:sp>
      <p:sp>
        <p:nvSpPr>
          <p:cNvPr id="64" name="Text 62"/>
          <p:cNvSpPr>
            <a:spLocks noGrp="1"/>
          </p:cNvSpPr>
          <p:nvPr/>
        </p:nvSpPr>
        <p:spPr>
          <a:xfrm>
            <a:off x="6528816" y="461772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buNone/>
            </a:pPr>
            <a:r>
              <a:rPr sz="1250" b="1">
                <a:solidFill>
                  <a:srgbClr val="44585C"/>
                </a:solidFill>
                <a:latin typeface="Noto Sans CJK SC"/>
                <a:ea typeface="Noto Sans CJK SC"/>
                <a:cs typeface="Noto Sans CJK SC"/>
              </a:rPr>
              <a:t>处理方式</a:t>
            </a:r>
            <a:endParaRPr sz="1250"/>
          </a:p>
        </p:txBody>
      </p:sp>
      <p:sp>
        <p:nvSpPr>
          <p:cNvPr id="65" name="Text 63"/>
          <p:cNvSpPr>
            <a:spLocks noGrp="1"/>
          </p:cNvSpPr>
          <p:nvPr/>
        </p:nvSpPr>
        <p:spPr>
          <a:xfrm>
            <a:off x="6528816" y="4882896"/>
            <a:ext cx="1938528" cy="420624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buNone/>
            </a:pPr>
            <a:r>
              <a:rPr sz="990">
                <a:solidFill>
                  <a:srgbClr val="163B36"/>
                </a:solidFill>
                <a:latin typeface="Noto Sans CJK SC"/>
                <a:ea typeface="Noto Sans CJK SC"/>
                <a:cs typeface="Noto Sans CJK SC"/>
              </a:rPr>
              <a:t>澄清、引导或转人工</a:t>
            </a:r>
            <a:endParaRPr sz="990"/>
          </a:p>
        </p:txBody>
      </p:sp>
      <p:sp>
        <p:nvSpPr>
          <p:cNvPr id="66" name="Shape 64"/>
          <p:cNvSpPr>
            <a:spLocks noGrp="1"/>
          </p:cNvSpPr>
          <p:nvPr/>
        </p:nvSpPr>
        <p:spPr>
          <a:xfrm>
            <a:off x="6492240" y="5367528"/>
            <a:ext cx="2011680" cy="347472"/>
          </a:xfrm>
          <a:prstGeom prst="roundRect">
            <a:avLst/>
          </a:prstGeom>
          <a:solidFill>
            <a:srgbClr val="FFF7DF"/>
          </a:solidFill>
          <a:ln w="8890">
            <a:solidFill>
              <a:srgbClr val="E9AA18"/>
            </a:solidFill>
            <a:prstDash val="solid"/>
          </a:ln>
        </p:spPr>
        <p:txBody>
          <a:bodyPr/>
          <a:lstStyle/>
          <a:p/>
        </p:txBody>
      </p:sp>
      <p:sp>
        <p:nvSpPr>
          <p:cNvPr id="67" name="Text 65"/>
          <p:cNvSpPr>
            <a:spLocks noGrp="1"/>
          </p:cNvSpPr>
          <p:nvPr/>
        </p:nvSpPr>
        <p:spPr>
          <a:xfrm>
            <a:off x="6574536" y="5404104"/>
            <a:ext cx="1847088" cy="27432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880" b="1">
                <a:solidFill>
                  <a:srgbClr val="8A6100"/>
                </a:solidFill>
                <a:latin typeface="Noto Sans CJK SC"/>
                <a:ea typeface="Noto Sans CJK SC"/>
                <a:cs typeface="Noto Sans CJK SC"/>
              </a:rPr>
              <a:t>误转</a:t>
            </a:r>
            <a:endParaRPr sz="880"/>
          </a:p>
          <a:p>
            <a:pPr marL="0" indent="0" algn="ctr">
              <a:buNone/>
            </a:pPr>
            <a:r>
              <a:rPr sz="880" b="1">
                <a:solidFill>
                  <a:srgbClr val="8A6100"/>
                </a:solidFill>
                <a:latin typeface="Noto Sans CJK SC"/>
                <a:ea typeface="Noto Sans CJK SC"/>
                <a:cs typeface="Noto Sans CJK SC"/>
              </a:rPr>
              <a:t>漏转</a:t>
            </a:r>
            <a:endParaRPr sz="880"/>
          </a:p>
        </p:txBody>
      </p:sp>
      <p:sp>
        <p:nvSpPr>
          <p:cNvPr id="68" name="Shape 66"/>
          <p:cNvSpPr>
            <a:spLocks noGrp="1"/>
          </p:cNvSpPr>
          <p:nvPr/>
        </p:nvSpPr>
        <p:spPr>
          <a:xfrm>
            <a:off x="9162288" y="1572768"/>
            <a:ext cx="2377440" cy="43159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5858"/>
            </a:solidFill>
            <a:prstDash val="solid"/>
          </a:ln>
          <a:effectLst>
            <a:outerShdw blurRad="2147483647" dist="2147483647" dir="4" algn="bl" rotWithShape="0">
              <a:srgbClr val="74857F">
                <a:alpha val="1"/>
              </a:srgbClr>
            </a:outerShdw>
          </a:effectLst>
        </p:spPr>
        <p:txBody>
          <a:bodyPr/>
          <a:lstStyle/>
          <a:p/>
        </p:txBody>
      </p:sp>
      <p:sp>
        <p:nvSpPr>
          <p:cNvPr id="70" name="Text 68"/>
          <p:cNvSpPr>
            <a:spLocks noGrp="1"/>
          </p:cNvSpPr>
          <p:nvPr/>
        </p:nvSpPr>
        <p:spPr>
          <a:xfrm>
            <a:off x="11027664" y="1792224"/>
            <a:ext cx="292608" cy="21945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r">
              <a:buNone/>
            </a:pPr>
            <a:r>
              <a:rPr sz="900" b="1">
                <a:solidFill>
                  <a:srgbClr val="C23B3B"/>
                </a:solidFill>
                <a:latin typeface="Noto Sans CJK SC"/>
                <a:ea typeface="Noto Sans CJK SC"/>
                <a:cs typeface="Noto Sans CJK SC"/>
              </a:rPr>
              <a:t>04</a:t>
            </a:r>
            <a:endParaRPr sz="900"/>
          </a:p>
        </p:txBody>
      </p:sp>
      <p:sp>
        <p:nvSpPr>
          <p:cNvPr id="71" name="Shape 69"/>
          <p:cNvSpPr>
            <a:spLocks noGrp="1"/>
          </p:cNvSpPr>
          <p:nvPr/>
        </p:nvSpPr>
        <p:spPr>
          <a:xfrm>
            <a:off x="9363456" y="1792224"/>
            <a:ext cx="502920" cy="502920"/>
          </a:xfrm>
          <a:prstGeom prst="ellipse">
            <a:avLst/>
          </a:prstGeom>
          <a:solidFill>
            <a:srgbClr val="E45858"/>
          </a:solidFill>
          <a:ln w="6350">
            <a:solidFill>
              <a:srgbClr val="E45858"/>
            </a:solidFill>
            <a:prstDash val="solid"/>
          </a:ln>
          <a:effectLst>
            <a:outerShdw blurRad="2147483647" dist="2147483647" dir="2" algn="bl" rotWithShape="0">
              <a:srgbClr val="74857F">
                <a:alpha val="1"/>
              </a:srgbClr>
            </a:outerShdw>
          </a:effectLst>
        </p:spPr>
        <p:txBody>
          <a:bodyPr/>
          <a:lstStyle/>
          <a:p/>
        </p:txBody>
      </p:sp>
      <p:sp>
        <p:nvSpPr>
          <p:cNvPr id="72" name="Text 70"/>
          <p:cNvSpPr>
            <a:spLocks noGrp="1"/>
          </p:cNvSpPr>
          <p:nvPr/>
        </p:nvSpPr>
        <p:spPr>
          <a:xfrm>
            <a:off x="9363456" y="1792224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执</a:t>
            </a:r>
            <a:endParaRPr sz="1400"/>
          </a:p>
        </p:txBody>
      </p:sp>
      <p:sp>
        <p:nvSpPr>
          <p:cNvPr id="73" name="Text 71"/>
          <p:cNvSpPr>
            <a:spLocks noGrp="1"/>
          </p:cNvSpPr>
          <p:nvPr/>
        </p:nvSpPr>
        <p:spPr>
          <a:xfrm>
            <a:off x="9985248" y="1783080"/>
            <a:ext cx="914400" cy="29260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buNone/>
            </a:pPr>
            <a:r>
              <a:rPr sz="1700" b="1">
                <a:solidFill>
                  <a:srgbClr val="163B36"/>
                </a:solidFill>
                <a:latin typeface="Noto Sans CJK SC"/>
                <a:ea typeface="Noto Sans CJK SC"/>
                <a:cs typeface="Noto Sans CJK SC"/>
              </a:rPr>
              <a:t>系统类执行</a:t>
            </a:r>
            <a:endParaRPr sz="1700"/>
          </a:p>
        </p:txBody>
      </p:sp>
      <p:sp>
        <p:nvSpPr>
          <p:cNvPr id="74" name="Shape 72"/>
          <p:cNvSpPr>
            <a:spLocks noGrp="1"/>
          </p:cNvSpPr>
          <p:nvPr/>
        </p:nvSpPr>
        <p:spPr>
          <a:xfrm>
            <a:off x="9363456" y="2286000"/>
            <a:ext cx="1024128" cy="256032"/>
          </a:xfrm>
          <a:prstGeom prst="roundRect">
            <a:avLst/>
          </a:prstGeom>
          <a:solidFill>
            <a:srgbClr val="FDEBEC"/>
          </a:solidFill>
          <a:ln w="10160">
            <a:solidFill>
              <a:srgbClr val="E45858"/>
            </a:solidFill>
            <a:prstDash val="solid"/>
          </a:ln>
        </p:spPr>
        <p:txBody>
          <a:bodyPr/>
          <a:lstStyle/>
          <a:p/>
        </p:txBody>
      </p:sp>
      <p:sp>
        <p:nvSpPr>
          <p:cNvPr id="75" name="Text 73"/>
          <p:cNvSpPr>
            <a:spLocks noGrp="1"/>
          </p:cNvSpPr>
          <p:nvPr/>
        </p:nvSpPr>
        <p:spPr>
          <a:xfrm>
            <a:off x="9363456" y="2286000"/>
            <a:ext cx="1024128" cy="25603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880" b="1">
                <a:solidFill>
                  <a:srgbClr val="C23B3B"/>
                </a:solidFill>
                <a:latin typeface="Noto Sans CJK SC"/>
                <a:ea typeface="Noto Sans CJK SC"/>
                <a:cs typeface="Noto Sans CJK SC"/>
              </a:rPr>
              <a:t>7 个场景</a:t>
            </a:r>
            <a:endParaRPr sz="880"/>
          </a:p>
        </p:txBody>
      </p:sp>
      <p:sp>
        <p:nvSpPr>
          <p:cNvPr id="76" name="Text 74"/>
          <p:cNvSpPr>
            <a:spLocks noGrp="1"/>
          </p:cNvSpPr>
          <p:nvPr/>
        </p:nvSpPr>
        <p:spPr>
          <a:xfrm>
            <a:off x="9363456" y="2688336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buNone/>
            </a:pPr>
            <a:r>
              <a:rPr sz="1250" b="1">
                <a:solidFill>
                  <a:srgbClr val="44585C"/>
                </a:solidFill>
                <a:latin typeface="Noto Sans CJK SC"/>
                <a:ea typeface="Noto Sans CJK SC"/>
                <a:cs typeface="Noto Sans CJK SC"/>
              </a:rPr>
              <a:t>典型问题</a:t>
            </a:r>
            <a:endParaRPr sz="1250"/>
          </a:p>
        </p:txBody>
      </p:sp>
      <p:sp>
        <p:nvSpPr>
          <p:cNvPr id="77" name="Text 75"/>
          <p:cNvSpPr>
            <a:spLocks noGrp="1"/>
          </p:cNvSpPr>
          <p:nvPr/>
        </p:nvSpPr>
        <p:spPr>
          <a:xfrm>
            <a:off x="9363456" y="2944368"/>
            <a:ext cx="1938528" cy="74980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buNone/>
            </a:pPr>
            <a:r>
              <a:rPr sz="1050">
                <a:solidFill>
                  <a:srgbClr val="163B36"/>
                </a:solidFill>
                <a:latin typeface="Noto Sans CJK SC"/>
                <a:ea typeface="Noto Sans CJK SC"/>
                <a:cs typeface="Noto Sans CJK SC"/>
              </a:rPr>
              <a:t>修改地址</a:t>
            </a:r>
            <a:endParaRPr sz="1050"/>
          </a:p>
          <a:p>
            <a:pPr marL="0" indent="0" algn="l">
              <a:buNone/>
            </a:pPr>
            <a:r>
              <a:rPr sz="1050">
                <a:solidFill>
                  <a:srgbClr val="163B36"/>
                </a:solidFill>
                <a:latin typeface="Noto Sans CJK SC"/>
                <a:ea typeface="Noto Sans CJK SC"/>
                <a:cs typeface="Noto Sans CJK SC"/>
              </a:rPr>
              <a:t>发货前取消</a:t>
            </a:r>
            <a:endParaRPr sz="1050"/>
          </a:p>
          <a:p>
            <a:pPr marL="0" indent="0" algn="l">
              <a:buNone/>
            </a:pPr>
            <a:r>
              <a:rPr sz="1050">
                <a:solidFill>
                  <a:srgbClr val="163B36"/>
                </a:solidFill>
                <a:latin typeface="Noto Sans CJK SC"/>
                <a:ea typeface="Noto Sans CJK SC"/>
                <a:cs typeface="Noto Sans CJK SC"/>
              </a:rPr>
              <a:t>改邮箱 / 善意补偿</a:t>
            </a:r>
            <a:endParaRPr sz="1050"/>
          </a:p>
        </p:txBody>
      </p:sp>
      <p:sp>
        <p:nvSpPr>
          <p:cNvPr id="78" name="Shape 76"/>
          <p:cNvSpPr>
            <a:spLocks noGrp="1"/>
          </p:cNvSpPr>
          <p:nvPr/>
        </p:nvSpPr>
        <p:spPr>
          <a:xfrm>
            <a:off x="9363456" y="3785616"/>
            <a:ext cx="1938528" cy="0"/>
          </a:xfrm>
          <a:prstGeom prst="line">
            <a:avLst/>
          </a:prstGeom>
          <a:noFill/>
          <a:ln w="10160">
            <a:solidFill>
              <a:srgbClr val="D8E7E2"/>
            </a:solidFill>
            <a:prstDash val="solid"/>
          </a:ln>
        </p:spPr>
        <p:txBody>
          <a:bodyPr/>
          <a:lstStyle/>
          <a:p/>
        </p:txBody>
      </p:sp>
      <p:sp>
        <p:nvSpPr>
          <p:cNvPr id="79" name="Text 77"/>
          <p:cNvSpPr>
            <a:spLocks noGrp="1"/>
          </p:cNvSpPr>
          <p:nvPr/>
        </p:nvSpPr>
        <p:spPr>
          <a:xfrm>
            <a:off x="9363456" y="3913632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buNone/>
            </a:pPr>
            <a:r>
              <a:rPr sz="1250" b="1">
                <a:solidFill>
                  <a:srgbClr val="44585C"/>
                </a:solidFill>
                <a:latin typeface="Noto Sans CJK SC"/>
                <a:ea typeface="Noto Sans CJK SC"/>
                <a:cs typeface="Noto Sans CJK SC"/>
              </a:rPr>
              <a:t>系统依赖</a:t>
            </a:r>
            <a:endParaRPr sz="1250"/>
          </a:p>
        </p:txBody>
      </p:sp>
      <p:sp>
        <p:nvSpPr>
          <p:cNvPr id="80" name="Text 78"/>
          <p:cNvSpPr>
            <a:spLocks noGrp="1"/>
          </p:cNvSpPr>
          <p:nvPr/>
        </p:nvSpPr>
        <p:spPr>
          <a:xfrm>
            <a:off x="9363456" y="4187952"/>
            <a:ext cx="1938528" cy="34747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buNone/>
            </a:pPr>
            <a:r>
              <a:rPr sz="1040" b="1">
                <a:solidFill>
                  <a:srgbClr val="C23B3B"/>
                </a:solidFill>
                <a:latin typeface="Noto Sans CJK SC"/>
                <a:ea typeface="Noto Sans CJK SC"/>
                <a:cs typeface="Noto Sans CJK SC"/>
              </a:rPr>
              <a:t>写能力 + 权限 + 幂等</a:t>
            </a:r>
            <a:endParaRPr sz="1040"/>
          </a:p>
        </p:txBody>
      </p:sp>
      <p:sp>
        <p:nvSpPr>
          <p:cNvPr id="81" name="Text 79"/>
          <p:cNvSpPr>
            <a:spLocks noGrp="1"/>
          </p:cNvSpPr>
          <p:nvPr/>
        </p:nvSpPr>
        <p:spPr>
          <a:xfrm>
            <a:off x="9363456" y="461772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buNone/>
            </a:pPr>
            <a:r>
              <a:rPr sz="1250" b="1">
                <a:solidFill>
                  <a:srgbClr val="44585C"/>
                </a:solidFill>
                <a:latin typeface="Noto Sans CJK SC"/>
                <a:ea typeface="Noto Sans CJK SC"/>
                <a:cs typeface="Noto Sans CJK SC"/>
              </a:rPr>
              <a:t>处理方式</a:t>
            </a:r>
            <a:endParaRPr sz="1250"/>
          </a:p>
        </p:txBody>
      </p:sp>
      <p:sp>
        <p:nvSpPr>
          <p:cNvPr id="82" name="Text 80"/>
          <p:cNvSpPr>
            <a:spLocks noGrp="1"/>
          </p:cNvSpPr>
          <p:nvPr/>
        </p:nvSpPr>
        <p:spPr>
          <a:xfrm>
            <a:off x="9363456" y="4882896"/>
            <a:ext cx="1938528" cy="420624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buNone/>
            </a:pPr>
            <a:r>
              <a:rPr sz="990">
                <a:solidFill>
                  <a:srgbClr val="163B36"/>
                </a:solidFill>
                <a:latin typeface="Noto Sans CJK SC"/>
                <a:ea typeface="Noto Sans CJK SC"/>
                <a:cs typeface="Noto Sans CJK SC"/>
              </a:rPr>
              <a:t>服务端校验后执行</a:t>
            </a:r>
            <a:endParaRPr sz="990"/>
          </a:p>
        </p:txBody>
      </p:sp>
      <p:sp>
        <p:nvSpPr>
          <p:cNvPr id="83" name="Shape 81"/>
          <p:cNvSpPr>
            <a:spLocks noGrp="1"/>
          </p:cNvSpPr>
          <p:nvPr/>
        </p:nvSpPr>
        <p:spPr>
          <a:xfrm>
            <a:off x="9326880" y="5367528"/>
            <a:ext cx="2011680" cy="347472"/>
          </a:xfrm>
          <a:prstGeom prst="roundRect">
            <a:avLst/>
          </a:prstGeom>
          <a:solidFill>
            <a:srgbClr val="FDEBEC"/>
          </a:solidFill>
          <a:ln w="8890">
            <a:solidFill>
              <a:srgbClr val="E45858"/>
            </a:solidFill>
            <a:prstDash val="solid"/>
          </a:ln>
        </p:spPr>
        <p:txBody>
          <a:bodyPr/>
          <a:lstStyle/>
          <a:p/>
        </p:txBody>
      </p:sp>
      <p:sp>
        <p:nvSpPr>
          <p:cNvPr id="84" name="Text 82"/>
          <p:cNvSpPr>
            <a:spLocks noGrp="1"/>
          </p:cNvSpPr>
          <p:nvPr/>
        </p:nvSpPr>
        <p:spPr>
          <a:xfrm>
            <a:off x="9409176" y="5404104"/>
            <a:ext cx="1847088" cy="27432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880" b="1">
                <a:solidFill>
                  <a:srgbClr val="C23B3B"/>
                </a:solidFill>
                <a:latin typeface="Noto Sans CJK SC"/>
                <a:ea typeface="Noto Sans CJK SC"/>
                <a:cs typeface="Noto Sans CJK SC"/>
              </a:rPr>
              <a:t>状态错误</a:t>
            </a:r>
            <a:endParaRPr sz="880"/>
          </a:p>
          <a:p>
            <a:pPr marL="0" indent="0" algn="ctr">
              <a:buNone/>
            </a:pPr>
            <a:r>
              <a:rPr sz="880" b="1">
                <a:solidFill>
                  <a:srgbClr val="C23B3B"/>
                </a:solidFill>
                <a:latin typeface="Noto Sans CJK SC"/>
                <a:ea typeface="Noto Sans CJK SC"/>
                <a:cs typeface="Noto Sans CJK SC"/>
              </a:rPr>
              <a:t>资金与履约损失</a:t>
            </a:r>
            <a:endParaRPr sz="880"/>
          </a:p>
        </p:txBody>
      </p:sp>
      <p:sp>
        <p:nvSpPr>
          <p:cNvPr id="85" name="Shape 83"/>
          <p:cNvSpPr>
            <a:spLocks noGrp="1"/>
          </p:cNvSpPr>
          <p:nvPr/>
        </p:nvSpPr>
        <p:spPr>
          <a:xfrm>
            <a:off x="749808" y="6044184"/>
            <a:ext cx="10698480" cy="256032"/>
          </a:xfrm>
          <a:prstGeom prst="roundRect">
            <a:avLst/>
          </a:prstGeom>
          <a:solidFill>
            <a:srgbClr val="DDE7E4"/>
          </a:solidFill>
          <a:ln w="6350">
            <a:solidFill>
              <a:srgbClr val="DDE7E4"/>
            </a:solidFill>
            <a:prstDash val="solid"/>
          </a:ln>
        </p:spPr>
        <p:txBody>
          <a:bodyPr/>
          <a:lstStyle/>
          <a:p/>
        </p:txBody>
      </p:sp>
      <p:sp>
        <p:nvSpPr>
          <p:cNvPr id="86" name="Shape 84"/>
          <p:cNvSpPr>
            <a:spLocks noGrp="1"/>
          </p:cNvSpPr>
          <p:nvPr/>
        </p:nvSpPr>
        <p:spPr>
          <a:xfrm>
            <a:off x="749808" y="6044184"/>
            <a:ext cx="2743200" cy="256032"/>
          </a:xfrm>
          <a:prstGeom prst="roundRect">
            <a:avLst/>
          </a:prstGeom>
          <a:solidFill>
            <a:srgbClr val="E8F7F1"/>
          </a:solidFill>
          <a:ln w="6350">
            <a:solidFill>
              <a:srgbClr val="07966F"/>
            </a:solidFill>
            <a:prstDash val="solid"/>
          </a:ln>
        </p:spPr>
        <p:txBody>
          <a:bodyPr/>
          <a:lstStyle/>
          <a:p/>
        </p:txBody>
      </p:sp>
      <p:sp>
        <p:nvSpPr>
          <p:cNvPr id="87" name="Shape 85"/>
          <p:cNvSpPr>
            <a:spLocks noGrp="1"/>
          </p:cNvSpPr>
          <p:nvPr/>
        </p:nvSpPr>
        <p:spPr>
          <a:xfrm>
            <a:off x="3337560" y="6044184"/>
            <a:ext cx="2743200" cy="256032"/>
          </a:xfrm>
          <a:prstGeom prst="roundRect">
            <a:avLst/>
          </a:prstGeom>
          <a:solidFill>
            <a:srgbClr val="EAF2FF"/>
          </a:solidFill>
          <a:ln w="6350">
            <a:solidFill>
              <a:srgbClr val="2F7DEB"/>
            </a:solidFill>
            <a:prstDash val="solid"/>
          </a:ln>
        </p:spPr>
        <p:txBody>
          <a:bodyPr/>
          <a:lstStyle/>
          <a:p/>
        </p:txBody>
      </p:sp>
      <p:sp>
        <p:nvSpPr>
          <p:cNvPr id="88" name="Shape 86"/>
          <p:cNvSpPr>
            <a:spLocks noGrp="1"/>
          </p:cNvSpPr>
          <p:nvPr/>
        </p:nvSpPr>
        <p:spPr>
          <a:xfrm>
            <a:off x="5925312" y="6044184"/>
            <a:ext cx="2743200" cy="256032"/>
          </a:xfrm>
          <a:prstGeom prst="roundRect">
            <a:avLst/>
          </a:prstGeom>
          <a:solidFill>
            <a:srgbClr val="FFF7DF"/>
          </a:solidFill>
          <a:ln w="6350">
            <a:solidFill>
              <a:srgbClr val="E9AA18"/>
            </a:solidFill>
            <a:prstDash val="solid"/>
          </a:ln>
        </p:spPr>
        <p:txBody>
          <a:bodyPr/>
          <a:lstStyle/>
          <a:p/>
        </p:txBody>
      </p:sp>
      <p:sp>
        <p:nvSpPr>
          <p:cNvPr id="89" name="Shape 87"/>
          <p:cNvSpPr>
            <a:spLocks noGrp="1"/>
          </p:cNvSpPr>
          <p:nvPr/>
        </p:nvSpPr>
        <p:spPr>
          <a:xfrm>
            <a:off x="8513064" y="6044184"/>
            <a:ext cx="2935224" cy="256032"/>
          </a:xfrm>
          <a:prstGeom prst="roundRect">
            <a:avLst/>
          </a:prstGeom>
          <a:solidFill>
            <a:srgbClr val="FDEBEC"/>
          </a:solidFill>
          <a:ln w="6350">
            <a:solidFill>
              <a:srgbClr val="E45858"/>
            </a:solidFill>
            <a:prstDash val="solid"/>
          </a:ln>
        </p:spPr>
        <p:txBody>
          <a:bodyPr/>
          <a:lstStyle/>
          <a:p/>
        </p:txBody>
      </p:sp>
      <p:sp>
        <p:nvSpPr>
          <p:cNvPr id="90" name="Text 88"/>
          <p:cNvSpPr>
            <a:spLocks noGrp="1"/>
          </p:cNvSpPr>
          <p:nvPr/>
        </p:nvSpPr>
        <p:spPr>
          <a:xfrm>
            <a:off x="4297680" y="6035040"/>
            <a:ext cx="3566160" cy="27432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920" b="1">
                <a:solidFill>
                  <a:srgbClr val="163B36"/>
                </a:solidFill>
                <a:latin typeface="Noto Sans CJK SC"/>
                <a:ea typeface="Noto Sans CJK SC"/>
                <a:cs typeface="Noto Sans CJK SC"/>
              </a:rPr>
              <a:t>第 5 类：2 个附属增强场景（情绪 / 善意），随主场景生效</a:t>
            </a:r>
            <a:endParaRPr sz="920"/>
          </a:p>
        </p:txBody>
      </p:sp>
      <p:sp>
        <p:nvSpPr>
          <p:cNvPr id="91" name="Rectangle 90"/>
          <p:cNvSpPr>
            <a:spLocks noGrp="1"/>
          </p:cNvSpPr>
          <p:nvPr/>
        </p:nvSpPr>
        <p:spPr>
          <a:xfrm>
            <a:off x="0" y="0"/>
            <a:ext cx="41148" cy="6858000"/>
          </a:xfrm>
          <a:prstGeom prst="rect">
            <a:avLst/>
          </a:prstGeom>
          <a:solidFill>
            <a:srgbClr val="0A8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92" name="圆角矩形 91"/>
          <p:cNvSpPr>
            <a:spLocks noGrp="1"/>
          </p:cNvSpPr>
          <p:nvPr/>
        </p:nvSpPr>
        <p:spPr>
          <a:xfrm>
            <a:off x="6565583" y="127635"/>
            <a:ext cx="4937760" cy="365760"/>
          </a:xfrm>
          <a:prstGeom prst="roundRect">
            <a:avLst>
              <a:gd name="adj" fmla="val 20833"/>
            </a:avLst>
          </a:prstGeom>
          <a:solidFill>
            <a:srgbClr val="F7FBF9"/>
          </a:solidFill>
          <a:ln w="12668">
            <a:solidFill>
              <a:srgbClr val="F7FBF9"/>
            </a:solidFill>
            <a:prstDash val="solid"/>
          </a:ln>
        </p:spPr>
        <p:txBody>
          <a:bodyPr/>
          <a:p/>
        </p:txBody>
      </p:sp>
      <p:sp>
        <p:nvSpPr>
          <p:cNvPr id="93" name="圆角矩形 92"/>
          <p:cNvSpPr>
            <a:spLocks noGrp="1"/>
          </p:cNvSpPr>
          <p:nvPr/>
        </p:nvSpPr>
        <p:spPr>
          <a:xfrm>
            <a:off x="6657023" y="164783"/>
            <a:ext cx="1154430" cy="264795"/>
          </a:xfrm>
          <a:prstGeom prst="roundRect">
            <a:avLst>
              <a:gd name="adj" fmla="val 28777"/>
            </a:avLst>
          </a:prstGeom>
          <a:solidFill>
            <a:srgbClr val="007574"/>
          </a:solidFill>
          <a:ln w="12668">
            <a:solidFill>
              <a:srgbClr val="007574"/>
            </a:solidFill>
            <a:prstDash val="solid"/>
          </a:ln>
        </p:spPr>
        <p:txBody>
          <a:bodyPr/>
          <a:p/>
        </p:txBody>
      </p:sp>
      <p:sp>
        <p:nvSpPr>
          <p:cNvPr id="94" name="矩形 93"/>
          <p:cNvSpPr>
            <a:spLocks noGrp="1"/>
          </p:cNvSpPr>
          <p:nvPr/>
        </p:nvSpPr>
        <p:spPr>
          <a:xfrm>
            <a:off x="6657023" y="187643"/>
            <a:ext cx="1154430" cy="182880"/>
          </a:xfrm>
          <a:prstGeom prst="rect">
            <a:avLst/>
          </a:prstGeom>
        </p:spPr>
        <p:txBody>
          <a:bodyPr anchor="ctr"/>
          <a:lstStyle/>
          <a:p>
            <a:pPr algn="ctr">
              <a:defRPr sz="660" b="1">
                <a:solidFill>
                  <a:srgbClr val="FFFFFF"/>
                </a:solidFill>
              </a:defRPr>
            </a:pPr>
            <a:r>
              <a:t>理解</a:t>
            </a:r>
          </a:p>
        </p:txBody>
      </p:sp>
      <p:sp>
        <p:nvSpPr>
          <p:cNvPr id="95" name="圆角矩形 94"/>
          <p:cNvSpPr>
            <a:spLocks noGrp="1"/>
          </p:cNvSpPr>
          <p:nvPr/>
        </p:nvSpPr>
        <p:spPr>
          <a:xfrm>
            <a:off x="7857173" y="164783"/>
            <a:ext cx="1154430" cy="264795"/>
          </a:xfrm>
          <a:prstGeom prst="roundRect">
            <a:avLst>
              <a:gd name="adj" fmla="val 28777"/>
            </a:avLst>
          </a:prstGeom>
          <a:solidFill>
            <a:srgbClr val="007574"/>
          </a:solidFill>
          <a:ln w="12668">
            <a:solidFill>
              <a:srgbClr val="007574"/>
            </a:solidFill>
            <a:prstDash val="solid"/>
          </a:ln>
        </p:spPr>
        <p:txBody>
          <a:bodyPr/>
          <a:p/>
        </p:txBody>
      </p:sp>
      <p:sp>
        <p:nvSpPr>
          <p:cNvPr id="96" name="矩形 95"/>
          <p:cNvSpPr>
            <a:spLocks noGrp="1"/>
          </p:cNvSpPr>
          <p:nvPr/>
        </p:nvSpPr>
        <p:spPr>
          <a:xfrm>
            <a:off x="7857173" y="187643"/>
            <a:ext cx="1154430" cy="182880"/>
          </a:xfrm>
          <a:prstGeom prst="rect">
            <a:avLst/>
          </a:prstGeom>
        </p:spPr>
        <p:txBody>
          <a:bodyPr anchor="ctr"/>
          <a:lstStyle/>
          <a:p>
            <a:pPr algn="ctr">
              <a:defRPr sz="660" b="1">
                <a:solidFill>
                  <a:srgbClr val="FFFFFF"/>
                </a:solidFill>
              </a:defRPr>
            </a:pPr>
            <a:r>
              <a:t>查询</a:t>
            </a:r>
          </a:p>
        </p:txBody>
      </p:sp>
      <p:sp>
        <p:nvSpPr>
          <p:cNvPr id="97" name="圆角矩形 96"/>
          <p:cNvSpPr>
            <a:spLocks noGrp="1"/>
          </p:cNvSpPr>
          <p:nvPr/>
        </p:nvSpPr>
        <p:spPr>
          <a:xfrm>
            <a:off x="9057323" y="164783"/>
            <a:ext cx="1154430" cy="264795"/>
          </a:xfrm>
          <a:prstGeom prst="roundRect">
            <a:avLst>
              <a:gd name="adj" fmla="val 28777"/>
            </a:avLst>
          </a:prstGeom>
          <a:solidFill>
            <a:srgbClr val="007574"/>
          </a:solidFill>
          <a:ln w="12668">
            <a:solidFill>
              <a:srgbClr val="007574"/>
            </a:solidFill>
            <a:prstDash val="solid"/>
          </a:ln>
        </p:spPr>
        <p:txBody>
          <a:bodyPr/>
          <a:p/>
        </p:txBody>
      </p:sp>
      <p:sp>
        <p:nvSpPr>
          <p:cNvPr id="98" name="矩形 97"/>
          <p:cNvSpPr>
            <a:spLocks noGrp="1"/>
          </p:cNvSpPr>
          <p:nvPr/>
        </p:nvSpPr>
        <p:spPr>
          <a:xfrm>
            <a:off x="9057323" y="187643"/>
            <a:ext cx="1154430" cy="182880"/>
          </a:xfrm>
          <a:prstGeom prst="rect">
            <a:avLst/>
          </a:prstGeom>
        </p:spPr>
        <p:txBody>
          <a:bodyPr anchor="ctr"/>
          <a:lstStyle/>
          <a:p>
            <a:pPr algn="ctr">
              <a:defRPr sz="660" b="1">
                <a:solidFill>
                  <a:srgbClr val="FFFFFF"/>
                </a:solidFill>
              </a:defRPr>
            </a:pPr>
            <a:r>
              <a:t>决策</a:t>
            </a:r>
          </a:p>
        </p:txBody>
      </p:sp>
      <p:sp>
        <p:nvSpPr>
          <p:cNvPr id="99" name="圆角矩形 98"/>
          <p:cNvSpPr>
            <a:spLocks noGrp="1"/>
          </p:cNvSpPr>
          <p:nvPr/>
        </p:nvSpPr>
        <p:spPr>
          <a:xfrm>
            <a:off x="10257473" y="164783"/>
            <a:ext cx="1154430" cy="264795"/>
          </a:xfrm>
          <a:prstGeom prst="roundRect">
            <a:avLst>
              <a:gd name="adj" fmla="val 28777"/>
            </a:avLst>
          </a:prstGeom>
          <a:solidFill>
            <a:srgbClr val="007574"/>
          </a:solidFill>
          <a:ln w="12668">
            <a:solidFill>
              <a:srgbClr val="007574"/>
            </a:solidFill>
            <a:prstDash val="solid"/>
          </a:ln>
        </p:spPr>
        <p:txBody>
          <a:bodyPr/>
          <a:p/>
        </p:txBody>
      </p:sp>
      <p:sp>
        <p:nvSpPr>
          <p:cNvPr id="100" name="矩形 99"/>
          <p:cNvSpPr>
            <a:spLocks noGrp="1"/>
          </p:cNvSpPr>
          <p:nvPr/>
        </p:nvSpPr>
        <p:spPr>
          <a:xfrm>
            <a:off x="10257473" y="187643"/>
            <a:ext cx="1154430" cy="182880"/>
          </a:xfrm>
          <a:prstGeom prst="rect">
            <a:avLst/>
          </a:prstGeom>
        </p:spPr>
        <p:txBody>
          <a:bodyPr anchor="ctr"/>
          <a:lstStyle/>
          <a:p>
            <a:pPr algn="ctr">
              <a:defRPr sz="660" b="1">
                <a:solidFill>
                  <a:srgbClr val="FFFFFF"/>
                </a:solidFill>
              </a:defRPr>
            </a:pPr>
            <a:r>
              <a:t>执行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>
            <a:spLocks noGrp="1"/>
          </p:cNvSpPr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" name="Rectangle 2"/>
          <p:cNvSpPr>
            <a:spLocks noGrp="1"/>
          </p:cNvSpPr>
          <p:nvPr/>
        </p:nvSpPr>
        <p:spPr>
          <a:xfrm>
            <a:off x="0" y="0"/>
            <a:ext cx="41148" cy="6858000"/>
          </a:xfrm>
          <a:prstGeom prst="rect">
            <a:avLst/>
          </a:prstGeom>
          <a:solidFill>
            <a:srgbClr val="0A8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4" name="Oval 3"/>
          <p:cNvSpPr>
            <a:spLocks noGrp="1"/>
          </p:cNvSpPr>
          <p:nvPr/>
        </p:nvSpPr>
        <p:spPr>
          <a:xfrm>
            <a:off x="658368" y="384048"/>
            <a:ext cx="73152" cy="73152"/>
          </a:xfrm>
          <a:prstGeom prst="ellipse">
            <a:avLst/>
          </a:prstGeom>
          <a:solidFill>
            <a:srgbClr val="0A8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5" name="Rectangle 4"/>
          <p:cNvSpPr>
            <a:spLocks noGrp="1"/>
          </p:cNvSpPr>
          <p:nvPr/>
        </p:nvSpPr>
        <p:spPr>
          <a:xfrm>
            <a:off x="768096" y="420624"/>
            <a:ext cx="411480" cy="16459"/>
          </a:xfrm>
          <a:prstGeom prst="rect">
            <a:avLst/>
          </a:prstGeom>
          <a:solidFill>
            <a:srgbClr val="0A8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6" name="TextBox 5"/>
          <p:cNvSpPr>
            <a:spLocks noGrp="1"/>
          </p:cNvSpPr>
          <p:nvPr/>
        </p:nvSpPr>
        <p:spPr>
          <a:xfrm>
            <a:off x="1225296" y="256032"/>
            <a:ext cx="36576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050" b="1">
                <a:solidFill>
                  <a:srgbClr val="076B50"/>
                </a:solidFill>
                <a:latin typeface="Noto Sans CJK SC"/>
                <a:ea typeface="Noto Sans CJK SC"/>
                <a:cs typeface="Noto Sans CJK SC"/>
              </a:rPr>
              <a:t>CHAPTER 2 · 场景与移交边界</a:t>
            </a:r>
            <a:endParaRPr sz="1050" b="1">
              <a:solidFill>
                <a:srgbClr val="0A8F6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" name="TextBox 6"/>
          <p:cNvSpPr>
            <a:spLocks noGrp="1"/>
          </p:cNvSpPr>
          <p:nvPr/>
        </p:nvSpPr>
        <p:spPr>
          <a:xfrm>
            <a:off x="658368" y="694944"/>
            <a:ext cx="1060704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2750" b="1">
                <a:solidFill>
                  <a:srgbClr val="14383E"/>
                </a:solidFill>
                <a:latin typeface="Noto Sans CJK SC"/>
                <a:ea typeface="Noto Sans CJK SC"/>
                <a:cs typeface="Noto Sans CJK SC"/>
              </a:rPr>
              <a:t>类型 × 风险矩阵</a:t>
            </a:r>
            <a:endParaRPr sz="2750" b="1">
              <a:solidFill>
                <a:srgbClr val="14383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8" name="TextBox 7"/>
          <p:cNvSpPr>
            <a:spLocks noGrp="1"/>
          </p:cNvSpPr>
          <p:nvPr/>
        </p:nvSpPr>
        <p:spPr>
          <a:xfrm>
            <a:off x="658368" y="1170432"/>
            <a:ext cx="1056132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1220" b="0">
                <a:solidFill>
                  <a:srgbClr val="44585C"/>
                </a:solidFill>
                <a:latin typeface="Noto Sans CJK SC"/>
                <a:ea typeface="Noto Sans CJK SC"/>
                <a:cs typeface="Noto Sans CJK SC"/>
              </a:rPr>
              <a:t>金额、客户确认和异常信号一变，同一个动作就可能从自动处理切到人工。</a:t>
            </a:r>
            <a:endParaRPr sz="1220" b="0">
              <a:solidFill>
                <a:srgbClr val="6B8185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9" name="Oval 8"/>
          <p:cNvSpPr>
            <a:spLocks noGrp="1"/>
          </p:cNvSpPr>
          <p:nvPr/>
        </p:nvSpPr>
        <p:spPr>
          <a:xfrm>
            <a:off x="10469880" y="45720"/>
            <a:ext cx="1554480" cy="749808"/>
          </a:xfrm>
          <a:prstGeom prst="ellipse">
            <a:avLst/>
          </a:prstGeom>
          <a:solidFill>
            <a:srgbClr val="EAF2FF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0" name="Oval 9"/>
          <p:cNvSpPr>
            <a:spLocks noGrp="1"/>
          </p:cNvSpPr>
          <p:nvPr/>
        </p:nvSpPr>
        <p:spPr>
          <a:xfrm>
            <a:off x="9838944" y="292608"/>
            <a:ext cx="64008" cy="64008"/>
          </a:xfrm>
          <a:prstGeom prst="ellipse">
            <a:avLst/>
          </a:prstGeom>
          <a:solidFill>
            <a:srgbClr val="C8D9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1" name="Oval 10"/>
          <p:cNvSpPr>
            <a:spLocks noGrp="1"/>
          </p:cNvSpPr>
          <p:nvPr/>
        </p:nvSpPr>
        <p:spPr>
          <a:xfrm>
            <a:off x="10049256" y="292608"/>
            <a:ext cx="64008" cy="64008"/>
          </a:xfrm>
          <a:prstGeom prst="ellipse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2" name="Oval 11"/>
          <p:cNvSpPr>
            <a:spLocks noGrp="1"/>
          </p:cNvSpPr>
          <p:nvPr/>
        </p:nvSpPr>
        <p:spPr>
          <a:xfrm>
            <a:off x="10259568" y="292608"/>
            <a:ext cx="64008" cy="64008"/>
          </a:xfrm>
          <a:prstGeom prst="ellipse">
            <a:avLst/>
          </a:prstGeom>
          <a:solidFill>
            <a:srgbClr val="C8D9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3" name="Oval 12"/>
          <p:cNvSpPr>
            <a:spLocks noGrp="1"/>
          </p:cNvSpPr>
          <p:nvPr/>
        </p:nvSpPr>
        <p:spPr>
          <a:xfrm>
            <a:off x="10469880" y="292608"/>
            <a:ext cx="64008" cy="64008"/>
          </a:xfrm>
          <a:prstGeom prst="ellipse">
            <a:avLst/>
          </a:prstGeom>
          <a:solidFill>
            <a:srgbClr val="C8D9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4" name="Oval 13"/>
          <p:cNvSpPr>
            <a:spLocks noGrp="1"/>
          </p:cNvSpPr>
          <p:nvPr/>
        </p:nvSpPr>
        <p:spPr>
          <a:xfrm>
            <a:off x="10680192" y="292608"/>
            <a:ext cx="64008" cy="64008"/>
          </a:xfrm>
          <a:prstGeom prst="ellipse">
            <a:avLst/>
          </a:prstGeom>
          <a:solidFill>
            <a:srgbClr val="C8D9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5" name="Oval 14"/>
          <p:cNvSpPr>
            <a:spLocks noGrp="1"/>
          </p:cNvSpPr>
          <p:nvPr/>
        </p:nvSpPr>
        <p:spPr>
          <a:xfrm>
            <a:off x="10890504" y="292608"/>
            <a:ext cx="64008" cy="64008"/>
          </a:xfrm>
          <a:prstGeom prst="ellipse">
            <a:avLst/>
          </a:prstGeom>
          <a:solidFill>
            <a:srgbClr val="C8D9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6" name="Oval 15"/>
          <p:cNvSpPr>
            <a:spLocks noGrp="1"/>
          </p:cNvSpPr>
          <p:nvPr/>
        </p:nvSpPr>
        <p:spPr>
          <a:xfrm>
            <a:off x="11100816" y="292608"/>
            <a:ext cx="64008" cy="64008"/>
          </a:xfrm>
          <a:prstGeom prst="ellipse">
            <a:avLst/>
          </a:prstGeom>
          <a:solidFill>
            <a:srgbClr val="C8D9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7" name="Oval 16"/>
          <p:cNvSpPr>
            <a:spLocks noGrp="1"/>
          </p:cNvSpPr>
          <p:nvPr/>
        </p:nvSpPr>
        <p:spPr>
          <a:xfrm>
            <a:off x="11311128" y="292608"/>
            <a:ext cx="64008" cy="64008"/>
          </a:xfrm>
          <a:prstGeom prst="ellipse">
            <a:avLst/>
          </a:prstGeom>
          <a:solidFill>
            <a:srgbClr val="C8D9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8" name="Rectangle 17"/>
          <p:cNvSpPr>
            <a:spLocks noGrp="1"/>
          </p:cNvSpPr>
          <p:nvPr/>
        </p:nvSpPr>
        <p:spPr>
          <a:xfrm>
            <a:off x="658368" y="6501384"/>
            <a:ext cx="10835640" cy="10972"/>
          </a:xfrm>
          <a:prstGeom prst="rect">
            <a:avLst/>
          </a:prstGeom>
          <a:solidFill>
            <a:srgbClr val="C9DC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9" name="TextBox 18"/>
          <p:cNvSpPr>
            <a:spLocks noGrp="1"/>
          </p:cNvSpPr>
          <p:nvPr/>
        </p:nvSpPr>
        <p:spPr>
          <a:xfrm>
            <a:off x="658368" y="6547104"/>
            <a:ext cx="237744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780" b="1">
                <a:solidFill>
                  <a:srgbClr val="5C7276"/>
                </a:solidFill>
                <a:latin typeface="Noto Sans CJK SC"/>
                <a:ea typeface="Noto Sans CJK SC"/>
                <a:cs typeface="Noto Sans CJK SC"/>
              </a:rPr>
              <a:t>CUSTOMER SERVICE AI AGENT</a:t>
            </a:r>
            <a:endParaRPr sz="780" b="1">
              <a:solidFill>
                <a:srgbClr val="98ACA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0" name="TextBox 19"/>
          <p:cNvSpPr>
            <a:spLocks noGrp="1"/>
          </p:cNvSpPr>
          <p:nvPr/>
        </p:nvSpPr>
        <p:spPr>
          <a:xfrm>
            <a:off x="10680192" y="6519672"/>
            <a:ext cx="82296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buNone/>
            </a:pPr>
            <a:r>
              <a:rPr sz="880" b="1">
                <a:solidFill>
                  <a:srgbClr val="076B50"/>
                </a:solidFill>
                <a:latin typeface="Noto Sans CJK SC"/>
                <a:ea typeface="Noto Sans CJK SC"/>
                <a:cs typeface="Noto Sans CJK SC"/>
              </a:rPr>
              <a:t>14</a:t>
            </a:r>
            <a:endParaRPr sz="880" b="1">
              <a:solidFill>
                <a:srgbClr val="0A8F6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1" name="Rounded Rectangle 20"/>
          <p:cNvSpPr>
            <a:spLocks noGrp="1"/>
          </p:cNvSpPr>
          <p:nvPr/>
        </p:nvSpPr>
        <p:spPr>
          <a:xfrm>
            <a:off x="1847088" y="1664208"/>
            <a:ext cx="2639568" cy="329184"/>
          </a:xfrm>
          <a:prstGeom prst="roundRect">
            <a:avLst/>
          </a:prstGeom>
          <a:solidFill>
            <a:srgbClr val="E8F6F0"/>
          </a:solidFill>
          <a:ln w="12700">
            <a:solidFill>
              <a:srgbClr val="0A8F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2" name="TextBox 21"/>
          <p:cNvSpPr>
            <a:spLocks noGrp="1"/>
          </p:cNvSpPr>
          <p:nvPr/>
        </p:nvSpPr>
        <p:spPr>
          <a:xfrm>
            <a:off x="1847088" y="1700784"/>
            <a:ext cx="2639568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980" b="1">
                <a:solidFill>
                  <a:srgbClr val="076B50"/>
                </a:solidFill>
                <a:latin typeface="Noto Sans CJK SC"/>
                <a:ea typeface="Noto Sans CJK SC"/>
                <a:cs typeface="Noto Sans CJK SC"/>
              </a:rPr>
              <a:t>低风险</a:t>
            </a:r>
            <a:endParaRPr sz="980" b="1">
              <a:solidFill>
                <a:srgbClr val="0A8F6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3" name="Rounded Rectangle 22"/>
          <p:cNvSpPr>
            <a:spLocks noGrp="1"/>
          </p:cNvSpPr>
          <p:nvPr/>
        </p:nvSpPr>
        <p:spPr>
          <a:xfrm>
            <a:off x="4578096" y="1664208"/>
            <a:ext cx="2639568" cy="329184"/>
          </a:xfrm>
          <a:prstGeom prst="roundRect">
            <a:avLst/>
          </a:prstGeom>
          <a:solidFill>
            <a:srgbClr val="FFF0E4"/>
          </a:solidFill>
          <a:ln w="12700">
            <a:solidFill>
              <a:srgbClr val="F28B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4" name="TextBox 23"/>
          <p:cNvSpPr>
            <a:spLocks noGrp="1"/>
          </p:cNvSpPr>
          <p:nvPr/>
        </p:nvSpPr>
        <p:spPr>
          <a:xfrm>
            <a:off x="4578096" y="1700784"/>
            <a:ext cx="2639568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980" b="1">
                <a:solidFill>
                  <a:srgbClr val="9A5210"/>
                </a:solidFill>
                <a:latin typeface="Noto Sans CJK SC"/>
                <a:ea typeface="Noto Sans CJK SC"/>
                <a:cs typeface="Noto Sans CJK SC"/>
              </a:rPr>
              <a:t>中风险</a:t>
            </a:r>
            <a:endParaRPr sz="980" b="1">
              <a:solidFill>
                <a:srgbClr val="F28B36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5" name="Rounded Rectangle 24"/>
          <p:cNvSpPr>
            <a:spLocks noGrp="1"/>
          </p:cNvSpPr>
          <p:nvPr/>
        </p:nvSpPr>
        <p:spPr>
          <a:xfrm>
            <a:off x="7309104" y="1664208"/>
            <a:ext cx="2639568" cy="329184"/>
          </a:xfrm>
          <a:prstGeom prst="roundRect">
            <a:avLst/>
          </a:prstGeom>
          <a:solidFill>
            <a:srgbClr val="FDECE9"/>
          </a:solidFill>
          <a:ln w="12700">
            <a:solidFill>
              <a:srgbClr val="E257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6" name="TextBox 25"/>
          <p:cNvSpPr>
            <a:spLocks noGrp="1"/>
          </p:cNvSpPr>
          <p:nvPr/>
        </p:nvSpPr>
        <p:spPr>
          <a:xfrm>
            <a:off x="7309104" y="1700784"/>
            <a:ext cx="2639568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980" b="1">
                <a:solidFill>
                  <a:srgbClr val="B8362C"/>
                </a:solidFill>
                <a:latin typeface="Noto Sans CJK SC"/>
                <a:ea typeface="Noto Sans CJK SC"/>
                <a:cs typeface="Noto Sans CJK SC"/>
              </a:rPr>
              <a:t>高风险</a:t>
            </a:r>
            <a:endParaRPr sz="980" b="1">
              <a:solidFill>
                <a:srgbClr val="E2574C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7" name="Rounded Rectangle 26"/>
          <p:cNvSpPr>
            <a:spLocks noGrp="1"/>
          </p:cNvSpPr>
          <p:nvPr/>
        </p:nvSpPr>
        <p:spPr>
          <a:xfrm>
            <a:off x="804672" y="2103120"/>
            <a:ext cx="932688" cy="84124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9D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8" name="Oval 27"/>
          <p:cNvSpPr>
            <a:spLocks noGrp="1"/>
          </p:cNvSpPr>
          <p:nvPr/>
        </p:nvSpPr>
        <p:spPr>
          <a:xfrm>
            <a:off x="1069848" y="2240279"/>
            <a:ext cx="329184" cy="329184"/>
          </a:xfrm>
          <a:prstGeom prst="ellipse">
            <a:avLst/>
          </a:prstGeom>
          <a:solidFill>
            <a:srgbClr val="8299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9" name="TextBox 28"/>
          <p:cNvSpPr>
            <a:spLocks noGrp="1"/>
          </p:cNvSpPr>
          <p:nvPr/>
        </p:nvSpPr>
        <p:spPr>
          <a:xfrm>
            <a:off x="1069848" y="2276856"/>
            <a:ext cx="329184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1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▣</a:t>
            </a:r>
            <a:endParaRPr sz="110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0" name="TextBox 29"/>
          <p:cNvSpPr>
            <a:spLocks noGrp="1"/>
          </p:cNvSpPr>
          <p:nvPr/>
        </p:nvSpPr>
        <p:spPr>
          <a:xfrm>
            <a:off x="877824" y="2633472"/>
            <a:ext cx="78638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870" b="1">
                <a:solidFill>
                  <a:srgbClr val="14383E"/>
                </a:solidFill>
                <a:latin typeface="Noto Sans CJK SC"/>
                <a:ea typeface="Noto Sans CJK SC"/>
                <a:cs typeface="Noto Sans CJK SC"/>
              </a:rPr>
              <a:t>知识问答</a:t>
            </a:r>
            <a:endParaRPr sz="870" b="1">
              <a:solidFill>
                <a:srgbClr val="14383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1" name="Rounded Rectangle 30"/>
          <p:cNvSpPr>
            <a:spLocks noGrp="1"/>
          </p:cNvSpPr>
          <p:nvPr/>
        </p:nvSpPr>
        <p:spPr>
          <a:xfrm>
            <a:off x="1847088" y="2103120"/>
            <a:ext cx="2639568" cy="841248"/>
          </a:xfrm>
          <a:prstGeom prst="roundRect">
            <a:avLst/>
          </a:prstGeom>
          <a:solidFill>
            <a:srgbClr val="E8F6F0"/>
          </a:solidFill>
          <a:ln w="12065">
            <a:solidFill>
              <a:srgbClr val="0A8F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2" name="TextBox 31"/>
          <p:cNvSpPr>
            <a:spLocks noGrp="1"/>
          </p:cNvSpPr>
          <p:nvPr/>
        </p:nvSpPr>
        <p:spPr>
          <a:xfrm>
            <a:off x="2011680" y="2322576"/>
            <a:ext cx="2310384" cy="41148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</a:pPr>
            <a:r>
              <a:rPr sz="1000" b="1">
                <a:solidFill>
                  <a:srgbClr val="14383E"/>
                </a:solidFill>
                <a:latin typeface="Noto Sans CJK SC"/>
                <a:ea typeface="Noto Sans CJK SC"/>
                <a:cs typeface="Noto Sans CJK SC"/>
              </a:rPr>
              <a:t>政策说明
产品护理</a:t>
            </a:r>
            <a:endParaRPr sz="1000" b="1">
              <a:solidFill>
                <a:srgbClr val="14383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3" name="Rounded Rectangle 32"/>
          <p:cNvSpPr>
            <a:spLocks noGrp="1"/>
          </p:cNvSpPr>
          <p:nvPr/>
        </p:nvSpPr>
        <p:spPr>
          <a:xfrm>
            <a:off x="4578096" y="2103120"/>
            <a:ext cx="2639568" cy="841248"/>
          </a:xfrm>
          <a:prstGeom prst="roundRect">
            <a:avLst/>
          </a:prstGeom>
          <a:solidFill>
            <a:srgbClr val="FFF0E4"/>
          </a:solidFill>
          <a:ln w="12065">
            <a:solidFill>
              <a:srgbClr val="F28B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4" name="TextBox 33"/>
          <p:cNvSpPr>
            <a:spLocks noGrp="1"/>
          </p:cNvSpPr>
          <p:nvPr/>
        </p:nvSpPr>
        <p:spPr>
          <a:xfrm>
            <a:off x="4742688" y="2322576"/>
            <a:ext cx="2310384" cy="41148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</a:pPr>
            <a:r>
              <a:rPr sz="1000" b="1">
                <a:solidFill>
                  <a:srgbClr val="14383E"/>
                </a:solidFill>
                <a:latin typeface="Noto Sans CJK SC"/>
                <a:ea typeface="Noto Sans CJK SC"/>
                <a:cs typeface="Noto Sans CJK SC"/>
              </a:rPr>
              <a:t>尺码建议
优惠判断</a:t>
            </a:r>
            <a:endParaRPr sz="1000" b="1">
              <a:solidFill>
                <a:srgbClr val="14383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5" name="Rounded Rectangle 34"/>
          <p:cNvSpPr>
            <a:spLocks noGrp="1"/>
          </p:cNvSpPr>
          <p:nvPr/>
        </p:nvSpPr>
        <p:spPr>
          <a:xfrm>
            <a:off x="7309104" y="2103120"/>
            <a:ext cx="2639568" cy="841248"/>
          </a:xfrm>
          <a:prstGeom prst="roundRect">
            <a:avLst/>
          </a:prstGeom>
          <a:solidFill>
            <a:srgbClr val="FDECE9"/>
          </a:solidFill>
          <a:ln w="12065">
            <a:solidFill>
              <a:srgbClr val="E257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6" name="TextBox 35"/>
          <p:cNvSpPr>
            <a:spLocks noGrp="1"/>
          </p:cNvSpPr>
          <p:nvPr/>
        </p:nvSpPr>
        <p:spPr>
          <a:xfrm>
            <a:off x="7473696" y="2322576"/>
            <a:ext cx="2310384" cy="41148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</a:pPr>
            <a:r>
              <a:rPr sz="1000" b="1">
                <a:solidFill>
                  <a:srgbClr val="14383E"/>
                </a:solidFill>
                <a:latin typeface="Noto Sans CJK SC"/>
                <a:ea typeface="Noto Sans CJK SC"/>
                <a:cs typeface="Noto Sans CJK SC"/>
              </a:rPr>
              <a:t>—</a:t>
            </a:r>
            <a:endParaRPr sz="1000" b="1">
              <a:solidFill>
                <a:srgbClr val="14383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7" name="Rounded Rectangle 36"/>
          <p:cNvSpPr>
            <a:spLocks noGrp="1"/>
          </p:cNvSpPr>
          <p:nvPr/>
        </p:nvSpPr>
        <p:spPr>
          <a:xfrm>
            <a:off x="804672" y="3035808"/>
            <a:ext cx="932688" cy="84124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9D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8" name="Oval 37"/>
          <p:cNvSpPr>
            <a:spLocks noGrp="1"/>
          </p:cNvSpPr>
          <p:nvPr/>
        </p:nvSpPr>
        <p:spPr>
          <a:xfrm>
            <a:off x="1069848" y="3172968"/>
            <a:ext cx="329184" cy="329184"/>
          </a:xfrm>
          <a:prstGeom prst="ellipse">
            <a:avLst/>
          </a:prstGeom>
          <a:solidFill>
            <a:srgbClr val="8299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9" name="TextBox 38"/>
          <p:cNvSpPr>
            <a:spLocks noGrp="1"/>
          </p:cNvSpPr>
          <p:nvPr/>
        </p:nvSpPr>
        <p:spPr>
          <a:xfrm>
            <a:off x="1069848" y="3209544"/>
            <a:ext cx="329184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1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⌕</a:t>
            </a:r>
            <a:endParaRPr sz="110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0" name="TextBox 39"/>
          <p:cNvSpPr>
            <a:spLocks noGrp="1"/>
          </p:cNvSpPr>
          <p:nvPr/>
        </p:nvSpPr>
        <p:spPr>
          <a:xfrm>
            <a:off x="877824" y="3566160"/>
            <a:ext cx="78638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870" b="1">
                <a:solidFill>
                  <a:srgbClr val="14383E"/>
                </a:solidFill>
                <a:latin typeface="Noto Sans CJK SC"/>
                <a:ea typeface="Noto Sans CJK SC"/>
                <a:cs typeface="Noto Sans CJK SC"/>
              </a:rPr>
              <a:t>状态查询</a:t>
            </a:r>
            <a:endParaRPr sz="870" b="1">
              <a:solidFill>
                <a:srgbClr val="14383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1" name="Rounded Rectangle 40"/>
          <p:cNvSpPr>
            <a:spLocks noGrp="1"/>
          </p:cNvSpPr>
          <p:nvPr/>
        </p:nvSpPr>
        <p:spPr>
          <a:xfrm>
            <a:off x="1847088" y="3035808"/>
            <a:ext cx="2639568" cy="841248"/>
          </a:xfrm>
          <a:prstGeom prst="roundRect">
            <a:avLst/>
          </a:prstGeom>
          <a:solidFill>
            <a:srgbClr val="E8F6F0"/>
          </a:solidFill>
          <a:ln w="12065">
            <a:solidFill>
              <a:srgbClr val="0A8F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42" name="TextBox 41"/>
          <p:cNvSpPr>
            <a:spLocks noGrp="1"/>
          </p:cNvSpPr>
          <p:nvPr/>
        </p:nvSpPr>
        <p:spPr>
          <a:xfrm>
            <a:off x="2011680" y="3255263"/>
            <a:ext cx="2310384" cy="41148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</a:pPr>
            <a:r>
              <a:rPr sz="1000" b="1">
                <a:solidFill>
                  <a:srgbClr val="14383E"/>
                </a:solidFill>
                <a:latin typeface="Noto Sans CJK SC"/>
                <a:ea typeface="Noto Sans CJK SC"/>
                <a:cs typeface="Noto Sans CJK SC"/>
              </a:rPr>
              <a:t>订单与物流
自动查询</a:t>
            </a:r>
            <a:endParaRPr sz="1000" b="1">
              <a:solidFill>
                <a:srgbClr val="14383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3" name="Rounded Rectangle 42"/>
          <p:cNvSpPr>
            <a:spLocks noGrp="1"/>
          </p:cNvSpPr>
          <p:nvPr/>
        </p:nvSpPr>
        <p:spPr>
          <a:xfrm>
            <a:off x="4578096" y="3035808"/>
            <a:ext cx="2639568" cy="841248"/>
          </a:xfrm>
          <a:prstGeom prst="roundRect">
            <a:avLst/>
          </a:prstGeom>
          <a:solidFill>
            <a:srgbClr val="FFF0E4"/>
          </a:solidFill>
          <a:ln w="12065">
            <a:solidFill>
              <a:srgbClr val="F28B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44" name="TextBox 43"/>
          <p:cNvSpPr>
            <a:spLocks noGrp="1"/>
          </p:cNvSpPr>
          <p:nvPr/>
        </p:nvSpPr>
        <p:spPr>
          <a:xfrm>
            <a:off x="4742688" y="3255263"/>
            <a:ext cx="2310384" cy="41148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</a:pPr>
            <a:r>
              <a:rPr sz="1000" b="1">
                <a:solidFill>
                  <a:srgbClr val="14383E"/>
                </a:solidFill>
                <a:latin typeface="Noto Sans CJK SC"/>
                <a:ea typeface="Noto Sans CJK SC"/>
                <a:cs typeface="Noto Sans CJK SC"/>
              </a:rPr>
              <a:t>退款状态
需核验</a:t>
            </a:r>
            <a:endParaRPr sz="1000" b="1">
              <a:solidFill>
                <a:srgbClr val="14383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5" name="Rounded Rectangle 44"/>
          <p:cNvSpPr>
            <a:spLocks noGrp="1"/>
          </p:cNvSpPr>
          <p:nvPr/>
        </p:nvSpPr>
        <p:spPr>
          <a:xfrm>
            <a:off x="7309104" y="3035808"/>
            <a:ext cx="2639568" cy="841248"/>
          </a:xfrm>
          <a:prstGeom prst="roundRect">
            <a:avLst/>
          </a:prstGeom>
          <a:solidFill>
            <a:srgbClr val="FDECE9"/>
          </a:solidFill>
          <a:ln w="12065">
            <a:solidFill>
              <a:srgbClr val="E257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46" name="TextBox 45"/>
          <p:cNvSpPr>
            <a:spLocks noGrp="1"/>
          </p:cNvSpPr>
          <p:nvPr/>
        </p:nvSpPr>
        <p:spPr>
          <a:xfrm>
            <a:off x="7473696" y="3255263"/>
            <a:ext cx="2310384" cy="41148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</a:pPr>
            <a:r>
              <a:rPr sz="1000" b="1">
                <a:solidFill>
                  <a:srgbClr val="14383E"/>
                </a:solidFill>
                <a:latin typeface="Noto Sans CJK SC"/>
                <a:ea typeface="Noto Sans CJK SC"/>
                <a:cs typeface="Noto Sans CJK SC"/>
              </a:rPr>
              <a:t>异常订单
转人工</a:t>
            </a:r>
            <a:endParaRPr sz="1000" b="1">
              <a:solidFill>
                <a:srgbClr val="14383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7" name="Rounded Rectangle 46"/>
          <p:cNvSpPr>
            <a:spLocks noGrp="1"/>
          </p:cNvSpPr>
          <p:nvPr/>
        </p:nvSpPr>
        <p:spPr>
          <a:xfrm>
            <a:off x="804672" y="3968496"/>
            <a:ext cx="932688" cy="84124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9D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48" name="Oval 47"/>
          <p:cNvSpPr>
            <a:spLocks noGrp="1"/>
          </p:cNvSpPr>
          <p:nvPr/>
        </p:nvSpPr>
        <p:spPr>
          <a:xfrm>
            <a:off x="1069848" y="4105656"/>
            <a:ext cx="329184" cy="329184"/>
          </a:xfrm>
          <a:prstGeom prst="ellipse">
            <a:avLst/>
          </a:prstGeom>
          <a:solidFill>
            <a:srgbClr val="8299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49" name="TextBox 48"/>
          <p:cNvSpPr>
            <a:spLocks noGrp="1"/>
          </p:cNvSpPr>
          <p:nvPr/>
        </p:nvSpPr>
        <p:spPr>
          <a:xfrm>
            <a:off x="1069848" y="4142232"/>
            <a:ext cx="329184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1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⚙</a:t>
            </a:r>
            <a:endParaRPr sz="110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0" name="TextBox 49"/>
          <p:cNvSpPr>
            <a:spLocks noGrp="1"/>
          </p:cNvSpPr>
          <p:nvPr/>
        </p:nvSpPr>
        <p:spPr>
          <a:xfrm>
            <a:off x="877824" y="4498848"/>
            <a:ext cx="78638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870" b="1">
                <a:solidFill>
                  <a:srgbClr val="14383E"/>
                </a:solidFill>
                <a:latin typeface="Noto Sans CJK SC"/>
                <a:ea typeface="Noto Sans CJK SC"/>
                <a:cs typeface="Noto Sans CJK SC"/>
              </a:rPr>
              <a:t>业务执行</a:t>
            </a:r>
            <a:endParaRPr sz="870" b="1">
              <a:solidFill>
                <a:srgbClr val="14383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1" name="Rounded Rectangle 50"/>
          <p:cNvSpPr>
            <a:spLocks noGrp="1"/>
          </p:cNvSpPr>
          <p:nvPr/>
        </p:nvSpPr>
        <p:spPr>
          <a:xfrm>
            <a:off x="1847088" y="3968496"/>
            <a:ext cx="2639568" cy="841248"/>
          </a:xfrm>
          <a:prstGeom prst="roundRect">
            <a:avLst/>
          </a:prstGeom>
          <a:solidFill>
            <a:srgbClr val="E8F6F0"/>
          </a:solidFill>
          <a:ln w="12065">
            <a:solidFill>
              <a:srgbClr val="0A8F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52" name="TextBox 51"/>
          <p:cNvSpPr>
            <a:spLocks noGrp="1"/>
          </p:cNvSpPr>
          <p:nvPr/>
        </p:nvSpPr>
        <p:spPr>
          <a:xfrm>
            <a:off x="2011680" y="4187952"/>
            <a:ext cx="2310384" cy="41148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</a:pPr>
            <a:r>
              <a:rPr sz="1000" b="1">
                <a:solidFill>
                  <a:srgbClr val="14383E"/>
                </a:solidFill>
                <a:latin typeface="Noto Sans CJK SC"/>
                <a:ea typeface="Noto Sans CJK SC"/>
                <a:cs typeface="Noto Sans CJK SC"/>
              </a:rPr>
              <a:t>标准退货
自动创建</a:t>
            </a:r>
            <a:endParaRPr sz="1000" b="1">
              <a:solidFill>
                <a:srgbClr val="14383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3" name="Rounded Rectangle 52"/>
          <p:cNvSpPr>
            <a:spLocks noGrp="1"/>
          </p:cNvSpPr>
          <p:nvPr/>
        </p:nvSpPr>
        <p:spPr>
          <a:xfrm>
            <a:off x="4578096" y="3968496"/>
            <a:ext cx="2639568" cy="841248"/>
          </a:xfrm>
          <a:prstGeom prst="roundRect">
            <a:avLst/>
          </a:prstGeom>
          <a:solidFill>
            <a:srgbClr val="FFF0E4"/>
          </a:solidFill>
          <a:ln w="12065">
            <a:solidFill>
              <a:srgbClr val="F28B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54" name="TextBox 53"/>
          <p:cNvSpPr>
            <a:spLocks noGrp="1"/>
          </p:cNvSpPr>
          <p:nvPr/>
        </p:nvSpPr>
        <p:spPr>
          <a:xfrm>
            <a:off x="4742688" y="4187952"/>
            <a:ext cx="2310384" cy="41148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</a:pPr>
            <a:r>
              <a:rPr sz="1000" b="1">
                <a:solidFill>
                  <a:srgbClr val="14383E"/>
                </a:solidFill>
                <a:latin typeface="Noto Sans CJK SC"/>
                <a:ea typeface="Noto Sans CJK SC"/>
                <a:cs typeface="Noto Sans CJK SC"/>
              </a:rPr>
              <a:t>地址修改
取消订单</a:t>
            </a:r>
            <a:endParaRPr sz="1000" b="1">
              <a:solidFill>
                <a:srgbClr val="14383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5" name="Rounded Rectangle 54"/>
          <p:cNvSpPr>
            <a:spLocks noGrp="1"/>
          </p:cNvSpPr>
          <p:nvPr/>
        </p:nvSpPr>
        <p:spPr>
          <a:xfrm>
            <a:off x="7309104" y="3968496"/>
            <a:ext cx="2639568" cy="841248"/>
          </a:xfrm>
          <a:prstGeom prst="roundRect">
            <a:avLst/>
          </a:prstGeom>
          <a:solidFill>
            <a:srgbClr val="FDECE9"/>
          </a:solidFill>
          <a:ln w="12065">
            <a:solidFill>
              <a:srgbClr val="E257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56" name="TextBox 55"/>
          <p:cNvSpPr>
            <a:spLocks noGrp="1"/>
          </p:cNvSpPr>
          <p:nvPr/>
        </p:nvSpPr>
        <p:spPr>
          <a:xfrm>
            <a:off x="7473696" y="4187952"/>
            <a:ext cx="2310384" cy="41148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</a:pPr>
            <a:r>
              <a:rPr sz="1000" b="1">
                <a:solidFill>
                  <a:srgbClr val="14383E"/>
                </a:solidFill>
                <a:latin typeface="Noto Sans CJK SC"/>
                <a:ea typeface="Noto Sans CJK SC"/>
                <a:cs typeface="Noto Sans CJK SC"/>
              </a:rPr>
              <a:t>退款补偿
人工负责</a:t>
            </a:r>
            <a:endParaRPr sz="1000" b="1">
              <a:solidFill>
                <a:srgbClr val="14383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7" name="Rounded Rectangle 56"/>
          <p:cNvSpPr>
            <a:spLocks noGrp="1"/>
          </p:cNvSpPr>
          <p:nvPr/>
        </p:nvSpPr>
        <p:spPr>
          <a:xfrm>
            <a:off x="804672" y="4901183"/>
            <a:ext cx="932688" cy="84124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9D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58" name="Oval 57"/>
          <p:cNvSpPr>
            <a:spLocks noGrp="1"/>
          </p:cNvSpPr>
          <p:nvPr/>
        </p:nvSpPr>
        <p:spPr>
          <a:xfrm>
            <a:off x="1069848" y="5038344"/>
            <a:ext cx="329184" cy="329184"/>
          </a:xfrm>
          <a:prstGeom prst="ellipse">
            <a:avLst/>
          </a:prstGeom>
          <a:solidFill>
            <a:srgbClr val="8299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59" name="TextBox 58"/>
          <p:cNvSpPr>
            <a:spLocks noGrp="1"/>
          </p:cNvSpPr>
          <p:nvPr/>
        </p:nvSpPr>
        <p:spPr>
          <a:xfrm>
            <a:off x="1069848" y="5074920"/>
            <a:ext cx="329184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1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◎</a:t>
            </a:r>
            <a:endParaRPr sz="110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0" name="TextBox 59"/>
          <p:cNvSpPr>
            <a:spLocks noGrp="1"/>
          </p:cNvSpPr>
          <p:nvPr/>
        </p:nvSpPr>
        <p:spPr>
          <a:xfrm>
            <a:off x="877824" y="5431536"/>
            <a:ext cx="78638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870" b="1">
                <a:solidFill>
                  <a:srgbClr val="14383E"/>
                </a:solidFill>
                <a:latin typeface="Noto Sans CJK SC"/>
                <a:ea typeface="Noto Sans CJK SC"/>
                <a:cs typeface="Noto Sans CJK SC"/>
              </a:rPr>
              <a:t>异常协同</a:t>
            </a:r>
            <a:endParaRPr sz="870" b="1">
              <a:solidFill>
                <a:srgbClr val="14383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1" name="Rounded Rectangle 60"/>
          <p:cNvSpPr>
            <a:spLocks noGrp="1"/>
          </p:cNvSpPr>
          <p:nvPr/>
        </p:nvSpPr>
        <p:spPr>
          <a:xfrm>
            <a:off x="1847088" y="4901183"/>
            <a:ext cx="2639568" cy="841248"/>
          </a:xfrm>
          <a:prstGeom prst="roundRect">
            <a:avLst/>
          </a:prstGeom>
          <a:solidFill>
            <a:srgbClr val="E8F6F0"/>
          </a:solidFill>
          <a:ln w="12065">
            <a:solidFill>
              <a:srgbClr val="0A8F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62" name="TextBox 61"/>
          <p:cNvSpPr>
            <a:spLocks noGrp="1"/>
          </p:cNvSpPr>
          <p:nvPr/>
        </p:nvSpPr>
        <p:spPr>
          <a:xfrm>
            <a:off x="2011680" y="5120640"/>
            <a:ext cx="2310384" cy="41148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</a:pPr>
            <a:r>
              <a:rPr sz="1000" b="1">
                <a:solidFill>
                  <a:srgbClr val="14383E"/>
                </a:solidFill>
                <a:latin typeface="Noto Sans CJK SC"/>
                <a:ea typeface="Noto Sans CJK SC"/>
                <a:cs typeface="Noto Sans CJK SC"/>
              </a:rPr>
              <a:t>普通转接</a:t>
            </a:r>
            <a:endParaRPr sz="1000" b="1">
              <a:solidFill>
                <a:srgbClr val="14383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3" name="Rounded Rectangle 62"/>
          <p:cNvSpPr>
            <a:spLocks noGrp="1"/>
          </p:cNvSpPr>
          <p:nvPr/>
        </p:nvSpPr>
        <p:spPr>
          <a:xfrm>
            <a:off x="4578096" y="4901183"/>
            <a:ext cx="2639568" cy="841248"/>
          </a:xfrm>
          <a:prstGeom prst="roundRect">
            <a:avLst/>
          </a:prstGeom>
          <a:solidFill>
            <a:srgbClr val="FFF0E4"/>
          </a:solidFill>
          <a:ln w="12065">
            <a:solidFill>
              <a:srgbClr val="F28B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64" name="TextBox 63"/>
          <p:cNvSpPr>
            <a:spLocks noGrp="1"/>
          </p:cNvSpPr>
          <p:nvPr/>
        </p:nvSpPr>
        <p:spPr>
          <a:xfrm>
            <a:off x="4742688" y="5120640"/>
            <a:ext cx="2310384" cy="41148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</a:pPr>
            <a:r>
              <a:rPr sz="1000" b="1">
                <a:solidFill>
                  <a:srgbClr val="14383E"/>
                </a:solidFill>
                <a:latin typeface="Noto Sans CJK SC"/>
                <a:ea typeface="Noto Sans CJK SC"/>
                <a:cs typeface="Noto Sans CJK SC"/>
              </a:rPr>
              <a:t>跨系统异常</a:t>
            </a:r>
            <a:endParaRPr sz="1000" b="1">
              <a:solidFill>
                <a:srgbClr val="14383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5" name="Rounded Rectangle 64"/>
          <p:cNvSpPr>
            <a:spLocks noGrp="1"/>
          </p:cNvSpPr>
          <p:nvPr/>
        </p:nvSpPr>
        <p:spPr>
          <a:xfrm>
            <a:off x="7309104" y="4901183"/>
            <a:ext cx="2639568" cy="841248"/>
          </a:xfrm>
          <a:prstGeom prst="roundRect">
            <a:avLst/>
          </a:prstGeom>
          <a:solidFill>
            <a:srgbClr val="FDECE9"/>
          </a:solidFill>
          <a:ln w="12065">
            <a:solidFill>
              <a:srgbClr val="E257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66" name="TextBox 65"/>
          <p:cNvSpPr>
            <a:spLocks noGrp="1"/>
          </p:cNvSpPr>
          <p:nvPr/>
        </p:nvSpPr>
        <p:spPr>
          <a:xfrm>
            <a:off x="7473696" y="5120640"/>
            <a:ext cx="2310384" cy="41148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</a:pPr>
            <a:r>
              <a:rPr sz="1000" b="1">
                <a:solidFill>
                  <a:srgbClr val="14383E"/>
                </a:solidFill>
                <a:latin typeface="Noto Sans CJK SC"/>
                <a:ea typeface="Noto Sans CJK SC"/>
                <a:cs typeface="Noto Sans CJK SC"/>
              </a:rPr>
              <a:t>投诉升级
内部协作</a:t>
            </a:r>
            <a:endParaRPr sz="1000" b="1">
              <a:solidFill>
                <a:srgbClr val="14383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7" name="Rounded Rectangle 66"/>
          <p:cNvSpPr>
            <a:spLocks noGrp="1"/>
          </p:cNvSpPr>
          <p:nvPr/>
        </p:nvSpPr>
        <p:spPr>
          <a:xfrm>
            <a:off x="1847088" y="5559552"/>
            <a:ext cx="2639568" cy="329184"/>
          </a:xfrm>
          <a:prstGeom prst="roundRect">
            <a:avLst/>
          </a:prstGeom>
          <a:solidFill>
            <a:srgbClr val="E8F6F0"/>
          </a:solidFill>
          <a:ln w="12700">
            <a:solidFill>
              <a:srgbClr val="0A8F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68" name="TextBox 67"/>
          <p:cNvSpPr>
            <a:spLocks noGrp="1"/>
          </p:cNvSpPr>
          <p:nvPr/>
        </p:nvSpPr>
        <p:spPr>
          <a:xfrm>
            <a:off x="1847088" y="5596128"/>
            <a:ext cx="2639568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880" b="1">
                <a:solidFill>
                  <a:srgbClr val="076B50"/>
                </a:solidFill>
                <a:latin typeface="Noto Sans CJK SC"/>
                <a:ea typeface="Noto Sans CJK SC"/>
                <a:cs typeface="Noto Sans CJK SC"/>
              </a:rPr>
              <a:t>自动处理</a:t>
            </a:r>
            <a:endParaRPr sz="880" b="1">
              <a:solidFill>
                <a:srgbClr val="0A8F6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9" name="Rounded Rectangle 68"/>
          <p:cNvSpPr>
            <a:spLocks noGrp="1"/>
          </p:cNvSpPr>
          <p:nvPr/>
        </p:nvSpPr>
        <p:spPr>
          <a:xfrm>
            <a:off x="4578096" y="5559552"/>
            <a:ext cx="2639568" cy="329184"/>
          </a:xfrm>
          <a:prstGeom prst="roundRect">
            <a:avLst/>
          </a:prstGeom>
          <a:solidFill>
            <a:srgbClr val="FFF0E4"/>
          </a:solidFill>
          <a:ln w="12700">
            <a:solidFill>
              <a:srgbClr val="F28B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70" name="TextBox 69"/>
          <p:cNvSpPr>
            <a:spLocks noGrp="1"/>
          </p:cNvSpPr>
          <p:nvPr/>
        </p:nvSpPr>
        <p:spPr>
          <a:xfrm>
            <a:off x="4578096" y="5596128"/>
            <a:ext cx="2639568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880" b="1">
                <a:solidFill>
                  <a:srgbClr val="9A5210"/>
                </a:solidFill>
                <a:latin typeface="Noto Sans CJK SC"/>
                <a:ea typeface="Noto Sans CJK SC"/>
                <a:cs typeface="Noto Sans CJK SC"/>
              </a:rPr>
              <a:t>确认后执行</a:t>
            </a:r>
            <a:endParaRPr sz="880" b="1">
              <a:solidFill>
                <a:srgbClr val="F28B36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1" name="Rounded Rectangle 70"/>
          <p:cNvSpPr>
            <a:spLocks noGrp="1"/>
          </p:cNvSpPr>
          <p:nvPr/>
        </p:nvSpPr>
        <p:spPr>
          <a:xfrm>
            <a:off x="7309104" y="5559552"/>
            <a:ext cx="2639568" cy="329184"/>
          </a:xfrm>
          <a:prstGeom prst="roundRect">
            <a:avLst/>
          </a:prstGeom>
          <a:solidFill>
            <a:srgbClr val="FDECE9"/>
          </a:solidFill>
          <a:ln w="12700">
            <a:solidFill>
              <a:srgbClr val="E257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72" name="TextBox 71"/>
          <p:cNvSpPr>
            <a:spLocks noGrp="1"/>
          </p:cNvSpPr>
          <p:nvPr/>
        </p:nvSpPr>
        <p:spPr>
          <a:xfrm>
            <a:off x="7309104" y="5596128"/>
            <a:ext cx="2639568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880" b="1">
                <a:solidFill>
                  <a:srgbClr val="B8362C"/>
                </a:solidFill>
                <a:latin typeface="Noto Sans CJK SC"/>
                <a:ea typeface="Noto Sans CJK SC"/>
                <a:cs typeface="Noto Sans CJK SC"/>
              </a:rPr>
              <a:t>人工处理 / 内部协作</a:t>
            </a:r>
            <a:endParaRPr sz="880" b="1">
              <a:solidFill>
                <a:srgbClr val="E2574C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3" name="Rounded Rectangle 72"/>
          <p:cNvSpPr>
            <a:spLocks noGrp="1"/>
          </p:cNvSpPr>
          <p:nvPr/>
        </p:nvSpPr>
        <p:spPr>
          <a:xfrm>
            <a:off x="1847088" y="5989320"/>
            <a:ext cx="8101583" cy="32918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9D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74" name="TextBox 73"/>
          <p:cNvSpPr>
            <a:spLocks noGrp="1"/>
          </p:cNvSpPr>
          <p:nvPr/>
        </p:nvSpPr>
        <p:spPr>
          <a:xfrm>
            <a:off x="1965960" y="6035040"/>
            <a:ext cx="786384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860" b="1">
                <a:solidFill>
                  <a:srgbClr val="44585C"/>
                </a:solidFill>
                <a:latin typeface="Noto Sans CJK SC"/>
                <a:ea typeface="Noto Sans CJK SC"/>
                <a:cs typeface="Noto Sans CJK SC"/>
              </a:rPr>
              <a:t>运行时风险变化：订单状态　·　金额　·　客户确认　·　异常信号</a:t>
            </a:r>
            <a:endParaRPr sz="860" b="1">
              <a:solidFill>
                <a:srgbClr val="6B8185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5" name="Rectangle 74"/>
          <p:cNvSpPr>
            <a:spLocks noGrp="1"/>
          </p:cNvSpPr>
          <p:nvPr/>
        </p:nvSpPr>
        <p:spPr>
          <a:xfrm>
            <a:off x="0" y="0"/>
            <a:ext cx="41148" cy="6858000"/>
          </a:xfrm>
          <a:prstGeom prst="rect">
            <a:avLst/>
          </a:prstGeom>
          <a:solidFill>
            <a:srgbClr val="0A8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76" name="圆角矩形 75"/>
          <p:cNvSpPr>
            <a:spLocks noGrp="1"/>
          </p:cNvSpPr>
          <p:nvPr/>
        </p:nvSpPr>
        <p:spPr>
          <a:xfrm>
            <a:off x="6565583" y="127635"/>
            <a:ext cx="4937760" cy="365760"/>
          </a:xfrm>
          <a:prstGeom prst="roundRect">
            <a:avLst>
              <a:gd name="adj" fmla="val 20833"/>
            </a:avLst>
          </a:prstGeom>
          <a:solidFill>
            <a:srgbClr val="F7FBF9"/>
          </a:solidFill>
          <a:ln w="12668">
            <a:solidFill>
              <a:srgbClr val="F7FBF9"/>
            </a:solidFill>
            <a:prstDash val="solid"/>
          </a:ln>
        </p:spPr>
        <p:txBody>
          <a:bodyPr/>
          <a:p/>
        </p:txBody>
      </p:sp>
      <p:sp>
        <p:nvSpPr>
          <p:cNvPr id="77" name="圆角矩形 76"/>
          <p:cNvSpPr>
            <a:spLocks noGrp="1"/>
          </p:cNvSpPr>
          <p:nvPr/>
        </p:nvSpPr>
        <p:spPr>
          <a:xfrm>
            <a:off x="6657023" y="164783"/>
            <a:ext cx="1154430" cy="264795"/>
          </a:xfrm>
          <a:prstGeom prst="roundRect">
            <a:avLst>
              <a:gd name="adj" fmla="val 28777"/>
            </a:avLst>
          </a:prstGeom>
          <a:solidFill>
            <a:srgbClr val="007574"/>
          </a:solidFill>
          <a:ln w="12668">
            <a:solidFill>
              <a:srgbClr val="007574"/>
            </a:solidFill>
            <a:prstDash val="solid"/>
          </a:ln>
        </p:spPr>
        <p:txBody>
          <a:bodyPr/>
          <a:p/>
        </p:txBody>
      </p:sp>
      <p:sp>
        <p:nvSpPr>
          <p:cNvPr id="78" name="矩形 77"/>
          <p:cNvSpPr>
            <a:spLocks noGrp="1"/>
          </p:cNvSpPr>
          <p:nvPr/>
        </p:nvSpPr>
        <p:spPr>
          <a:xfrm>
            <a:off x="6657023" y="187643"/>
            <a:ext cx="1154430" cy="182880"/>
          </a:xfrm>
          <a:prstGeom prst="rect">
            <a:avLst/>
          </a:prstGeom>
        </p:spPr>
        <p:txBody>
          <a:bodyPr anchor="ctr"/>
          <a:lstStyle/>
          <a:p>
            <a:pPr algn="ctr">
              <a:defRPr sz="660" b="1">
                <a:solidFill>
                  <a:srgbClr val="FFFFFF"/>
                </a:solidFill>
              </a:defRPr>
            </a:pPr>
            <a:r>
              <a:t>理解</a:t>
            </a:r>
          </a:p>
        </p:txBody>
      </p:sp>
      <p:sp>
        <p:nvSpPr>
          <p:cNvPr id="79" name="圆角矩形 78"/>
          <p:cNvSpPr>
            <a:spLocks noGrp="1"/>
          </p:cNvSpPr>
          <p:nvPr/>
        </p:nvSpPr>
        <p:spPr>
          <a:xfrm>
            <a:off x="7857173" y="164783"/>
            <a:ext cx="1154430" cy="264795"/>
          </a:xfrm>
          <a:prstGeom prst="roundRect">
            <a:avLst>
              <a:gd name="adj" fmla="val 28777"/>
            </a:avLst>
          </a:prstGeom>
          <a:solidFill>
            <a:srgbClr val="007574"/>
          </a:solidFill>
          <a:ln w="12668">
            <a:solidFill>
              <a:srgbClr val="007574"/>
            </a:solidFill>
            <a:prstDash val="solid"/>
          </a:ln>
        </p:spPr>
        <p:txBody>
          <a:bodyPr/>
          <a:p/>
        </p:txBody>
      </p:sp>
      <p:sp>
        <p:nvSpPr>
          <p:cNvPr id="80" name="矩形 79"/>
          <p:cNvSpPr>
            <a:spLocks noGrp="1"/>
          </p:cNvSpPr>
          <p:nvPr/>
        </p:nvSpPr>
        <p:spPr>
          <a:xfrm>
            <a:off x="7857173" y="187643"/>
            <a:ext cx="1154430" cy="182880"/>
          </a:xfrm>
          <a:prstGeom prst="rect">
            <a:avLst/>
          </a:prstGeom>
        </p:spPr>
        <p:txBody>
          <a:bodyPr anchor="ctr"/>
          <a:lstStyle/>
          <a:p>
            <a:pPr algn="ctr">
              <a:defRPr sz="660" b="1">
                <a:solidFill>
                  <a:srgbClr val="FFFFFF"/>
                </a:solidFill>
              </a:defRPr>
            </a:pPr>
            <a:r>
              <a:t>查询</a:t>
            </a:r>
          </a:p>
        </p:txBody>
      </p:sp>
      <p:sp>
        <p:nvSpPr>
          <p:cNvPr id="81" name="圆角矩形 80"/>
          <p:cNvSpPr>
            <a:spLocks noGrp="1"/>
          </p:cNvSpPr>
          <p:nvPr/>
        </p:nvSpPr>
        <p:spPr>
          <a:xfrm>
            <a:off x="9057323" y="164783"/>
            <a:ext cx="1154430" cy="264795"/>
          </a:xfrm>
          <a:prstGeom prst="roundRect">
            <a:avLst>
              <a:gd name="adj" fmla="val 28777"/>
            </a:avLst>
          </a:prstGeom>
          <a:solidFill>
            <a:srgbClr val="007574"/>
          </a:solidFill>
          <a:ln w="12668">
            <a:solidFill>
              <a:srgbClr val="007574"/>
            </a:solidFill>
            <a:prstDash val="solid"/>
          </a:ln>
        </p:spPr>
        <p:txBody>
          <a:bodyPr/>
          <a:p/>
        </p:txBody>
      </p:sp>
      <p:sp>
        <p:nvSpPr>
          <p:cNvPr id="82" name="矩形 81"/>
          <p:cNvSpPr>
            <a:spLocks noGrp="1"/>
          </p:cNvSpPr>
          <p:nvPr/>
        </p:nvSpPr>
        <p:spPr>
          <a:xfrm>
            <a:off x="9057323" y="187643"/>
            <a:ext cx="1154430" cy="182880"/>
          </a:xfrm>
          <a:prstGeom prst="rect">
            <a:avLst/>
          </a:prstGeom>
        </p:spPr>
        <p:txBody>
          <a:bodyPr anchor="ctr"/>
          <a:lstStyle/>
          <a:p>
            <a:pPr algn="ctr">
              <a:defRPr sz="660" b="1">
                <a:solidFill>
                  <a:srgbClr val="FFFFFF"/>
                </a:solidFill>
              </a:defRPr>
            </a:pPr>
            <a:r>
              <a:t>决策</a:t>
            </a:r>
          </a:p>
        </p:txBody>
      </p:sp>
      <p:sp>
        <p:nvSpPr>
          <p:cNvPr id="83" name="圆角矩形 82"/>
          <p:cNvSpPr>
            <a:spLocks noGrp="1"/>
          </p:cNvSpPr>
          <p:nvPr/>
        </p:nvSpPr>
        <p:spPr>
          <a:xfrm>
            <a:off x="10257473" y="164783"/>
            <a:ext cx="1154430" cy="264795"/>
          </a:xfrm>
          <a:prstGeom prst="roundRect">
            <a:avLst>
              <a:gd name="adj" fmla="val 28777"/>
            </a:avLst>
          </a:prstGeom>
          <a:solidFill>
            <a:srgbClr val="007574"/>
          </a:solidFill>
          <a:ln w="12668">
            <a:solidFill>
              <a:srgbClr val="007574"/>
            </a:solidFill>
            <a:prstDash val="solid"/>
          </a:ln>
        </p:spPr>
        <p:txBody>
          <a:bodyPr/>
          <a:p/>
        </p:txBody>
      </p:sp>
      <p:sp>
        <p:nvSpPr>
          <p:cNvPr id="84" name="矩形 83"/>
          <p:cNvSpPr>
            <a:spLocks noGrp="1"/>
          </p:cNvSpPr>
          <p:nvPr/>
        </p:nvSpPr>
        <p:spPr>
          <a:xfrm>
            <a:off x="10257473" y="187643"/>
            <a:ext cx="1154430" cy="182880"/>
          </a:xfrm>
          <a:prstGeom prst="rect">
            <a:avLst/>
          </a:prstGeom>
        </p:spPr>
        <p:txBody>
          <a:bodyPr anchor="ctr"/>
          <a:lstStyle/>
          <a:p>
            <a:pPr algn="ctr">
              <a:defRPr sz="660" b="1">
                <a:solidFill>
                  <a:srgbClr val="FFFFFF"/>
                </a:solidFill>
              </a:defRPr>
            </a:pPr>
            <a:r>
              <a:t>执行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hape 0"/>
          <p:cNvSpPr>
            <a:spLocks noGrp="1"/>
          </p:cNvSpPr>
          <p:nvPr/>
        </p:nvSpPr>
        <p:spPr>
          <a:xfrm>
            <a:off x="16459" y="16459"/>
            <a:ext cx="38405" cy="6825082"/>
          </a:xfrm>
          <a:prstGeom prst="rect">
            <a:avLst/>
          </a:prstGeom>
          <a:solidFill>
            <a:srgbClr val="0A8F6A"/>
          </a:solidFill>
          <a:ln w="12700">
            <a:solidFill>
              <a:srgbClr val="2F80ED"/>
            </a:solidFill>
            <a:prstDash val="solid"/>
          </a:ln>
        </p:spPr>
        <p:txBody>
          <a:bodyPr/>
          <a:lstStyle/>
          <a:p/>
        </p:txBody>
      </p:sp>
      <p:sp>
        <p:nvSpPr>
          <p:cNvPr id="4" name="Shape 2"/>
          <p:cNvSpPr>
            <a:spLocks noGrp="1"/>
          </p:cNvSpPr>
          <p:nvPr/>
        </p:nvSpPr>
        <p:spPr>
          <a:xfrm>
            <a:off x="10104120" y="73152"/>
            <a:ext cx="1874520" cy="1353312"/>
          </a:xfrm>
          <a:prstGeom prst="ellipse">
            <a:avLst/>
          </a:prstGeom>
          <a:solidFill>
            <a:srgbClr val="E8F7F1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/>
        </p:txBody>
      </p:sp>
      <p:sp>
        <p:nvSpPr>
          <p:cNvPr id="5" name="Shape 3"/>
          <p:cNvSpPr>
            <a:spLocks noGrp="1"/>
          </p:cNvSpPr>
          <p:nvPr/>
        </p:nvSpPr>
        <p:spPr>
          <a:xfrm>
            <a:off x="91440" y="5596128"/>
            <a:ext cx="1719072" cy="1051560"/>
          </a:xfrm>
          <a:prstGeom prst="ellipse">
            <a:avLst/>
          </a:prstGeom>
          <a:solidFill>
            <a:srgbClr val="FFF2E8">
              <a:alpha val="68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/>
        </p:txBody>
      </p:sp>
      <p:sp>
        <p:nvSpPr>
          <p:cNvPr id="6" name="Shape 4"/>
          <p:cNvSpPr>
            <a:spLocks noGrp="1"/>
          </p:cNvSpPr>
          <p:nvPr/>
        </p:nvSpPr>
        <p:spPr>
          <a:xfrm>
            <a:off x="658368" y="393192"/>
            <a:ext cx="68580" cy="68580"/>
          </a:xfrm>
          <a:prstGeom prst="ellipse">
            <a:avLst/>
          </a:prstGeom>
          <a:solidFill>
            <a:srgbClr val="0A8F6A"/>
          </a:solidFill>
          <a:ln w="12700">
            <a:solidFill>
              <a:srgbClr val="2F80ED"/>
            </a:solidFill>
            <a:prstDash val="solid"/>
          </a:ln>
        </p:spPr>
        <p:txBody>
          <a:bodyPr/>
          <a:lstStyle/>
          <a:p/>
        </p:txBody>
      </p:sp>
      <p:sp>
        <p:nvSpPr>
          <p:cNvPr id="7" name="Shape 5"/>
          <p:cNvSpPr>
            <a:spLocks noGrp="1"/>
          </p:cNvSpPr>
          <p:nvPr/>
        </p:nvSpPr>
        <p:spPr>
          <a:xfrm>
            <a:off x="768096" y="427939"/>
            <a:ext cx="411480" cy="0"/>
          </a:xfrm>
          <a:prstGeom prst="line">
            <a:avLst/>
          </a:prstGeom>
          <a:noFill/>
          <a:ln w="15875">
            <a:solidFill>
              <a:srgbClr val="0A8F6A"/>
            </a:solidFill>
            <a:prstDash val="solid"/>
          </a:ln>
        </p:spPr>
        <p:txBody>
          <a:bodyPr/>
          <a:lstStyle/>
          <a:p/>
        </p:txBody>
      </p:sp>
      <p:sp>
        <p:nvSpPr>
          <p:cNvPr id="8" name="Text 6"/>
          <p:cNvSpPr>
            <a:spLocks noGrp="1"/>
          </p:cNvSpPr>
          <p:nvPr/>
        </p:nvSpPr>
        <p:spPr>
          <a:xfrm>
            <a:off x="1234440" y="265176"/>
            <a:ext cx="2331720" cy="31089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r>
              <a:rPr sz="1050" b="1">
                <a:solidFill>
                  <a:srgbClr val="076B50"/>
                </a:solidFill>
                <a:latin typeface="Noto Sans CJK SC"/>
                <a:ea typeface="Noto Sans CJK SC"/>
                <a:cs typeface="Noto Sans CJK SC"/>
              </a:rPr>
              <a:t>CHAPTER 2 · 场景与移交边界</a:t>
            </a:r>
            <a:endParaRPr sz="1050" b="1">
              <a:solidFill>
                <a:srgbClr val="0A8F6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9" name="Shape 7"/>
          <p:cNvSpPr>
            <a:spLocks noGrp="1"/>
          </p:cNvSpPr>
          <p:nvPr/>
        </p:nvSpPr>
        <p:spPr>
          <a:xfrm>
            <a:off x="9829800" y="301752"/>
            <a:ext cx="68580" cy="68580"/>
          </a:xfrm>
          <a:prstGeom prst="ellipse">
            <a:avLst/>
          </a:prstGeom>
          <a:solidFill>
            <a:srgbClr val="C7DAD6"/>
          </a:solidFill>
          <a:ln w="12700">
            <a:solidFill>
              <a:srgbClr val="C7DAD6"/>
            </a:solidFill>
            <a:prstDash val="solid"/>
          </a:ln>
        </p:spPr>
        <p:txBody>
          <a:bodyPr/>
          <a:lstStyle/>
          <a:p/>
        </p:txBody>
      </p:sp>
      <p:sp>
        <p:nvSpPr>
          <p:cNvPr id="10" name="Shape 8"/>
          <p:cNvSpPr>
            <a:spLocks noGrp="1"/>
          </p:cNvSpPr>
          <p:nvPr/>
        </p:nvSpPr>
        <p:spPr>
          <a:xfrm>
            <a:off x="10040112" y="301752"/>
            <a:ext cx="68580" cy="68580"/>
          </a:xfrm>
          <a:prstGeom prst="ellipse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  <p:txBody>
          <a:bodyPr/>
          <a:lstStyle/>
          <a:p/>
        </p:txBody>
      </p:sp>
      <p:sp>
        <p:nvSpPr>
          <p:cNvPr id="11" name="Shape 9"/>
          <p:cNvSpPr>
            <a:spLocks noGrp="1"/>
          </p:cNvSpPr>
          <p:nvPr/>
        </p:nvSpPr>
        <p:spPr>
          <a:xfrm>
            <a:off x="10250424" y="301752"/>
            <a:ext cx="68580" cy="68580"/>
          </a:xfrm>
          <a:prstGeom prst="ellipse">
            <a:avLst/>
          </a:prstGeom>
          <a:solidFill>
            <a:srgbClr val="C7DAD6"/>
          </a:solidFill>
          <a:ln w="12700">
            <a:solidFill>
              <a:srgbClr val="C7DAD6"/>
            </a:solidFill>
            <a:prstDash val="solid"/>
          </a:ln>
        </p:spPr>
        <p:txBody>
          <a:bodyPr/>
          <a:lstStyle/>
          <a:p/>
        </p:txBody>
      </p:sp>
      <p:sp>
        <p:nvSpPr>
          <p:cNvPr id="12" name="Shape 10"/>
          <p:cNvSpPr>
            <a:spLocks noGrp="1"/>
          </p:cNvSpPr>
          <p:nvPr/>
        </p:nvSpPr>
        <p:spPr>
          <a:xfrm>
            <a:off x="10460736" y="301752"/>
            <a:ext cx="68580" cy="68580"/>
          </a:xfrm>
          <a:prstGeom prst="ellipse">
            <a:avLst/>
          </a:prstGeom>
          <a:solidFill>
            <a:srgbClr val="C7DAD6"/>
          </a:solidFill>
          <a:ln w="12700">
            <a:solidFill>
              <a:srgbClr val="C7DAD6"/>
            </a:solidFill>
            <a:prstDash val="solid"/>
          </a:ln>
        </p:spPr>
        <p:txBody>
          <a:bodyPr/>
          <a:lstStyle/>
          <a:p/>
        </p:txBody>
      </p:sp>
      <p:sp>
        <p:nvSpPr>
          <p:cNvPr id="13" name="Shape 11"/>
          <p:cNvSpPr>
            <a:spLocks noGrp="1"/>
          </p:cNvSpPr>
          <p:nvPr/>
        </p:nvSpPr>
        <p:spPr>
          <a:xfrm>
            <a:off x="10671048" y="301752"/>
            <a:ext cx="68580" cy="68580"/>
          </a:xfrm>
          <a:prstGeom prst="ellipse">
            <a:avLst/>
          </a:prstGeom>
          <a:solidFill>
            <a:srgbClr val="C7DAD6"/>
          </a:solidFill>
          <a:ln w="12700">
            <a:solidFill>
              <a:srgbClr val="C7DAD6"/>
            </a:solidFill>
            <a:prstDash val="solid"/>
          </a:ln>
        </p:spPr>
        <p:txBody>
          <a:bodyPr/>
          <a:lstStyle/>
          <a:p/>
        </p:txBody>
      </p:sp>
      <p:sp>
        <p:nvSpPr>
          <p:cNvPr id="14" name="Shape 12"/>
          <p:cNvSpPr>
            <a:spLocks noGrp="1"/>
          </p:cNvSpPr>
          <p:nvPr/>
        </p:nvSpPr>
        <p:spPr>
          <a:xfrm>
            <a:off x="10881360" y="301752"/>
            <a:ext cx="68580" cy="68580"/>
          </a:xfrm>
          <a:prstGeom prst="ellipse">
            <a:avLst/>
          </a:prstGeom>
          <a:solidFill>
            <a:srgbClr val="C7DAD6"/>
          </a:solidFill>
          <a:ln w="12700">
            <a:solidFill>
              <a:srgbClr val="C7DAD6"/>
            </a:solidFill>
            <a:prstDash val="solid"/>
          </a:ln>
        </p:spPr>
        <p:txBody>
          <a:bodyPr/>
          <a:lstStyle/>
          <a:p/>
        </p:txBody>
      </p:sp>
      <p:sp>
        <p:nvSpPr>
          <p:cNvPr id="15" name="Shape 13"/>
          <p:cNvSpPr>
            <a:spLocks noGrp="1"/>
          </p:cNvSpPr>
          <p:nvPr/>
        </p:nvSpPr>
        <p:spPr>
          <a:xfrm>
            <a:off x="11091672" y="301752"/>
            <a:ext cx="68580" cy="68580"/>
          </a:xfrm>
          <a:prstGeom prst="ellipse">
            <a:avLst/>
          </a:prstGeom>
          <a:solidFill>
            <a:srgbClr val="C7DAD6"/>
          </a:solidFill>
          <a:ln w="12700">
            <a:solidFill>
              <a:srgbClr val="C7DAD6"/>
            </a:solidFill>
            <a:prstDash val="solid"/>
          </a:ln>
        </p:spPr>
        <p:txBody>
          <a:bodyPr/>
          <a:lstStyle/>
          <a:p/>
        </p:txBody>
      </p:sp>
      <p:sp>
        <p:nvSpPr>
          <p:cNvPr id="16" name="Shape 14"/>
          <p:cNvSpPr>
            <a:spLocks noGrp="1"/>
          </p:cNvSpPr>
          <p:nvPr/>
        </p:nvSpPr>
        <p:spPr>
          <a:xfrm>
            <a:off x="11301984" y="301752"/>
            <a:ext cx="68580" cy="68580"/>
          </a:xfrm>
          <a:prstGeom prst="ellipse">
            <a:avLst/>
          </a:prstGeom>
          <a:solidFill>
            <a:srgbClr val="C7DAD6"/>
          </a:solidFill>
          <a:ln w="12700">
            <a:solidFill>
              <a:srgbClr val="C7DAD6"/>
            </a:solidFill>
            <a:prstDash val="solid"/>
          </a:ln>
        </p:spPr>
        <p:txBody>
          <a:bodyPr/>
          <a:lstStyle/>
          <a:p/>
        </p:txBody>
      </p:sp>
      <p:sp>
        <p:nvSpPr>
          <p:cNvPr id="17" name="Text 15"/>
          <p:cNvSpPr>
            <a:spLocks noGrp="1"/>
          </p:cNvSpPr>
          <p:nvPr/>
        </p:nvSpPr>
        <p:spPr>
          <a:xfrm>
            <a:off x="658368" y="713232"/>
            <a:ext cx="10652760" cy="49377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2550" b="1">
                <a:solidFill>
                  <a:srgbClr val="14383E"/>
                </a:solidFill>
                <a:latin typeface="Noto Sans CJK SC"/>
                <a:ea typeface="Noto Sans CJK SC"/>
                <a:cs typeface="Noto Sans CJK SC"/>
              </a:rPr>
              <a:t>处理权评估的六个维度</a:t>
            </a:r>
            <a:endParaRPr sz="2550"/>
          </a:p>
        </p:txBody>
      </p:sp>
      <p:sp>
        <p:nvSpPr>
          <p:cNvPr id="18" name="Text 16"/>
          <p:cNvSpPr>
            <a:spLocks noGrp="1"/>
          </p:cNvSpPr>
          <p:nvPr/>
        </p:nvSpPr>
        <p:spPr>
          <a:xfrm>
            <a:off x="658368" y="1197864"/>
            <a:ext cx="10469880" cy="29260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1120">
                <a:solidFill>
                  <a:srgbClr val="44585C"/>
                </a:solidFill>
                <a:latin typeface="Noto Sans CJK SC"/>
                <a:ea typeface="Noto Sans CJK SC"/>
                <a:cs typeface="Noto Sans CJK SC"/>
              </a:rPr>
              <a:t>先看出错后果和控制条件，再看模型能不能做好。</a:t>
            </a:r>
            <a:endParaRPr sz="1120"/>
          </a:p>
        </p:txBody>
      </p:sp>
      <p:sp>
        <p:nvSpPr>
          <p:cNvPr id="19" name="Shape 17"/>
          <p:cNvSpPr>
            <a:spLocks noGrp="1"/>
          </p:cNvSpPr>
          <p:nvPr/>
        </p:nvSpPr>
        <p:spPr>
          <a:xfrm>
            <a:off x="658368" y="6510528"/>
            <a:ext cx="10835640" cy="0"/>
          </a:xfrm>
          <a:prstGeom prst="line">
            <a:avLst/>
          </a:prstGeom>
          <a:noFill/>
          <a:ln w="11430">
            <a:solidFill>
              <a:srgbClr val="D7E7E3"/>
            </a:solidFill>
            <a:prstDash val="solid"/>
          </a:ln>
        </p:spPr>
        <p:txBody>
          <a:bodyPr/>
          <a:lstStyle/>
          <a:p/>
        </p:txBody>
      </p:sp>
      <p:sp>
        <p:nvSpPr>
          <p:cNvPr id="20" name="Text 18"/>
          <p:cNvSpPr>
            <a:spLocks noGrp="1"/>
          </p:cNvSpPr>
          <p:nvPr/>
        </p:nvSpPr>
        <p:spPr>
          <a:xfrm>
            <a:off x="658368" y="6556248"/>
            <a:ext cx="2103120" cy="16459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750" b="1" spc="40">
                <a:solidFill>
                  <a:srgbClr val="5C7276"/>
                </a:solidFill>
                <a:latin typeface="Noto Sans CJK SC"/>
                <a:ea typeface="Noto Sans CJK SC"/>
                <a:cs typeface="Noto Sans CJK SC"/>
              </a:rPr>
              <a:t>CUSTOMER SERVICE AI AGENT</a:t>
            </a:r>
            <a:endParaRPr sz="750"/>
          </a:p>
        </p:txBody>
      </p:sp>
      <p:sp>
        <p:nvSpPr>
          <p:cNvPr id="21" name="Text 19"/>
          <p:cNvSpPr>
            <a:spLocks noGrp="1"/>
          </p:cNvSpPr>
          <p:nvPr/>
        </p:nvSpPr>
        <p:spPr>
          <a:xfrm>
            <a:off x="10698480" y="6519672"/>
            <a:ext cx="749808" cy="21945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</a:pPr>
            <a:r>
              <a:rPr sz="880" b="1">
                <a:solidFill>
                  <a:srgbClr val="076B50"/>
                </a:solidFill>
                <a:latin typeface="Noto Sans CJK SC"/>
                <a:ea typeface="Noto Sans CJK SC"/>
                <a:cs typeface="Noto Sans CJK SC"/>
              </a:rPr>
              <a:t>15</a:t>
            </a:r>
            <a:endParaRPr sz="880" b="1">
              <a:solidFill>
                <a:srgbClr val="0A8F6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2" name="Shape 20"/>
          <p:cNvSpPr>
            <a:spLocks noGrp="1"/>
          </p:cNvSpPr>
          <p:nvPr/>
        </p:nvSpPr>
        <p:spPr>
          <a:xfrm>
            <a:off x="822960" y="1645920"/>
            <a:ext cx="7543800" cy="4462272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BFD9D4"/>
            </a:solidFill>
            <a:prstDash val="solid"/>
          </a:ln>
          <a:effectLst>
            <a:outerShdw blurRad="27940" dist="50800" dir="2700000" algn="bl" rotWithShape="0">
              <a:srgbClr val="436264">
                <a:alpha val="12000"/>
              </a:srgbClr>
            </a:outerShdw>
          </a:effectLst>
        </p:spPr>
        <p:txBody>
          <a:bodyPr/>
          <a:lstStyle/>
          <a:p/>
        </p:txBody>
      </p:sp>
      <p:sp>
        <p:nvSpPr>
          <p:cNvPr id="23" name="Text 21"/>
          <p:cNvSpPr>
            <a:spLocks noGrp="1"/>
          </p:cNvSpPr>
          <p:nvPr/>
        </p:nvSpPr>
        <p:spPr>
          <a:xfrm>
            <a:off x="1069848" y="1856232"/>
            <a:ext cx="2011680" cy="26517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1430" b="1">
                <a:solidFill>
                  <a:srgbClr val="14383E"/>
                </a:solidFill>
                <a:latin typeface="Noto Sans CJK SC"/>
                <a:ea typeface="Noto Sans CJK SC"/>
                <a:cs typeface="Noto Sans CJK SC"/>
              </a:rPr>
              <a:t>场景评估面板</a:t>
            </a:r>
            <a:endParaRPr sz="1430"/>
          </a:p>
        </p:txBody>
      </p:sp>
      <p:sp>
        <p:nvSpPr>
          <p:cNvPr id="24" name="Shape 22"/>
          <p:cNvSpPr>
            <a:spLocks noGrp="1"/>
          </p:cNvSpPr>
          <p:nvPr/>
        </p:nvSpPr>
        <p:spPr>
          <a:xfrm>
            <a:off x="1078992" y="2331720"/>
            <a:ext cx="3163824" cy="841248"/>
          </a:xfrm>
          <a:prstGeom prst="roundRect">
            <a:avLst>
              <a:gd name="adj" fmla="val 17391"/>
            </a:avLst>
          </a:prstGeom>
          <a:solidFill>
            <a:srgbClr val="EAF3FF"/>
          </a:solidFill>
          <a:ln w="12700">
            <a:solidFill>
              <a:srgbClr val="2F80ED"/>
            </a:solidFill>
            <a:prstDash val="solid"/>
          </a:ln>
        </p:spPr>
        <p:txBody>
          <a:bodyPr/>
          <a:lstStyle/>
          <a:p/>
        </p:txBody>
      </p:sp>
      <p:sp>
        <p:nvSpPr>
          <p:cNvPr id="25" name="Shape 23"/>
          <p:cNvSpPr>
            <a:spLocks noGrp="1"/>
          </p:cNvSpPr>
          <p:nvPr/>
        </p:nvSpPr>
        <p:spPr>
          <a:xfrm>
            <a:off x="1207008" y="2514600"/>
            <a:ext cx="329184" cy="329184"/>
          </a:xfrm>
          <a:prstGeom prst="ellipse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  <p:txBody>
          <a:bodyPr/>
          <a:lstStyle/>
          <a:p/>
        </p:txBody>
      </p:sp>
      <p:pic>
        <p:nvPicPr>
          <p:cNvPr id="145" name="Image 0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302471" y="2610063"/>
            <a:ext cx="138257" cy="138257"/>
          </a:xfrm>
          <a:prstGeom prst="rect">
            <a:avLst/>
          </a:prstGeom>
        </p:spPr>
      </p:pic>
      <p:sp>
        <p:nvSpPr>
          <p:cNvPr id="27" name="Text 24"/>
          <p:cNvSpPr>
            <a:spLocks noGrp="1"/>
          </p:cNvSpPr>
          <p:nvPr/>
        </p:nvSpPr>
        <p:spPr>
          <a:xfrm>
            <a:off x="1627632" y="2468880"/>
            <a:ext cx="1325880" cy="20116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1040" b="1">
                <a:solidFill>
                  <a:srgbClr val="14383E"/>
                </a:solidFill>
                <a:latin typeface="Noto Sans CJK SC"/>
                <a:ea typeface="Noto Sans CJK SC"/>
                <a:cs typeface="Noto Sans CJK SC"/>
              </a:rPr>
              <a:t>错误可逆性</a:t>
            </a:r>
            <a:endParaRPr sz="1040"/>
          </a:p>
        </p:txBody>
      </p:sp>
      <p:sp>
        <p:nvSpPr>
          <p:cNvPr id="28" name="Text 25"/>
          <p:cNvSpPr>
            <a:spLocks noGrp="1"/>
          </p:cNvSpPr>
          <p:nvPr/>
        </p:nvSpPr>
        <p:spPr>
          <a:xfrm>
            <a:off x="1627632" y="2734056"/>
            <a:ext cx="2304288" cy="20116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850">
                <a:solidFill>
                  <a:srgbClr val="44585C"/>
                </a:solidFill>
                <a:latin typeface="Noto Sans CJK SC"/>
                <a:ea typeface="Noto Sans CJK SC"/>
                <a:cs typeface="Noto Sans CJK SC"/>
              </a:rPr>
              <a:t>能否撤销或恢复</a:t>
            </a:r>
            <a:endParaRPr sz="850"/>
          </a:p>
        </p:txBody>
      </p:sp>
      <p:sp>
        <p:nvSpPr>
          <p:cNvPr id="29" name="Shape 26"/>
          <p:cNvSpPr>
            <a:spLocks noGrp="1"/>
          </p:cNvSpPr>
          <p:nvPr/>
        </p:nvSpPr>
        <p:spPr>
          <a:xfrm>
            <a:off x="3602736" y="2615184"/>
            <a:ext cx="91440" cy="91440"/>
          </a:xfrm>
          <a:prstGeom prst="ellipse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  <p:txBody>
          <a:bodyPr/>
          <a:lstStyle/>
          <a:p/>
        </p:txBody>
      </p:sp>
      <p:sp>
        <p:nvSpPr>
          <p:cNvPr id="30" name="Shape 27"/>
          <p:cNvSpPr>
            <a:spLocks noGrp="1"/>
          </p:cNvSpPr>
          <p:nvPr/>
        </p:nvSpPr>
        <p:spPr>
          <a:xfrm>
            <a:off x="3767328" y="2615184"/>
            <a:ext cx="91440" cy="91440"/>
          </a:xfrm>
          <a:prstGeom prst="ellipse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  <p:txBody>
          <a:bodyPr/>
          <a:lstStyle/>
          <a:p/>
        </p:txBody>
      </p:sp>
      <p:sp>
        <p:nvSpPr>
          <p:cNvPr id="31" name="Shape 28"/>
          <p:cNvSpPr>
            <a:spLocks noGrp="1"/>
          </p:cNvSpPr>
          <p:nvPr/>
        </p:nvSpPr>
        <p:spPr>
          <a:xfrm>
            <a:off x="3931920" y="2615184"/>
            <a:ext cx="91440" cy="91440"/>
          </a:xfrm>
          <a:prstGeom prst="ellipse">
            <a:avLst/>
          </a:prstGeom>
          <a:solidFill>
            <a:srgbClr val="D5E0DE"/>
          </a:solidFill>
          <a:ln w="12700">
            <a:solidFill>
              <a:srgbClr val="D5E0DE"/>
            </a:solidFill>
            <a:prstDash val="solid"/>
          </a:ln>
        </p:spPr>
        <p:txBody>
          <a:bodyPr/>
          <a:lstStyle/>
          <a:p/>
        </p:txBody>
      </p:sp>
      <p:sp>
        <p:nvSpPr>
          <p:cNvPr id="32" name="Shape 29"/>
          <p:cNvSpPr>
            <a:spLocks noGrp="1"/>
          </p:cNvSpPr>
          <p:nvPr/>
        </p:nvSpPr>
        <p:spPr>
          <a:xfrm>
            <a:off x="4535424" y="2331720"/>
            <a:ext cx="3163824" cy="841248"/>
          </a:xfrm>
          <a:prstGeom prst="roundRect">
            <a:avLst>
              <a:gd name="adj" fmla="val 17391"/>
            </a:avLst>
          </a:prstGeom>
          <a:solidFill>
            <a:srgbClr val="E8F7F1"/>
          </a:solidFill>
          <a:ln w="12700">
            <a:solidFill>
              <a:srgbClr val="0A8F6A"/>
            </a:solidFill>
            <a:prstDash val="solid"/>
          </a:ln>
        </p:spPr>
        <p:txBody>
          <a:bodyPr/>
          <a:lstStyle/>
          <a:p/>
        </p:txBody>
      </p:sp>
      <p:sp>
        <p:nvSpPr>
          <p:cNvPr id="33" name="Shape 30"/>
          <p:cNvSpPr>
            <a:spLocks noGrp="1"/>
          </p:cNvSpPr>
          <p:nvPr/>
        </p:nvSpPr>
        <p:spPr>
          <a:xfrm>
            <a:off x="4663440" y="2514600"/>
            <a:ext cx="329184" cy="329184"/>
          </a:xfrm>
          <a:prstGeom prst="ellipse">
            <a:avLst/>
          </a:prstGeom>
          <a:solidFill>
            <a:srgbClr val="0A8F6A"/>
          </a:solidFill>
          <a:ln w="12700">
            <a:solidFill>
              <a:srgbClr val="0A8F6A"/>
            </a:solidFill>
            <a:prstDash val="solid"/>
          </a:ln>
        </p:spPr>
        <p:txBody>
          <a:bodyPr/>
          <a:lstStyle/>
          <a:p/>
        </p:txBody>
      </p:sp>
      <p:pic>
        <p:nvPicPr>
          <p:cNvPr id="153" name="Image 1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58903" y="2610063"/>
            <a:ext cx="138257" cy="138257"/>
          </a:xfrm>
          <a:prstGeom prst="rect">
            <a:avLst/>
          </a:prstGeom>
        </p:spPr>
      </p:pic>
      <p:sp>
        <p:nvSpPr>
          <p:cNvPr id="35" name="Text 31"/>
          <p:cNvSpPr>
            <a:spLocks noGrp="1"/>
          </p:cNvSpPr>
          <p:nvPr/>
        </p:nvSpPr>
        <p:spPr>
          <a:xfrm>
            <a:off x="5084064" y="2468880"/>
            <a:ext cx="1325880" cy="20116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1040" b="1">
                <a:solidFill>
                  <a:srgbClr val="14383E"/>
                </a:solidFill>
                <a:latin typeface="Noto Sans CJK SC"/>
                <a:ea typeface="Noto Sans CJK SC"/>
                <a:cs typeface="Noto Sans CJK SC"/>
              </a:rPr>
              <a:t>验证信号</a:t>
            </a:r>
            <a:endParaRPr sz="1040"/>
          </a:p>
        </p:txBody>
      </p:sp>
      <p:sp>
        <p:nvSpPr>
          <p:cNvPr id="36" name="Text 32"/>
          <p:cNvSpPr>
            <a:spLocks noGrp="1"/>
          </p:cNvSpPr>
          <p:nvPr/>
        </p:nvSpPr>
        <p:spPr>
          <a:xfrm>
            <a:off x="5084064" y="2734056"/>
            <a:ext cx="2304288" cy="20116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850">
                <a:solidFill>
                  <a:srgbClr val="44585C"/>
                </a:solidFill>
                <a:latin typeface="Noto Sans CJK SC"/>
                <a:ea typeface="Noto Sans CJK SC"/>
                <a:cs typeface="Noto Sans CJK SC"/>
              </a:rPr>
              <a:t>是否有规则或数据校验</a:t>
            </a:r>
            <a:endParaRPr sz="850"/>
          </a:p>
        </p:txBody>
      </p:sp>
      <p:sp>
        <p:nvSpPr>
          <p:cNvPr id="37" name="Shape 33"/>
          <p:cNvSpPr>
            <a:spLocks noGrp="1"/>
          </p:cNvSpPr>
          <p:nvPr/>
        </p:nvSpPr>
        <p:spPr>
          <a:xfrm>
            <a:off x="7059168" y="2615184"/>
            <a:ext cx="91440" cy="91440"/>
          </a:xfrm>
          <a:prstGeom prst="ellipse">
            <a:avLst/>
          </a:prstGeom>
          <a:solidFill>
            <a:srgbClr val="0A8F6A"/>
          </a:solidFill>
          <a:ln w="12700">
            <a:solidFill>
              <a:srgbClr val="0A8F6A"/>
            </a:solidFill>
            <a:prstDash val="solid"/>
          </a:ln>
        </p:spPr>
        <p:txBody>
          <a:bodyPr/>
          <a:lstStyle/>
          <a:p/>
        </p:txBody>
      </p:sp>
      <p:sp>
        <p:nvSpPr>
          <p:cNvPr id="38" name="Shape 34"/>
          <p:cNvSpPr>
            <a:spLocks noGrp="1"/>
          </p:cNvSpPr>
          <p:nvPr/>
        </p:nvSpPr>
        <p:spPr>
          <a:xfrm>
            <a:off x="7223760" y="2615184"/>
            <a:ext cx="91440" cy="91440"/>
          </a:xfrm>
          <a:prstGeom prst="ellipse">
            <a:avLst/>
          </a:prstGeom>
          <a:solidFill>
            <a:srgbClr val="0A8F6A"/>
          </a:solidFill>
          <a:ln w="12700">
            <a:solidFill>
              <a:srgbClr val="0A8F6A"/>
            </a:solidFill>
            <a:prstDash val="solid"/>
          </a:ln>
        </p:spPr>
        <p:txBody>
          <a:bodyPr/>
          <a:lstStyle/>
          <a:p/>
        </p:txBody>
      </p:sp>
      <p:sp>
        <p:nvSpPr>
          <p:cNvPr id="39" name="Shape 35"/>
          <p:cNvSpPr>
            <a:spLocks noGrp="1"/>
          </p:cNvSpPr>
          <p:nvPr/>
        </p:nvSpPr>
        <p:spPr>
          <a:xfrm>
            <a:off x="7388352" y="2615184"/>
            <a:ext cx="91440" cy="91440"/>
          </a:xfrm>
          <a:prstGeom prst="ellipse">
            <a:avLst/>
          </a:prstGeom>
          <a:solidFill>
            <a:srgbClr val="0A8F6A"/>
          </a:solidFill>
          <a:ln w="12700">
            <a:solidFill>
              <a:srgbClr val="0A8F6A"/>
            </a:solidFill>
            <a:prstDash val="solid"/>
          </a:ln>
        </p:spPr>
        <p:txBody>
          <a:bodyPr/>
          <a:lstStyle/>
          <a:p/>
        </p:txBody>
      </p:sp>
      <p:sp>
        <p:nvSpPr>
          <p:cNvPr id="40" name="Shape 36"/>
          <p:cNvSpPr>
            <a:spLocks noGrp="1"/>
          </p:cNvSpPr>
          <p:nvPr/>
        </p:nvSpPr>
        <p:spPr>
          <a:xfrm>
            <a:off x="1078992" y="3419856"/>
            <a:ext cx="3163824" cy="841248"/>
          </a:xfrm>
          <a:prstGeom prst="roundRect">
            <a:avLst>
              <a:gd name="adj" fmla="val 17391"/>
            </a:avLst>
          </a:prstGeom>
          <a:solidFill>
            <a:srgbClr val="E7F7F7"/>
          </a:solidFill>
          <a:ln w="12700">
            <a:solidFill>
              <a:srgbClr val="00A7A7"/>
            </a:solidFill>
            <a:prstDash val="solid"/>
          </a:ln>
        </p:spPr>
        <p:txBody>
          <a:bodyPr/>
          <a:lstStyle/>
          <a:p/>
        </p:txBody>
      </p:sp>
      <p:sp>
        <p:nvSpPr>
          <p:cNvPr id="41" name="Shape 37"/>
          <p:cNvSpPr>
            <a:spLocks noGrp="1"/>
          </p:cNvSpPr>
          <p:nvPr/>
        </p:nvSpPr>
        <p:spPr>
          <a:xfrm>
            <a:off x="1207008" y="3602736"/>
            <a:ext cx="329184" cy="329184"/>
          </a:xfrm>
          <a:prstGeom prst="ellipse">
            <a:avLst/>
          </a:prstGeom>
          <a:solidFill>
            <a:srgbClr val="00A7A7"/>
          </a:solidFill>
          <a:ln w="12700">
            <a:solidFill>
              <a:srgbClr val="00A7A7"/>
            </a:solidFill>
            <a:prstDash val="solid"/>
          </a:ln>
        </p:spPr>
        <p:txBody>
          <a:bodyPr/>
          <a:lstStyle/>
          <a:p/>
        </p:txBody>
      </p:sp>
      <p:pic>
        <p:nvPicPr>
          <p:cNvPr id="161" name="Image 2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302471" y="3698199"/>
            <a:ext cx="138257" cy="138257"/>
          </a:xfrm>
          <a:prstGeom prst="rect">
            <a:avLst/>
          </a:prstGeom>
        </p:spPr>
      </p:pic>
      <p:sp>
        <p:nvSpPr>
          <p:cNvPr id="43" name="Text 38"/>
          <p:cNvSpPr>
            <a:spLocks noGrp="1"/>
          </p:cNvSpPr>
          <p:nvPr/>
        </p:nvSpPr>
        <p:spPr>
          <a:xfrm>
            <a:off x="1627632" y="3557016"/>
            <a:ext cx="1325880" cy="20116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1040" b="1">
                <a:solidFill>
                  <a:srgbClr val="14383E"/>
                </a:solidFill>
                <a:latin typeface="Noto Sans CJK SC"/>
                <a:ea typeface="Noto Sans CJK SC"/>
                <a:cs typeface="Noto Sans CJK SC"/>
              </a:rPr>
              <a:t>时效要求</a:t>
            </a:r>
            <a:endParaRPr sz="1040"/>
          </a:p>
        </p:txBody>
      </p:sp>
      <p:sp>
        <p:nvSpPr>
          <p:cNvPr id="44" name="Text 39"/>
          <p:cNvSpPr>
            <a:spLocks noGrp="1"/>
          </p:cNvSpPr>
          <p:nvPr/>
        </p:nvSpPr>
        <p:spPr>
          <a:xfrm>
            <a:off x="1627632" y="3822192"/>
            <a:ext cx="2304288" cy="20116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850">
                <a:solidFill>
                  <a:srgbClr val="44585C"/>
                </a:solidFill>
                <a:latin typeface="Noto Sans CJK SC"/>
                <a:ea typeface="Noto Sans CJK SC"/>
                <a:cs typeface="Noto Sans CJK SC"/>
              </a:rPr>
              <a:t>允许多长处理时间</a:t>
            </a:r>
            <a:endParaRPr sz="850"/>
          </a:p>
        </p:txBody>
      </p:sp>
      <p:sp>
        <p:nvSpPr>
          <p:cNvPr id="45" name="Shape 40"/>
          <p:cNvSpPr>
            <a:spLocks noGrp="1"/>
          </p:cNvSpPr>
          <p:nvPr/>
        </p:nvSpPr>
        <p:spPr>
          <a:xfrm>
            <a:off x="3602736" y="3703320"/>
            <a:ext cx="91440" cy="91440"/>
          </a:xfrm>
          <a:prstGeom prst="ellipse">
            <a:avLst/>
          </a:prstGeom>
          <a:solidFill>
            <a:srgbClr val="00A7A7"/>
          </a:solidFill>
          <a:ln w="12700">
            <a:solidFill>
              <a:srgbClr val="00A7A7"/>
            </a:solidFill>
            <a:prstDash val="solid"/>
          </a:ln>
        </p:spPr>
        <p:txBody>
          <a:bodyPr/>
          <a:lstStyle/>
          <a:p/>
        </p:txBody>
      </p:sp>
      <p:sp>
        <p:nvSpPr>
          <p:cNvPr id="46" name="Shape 41"/>
          <p:cNvSpPr>
            <a:spLocks noGrp="1"/>
          </p:cNvSpPr>
          <p:nvPr/>
        </p:nvSpPr>
        <p:spPr>
          <a:xfrm>
            <a:off x="3767328" y="3703320"/>
            <a:ext cx="91440" cy="91440"/>
          </a:xfrm>
          <a:prstGeom prst="ellipse">
            <a:avLst/>
          </a:prstGeom>
          <a:solidFill>
            <a:srgbClr val="D5E0DE"/>
          </a:solidFill>
          <a:ln w="12700">
            <a:solidFill>
              <a:srgbClr val="D5E0DE"/>
            </a:solidFill>
            <a:prstDash val="solid"/>
          </a:ln>
        </p:spPr>
        <p:txBody>
          <a:bodyPr/>
          <a:lstStyle/>
          <a:p/>
        </p:txBody>
      </p:sp>
      <p:sp>
        <p:nvSpPr>
          <p:cNvPr id="47" name="Shape 42"/>
          <p:cNvSpPr>
            <a:spLocks noGrp="1"/>
          </p:cNvSpPr>
          <p:nvPr/>
        </p:nvSpPr>
        <p:spPr>
          <a:xfrm>
            <a:off x="3931920" y="3703320"/>
            <a:ext cx="91440" cy="91440"/>
          </a:xfrm>
          <a:prstGeom prst="ellipse">
            <a:avLst/>
          </a:prstGeom>
          <a:solidFill>
            <a:srgbClr val="D5E0DE"/>
          </a:solidFill>
          <a:ln w="12700">
            <a:solidFill>
              <a:srgbClr val="D5E0DE"/>
            </a:solidFill>
            <a:prstDash val="solid"/>
          </a:ln>
        </p:spPr>
        <p:txBody>
          <a:bodyPr/>
          <a:lstStyle/>
          <a:p/>
        </p:txBody>
      </p:sp>
      <p:sp>
        <p:nvSpPr>
          <p:cNvPr id="48" name="Shape 43"/>
          <p:cNvSpPr>
            <a:spLocks noGrp="1"/>
          </p:cNvSpPr>
          <p:nvPr/>
        </p:nvSpPr>
        <p:spPr>
          <a:xfrm>
            <a:off x="4535424" y="3419856"/>
            <a:ext cx="3163824" cy="841248"/>
          </a:xfrm>
          <a:prstGeom prst="roundRect">
            <a:avLst>
              <a:gd name="adj" fmla="val 17391"/>
            </a:avLst>
          </a:prstGeom>
          <a:solidFill>
            <a:srgbClr val="EEF0FF"/>
          </a:solidFill>
          <a:ln w="12700">
            <a:solidFill>
              <a:srgbClr val="6B6FD8"/>
            </a:solidFill>
            <a:prstDash val="solid"/>
          </a:ln>
        </p:spPr>
        <p:txBody>
          <a:bodyPr/>
          <a:lstStyle/>
          <a:p/>
        </p:txBody>
      </p:sp>
      <p:sp>
        <p:nvSpPr>
          <p:cNvPr id="49" name="Shape 44"/>
          <p:cNvSpPr>
            <a:spLocks noGrp="1"/>
          </p:cNvSpPr>
          <p:nvPr/>
        </p:nvSpPr>
        <p:spPr>
          <a:xfrm>
            <a:off x="4663440" y="3602736"/>
            <a:ext cx="329184" cy="329184"/>
          </a:xfrm>
          <a:prstGeom prst="ellipse">
            <a:avLst/>
          </a:prstGeom>
          <a:solidFill>
            <a:srgbClr val="6B6FD8"/>
          </a:solidFill>
          <a:ln w="12700">
            <a:solidFill>
              <a:srgbClr val="6B6FD8"/>
            </a:solidFill>
            <a:prstDash val="solid"/>
          </a:ln>
        </p:spPr>
        <p:txBody>
          <a:bodyPr/>
          <a:lstStyle/>
          <a:p/>
        </p:txBody>
      </p:sp>
      <p:pic>
        <p:nvPicPr>
          <p:cNvPr id="169" name="Image 3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758903" y="3698199"/>
            <a:ext cx="138257" cy="138257"/>
          </a:xfrm>
          <a:prstGeom prst="rect">
            <a:avLst/>
          </a:prstGeom>
        </p:spPr>
      </p:pic>
      <p:sp>
        <p:nvSpPr>
          <p:cNvPr id="51" name="Text 45"/>
          <p:cNvSpPr>
            <a:spLocks noGrp="1"/>
          </p:cNvSpPr>
          <p:nvPr/>
        </p:nvSpPr>
        <p:spPr>
          <a:xfrm>
            <a:off x="5084064" y="3557016"/>
            <a:ext cx="1325880" cy="20116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1040" b="1">
                <a:solidFill>
                  <a:srgbClr val="14383E"/>
                </a:solidFill>
                <a:latin typeface="Noto Sans CJK SC"/>
                <a:ea typeface="Noto Sans CJK SC"/>
                <a:cs typeface="Noto Sans CJK SC"/>
              </a:rPr>
              <a:t>路径稳定性</a:t>
            </a:r>
            <a:endParaRPr sz="1040"/>
          </a:p>
        </p:txBody>
      </p:sp>
      <p:sp>
        <p:nvSpPr>
          <p:cNvPr id="52" name="Text 46"/>
          <p:cNvSpPr>
            <a:spLocks noGrp="1"/>
          </p:cNvSpPr>
          <p:nvPr/>
        </p:nvSpPr>
        <p:spPr>
          <a:xfrm>
            <a:off x="5084064" y="3822192"/>
            <a:ext cx="2304288" cy="20116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850">
                <a:solidFill>
                  <a:srgbClr val="44585C"/>
                </a:solidFill>
                <a:latin typeface="Noto Sans CJK SC"/>
                <a:ea typeface="Noto Sans CJK SC"/>
                <a:cs typeface="Noto Sans CJK SC"/>
              </a:rPr>
              <a:t>流程是否可以枚举</a:t>
            </a:r>
            <a:endParaRPr sz="850"/>
          </a:p>
        </p:txBody>
      </p:sp>
      <p:sp>
        <p:nvSpPr>
          <p:cNvPr id="53" name="Shape 47"/>
          <p:cNvSpPr>
            <a:spLocks noGrp="1"/>
          </p:cNvSpPr>
          <p:nvPr/>
        </p:nvSpPr>
        <p:spPr>
          <a:xfrm>
            <a:off x="7059168" y="3703320"/>
            <a:ext cx="91440" cy="91440"/>
          </a:xfrm>
          <a:prstGeom prst="ellipse">
            <a:avLst/>
          </a:prstGeom>
          <a:solidFill>
            <a:srgbClr val="6B6FD8"/>
          </a:solidFill>
          <a:ln w="12700">
            <a:solidFill>
              <a:srgbClr val="6B6FD8"/>
            </a:solidFill>
            <a:prstDash val="solid"/>
          </a:ln>
        </p:spPr>
        <p:txBody>
          <a:bodyPr/>
          <a:lstStyle/>
          <a:p/>
        </p:txBody>
      </p:sp>
      <p:sp>
        <p:nvSpPr>
          <p:cNvPr id="54" name="Shape 48"/>
          <p:cNvSpPr>
            <a:spLocks noGrp="1"/>
          </p:cNvSpPr>
          <p:nvPr/>
        </p:nvSpPr>
        <p:spPr>
          <a:xfrm>
            <a:off x="7223760" y="3703320"/>
            <a:ext cx="91440" cy="91440"/>
          </a:xfrm>
          <a:prstGeom prst="ellipse">
            <a:avLst/>
          </a:prstGeom>
          <a:solidFill>
            <a:srgbClr val="6B6FD8"/>
          </a:solidFill>
          <a:ln w="12700">
            <a:solidFill>
              <a:srgbClr val="6B6FD8"/>
            </a:solidFill>
            <a:prstDash val="solid"/>
          </a:ln>
        </p:spPr>
        <p:txBody>
          <a:bodyPr/>
          <a:lstStyle/>
          <a:p/>
        </p:txBody>
      </p:sp>
      <p:sp>
        <p:nvSpPr>
          <p:cNvPr id="55" name="Shape 49"/>
          <p:cNvSpPr>
            <a:spLocks noGrp="1"/>
          </p:cNvSpPr>
          <p:nvPr/>
        </p:nvSpPr>
        <p:spPr>
          <a:xfrm>
            <a:off x="7388352" y="3703320"/>
            <a:ext cx="91440" cy="91440"/>
          </a:xfrm>
          <a:prstGeom prst="ellipse">
            <a:avLst/>
          </a:prstGeom>
          <a:solidFill>
            <a:srgbClr val="D5E0DE"/>
          </a:solidFill>
          <a:ln w="12700">
            <a:solidFill>
              <a:srgbClr val="D5E0DE"/>
            </a:solidFill>
            <a:prstDash val="solid"/>
          </a:ln>
        </p:spPr>
        <p:txBody>
          <a:bodyPr/>
          <a:lstStyle/>
          <a:p/>
        </p:txBody>
      </p:sp>
      <p:sp>
        <p:nvSpPr>
          <p:cNvPr id="56" name="Shape 50"/>
          <p:cNvSpPr>
            <a:spLocks noGrp="1"/>
          </p:cNvSpPr>
          <p:nvPr/>
        </p:nvSpPr>
        <p:spPr>
          <a:xfrm>
            <a:off x="1078992" y="4507992"/>
            <a:ext cx="3163824" cy="841248"/>
          </a:xfrm>
          <a:prstGeom prst="roundRect">
            <a:avLst>
              <a:gd name="adj" fmla="val 17391"/>
            </a:avLst>
          </a:prstGeom>
          <a:solidFill>
            <a:srgbClr val="FFF2E8"/>
          </a:solidFill>
          <a:ln w="12700">
            <a:solidFill>
              <a:srgbClr val="F28B36"/>
            </a:solidFill>
            <a:prstDash val="solid"/>
          </a:ln>
        </p:spPr>
        <p:txBody>
          <a:bodyPr/>
          <a:lstStyle/>
          <a:p/>
        </p:txBody>
      </p:sp>
      <p:sp>
        <p:nvSpPr>
          <p:cNvPr id="57" name="Shape 51"/>
          <p:cNvSpPr>
            <a:spLocks noGrp="1"/>
          </p:cNvSpPr>
          <p:nvPr/>
        </p:nvSpPr>
        <p:spPr>
          <a:xfrm>
            <a:off x="1207008" y="4690872"/>
            <a:ext cx="329184" cy="329184"/>
          </a:xfrm>
          <a:prstGeom prst="ellipse">
            <a:avLst/>
          </a:prstGeom>
          <a:solidFill>
            <a:srgbClr val="F28B36"/>
          </a:solidFill>
          <a:ln w="12700">
            <a:solidFill>
              <a:srgbClr val="F28B36"/>
            </a:solidFill>
            <a:prstDash val="solid"/>
          </a:ln>
        </p:spPr>
        <p:txBody>
          <a:bodyPr/>
          <a:lstStyle/>
          <a:p/>
        </p:txBody>
      </p:sp>
      <p:pic>
        <p:nvPicPr>
          <p:cNvPr id="177" name="Image 4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302471" y="4786335"/>
            <a:ext cx="138257" cy="138257"/>
          </a:xfrm>
          <a:prstGeom prst="rect">
            <a:avLst/>
          </a:prstGeom>
        </p:spPr>
      </p:pic>
      <p:sp>
        <p:nvSpPr>
          <p:cNvPr id="59" name="Text 52"/>
          <p:cNvSpPr>
            <a:spLocks noGrp="1"/>
          </p:cNvSpPr>
          <p:nvPr/>
        </p:nvSpPr>
        <p:spPr>
          <a:xfrm>
            <a:off x="1627632" y="4645152"/>
            <a:ext cx="1325880" cy="20116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1040" b="1">
                <a:solidFill>
                  <a:srgbClr val="14383E"/>
                </a:solidFill>
                <a:latin typeface="Noto Sans CJK SC"/>
                <a:ea typeface="Noto Sans CJK SC"/>
                <a:cs typeface="Noto Sans CJK SC"/>
              </a:rPr>
              <a:t>人工接管</a:t>
            </a:r>
            <a:endParaRPr sz="1040"/>
          </a:p>
        </p:txBody>
      </p:sp>
      <p:sp>
        <p:nvSpPr>
          <p:cNvPr id="60" name="Text 53"/>
          <p:cNvSpPr>
            <a:spLocks noGrp="1"/>
          </p:cNvSpPr>
          <p:nvPr/>
        </p:nvSpPr>
        <p:spPr>
          <a:xfrm>
            <a:off x="1627632" y="4910328"/>
            <a:ext cx="2304288" cy="20116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850">
                <a:solidFill>
                  <a:srgbClr val="44585C"/>
                </a:solidFill>
                <a:latin typeface="Noto Sans CJK SC"/>
                <a:ea typeface="Noto Sans CJK SC"/>
                <a:cs typeface="Noto Sans CJK SC"/>
              </a:rPr>
              <a:t>是否能及时交给人工</a:t>
            </a:r>
            <a:endParaRPr sz="850"/>
          </a:p>
        </p:txBody>
      </p:sp>
      <p:sp>
        <p:nvSpPr>
          <p:cNvPr id="61" name="Shape 54"/>
          <p:cNvSpPr>
            <a:spLocks noGrp="1"/>
          </p:cNvSpPr>
          <p:nvPr/>
        </p:nvSpPr>
        <p:spPr>
          <a:xfrm>
            <a:off x="3602736" y="4791456"/>
            <a:ext cx="91440" cy="91440"/>
          </a:xfrm>
          <a:prstGeom prst="ellipse">
            <a:avLst/>
          </a:prstGeom>
          <a:solidFill>
            <a:srgbClr val="F28B36"/>
          </a:solidFill>
          <a:ln w="12700">
            <a:solidFill>
              <a:srgbClr val="F28B36"/>
            </a:solidFill>
            <a:prstDash val="solid"/>
          </a:ln>
        </p:spPr>
        <p:txBody>
          <a:bodyPr/>
          <a:lstStyle/>
          <a:p/>
        </p:txBody>
      </p:sp>
      <p:sp>
        <p:nvSpPr>
          <p:cNvPr id="62" name="Shape 55"/>
          <p:cNvSpPr>
            <a:spLocks noGrp="1"/>
          </p:cNvSpPr>
          <p:nvPr/>
        </p:nvSpPr>
        <p:spPr>
          <a:xfrm>
            <a:off x="3767328" y="4791456"/>
            <a:ext cx="91440" cy="91440"/>
          </a:xfrm>
          <a:prstGeom prst="ellipse">
            <a:avLst/>
          </a:prstGeom>
          <a:solidFill>
            <a:srgbClr val="F28B36"/>
          </a:solidFill>
          <a:ln w="12700">
            <a:solidFill>
              <a:srgbClr val="F28B36"/>
            </a:solidFill>
            <a:prstDash val="solid"/>
          </a:ln>
        </p:spPr>
        <p:txBody>
          <a:bodyPr/>
          <a:lstStyle/>
          <a:p/>
        </p:txBody>
      </p:sp>
      <p:sp>
        <p:nvSpPr>
          <p:cNvPr id="63" name="Shape 56"/>
          <p:cNvSpPr>
            <a:spLocks noGrp="1"/>
          </p:cNvSpPr>
          <p:nvPr/>
        </p:nvSpPr>
        <p:spPr>
          <a:xfrm>
            <a:off x="3931920" y="4791456"/>
            <a:ext cx="91440" cy="91440"/>
          </a:xfrm>
          <a:prstGeom prst="ellipse">
            <a:avLst/>
          </a:prstGeom>
          <a:solidFill>
            <a:srgbClr val="F28B36"/>
          </a:solidFill>
          <a:ln w="12700">
            <a:solidFill>
              <a:srgbClr val="F28B36"/>
            </a:solidFill>
            <a:prstDash val="solid"/>
          </a:ln>
        </p:spPr>
        <p:txBody>
          <a:bodyPr/>
          <a:lstStyle/>
          <a:p/>
        </p:txBody>
      </p:sp>
      <p:sp>
        <p:nvSpPr>
          <p:cNvPr id="64" name="Shape 57"/>
          <p:cNvSpPr>
            <a:spLocks noGrp="1"/>
          </p:cNvSpPr>
          <p:nvPr/>
        </p:nvSpPr>
        <p:spPr>
          <a:xfrm>
            <a:off x="4535424" y="4507992"/>
            <a:ext cx="3163824" cy="841248"/>
          </a:xfrm>
          <a:prstGeom prst="roundRect">
            <a:avLst>
              <a:gd name="adj" fmla="val 17391"/>
            </a:avLst>
          </a:prstGeom>
          <a:solidFill>
            <a:srgbClr val="FDEDEC"/>
          </a:solidFill>
          <a:ln w="12700">
            <a:solidFill>
              <a:srgbClr val="E2574C"/>
            </a:solidFill>
            <a:prstDash val="solid"/>
          </a:ln>
        </p:spPr>
        <p:txBody>
          <a:bodyPr/>
          <a:lstStyle/>
          <a:p/>
        </p:txBody>
      </p:sp>
      <p:sp>
        <p:nvSpPr>
          <p:cNvPr id="65" name="Shape 58"/>
          <p:cNvSpPr>
            <a:spLocks noGrp="1"/>
          </p:cNvSpPr>
          <p:nvPr/>
        </p:nvSpPr>
        <p:spPr>
          <a:xfrm>
            <a:off x="4663440" y="4690872"/>
            <a:ext cx="329184" cy="329184"/>
          </a:xfrm>
          <a:prstGeom prst="ellipse">
            <a:avLst/>
          </a:prstGeom>
          <a:solidFill>
            <a:srgbClr val="E2574C"/>
          </a:solidFill>
          <a:ln w="12700">
            <a:solidFill>
              <a:srgbClr val="E2574C"/>
            </a:solidFill>
            <a:prstDash val="solid"/>
          </a:ln>
        </p:spPr>
        <p:txBody>
          <a:bodyPr/>
          <a:lstStyle/>
          <a:p/>
        </p:txBody>
      </p:sp>
      <p:pic>
        <p:nvPicPr>
          <p:cNvPr id="185" name="Image 5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758903" y="4786335"/>
            <a:ext cx="138257" cy="138257"/>
          </a:xfrm>
          <a:prstGeom prst="rect">
            <a:avLst/>
          </a:prstGeom>
        </p:spPr>
      </p:pic>
      <p:sp>
        <p:nvSpPr>
          <p:cNvPr id="67" name="Text 59"/>
          <p:cNvSpPr>
            <a:spLocks noGrp="1"/>
          </p:cNvSpPr>
          <p:nvPr/>
        </p:nvSpPr>
        <p:spPr>
          <a:xfrm>
            <a:off x="5084064" y="4645152"/>
            <a:ext cx="1325880" cy="20116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1040" b="1">
                <a:solidFill>
                  <a:srgbClr val="14383E"/>
                </a:solidFill>
                <a:latin typeface="Noto Sans CJK SC"/>
                <a:ea typeface="Noto Sans CJK SC"/>
                <a:cs typeface="Noto Sans CJK SC"/>
              </a:rPr>
              <a:t>合规与权限</a:t>
            </a:r>
            <a:endParaRPr sz="1040"/>
          </a:p>
        </p:txBody>
      </p:sp>
      <p:sp>
        <p:nvSpPr>
          <p:cNvPr id="68" name="Text 60"/>
          <p:cNvSpPr>
            <a:spLocks noGrp="1"/>
          </p:cNvSpPr>
          <p:nvPr/>
        </p:nvSpPr>
        <p:spPr>
          <a:xfrm>
            <a:off x="5084064" y="4910328"/>
            <a:ext cx="2304288" cy="20116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850">
                <a:solidFill>
                  <a:srgbClr val="44585C"/>
                </a:solidFill>
                <a:latin typeface="Noto Sans CJK SC"/>
                <a:ea typeface="Noto Sans CJK SC"/>
                <a:cs typeface="Noto Sans CJK SC"/>
              </a:rPr>
              <a:t>是否涉及敏感数据或写操作</a:t>
            </a:r>
            <a:endParaRPr sz="850"/>
          </a:p>
        </p:txBody>
      </p:sp>
      <p:sp>
        <p:nvSpPr>
          <p:cNvPr id="69" name="Shape 61"/>
          <p:cNvSpPr>
            <a:spLocks noGrp="1"/>
          </p:cNvSpPr>
          <p:nvPr/>
        </p:nvSpPr>
        <p:spPr>
          <a:xfrm>
            <a:off x="7059168" y="4791456"/>
            <a:ext cx="91440" cy="91440"/>
          </a:xfrm>
          <a:prstGeom prst="ellipse">
            <a:avLst/>
          </a:prstGeom>
          <a:solidFill>
            <a:srgbClr val="E2574C"/>
          </a:solidFill>
          <a:ln w="12700">
            <a:solidFill>
              <a:srgbClr val="E2574C"/>
            </a:solidFill>
            <a:prstDash val="solid"/>
          </a:ln>
        </p:spPr>
        <p:txBody>
          <a:bodyPr/>
          <a:lstStyle/>
          <a:p/>
        </p:txBody>
      </p:sp>
      <p:sp>
        <p:nvSpPr>
          <p:cNvPr id="70" name="Shape 62"/>
          <p:cNvSpPr>
            <a:spLocks noGrp="1"/>
          </p:cNvSpPr>
          <p:nvPr/>
        </p:nvSpPr>
        <p:spPr>
          <a:xfrm>
            <a:off x="7223760" y="4791456"/>
            <a:ext cx="91440" cy="91440"/>
          </a:xfrm>
          <a:prstGeom prst="ellipse">
            <a:avLst/>
          </a:prstGeom>
          <a:solidFill>
            <a:srgbClr val="D5E0DE"/>
          </a:solidFill>
          <a:ln w="12700">
            <a:solidFill>
              <a:srgbClr val="D5E0DE"/>
            </a:solidFill>
            <a:prstDash val="solid"/>
          </a:ln>
        </p:spPr>
        <p:txBody>
          <a:bodyPr/>
          <a:lstStyle/>
          <a:p/>
        </p:txBody>
      </p:sp>
      <p:sp>
        <p:nvSpPr>
          <p:cNvPr id="71" name="Shape 63"/>
          <p:cNvSpPr>
            <a:spLocks noGrp="1"/>
          </p:cNvSpPr>
          <p:nvPr/>
        </p:nvSpPr>
        <p:spPr>
          <a:xfrm>
            <a:off x="7388352" y="4791456"/>
            <a:ext cx="91440" cy="91440"/>
          </a:xfrm>
          <a:prstGeom prst="ellipse">
            <a:avLst/>
          </a:prstGeom>
          <a:solidFill>
            <a:srgbClr val="D5E0DE"/>
          </a:solidFill>
          <a:ln w="12700">
            <a:solidFill>
              <a:srgbClr val="D5E0DE"/>
            </a:solidFill>
            <a:prstDash val="solid"/>
          </a:ln>
        </p:spPr>
        <p:txBody>
          <a:bodyPr/>
          <a:lstStyle/>
          <a:p/>
        </p:txBody>
      </p:sp>
      <p:sp>
        <p:nvSpPr>
          <p:cNvPr id="72" name="Shape 64"/>
          <p:cNvSpPr>
            <a:spLocks noGrp="1"/>
          </p:cNvSpPr>
          <p:nvPr/>
        </p:nvSpPr>
        <p:spPr>
          <a:xfrm>
            <a:off x="8641080" y="1645920"/>
            <a:ext cx="2761488" cy="4462272"/>
          </a:xfrm>
          <a:prstGeom prst="roundRect">
            <a:avLst>
              <a:gd name="adj" fmla="val 5298"/>
            </a:avLst>
          </a:prstGeom>
          <a:solidFill>
            <a:srgbClr val="FFFFFF"/>
          </a:solidFill>
          <a:ln w="12700">
            <a:solidFill>
              <a:srgbClr val="BFD9D4"/>
            </a:solidFill>
            <a:prstDash val="solid"/>
          </a:ln>
          <a:effectLst>
            <a:outerShdw blurRad="27940" dist="50800" dir="2700000" algn="bl" rotWithShape="0">
              <a:srgbClr val="436264">
                <a:alpha val="12000"/>
              </a:srgbClr>
            </a:outerShdw>
          </a:effectLst>
        </p:spPr>
        <p:txBody>
          <a:bodyPr/>
          <a:lstStyle/>
          <a:p/>
        </p:txBody>
      </p:sp>
      <p:sp>
        <p:nvSpPr>
          <p:cNvPr id="73" name="Text 65"/>
          <p:cNvSpPr>
            <a:spLocks noGrp="1"/>
          </p:cNvSpPr>
          <p:nvPr/>
        </p:nvSpPr>
        <p:spPr>
          <a:xfrm>
            <a:off x="8915400" y="1856232"/>
            <a:ext cx="2212848" cy="25603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sz="1430" b="1">
                <a:solidFill>
                  <a:srgbClr val="14383E"/>
                </a:solidFill>
                <a:latin typeface="Noto Sans CJK SC"/>
                <a:ea typeface="Noto Sans CJK SC"/>
                <a:cs typeface="Noto Sans CJK SC"/>
              </a:rPr>
              <a:t>处理方式</a:t>
            </a:r>
            <a:endParaRPr sz="1430"/>
          </a:p>
        </p:txBody>
      </p:sp>
      <p:sp>
        <p:nvSpPr>
          <p:cNvPr id="74" name="Shape 66"/>
          <p:cNvSpPr>
            <a:spLocks noGrp="1"/>
          </p:cNvSpPr>
          <p:nvPr/>
        </p:nvSpPr>
        <p:spPr>
          <a:xfrm>
            <a:off x="8915400" y="2395728"/>
            <a:ext cx="2212848" cy="804672"/>
          </a:xfrm>
          <a:prstGeom prst="roundRect">
            <a:avLst>
              <a:gd name="adj" fmla="val 18182"/>
            </a:avLst>
          </a:prstGeom>
          <a:solidFill>
            <a:srgbClr val="E8F7F1"/>
          </a:solidFill>
          <a:ln w="12700">
            <a:solidFill>
              <a:srgbClr val="0A8F6A"/>
            </a:solidFill>
            <a:prstDash val="solid"/>
          </a:ln>
        </p:spPr>
        <p:txBody>
          <a:bodyPr/>
          <a:lstStyle/>
          <a:p/>
        </p:txBody>
      </p:sp>
      <p:sp>
        <p:nvSpPr>
          <p:cNvPr id="75" name="Shape 67"/>
          <p:cNvSpPr>
            <a:spLocks noGrp="1"/>
          </p:cNvSpPr>
          <p:nvPr/>
        </p:nvSpPr>
        <p:spPr>
          <a:xfrm>
            <a:off x="9052560" y="2560320"/>
            <a:ext cx="310896" cy="310896"/>
          </a:xfrm>
          <a:prstGeom prst="ellipse">
            <a:avLst/>
          </a:prstGeom>
          <a:solidFill>
            <a:srgbClr val="0A8F6A"/>
          </a:solidFill>
          <a:ln w="12700">
            <a:solidFill>
              <a:srgbClr val="0A8F6A"/>
            </a:solidFill>
            <a:prstDash val="solid"/>
          </a:ln>
        </p:spPr>
        <p:txBody>
          <a:bodyPr/>
          <a:lstStyle/>
          <a:p/>
        </p:txBody>
      </p:sp>
      <p:pic>
        <p:nvPicPr>
          <p:cNvPr id="195" name="Image 6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9142720" y="2650480"/>
            <a:ext cx="130576" cy="130576"/>
          </a:xfrm>
          <a:prstGeom prst="rect">
            <a:avLst/>
          </a:prstGeom>
        </p:spPr>
      </p:pic>
      <p:sp>
        <p:nvSpPr>
          <p:cNvPr id="77" name="Text 68"/>
          <p:cNvSpPr>
            <a:spLocks noGrp="1"/>
          </p:cNvSpPr>
          <p:nvPr/>
        </p:nvSpPr>
        <p:spPr>
          <a:xfrm>
            <a:off x="9500616" y="2514600"/>
            <a:ext cx="1371600" cy="21031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1080" b="1">
                <a:solidFill>
                  <a:srgbClr val="14383E"/>
                </a:solidFill>
                <a:latin typeface="Noto Sans CJK SC"/>
                <a:ea typeface="Noto Sans CJK SC"/>
                <a:cs typeface="Noto Sans CJK SC"/>
              </a:rPr>
              <a:t>自动处理</a:t>
            </a:r>
            <a:endParaRPr sz="1080"/>
          </a:p>
        </p:txBody>
      </p:sp>
      <p:sp>
        <p:nvSpPr>
          <p:cNvPr id="78" name="Text 69"/>
          <p:cNvSpPr>
            <a:spLocks noGrp="1"/>
          </p:cNvSpPr>
          <p:nvPr/>
        </p:nvSpPr>
        <p:spPr>
          <a:xfrm>
            <a:off x="9500616" y="2779776"/>
            <a:ext cx="1399032" cy="21945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790">
                <a:solidFill>
                  <a:srgbClr val="44585C"/>
                </a:solidFill>
                <a:latin typeface="Noto Sans CJK SC"/>
                <a:ea typeface="Noto Sans CJK SC"/>
                <a:cs typeface="Noto Sans CJK SC"/>
              </a:rPr>
              <a:t>低风险、可验证、可恢复</a:t>
            </a:r>
            <a:endParaRPr sz="790"/>
          </a:p>
        </p:txBody>
      </p:sp>
      <p:sp>
        <p:nvSpPr>
          <p:cNvPr id="79" name="Shape 70"/>
          <p:cNvSpPr>
            <a:spLocks noGrp="1"/>
          </p:cNvSpPr>
          <p:nvPr/>
        </p:nvSpPr>
        <p:spPr>
          <a:xfrm>
            <a:off x="8915400" y="3419856"/>
            <a:ext cx="2212848" cy="804672"/>
          </a:xfrm>
          <a:prstGeom prst="roundRect">
            <a:avLst>
              <a:gd name="adj" fmla="val 18182"/>
            </a:avLst>
          </a:prstGeom>
          <a:solidFill>
            <a:srgbClr val="FFF6E5"/>
          </a:solidFill>
          <a:ln w="12700">
            <a:solidFill>
              <a:srgbClr val="F7AA2B"/>
            </a:solidFill>
            <a:prstDash val="solid"/>
          </a:ln>
        </p:spPr>
        <p:txBody>
          <a:bodyPr/>
          <a:lstStyle/>
          <a:p/>
        </p:txBody>
      </p:sp>
      <p:sp>
        <p:nvSpPr>
          <p:cNvPr id="80" name="Shape 71"/>
          <p:cNvSpPr>
            <a:spLocks noGrp="1"/>
          </p:cNvSpPr>
          <p:nvPr/>
        </p:nvSpPr>
        <p:spPr>
          <a:xfrm>
            <a:off x="9052560" y="3584448"/>
            <a:ext cx="310896" cy="310896"/>
          </a:xfrm>
          <a:prstGeom prst="ellipse">
            <a:avLst/>
          </a:prstGeom>
          <a:solidFill>
            <a:srgbClr val="F7AA2B"/>
          </a:solidFill>
          <a:ln w="12700">
            <a:solidFill>
              <a:srgbClr val="F7AA2B"/>
            </a:solidFill>
            <a:prstDash val="solid"/>
          </a:ln>
        </p:spPr>
        <p:txBody>
          <a:bodyPr/>
          <a:lstStyle/>
          <a:p/>
        </p:txBody>
      </p:sp>
      <p:pic>
        <p:nvPicPr>
          <p:cNvPr id="200" name="Image 7"/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9142720" y="3674608"/>
            <a:ext cx="130576" cy="130576"/>
          </a:xfrm>
          <a:prstGeom prst="rect">
            <a:avLst/>
          </a:prstGeom>
        </p:spPr>
      </p:pic>
      <p:sp>
        <p:nvSpPr>
          <p:cNvPr id="82" name="Text 72"/>
          <p:cNvSpPr>
            <a:spLocks noGrp="1"/>
          </p:cNvSpPr>
          <p:nvPr/>
        </p:nvSpPr>
        <p:spPr>
          <a:xfrm>
            <a:off x="9500616" y="3538728"/>
            <a:ext cx="1371600" cy="21031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1080" b="1">
                <a:solidFill>
                  <a:srgbClr val="14383E"/>
                </a:solidFill>
                <a:latin typeface="Noto Sans CJK SC"/>
                <a:ea typeface="Noto Sans CJK SC"/>
                <a:cs typeface="Noto Sans CJK SC"/>
              </a:rPr>
              <a:t>确认后执行</a:t>
            </a:r>
            <a:endParaRPr sz="1080"/>
          </a:p>
        </p:txBody>
      </p:sp>
      <p:sp>
        <p:nvSpPr>
          <p:cNvPr id="83" name="Text 73"/>
          <p:cNvSpPr>
            <a:spLocks noGrp="1"/>
          </p:cNvSpPr>
          <p:nvPr/>
        </p:nvSpPr>
        <p:spPr>
          <a:xfrm>
            <a:off x="9500616" y="3803904"/>
            <a:ext cx="1399032" cy="21945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790">
                <a:solidFill>
                  <a:srgbClr val="44585C"/>
                </a:solidFill>
                <a:latin typeface="Noto Sans CJK SC"/>
                <a:ea typeface="Noto Sans CJK SC"/>
                <a:cs typeface="Noto Sans CJK SC"/>
              </a:rPr>
              <a:t>需要客户或人工确认</a:t>
            </a:r>
            <a:endParaRPr sz="790"/>
          </a:p>
        </p:txBody>
      </p:sp>
      <p:sp>
        <p:nvSpPr>
          <p:cNvPr id="84" name="Shape 74"/>
          <p:cNvSpPr>
            <a:spLocks noGrp="1"/>
          </p:cNvSpPr>
          <p:nvPr/>
        </p:nvSpPr>
        <p:spPr>
          <a:xfrm>
            <a:off x="8915400" y="4443984"/>
            <a:ext cx="2212848" cy="804672"/>
          </a:xfrm>
          <a:prstGeom prst="roundRect">
            <a:avLst>
              <a:gd name="adj" fmla="val 18182"/>
            </a:avLst>
          </a:prstGeom>
          <a:solidFill>
            <a:srgbClr val="FDEDEC"/>
          </a:solidFill>
          <a:ln w="12700">
            <a:solidFill>
              <a:srgbClr val="E2574C"/>
            </a:solidFill>
            <a:prstDash val="solid"/>
          </a:ln>
        </p:spPr>
        <p:txBody>
          <a:bodyPr/>
          <a:lstStyle/>
          <a:p/>
        </p:txBody>
      </p:sp>
      <p:sp>
        <p:nvSpPr>
          <p:cNvPr id="85" name="Shape 75"/>
          <p:cNvSpPr>
            <a:spLocks noGrp="1"/>
          </p:cNvSpPr>
          <p:nvPr/>
        </p:nvSpPr>
        <p:spPr>
          <a:xfrm>
            <a:off x="9052560" y="4608576"/>
            <a:ext cx="310896" cy="310896"/>
          </a:xfrm>
          <a:prstGeom prst="ellipse">
            <a:avLst/>
          </a:prstGeom>
          <a:solidFill>
            <a:srgbClr val="E2574C"/>
          </a:solidFill>
          <a:ln w="12700">
            <a:solidFill>
              <a:srgbClr val="E2574C"/>
            </a:solidFill>
            <a:prstDash val="solid"/>
          </a:ln>
        </p:spPr>
        <p:txBody>
          <a:bodyPr/>
          <a:lstStyle/>
          <a:p/>
        </p:txBody>
      </p:sp>
      <p:pic>
        <p:nvPicPr>
          <p:cNvPr id="205" name="Image 8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142720" y="4698736"/>
            <a:ext cx="130576" cy="130576"/>
          </a:xfrm>
          <a:prstGeom prst="rect">
            <a:avLst/>
          </a:prstGeom>
        </p:spPr>
      </p:pic>
      <p:sp>
        <p:nvSpPr>
          <p:cNvPr id="87" name="Text 76"/>
          <p:cNvSpPr>
            <a:spLocks noGrp="1"/>
          </p:cNvSpPr>
          <p:nvPr/>
        </p:nvSpPr>
        <p:spPr>
          <a:xfrm>
            <a:off x="9500616" y="4562856"/>
            <a:ext cx="1371600" cy="21031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1080" b="1">
                <a:solidFill>
                  <a:srgbClr val="14383E"/>
                </a:solidFill>
                <a:latin typeface="Noto Sans CJK SC"/>
                <a:ea typeface="Noto Sans CJK SC"/>
                <a:cs typeface="Noto Sans CJK SC"/>
              </a:rPr>
              <a:t>人工负责</a:t>
            </a:r>
            <a:endParaRPr sz="1080"/>
          </a:p>
        </p:txBody>
      </p:sp>
      <p:sp>
        <p:nvSpPr>
          <p:cNvPr id="88" name="Text 77"/>
          <p:cNvSpPr>
            <a:spLocks noGrp="1"/>
          </p:cNvSpPr>
          <p:nvPr/>
        </p:nvSpPr>
        <p:spPr>
          <a:xfrm>
            <a:off x="9500616" y="4828032"/>
            <a:ext cx="1399032" cy="21945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790">
                <a:solidFill>
                  <a:srgbClr val="44585C"/>
                </a:solidFill>
                <a:latin typeface="Noto Sans CJK SC"/>
                <a:ea typeface="Noto Sans CJK SC"/>
                <a:cs typeface="Noto Sans CJK SC"/>
              </a:rPr>
              <a:t>高风险、不可逆或规则冲突</a:t>
            </a:r>
            <a:endParaRPr sz="790"/>
          </a:p>
        </p:txBody>
      </p:sp>
      <p:sp>
        <p:nvSpPr>
          <p:cNvPr id="89" name="Shape 78"/>
          <p:cNvSpPr>
            <a:spLocks noGrp="1"/>
          </p:cNvSpPr>
          <p:nvPr/>
        </p:nvSpPr>
        <p:spPr>
          <a:xfrm>
            <a:off x="8915400" y="5522976"/>
            <a:ext cx="2212848" cy="310896"/>
          </a:xfrm>
          <a:prstGeom prst="roundRect">
            <a:avLst>
              <a:gd name="adj" fmla="val 29412"/>
            </a:avLst>
          </a:prstGeom>
          <a:solidFill>
            <a:srgbClr val="EEF0FF"/>
          </a:solidFill>
          <a:ln w="12700">
            <a:solidFill>
              <a:srgbClr val="6B6FD8"/>
            </a:solidFill>
            <a:prstDash val="solid"/>
          </a:ln>
        </p:spPr>
        <p:txBody>
          <a:bodyPr/>
          <a:lstStyle/>
          <a:p/>
        </p:txBody>
      </p:sp>
      <p:sp>
        <p:nvSpPr>
          <p:cNvPr id="90" name="Text 79"/>
          <p:cNvSpPr>
            <a:spLocks noGrp="1"/>
          </p:cNvSpPr>
          <p:nvPr/>
        </p:nvSpPr>
        <p:spPr>
          <a:xfrm>
            <a:off x="8915400" y="5522976"/>
            <a:ext cx="2212848" cy="31089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sz="850" b="1">
                <a:solidFill>
                  <a:srgbClr val="4A4EB0"/>
                </a:solidFill>
                <a:latin typeface="Noto Sans CJK SC"/>
                <a:ea typeface="Noto Sans CJK SC"/>
                <a:cs typeface="Noto Sans CJK SC"/>
              </a:rPr>
              <a:t>按场景输出处理权配置</a:t>
            </a:r>
            <a:endParaRPr sz="850"/>
          </a:p>
        </p:txBody>
      </p:sp>
      <p:sp>
        <p:nvSpPr>
          <p:cNvPr id="91" name="Rectangle 90"/>
          <p:cNvSpPr>
            <a:spLocks noGrp="1"/>
          </p:cNvSpPr>
          <p:nvPr/>
        </p:nvSpPr>
        <p:spPr>
          <a:xfrm>
            <a:off x="0" y="0"/>
            <a:ext cx="41148" cy="6858000"/>
          </a:xfrm>
          <a:prstGeom prst="rect">
            <a:avLst/>
          </a:prstGeom>
          <a:solidFill>
            <a:srgbClr val="0A8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12" name="圆角矩形 111"/>
          <p:cNvSpPr>
            <a:spLocks noGrp="1"/>
          </p:cNvSpPr>
          <p:nvPr/>
        </p:nvSpPr>
        <p:spPr>
          <a:xfrm>
            <a:off x="6565583" y="127635"/>
            <a:ext cx="4937760" cy="365760"/>
          </a:xfrm>
          <a:prstGeom prst="roundRect">
            <a:avLst>
              <a:gd name="adj" fmla="val 20833"/>
            </a:avLst>
          </a:prstGeom>
          <a:solidFill>
            <a:srgbClr val="F7FBF9"/>
          </a:solidFill>
          <a:ln w="12668">
            <a:solidFill>
              <a:srgbClr val="F7FBF9"/>
            </a:solidFill>
            <a:prstDash val="solid"/>
          </a:ln>
        </p:spPr>
        <p:txBody>
          <a:bodyPr/>
          <a:p/>
        </p:txBody>
      </p:sp>
      <p:sp>
        <p:nvSpPr>
          <p:cNvPr id="113" name="圆角矩形 112"/>
          <p:cNvSpPr>
            <a:spLocks noGrp="1"/>
          </p:cNvSpPr>
          <p:nvPr/>
        </p:nvSpPr>
        <p:spPr>
          <a:xfrm>
            <a:off x="6657023" y="164783"/>
            <a:ext cx="1154430" cy="264795"/>
          </a:xfrm>
          <a:prstGeom prst="roundRect">
            <a:avLst>
              <a:gd name="adj" fmla="val 28777"/>
            </a:avLst>
          </a:prstGeom>
          <a:solidFill>
            <a:srgbClr val="007574"/>
          </a:solidFill>
          <a:ln w="12668">
            <a:solidFill>
              <a:srgbClr val="007574"/>
            </a:solidFill>
            <a:prstDash val="solid"/>
          </a:ln>
        </p:spPr>
        <p:txBody>
          <a:bodyPr/>
          <a:p/>
        </p:txBody>
      </p:sp>
      <p:sp>
        <p:nvSpPr>
          <p:cNvPr id="114" name="矩形 113"/>
          <p:cNvSpPr>
            <a:spLocks noGrp="1"/>
          </p:cNvSpPr>
          <p:nvPr/>
        </p:nvSpPr>
        <p:spPr>
          <a:xfrm>
            <a:off x="6657023" y="187643"/>
            <a:ext cx="1154430" cy="182880"/>
          </a:xfrm>
          <a:prstGeom prst="rect">
            <a:avLst/>
          </a:prstGeom>
        </p:spPr>
        <p:txBody>
          <a:bodyPr anchor="ctr"/>
          <a:lstStyle/>
          <a:p>
            <a:pPr algn="ctr">
              <a:defRPr sz="660" b="1">
                <a:solidFill>
                  <a:srgbClr val="FFFFFF"/>
                </a:solidFill>
              </a:defRPr>
            </a:pPr>
            <a:r>
              <a:t>理解</a:t>
            </a:r>
          </a:p>
        </p:txBody>
      </p:sp>
      <p:sp>
        <p:nvSpPr>
          <p:cNvPr id="115" name="圆角矩形 114"/>
          <p:cNvSpPr>
            <a:spLocks noGrp="1"/>
          </p:cNvSpPr>
          <p:nvPr/>
        </p:nvSpPr>
        <p:spPr>
          <a:xfrm>
            <a:off x="7857173" y="164783"/>
            <a:ext cx="1154430" cy="264795"/>
          </a:xfrm>
          <a:prstGeom prst="roundRect">
            <a:avLst>
              <a:gd name="adj" fmla="val 28777"/>
            </a:avLst>
          </a:prstGeom>
          <a:solidFill>
            <a:srgbClr val="007574"/>
          </a:solidFill>
          <a:ln w="12668">
            <a:solidFill>
              <a:srgbClr val="007574"/>
            </a:solidFill>
            <a:prstDash val="solid"/>
          </a:ln>
        </p:spPr>
        <p:txBody>
          <a:bodyPr/>
          <a:p/>
        </p:txBody>
      </p:sp>
      <p:sp>
        <p:nvSpPr>
          <p:cNvPr id="116" name="矩形 115"/>
          <p:cNvSpPr>
            <a:spLocks noGrp="1"/>
          </p:cNvSpPr>
          <p:nvPr/>
        </p:nvSpPr>
        <p:spPr>
          <a:xfrm>
            <a:off x="7857173" y="187643"/>
            <a:ext cx="1154430" cy="182880"/>
          </a:xfrm>
          <a:prstGeom prst="rect">
            <a:avLst/>
          </a:prstGeom>
        </p:spPr>
        <p:txBody>
          <a:bodyPr anchor="ctr"/>
          <a:lstStyle/>
          <a:p>
            <a:pPr algn="ctr">
              <a:defRPr sz="660" b="1">
                <a:solidFill>
                  <a:srgbClr val="FFFFFF"/>
                </a:solidFill>
              </a:defRPr>
            </a:pPr>
            <a:r>
              <a:t>查询</a:t>
            </a:r>
          </a:p>
        </p:txBody>
      </p:sp>
      <p:sp>
        <p:nvSpPr>
          <p:cNvPr id="117" name="圆角矩形 116"/>
          <p:cNvSpPr>
            <a:spLocks noGrp="1"/>
          </p:cNvSpPr>
          <p:nvPr/>
        </p:nvSpPr>
        <p:spPr>
          <a:xfrm>
            <a:off x="9057323" y="164783"/>
            <a:ext cx="1154430" cy="264795"/>
          </a:xfrm>
          <a:prstGeom prst="roundRect">
            <a:avLst>
              <a:gd name="adj" fmla="val 28777"/>
            </a:avLst>
          </a:prstGeom>
          <a:solidFill>
            <a:srgbClr val="007574"/>
          </a:solidFill>
          <a:ln w="12668">
            <a:solidFill>
              <a:srgbClr val="007574"/>
            </a:solidFill>
            <a:prstDash val="solid"/>
          </a:ln>
        </p:spPr>
        <p:txBody>
          <a:bodyPr/>
          <a:p/>
        </p:txBody>
      </p:sp>
      <p:sp>
        <p:nvSpPr>
          <p:cNvPr id="118" name="矩形 117"/>
          <p:cNvSpPr>
            <a:spLocks noGrp="1"/>
          </p:cNvSpPr>
          <p:nvPr/>
        </p:nvSpPr>
        <p:spPr>
          <a:xfrm>
            <a:off x="9057323" y="187643"/>
            <a:ext cx="1154430" cy="182880"/>
          </a:xfrm>
          <a:prstGeom prst="rect">
            <a:avLst/>
          </a:prstGeom>
        </p:spPr>
        <p:txBody>
          <a:bodyPr anchor="ctr"/>
          <a:lstStyle/>
          <a:p>
            <a:pPr algn="ctr">
              <a:defRPr sz="660" b="1">
                <a:solidFill>
                  <a:srgbClr val="FFFFFF"/>
                </a:solidFill>
              </a:defRPr>
            </a:pPr>
            <a:r>
              <a:t>决策</a:t>
            </a:r>
          </a:p>
        </p:txBody>
      </p:sp>
      <p:sp>
        <p:nvSpPr>
          <p:cNvPr id="119" name="圆角矩形 118"/>
          <p:cNvSpPr>
            <a:spLocks noGrp="1"/>
          </p:cNvSpPr>
          <p:nvPr/>
        </p:nvSpPr>
        <p:spPr>
          <a:xfrm>
            <a:off x="10257473" y="164783"/>
            <a:ext cx="1154430" cy="264795"/>
          </a:xfrm>
          <a:prstGeom prst="roundRect">
            <a:avLst>
              <a:gd name="adj" fmla="val 28777"/>
            </a:avLst>
          </a:prstGeom>
          <a:solidFill>
            <a:srgbClr val="007574"/>
          </a:solidFill>
          <a:ln w="12668">
            <a:solidFill>
              <a:srgbClr val="007574"/>
            </a:solidFill>
            <a:prstDash val="solid"/>
          </a:ln>
        </p:spPr>
        <p:txBody>
          <a:bodyPr/>
          <a:p/>
        </p:txBody>
      </p:sp>
      <p:sp>
        <p:nvSpPr>
          <p:cNvPr id="120" name="矩形 119"/>
          <p:cNvSpPr>
            <a:spLocks noGrp="1"/>
          </p:cNvSpPr>
          <p:nvPr/>
        </p:nvSpPr>
        <p:spPr>
          <a:xfrm>
            <a:off x="10257473" y="187643"/>
            <a:ext cx="1154430" cy="182880"/>
          </a:xfrm>
          <a:prstGeom prst="rect">
            <a:avLst/>
          </a:prstGeom>
        </p:spPr>
        <p:txBody>
          <a:bodyPr anchor="ctr"/>
          <a:lstStyle/>
          <a:p>
            <a:pPr algn="ctr">
              <a:defRPr sz="660" b="1">
                <a:solidFill>
                  <a:srgbClr val="FFFFFF"/>
                </a:solidFill>
              </a:defRPr>
            </a:pPr>
            <a:r>
              <a:t>执行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>
            <a:spLocks noGrp="1"/>
          </p:cNvSpPr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" name="Rectangle 2"/>
          <p:cNvSpPr>
            <a:spLocks noGrp="1"/>
          </p:cNvSpPr>
          <p:nvPr/>
        </p:nvSpPr>
        <p:spPr>
          <a:xfrm>
            <a:off x="0" y="0"/>
            <a:ext cx="41148" cy="6858000"/>
          </a:xfrm>
          <a:prstGeom prst="rect">
            <a:avLst/>
          </a:prstGeom>
          <a:solidFill>
            <a:srgbClr val="0A8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4" name="Oval 3"/>
          <p:cNvSpPr>
            <a:spLocks noGrp="1"/>
          </p:cNvSpPr>
          <p:nvPr/>
        </p:nvSpPr>
        <p:spPr>
          <a:xfrm>
            <a:off x="658368" y="384048"/>
            <a:ext cx="73152" cy="73152"/>
          </a:xfrm>
          <a:prstGeom prst="ellipse">
            <a:avLst/>
          </a:prstGeom>
          <a:solidFill>
            <a:srgbClr val="0A8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5" name="Rectangle 4"/>
          <p:cNvSpPr>
            <a:spLocks noGrp="1"/>
          </p:cNvSpPr>
          <p:nvPr/>
        </p:nvSpPr>
        <p:spPr>
          <a:xfrm>
            <a:off x="768096" y="420624"/>
            <a:ext cx="411480" cy="16459"/>
          </a:xfrm>
          <a:prstGeom prst="rect">
            <a:avLst/>
          </a:prstGeom>
          <a:solidFill>
            <a:srgbClr val="0A8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6" name="TextBox 5"/>
          <p:cNvSpPr>
            <a:spLocks noGrp="1"/>
          </p:cNvSpPr>
          <p:nvPr/>
        </p:nvSpPr>
        <p:spPr>
          <a:xfrm>
            <a:off x="1225296" y="256032"/>
            <a:ext cx="41148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050" b="1">
                <a:solidFill>
                  <a:srgbClr val="076B50"/>
                </a:solidFill>
                <a:latin typeface="Noto Sans CJK SC"/>
                <a:ea typeface="Noto Sans CJK SC"/>
                <a:cs typeface="Noto Sans CJK SC"/>
              </a:rPr>
              <a:t>CHAPTER 2 · 场景与移交边界</a:t>
            </a:r>
            <a:endParaRPr sz="1050" b="1">
              <a:solidFill>
                <a:srgbClr val="0A8F6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" name="TextBox 6"/>
          <p:cNvSpPr>
            <a:spLocks noGrp="1"/>
          </p:cNvSpPr>
          <p:nvPr/>
        </p:nvSpPr>
        <p:spPr>
          <a:xfrm>
            <a:off x="658368" y="694944"/>
            <a:ext cx="10652760" cy="47548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</a:pPr>
            <a:r>
              <a:rPr sz="2720" b="1" i="0">
                <a:solidFill>
                  <a:srgbClr val="14383E"/>
                </a:solidFill>
                <a:latin typeface="Noto Sans CJK SC"/>
                <a:ea typeface="Noto Sans CJK SC"/>
                <a:cs typeface="Noto Sans CJK SC"/>
              </a:rPr>
              <a:t>场景地图与意图体系</a:t>
            </a:r>
            <a:endParaRPr sz="2720" b="1" i="0">
              <a:solidFill>
                <a:srgbClr val="14383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8" name="TextBox 7"/>
          <p:cNvSpPr>
            <a:spLocks noGrp="1"/>
          </p:cNvSpPr>
          <p:nvPr/>
        </p:nvSpPr>
        <p:spPr>
          <a:xfrm>
            <a:off x="658368" y="1170432"/>
            <a:ext cx="10561320" cy="31089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</a:pPr>
            <a:r>
              <a:rPr sz="1170" b="0" i="0">
                <a:solidFill>
                  <a:srgbClr val="44585C"/>
                </a:solidFill>
                <a:latin typeface="Noto Sans CJK SC"/>
                <a:ea typeface="Noto Sans CJK SC"/>
                <a:cs typeface="Noto Sans CJK SC"/>
              </a:rPr>
              <a:t>场景识别之后，系统才知道要准备哪些事实、能调用哪些能力，以及何时转人工。</a:t>
            </a:r>
            <a:endParaRPr sz="1170" b="0" i="0">
              <a:solidFill>
                <a:srgbClr val="6B8185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9" name="Rectangle 8"/>
          <p:cNvSpPr>
            <a:spLocks noGrp="1"/>
          </p:cNvSpPr>
          <p:nvPr/>
        </p:nvSpPr>
        <p:spPr>
          <a:xfrm>
            <a:off x="658368" y="6501384"/>
            <a:ext cx="10835640" cy="10972"/>
          </a:xfrm>
          <a:prstGeom prst="rect">
            <a:avLst/>
          </a:prstGeom>
          <a:solidFill>
            <a:srgbClr val="C9DC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0" name="TextBox 9"/>
          <p:cNvSpPr>
            <a:spLocks noGrp="1"/>
          </p:cNvSpPr>
          <p:nvPr/>
        </p:nvSpPr>
        <p:spPr>
          <a:xfrm>
            <a:off x="658368" y="6547104"/>
            <a:ext cx="237744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780" b="1" i="0">
                <a:solidFill>
                  <a:srgbClr val="5C7276"/>
                </a:solidFill>
                <a:latin typeface="Noto Sans CJK SC"/>
                <a:ea typeface="Noto Sans CJK SC"/>
                <a:cs typeface="Noto Sans CJK SC"/>
              </a:rPr>
              <a:t>CUSTOMER SERVICE AI AGENT</a:t>
            </a:r>
            <a:endParaRPr sz="780" b="1" i="0">
              <a:solidFill>
                <a:srgbClr val="98ACA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1" name="TextBox 10"/>
          <p:cNvSpPr>
            <a:spLocks noGrp="1"/>
          </p:cNvSpPr>
          <p:nvPr/>
        </p:nvSpPr>
        <p:spPr>
          <a:xfrm>
            <a:off x="10680192" y="6519672"/>
            <a:ext cx="82296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buNone/>
            </a:pPr>
            <a:r>
              <a:rPr sz="880" b="1">
                <a:solidFill>
                  <a:srgbClr val="076B50"/>
                </a:solidFill>
                <a:latin typeface="Noto Sans CJK SC"/>
                <a:ea typeface="Noto Sans CJK SC"/>
                <a:cs typeface="Noto Sans CJK SC"/>
              </a:rPr>
              <a:t>16</a:t>
            </a:r>
            <a:endParaRPr sz="880" b="1">
              <a:solidFill>
                <a:srgbClr val="0A8F6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2" name="Rounded Rectangle 11"/>
          <p:cNvSpPr>
            <a:spLocks noGrp="1"/>
          </p:cNvSpPr>
          <p:nvPr/>
        </p:nvSpPr>
        <p:spPr>
          <a:xfrm>
            <a:off x="690372" y="1723644"/>
            <a:ext cx="2267712" cy="4498848"/>
          </a:xfrm>
          <a:prstGeom prst="roundRect">
            <a:avLst/>
          </a:prstGeom>
          <a:solidFill>
            <a:srgbClr val="E3E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3" name="Rounded Rectangle 12"/>
          <p:cNvSpPr>
            <a:spLocks noGrp="1"/>
          </p:cNvSpPr>
          <p:nvPr/>
        </p:nvSpPr>
        <p:spPr>
          <a:xfrm>
            <a:off x="658368" y="1682496"/>
            <a:ext cx="2267712" cy="44988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5" name="TextBox 14"/>
          <p:cNvSpPr>
            <a:spLocks noGrp="1"/>
          </p:cNvSpPr>
          <p:nvPr/>
        </p:nvSpPr>
        <p:spPr>
          <a:xfrm>
            <a:off x="914400" y="1892807"/>
            <a:ext cx="135331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320" b="1" i="0">
                <a:solidFill>
                  <a:srgbClr val="14383E"/>
                </a:solidFill>
                <a:latin typeface="Noto Sans CJK SC"/>
                <a:ea typeface="Noto Sans CJK SC"/>
                <a:cs typeface="Noto Sans CJK SC"/>
              </a:rPr>
              <a:t>一级：业务域</a:t>
            </a:r>
            <a:endParaRPr sz="1320" b="1" i="0">
              <a:solidFill>
                <a:srgbClr val="14383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6" name="TextBox 15"/>
          <p:cNvSpPr>
            <a:spLocks noGrp="1"/>
          </p:cNvSpPr>
          <p:nvPr/>
        </p:nvSpPr>
        <p:spPr>
          <a:xfrm>
            <a:off x="914400" y="2212848"/>
            <a:ext cx="17373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830" b="0" i="0">
                <a:solidFill>
                  <a:srgbClr val="44585C"/>
                </a:solidFill>
                <a:latin typeface="Noto Sans CJK SC"/>
                <a:ea typeface="Noto Sans CJK SC"/>
                <a:cs typeface="Noto Sans CJK SC"/>
              </a:rPr>
              <a:t>8 个业务域 + other 兜底，共 9 类（图示 5 个）</a:t>
            </a:r>
            <a:endParaRPr sz="830" b="0" i="0">
              <a:solidFill>
                <a:srgbClr val="6B8185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7" name="Rounded Rectangle 16"/>
          <p:cNvSpPr>
            <a:spLocks noGrp="1"/>
          </p:cNvSpPr>
          <p:nvPr/>
        </p:nvSpPr>
        <p:spPr>
          <a:xfrm>
            <a:off x="914400" y="2615184"/>
            <a:ext cx="1755648" cy="438912"/>
          </a:xfrm>
          <a:prstGeom prst="roundRect">
            <a:avLst/>
          </a:prstGeom>
          <a:solidFill>
            <a:srgbClr val="EAF2FF"/>
          </a:solidFill>
          <a:ln w="10160"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8" name="Oval 17"/>
          <p:cNvSpPr>
            <a:spLocks noGrp="1"/>
          </p:cNvSpPr>
          <p:nvPr/>
        </p:nvSpPr>
        <p:spPr>
          <a:xfrm>
            <a:off x="1069848" y="2734056"/>
            <a:ext cx="201168" cy="201168"/>
          </a:xfrm>
          <a:prstGeom prst="ellipse">
            <a:avLst/>
          </a:prstGeom>
          <a:solidFill>
            <a:srgbClr val="1F63C4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9" name="TextBox 18"/>
          <p:cNvSpPr>
            <a:spLocks noGrp="1"/>
          </p:cNvSpPr>
          <p:nvPr/>
        </p:nvSpPr>
        <p:spPr>
          <a:xfrm>
            <a:off x="1069848" y="2743200"/>
            <a:ext cx="201168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660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1</a:t>
            </a:r>
            <a:endParaRPr sz="660" b="1" i="0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0" name="TextBox 19"/>
          <p:cNvSpPr>
            <a:spLocks noGrp="1"/>
          </p:cNvSpPr>
          <p:nvPr/>
        </p:nvSpPr>
        <p:spPr>
          <a:xfrm>
            <a:off x="1389888" y="2706624"/>
            <a:ext cx="1078992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870" b="1" i="0">
                <a:solidFill>
                  <a:srgbClr val="14383E"/>
                </a:solidFill>
                <a:latin typeface="Noto Sans CJK SC"/>
                <a:ea typeface="Noto Sans CJK SC"/>
                <a:cs typeface="Noto Sans CJK SC"/>
              </a:rPr>
              <a:t>售前咨询</a:t>
            </a:r>
            <a:endParaRPr sz="870" b="1" i="0">
              <a:solidFill>
                <a:srgbClr val="14383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1" name="Rounded Rectangle 20"/>
          <p:cNvSpPr>
            <a:spLocks noGrp="1"/>
          </p:cNvSpPr>
          <p:nvPr/>
        </p:nvSpPr>
        <p:spPr>
          <a:xfrm>
            <a:off x="914400" y="3227832"/>
            <a:ext cx="1755648" cy="438912"/>
          </a:xfrm>
          <a:prstGeom prst="roundRect">
            <a:avLst/>
          </a:prstGeom>
          <a:solidFill>
            <a:srgbClr val="E6F7F6"/>
          </a:solidFill>
          <a:ln w="10160">
            <a:solidFill>
              <a:srgbClr val="00A7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2" name="Oval 21"/>
          <p:cNvSpPr>
            <a:spLocks noGrp="1"/>
          </p:cNvSpPr>
          <p:nvPr/>
        </p:nvSpPr>
        <p:spPr>
          <a:xfrm>
            <a:off x="1069848" y="3346703"/>
            <a:ext cx="201168" cy="201168"/>
          </a:xfrm>
          <a:prstGeom prst="ellipse">
            <a:avLst/>
          </a:prstGeom>
          <a:solidFill>
            <a:srgbClr val="007574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3" name="TextBox 22"/>
          <p:cNvSpPr>
            <a:spLocks noGrp="1"/>
          </p:cNvSpPr>
          <p:nvPr/>
        </p:nvSpPr>
        <p:spPr>
          <a:xfrm>
            <a:off x="1069848" y="3355848"/>
            <a:ext cx="201168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660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2</a:t>
            </a:r>
            <a:endParaRPr sz="660" b="1" i="0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4" name="TextBox 23"/>
          <p:cNvSpPr>
            <a:spLocks noGrp="1"/>
          </p:cNvSpPr>
          <p:nvPr/>
        </p:nvSpPr>
        <p:spPr>
          <a:xfrm>
            <a:off x="1389888" y="3319272"/>
            <a:ext cx="1078992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870" b="1" i="0">
                <a:solidFill>
                  <a:srgbClr val="14383E"/>
                </a:solidFill>
                <a:latin typeface="Noto Sans CJK SC"/>
                <a:ea typeface="Noto Sans CJK SC"/>
                <a:cs typeface="Noto Sans CJK SC"/>
              </a:rPr>
              <a:t>订单变更</a:t>
            </a:r>
            <a:endParaRPr sz="870" b="1" i="0">
              <a:solidFill>
                <a:srgbClr val="14383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5" name="Rounded Rectangle 24"/>
          <p:cNvSpPr>
            <a:spLocks noGrp="1"/>
          </p:cNvSpPr>
          <p:nvPr/>
        </p:nvSpPr>
        <p:spPr>
          <a:xfrm>
            <a:off x="914400" y="3840480"/>
            <a:ext cx="1755648" cy="438912"/>
          </a:xfrm>
          <a:prstGeom prst="roundRect">
            <a:avLst/>
          </a:prstGeom>
          <a:solidFill>
            <a:srgbClr val="E8F6F0"/>
          </a:solidFill>
          <a:ln w="10160">
            <a:solidFill>
              <a:srgbClr val="0A8F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6" name="Oval 25"/>
          <p:cNvSpPr>
            <a:spLocks noGrp="1"/>
          </p:cNvSpPr>
          <p:nvPr/>
        </p:nvSpPr>
        <p:spPr>
          <a:xfrm>
            <a:off x="1069848" y="3959352"/>
            <a:ext cx="201168" cy="201168"/>
          </a:xfrm>
          <a:prstGeom prst="ellipse">
            <a:avLst/>
          </a:prstGeom>
          <a:solidFill>
            <a:srgbClr val="07714F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7" name="TextBox 26"/>
          <p:cNvSpPr>
            <a:spLocks noGrp="1"/>
          </p:cNvSpPr>
          <p:nvPr/>
        </p:nvSpPr>
        <p:spPr>
          <a:xfrm>
            <a:off x="1069848" y="3968496"/>
            <a:ext cx="201168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660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3</a:t>
            </a:r>
            <a:endParaRPr sz="660" b="1" i="0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8" name="TextBox 27"/>
          <p:cNvSpPr>
            <a:spLocks noGrp="1"/>
          </p:cNvSpPr>
          <p:nvPr/>
        </p:nvSpPr>
        <p:spPr>
          <a:xfrm>
            <a:off x="1389888" y="3931920"/>
            <a:ext cx="1078992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870" b="1" i="0">
                <a:solidFill>
                  <a:srgbClr val="14383E"/>
                </a:solidFill>
                <a:latin typeface="Noto Sans CJK SC"/>
                <a:ea typeface="Noto Sans CJK SC"/>
                <a:cs typeface="Noto Sans CJK SC"/>
              </a:rPr>
              <a:t>订单状态</a:t>
            </a:r>
            <a:endParaRPr sz="870" b="1" i="0">
              <a:solidFill>
                <a:srgbClr val="14383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9" name="Rounded Rectangle 28"/>
          <p:cNvSpPr>
            <a:spLocks noGrp="1"/>
          </p:cNvSpPr>
          <p:nvPr/>
        </p:nvSpPr>
        <p:spPr>
          <a:xfrm>
            <a:off x="914400" y="4453128"/>
            <a:ext cx="1755648" cy="438912"/>
          </a:xfrm>
          <a:prstGeom prst="roundRect">
            <a:avLst/>
          </a:prstGeom>
          <a:solidFill>
            <a:srgbClr val="FFF0E4"/>
          </a:solidFill>
          <a:ln w="10160">
            <a:solidFill>
              <a:srgbClr val="F28B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0" name="Oval 29"/>
          <p:cNvSpPr>
            <a:spLocks noGrp="1"/>
          </p:cNvSpPr>
          <p:nvPr/>
        </p:nvSpPr>
        <p:spPr>
          <a:xfrm>
            <a:off x="1069848" y="4572000"/>
            <a:ext cx="201168" cy="201168"/>
          </a:xfrm>
          <a:prstGeom prst="ellipse">
            <a:avLst/>
          </a:prstGeom>
          <a:solidFill>
            <a:srgbClr val="BC6414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1" name="TextBox 30"/>
          <p:cNvSpPr>
            <a:spLocks noGrp="1"/>
          </p:cNvSpPr>
          <p:nvPr/>
        </p:nvSpPr>
        <p:spPr>
          <a:xfrm>
            <a:off x="1069848" y="4581144"/>
            <a:ext cx="201168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660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4</a:t>
            </a:r>
            <a:endParaRPr sz="660" b="1" i="0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2" name="TextBox 31"/>
          <p:cNvSpPr>
            <a:spLocks noGrp="1"/>
          </p:cNvSpPr>
          <p:nvPr/>
        </p:nvSpPr>
        <p:spPr>
          <a:xfrm>
            <a:off x="1389888" y="4544568"/>
            <a:ext cx="1078992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870" b="1" i="0">
                <a:solidFill>
                  <a:srgbClr val="14383E"/>
                </a:solidFill>
                <a:latin typeface="Noto Sans CJK SC"/>
                <a:ea typeface="Noto Sans CJK SC"/>
                <a:cs typeface="Noto Sans CJK SC"/>
              </a:rPr>
              <a:t>售后</a:t>
            </a:r>
            <a:endParaRPr sz="870" b="1" i="0">
              <a:solidFill>
                <a:srgbClr val="14383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3" name="Rounded Rectangle 32"/>
          <p:cNvSpPr>
            <a:spLocks noGrp="1"/>
          </p:cNvSpPr>
          <p:nvPr/>
        </p:nvSpPr>
        <p:spPr>
          <a:xfrm>
            <a:off x="914400" y="5065776"/>
            <a:ext cx="1755648" cy="438912"/>
          </a:xfrm>
          <a:prstGeom prst="roundRect">
            <a:avLst/>
          </a:prstGeom>
          <a:solidFill>
            <a:srgbClr val="EFEEFF"/>
          </a:solidFill>
          <a:ln w="10160">
            <a:solidFill>
              <a:srgbClr val="6B6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4" name="Oval 33"/>
          <p:cNvSpPr>
            <a:spLocks noGrp="1"/>
          </p:cNvSpPr>
          <p:nvPr/>
        </p:nvSpPr>
        <p:spPr>
          <a:xfrm>
            <a:off x="1069848" y="5184648"/>
            <a:ext cx="201168" cy="201168"/>
          </a:xfrm>
          <a:prstGeom prst="ellipse">
            <a:avLst/>
          </a:prstGeom>
          <a:solidFill>
            <a:srgbClr val="5356BE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5" name="TextBox 34"/>
          <p:cNvSpPr>
            <a:spLocks noGrp="1"/>
          </p:cNvSpPr>
          <p:nvPr/>
        </p:nvSpPr>
        <p:spPr>
          <a:xfrm>
            <a:off x="1069848" y="5193792"/>
            <a:ext cx="201168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660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5</a:t>
            </a:r>
            <a:endParaRPr sz="660" b="1" i="0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6" name="TextBox 35"/>
          <p:cNvSpPr>
            <a:spLocks noGrp="1"/>
          </p:cNvSpPr>
          <p:nvPr/>
        </p:nvSpPr>
        <p:spPr>
          <a:xfrm>
            <a:off x="1389888" y="5157216"/>
            <a:ext cx="1078992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870" b="1" i="0">
                <a:solidFill>
                  <a:srgbClr val="14383E"/>
                </a:solidFill>
                <a:latin typeface="Noto Sans CJK SC"/>
                <a:ea typeface="Noto Sans CJK SC"/>
                <a:cs typeface="Noto Sans CJK SC"/>
              </a:rPr>
              <a:t>账户 · 升级 · 分诊</a:t>
            </a:r>
            <a:endParaRPr sz="870" b="1" i="0">
              <a:solidFill>
                <a:srgbClr val="14383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7" name="Right Arrow 36"/>
          <p:cNvSpPr>
            <a:spLocks noGrp="1"/>
          </p:cNvSpPr>
          <p:nvPr/>
        </p:nvSpPr>
        <p:spPr>
          <a:xfrm>
            <a:off x="3072384" y="3465576"/>
            <a:ext cx="384048" cy="530352"/>
          </a:xfrm>
          <a:prstGeom prst="rightArrow">
            <a:avLst/>
          </a:prstGeom>
          <a:solidFill>
            <a:srgbClr val="0A8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8" name="Rounded Rectangle 37"/>
          <p:cNvSpPr>
            <a:spLocks noGrp="1"/>
          </p:cNvSpPr>
          <p:nvPr/>
        </p:nvSpPr>
        <p:spPr>
          <a:xfrm>
            <a:off x="3634740" y="1723644"/>
            <a:ext cx="4709160" cy="4498848"/>
          </a:xfrm>
          <a:prstGeom prst="roundRect">
            <a:avLst/>
          </a:prstGeom>
          <a:solidFill>
            <a:srgbClr val="E3E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9" name="Rounded Rectangle 38"/>
          <p:cNvSpPr>
            <a:spLocks noGrp="1"/>
          </p:cNvSpPr>
          <p:nvPr/>
        </p:nvSpPr>
        <p:spPr>
          <a:xfrm>
            <a:off x="3602736" y="1682496"/>
            <a:ext cx="4709160" cy="44988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A8F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41" name="TextBox 40"/>
          <p:cNvSpPr>
            <a:spLocks noGrp="1"/>
          </p:cNvSpPr>
          <p:nvPr/>
        </p:nvSpPr>
        <p:spPr>
          <a:xfrm>
            <a:off x="3886200" y="1892807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320" b="1" i="0">
                <a:solidFill>
                  <a:srgbClr val="14383E"/>
                </a:solidFill>
                <a:latin typeface="Noto Sans CJK SC"/>
                <a:ea typeface="Noto Sans CJK SC"/>
                <a:cs typeface="Noto Sans CJK SC"/>
              </a:rPr>
              <a:t>二级：具体场景</a:t>
            </a:r>
            <a:endParaRPr sz="1320" b="1" i="0">
              <a:solidFill>
                <a:srgbClr val="14383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2" name="Rounded Rectangle 41"/>
          <p:cNvSpPr>
            <a:spLocks noGrp="1"/>
          </p:cNvSpPr>
          <p:nvPr/>
        </p:nvSpPr>
        <p:spPr>
          <a:xfrm>
            <a:off x="6748272" y="1865376"/>
            <a:ext cx="1170432" cy="256032"/>
          </a:xfrm>
          <a:prstGeom prst="roundRect">
            <a:avLst/>
          </a:prstGeom>
          <a:solidFill>
            <a:srgbClr val="07714F"/>
          </a:solidFill>
          <a:ln w="10160">
            <a:solidFill>
              <a:srgbClr val="0771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43" name="TextBox 42"/>
          <p:cNvSpPr>
            <a:spLocks noGrp="1"/>
          </p:cNvSpPr>
          <p:nvPr/>
        </p:nvSpPr>
        <p:spPr>
          <a:xfrm>
            <a:off x="6766559" y="1874519"/>
            <a:ext cx="1133856" cy="23774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</a:pPr>
            <a:r>
              <a:rPr sz="750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26 个场景</a:t>
            </a:r>
            <a:endParaRPr sz="750" b="1" i="0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4" name="Rounded Rectangle 43"/>
          <p:cNvSpPr>
            <a:spLocks noGrp="1"/>
          </p:cNvSpPr>
          <p:nvPr/>
        </p:nvSpPr>
        <p:spPr>
          <a:xfrm>
            <a:off x="3886200" y="2523744"/>
            <a:ext cx="4142232" cy="612648"/>
          </a:xfrm>
          <a:prstGeom prst="roundRect">
            <a:avLst/>
          </a:prstGeom>
          <a:solidFill>
            <a:srgbClr val="E6F7F6"/>
          </a:solidFill>
          <a:ln w="10160">
            <a:solidFill>
              <a:srgbClr val="00A7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45" name="TextBox 44"/>
          <p:cNvSpPr>
            <a:spLocks noGrp="1"/>
          </p:cNvSpPr>
          <p:nvPr/>
        </p:nvSpPr>
        <p:spPr>
          <a:xfrm>
            <a:off x="4078224" y="2633472"/>
            <a:ext cx="786384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880" b="1" i="0">
                <a:solidFill>
                  <a:srgbClr val="00706F"/>
                </a:solidFill>
                <a:latin typeface="Noto Sans CJK SC"/>
                <a:ea typeface="Noto Sans CJK SC"/>
                <a:cs typeface="Noto Sans CJK SC"/>
              </a:rPr>
              <a:t>订单变更</a:t>
            </a:r>
            <a:endParaRPr sz="880" b="1" i="0">
              <a:solidFill>
                <a:srgbClr val="00A7A7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6" name="Rounded Rectangle 45"/>
          <p:cNvSpPr>
            <a:spLocks noGrp="1"/>
          </p:cNvSpPr>
          <p:nvPr/>
        </p:nvSpPr>
        <p:spPr>
          <a:xfrm>
            <a:off x="4992624" y="2670048"/>
            <a:ext cx="841248" cy="2468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00A7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47" name="TextBox 46"/>
          <p:cNvSpPr>
            <a:spLocks noGrp="1"/>
          </p:cNvSpPr>
          <p:nvPr/>
        </p:nvSpPr>
        <p:spPr>
          <a:xfrm>
            <a:off x="5010912" y="2679191"/>
            <a:ext cx="804672" cy="2286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</a:pPr>
            <a:r>
              <a:rPr sz="720" b="1" i="0">
                <a:solidFill>
                  <a:srgbClr val="14383E"/>
                </a:solidFill>
                <a:latin typeface="Noto Sans CJK SC"/>
                <a:ea typeface="Noto Sans CJK SC"/>
                <a:cs typeface="Noto Sans CJK SC"/>
              </a:rPr>
              <a:t>修改地址</a:t>
            </a:r>
            <a:endParaRPr sz="720" b="1" i="0">
              <a:solidFill>
                <a:srgbClr val="14383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8" name="Rounded Rectangle 47"/>
          <p:cNvSpPr>
            <a:spLocks noGrp="1"/>
          </p:cNvSpPr>
          <p:nvPr/>
        </p:nvSpPr>
        <p:spPr>
          <a:xfrm>
            <a:off x="5925312" y="2670048"/>
            <a:ext cx="841248" cy="2468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00A7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49" name="TextBox 48"/>
          <p:cNvSpPr>
            <a:spLocks noGrp="1"/>
          </p:cNvSpPr>
          <p:nvPr/>
        </p:nvSpPr>
        <p:spPr>
          <a:xfrm>
            <a:off x="5943600" y="2679191"/>
            <a:ext cx="804672" cy="2286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</a:pPr>
            <a:r>
              <a:rPr sz="720" b="1" i="0">
                <a:solidFill>
                  <a:srgbClr val="14383E"/>
                </a:solidFill>
                <a:latin typeface="Noto Sans CJK SC"/>
                <a:ea typeface="Noto Sans CJK SC"/>
                <a:cs typeface="Noto Sans CJK SC"/>
              </a:rPr>
              <a:t>取消订单</a:t>
            </a:r>
            <a:endParaRPr sz="720" b="1" i="0">
              <a:solidFill>
                <a:srgbClr val="14383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0" name="Rounded Rectangle 49"/>
          <p:cNvSpPr>
            <a:spLocks noGrp="1"/>
          </p:cNvSpPr>
          <p:nvPr/>
        </p:nvSpPr>
        <p:spPr>
          <a:xfrm>
            <a:off x="6858000" y="2670048"/>
            <a:ext cx="841248" cy="2468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00A7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51" name="TextBox 50"/>
          <p:cNvSpPr>
            <a:spLocks noGrp="1"/>
          </p:cNvSpPr>
          <p:nvPr/>
        </p:nvSpPr>
        <p:spPr>
          <a:xfrm>
            <a:off x="6876288" y="2679191"/>
            <a:ext cx="804672" cy="2286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</a:pPr>
            <a:r>
              <a:rPr sz="720" b="1" i="0">
                <a:solidFill>
                  <a:srgbClr val="14383E"/>
                </a:solidFill>
                <a:latin typeface="Noto Sans CJK SC"/>
                <a:ea typeface="Noto Sans CJK SC"/>
                <a:cs typeface="Noto Sans CJK SC"/>
              </a:rPr>
              <a:t>修改邮箱(账户域)</a:t>
            </a:r>
            <a:endParaRPr sz="720" b="1" i="0">
              <a:solidFill>
                <a:srgbClr val="14383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2" name="Rounded Rectangle 51"/>
          <p:cNvSpPr>
            <a:spLocks noGrp="1"/>
          </p:cNvSpPr>
          <p:nvPr/>
        </p:nvSpPr>
        <p:spPr>
          <a:xfrm>
            <a:off x="3886200" y="3291839"/>
            <a:ext cx="4142232" cy="612648"/>
          </a:xfrm>
          <a:prstGeom prst="roundRect">
            <a:avLst/>
          </a:prstGeom>
          <a:solidFill>
            <a:srgbClr val="EAF2FF"/>
          </a:solidFill>
          <a:ln w="10160"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53" name="TextBox 52"/>
          <p:cNvSpPr>
            <a:spLocks noGrp="1"/>
          </p:cNvSpPr>
          <p:nvPr/>
        </p:nvSpPr>
        <p:spPr>
          <a:xfrm>
            <a:off x="4078224" y="3401568"/>
            <a:ext cx="786384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880" b="1" i="0">
                <a:solidFill>
                  <a:srgbClr val="1B5FC4"/>
                </a:solidFill>
                <a:latin typeface="Noto Sans CJK SC"/>
                <a:ea typeface="Noto Sans CJK SC"/>
                <a:cs typeface="Noto Sans CJK SC"/>
              </a:rPr>
              <a:t>状态查询</a:t>
            </a:r>
            <a:endParaRPr sz="880" b="1" i="0">
              <a:solidFill>
                <a:srgbClr val="2F80ED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4" name="Rounded Rectangle 53"/>
          <p:cNvSpPr>
            <a:spLocks noGrp="1"/>
          </p:cNvSpPr>
          <p:nvPr/>
        </p:nvSpPr>
        <p:spPr>
          <a:xfrm>
            <a:off x="4992624" y="3438144"/>
            <a:ext cx="841248" cy="2468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55" name="TextBox 54"/>
          <p:cNvSpPr>
            <a:spLocks noGrp="1"/>
          </p:cNvSpPr>
          <p:nvPr/>
        </p:nvSpPr>
        <p:spPr>
          <a:xfrm>
            <a:off x="5010912" y="3447287"/>
            <a:ext cx="804672" cy="2286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</a:pPr>
            <a:r>
              <a:rPr sz="720" b="1" i="0">
                <a:solidFill>
                  <a:srgbClr val="14383E"/>
                </a:solidFill>
                <a:latin typeface="Noto Sans CJK SC"/>
                <a:ea typeface="Noto Sans CJK SC"/>
                <a:cs typeface="Noto Sans CJK SC"/>
              </a:rPr>
              <a:t>订单状态</a:t>
            </a:r>
            <a:endParaRPr sz="720" b="1" i="0">
              <a:solidFill>
                <a:srgbClr val="14383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6" name="Rounded Rectangle 55"/>
          <p:cNvSpPr>
            <a:spLocks noGrp="1"/>
          </p:cNvSpPr>
          <p:nvPr/>
        </p:nvSpPr>
        <p:spPr>
          <a:xfrm>
            <a:off x="5925312" y="3438144"/>
            <a:ext cx="841248" cy="2468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57" name="TextBox 56"/>
          <p:cNvSpPr>
            <a:spLocks noGrp="1"/>
          </p:cNvSpPr>
          <p:nvPr/>
        </p:nvSpPr>
        <p:spPr>
          <a:xfrm>
            <a:off x="5943600" y="3447287"/>
            <a:ext cx="804672" cy="2286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</a:pPr>
            <a:r>
              <a:rPr sz="720" b="1" i="0">
                <a:solidFill>
                  <a:srgbClr val="14383E"/>
                </a:solidFill>
                <a:latin typeface="Noto Sans CJK SC"/>
                <a:ea typeface="Noto Sans CJK SC"/>
                <a:cs typeface="Noto Sans CJK SC"/>
              </a:rPr>
              <a:t>物流进度</a:t>
            </a:r>
            <a:endParaRPr sz="720" b="1" i="0">
              <a:solidFill>
                <a:srgbClr val="14383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8" name="Rounded Rectangle 57"/>
          <p:cNvSpPr>
            <a:spLocks noGrp="1"/>
          </p:cNvSpPr>
          <p:nvPr/>
        </p:nvSpPr>
        <p:spPr>
          <a:xfrm>
            <a:off x="6858000" y="3438144"/>
            <a:ext cx="841248" cy="2468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59" name="TextBox 58"/>
          <p:cNvSpPr>
            <a:spLocks noGrp="1"/>
          </p:cNvSpPr>
          <p:nvPr/>
        </p:nvSpPr>
        <p:spPr>
          <a:xfrm>
            <a:off x="6876288" y="3447287"/>
            <a:ext cx="804672" cy="2286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</a:pPr>
            <a:r>
              <a:rPr sz="720" b="1" i="0">
                <a:solidFill>
                  <a:srgbClr val="14383E"/>
                </a:solidFill>
                <a:latin typeface="Noto Sans CJK SC"/>
                <a:ea typeface="Noto Sans CJK SC"/>
                <a:cs typeface="Noto Sans CJK SC"/>
              </a:rPr>
              <a:t>退款状态</a:t>
            </a:r>
            <a:endParaRPr sz="720" b="1" i="0">
              <a:solidFill>
                <a:srgbClr val="14383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0" name="Rounded Rectangle 59"/>
          <p:cNvSpPr>
            <a:spLocks noGrp="1"/>
          </p:cNvSpPr>
          <p:nvPr/>
        </p:nvSpPr>
        <p:spPr>
          <a:xfrm>
            <a:off x="3886200" y="4059935"/>
            <a:ext cx="4142232" cy="612648"/>
          </a:xfrm>
          <a:prstGeom prst="roundRect">
            <a:avLst/>
          </a:prstGeom>
          <a:solidFill>
            <a:srgbClr val="FFF0E4"/>
          </a:solidFill>
          <a:ln w="10160">
            <a:solidFill>
              <a:srgbClr val="F28B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61" name="TextBox 60"/>
          <p:cNvSpPr>
            <a:spLocks noGrp="1"/>
          </p:cNvSpPr>
          <p:nvPr/>
        </p:nvSpPr>
        <p:spPr>
          <a:xfrm>
            <a:off x="4078224" y="4169663"/>
            <a:ext cx="786384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880" b="1" i="0">
                <a:solidFill>
                  <a:srgbClr val="9A5210"/>
                </a:solidFill>
                <a:latin typeface="Noto Sans CJK SC"/>
                <a:ea typeface="Noto Sans CJK SC"/>
                <a:cs typeface="Noto Sans CJK SC"/>
              </a:rPr>
              <a:t>售后执行</a:t>
            </a:r>
            <a:endParaRPr sz="880" b="1" i="0">
              <a:solidFill>
                <a:srgbClr val="F28B36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2" name="Rounded Rectangle 61"/>
          <p:cNvSpPr>
            <a:spLocks noGrp="1"/>
          </p:cNvSpPr>
          <p:nvPr/>
        </p:nvSpPr>
        <p:spPr>
          <a:xfrm>
            <a:off x="4992624" y="4206240"/>
            <a:ext cx="841248" cy="2468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28B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63" name="TextBox 62"/>
          <p:cNvSpPr>
            <a:spLocks noGrp="1"/>
          </p:cNvSpPr>
          <p:nvPr/>
        </p:nvSpPr>
        <p:spPr>
          <a:xfrm>
            <a:off x="5010912" y="4215383"/>
            <a:ext cx="804672" cy="2286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</a:pPr>
            <a:r>
              <a:rPr sz="720" b="1" i="0">
                <a:solidFill>
                  <a:srgbClr val="14383E"/>
                </a:solidFill>
                <a:latin typeface="Noto Sans CJK SC"/>
                <a:ea typeface="Noto Sans CJK SC"/>
                <a:cs typeface="Noto Sans CJK SC"/>
              </a:rPr>
              <a:t>退货资格</a:t>
            </a:r>
            <a:endParaRPr sz="720" b="1" i="0">
              <a:solidFill>
                <a:srgbClr val="14383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4" name="Rounded Rectangle 63"/>
          <p:cNvSpPr>
            <a:spLocks noGrp="1"/>
          </p:cNvSpPr>
          <p:nvPr/>
        </p:nvSpPr>
        <p:spPr>
          <a:xfrm>
            <a:off x="5925312" y="4206240"/>
            <a:ext cx="841248" cy="2468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28B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65" name="TextBox 64"/>
          <p:cNvSpPr>
            <a:spLocks noGrp="1"/>
          </p:cNvSpPr>
          <p:nvPr/>
        </p:nvSpPr>
        <p:spPr>
          <a:xfrm>
            <a:off x="5943600" y="4215383"/>
            <a:ext cx="804672" cy="2286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</a:pPr>
            <a:r>
              <a:rPr sz="720" b="1" i="0">
                <a:solidFill>
                  <a:srgbClr val="14383E"/>
                </a:solidFill>
                <a:latin typeface="Noto Sans CJK SC"/>
                <a:ea typeface="Noto Sans CJK SC"/>
                <a:cs typeface="Noto Sans CJK SC"/>
              </a:rPr>
              <a:t>退款方式变更</a:t>
            </a:r>
            <a:endParaRPr sz="720" b="1" i="0">
              <a:solidFill>
                <a:srgbClr val="14383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6" name="Rounded Rectangle 65"/>
          <p:cNvSpPr>
            <a:spLocks noGrp="1"/>
          </p:cNvSpPr>
          <p:nvPr/>
        </p:nvSpPr>
        <p:spPr>
          <a:xfrm>
            <a:off x="6858000" y="4206240"/>
            <a:ext cx="841248" cy="2468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28B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67" name="TextBox 66"/>
          <p:cNvSpPr>
            <a:spLocks noGrp="1"/>
          </p:cNvSpPr>
          <p:nvPr/>
        </p:nvSpPr>
        <p:spPr>
          <a:xfrm>
            <a:off x="6876288" y="4215383"/>
            <a:ext cx="804672" cy="2286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</a:pPr>
            <a:r>
              <a:rPr sz="720" b="1" i="0">
                <a:solidFill>
                  <a:srgbClr val="14383E"/>
                </a:solidFill>
                <a:latin typeface="Noto Sans CJK SC"/>
                <a:ea typeface="Noto Sans CJK SC"/>
                <a:cs typeface="Noto Sans CJK SC"/>
              </a:rPr>
              <a:t>少件错件</a:t>
            </a:r>
            <a:endParaRPr sz="720" b="1" i="0">
              <a:solidFill>
                <a:srgbClr val="14383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8" name="Rounded Rectangle 67"/>
          <p:cNvSpPr>
            <a:spLocks noGrp="1"/>
          </p:cNvSpPr>
          <p:nvPr/>
        </p:nvSpPr>
        <p:spPr>
          <a:xfrm>
            <a:off x="3886200" y="4828031"/>
            <a:ext cx="4142232" cy="612648"/>
          </a:xfrm>
          <a:prstGeom prst="roundRect">
            <a:avLst/>
          </a:prstGeom>
          <a:solidFill>
            <a:srgbClr val="E8F6F0"/>
          </a:solidFill>
          <a:ln w="10160">
            <a:solidFill>
              <a:srgbClr val="0A8F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69" name="TextBox 68"/>
          <p:cNvSpPr>
            <a:spLocks noGrp="1"/>
          </p:cNvSpPr>
          <p:nvPr/>
        </p:nvSpPr>
        <p:spPr>
          <a:xfrm>
            <a:off x="4078224" y="4937759"/>
            <a:ext cx="786384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880" b="1" i="0">
                <a:solidFill>
                  <a:srgbClr val="076B50"/>
                </a:solidFill>
                <a:latin typeface="Noto Sans CJK SC"/>
                <a:ea typeface="Noto Sans CJK SC"/>
                <a:cs typeface="Noto Sans CJK SC"/>
              </a:rPr>
              <a:t>知识咨询</a:t>
            </a:r>
            <a:endParaRPr sz="880" b="1" i="0">
              <a:solidFill>
                <a:srgbClr val="0A8F6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0" name="Rounded Rectangle 69"/>
          <p:cNvSpPr>
            <a:spLocks noGrp="1"/>
          </p:cNvSpPr>
          <p:nvPr/>
        </p:nvSpPr>
        <p:spPr>
          <a:xfrm>
            <a:off x="4992624" y="4974336"/>
            <a:ext cx="841248" cy="2468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0A8F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71" name="TextBox 70"/>
          <p:cNvSpPr>
            <a:spLocks noGrp="1"/>
          </p:cNvSpPr>
          <p:nvPr/>
        </p:nvSpPr>
        <p:spPr>
          <a:xfrm>
            <a:off x="5010912" y="4983479"/>
            <a:ext cx="804672" cy="2286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</a:pPr>
            <a:r>
              <a:rPr sz="720" b="1" i="0">
                <a:solidFill>
                  <a:srgbClr val="14383E"/>
                </a:solidFill>
                <a:latin typeface="Noto Sans CJK SC"/>
                <a:ea typeface="Noto Sans CJK SC"/>
                <a:cs typeface="Noto Sans CJK SC"/>
              </a:rPr>
              <a:t>支付方式</a:t>
            </a:r>
            <a:endParaRPr sz="720" b="1" i="0">
              <a:solidFill>
                <a:srgbClr val="14383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2" name="Rounded Rectangle 71"/>
          <p:cNvSpPr>
            <a:spLocks noGrp="1"/>
          </p:cNvSpPr>
          <p:nvPr/>
        </p:nvSpPr>
        <p:spPr>
          <a:xfrm>
            <a:off x="5925312" y="4974336"/>
            <a:ext cx="841248" cy="2468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0A8F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73" name="TextBox 72"/>
          <p:cNvSpPr>
            <a:spLocks noGrp="1"/>
          </p:cNvSpPr>
          <p:nvPr/>
        </p:nvSpPr>
        <p:spPr>
          <a:xfrm>
            <a:off x="5943600" y="4983479"/>
            <a:ext cx="804672" cy="2286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</a:pPr>
            <a:r>
              <a:rPr sz="720" b="1" i="0">
                <a:solidFill>
                  <a:srgbClr val="14383E"/>
                </a:solidFill>
                <a:latin typeface="Noto Sans CJK SC"/>
                <a:ea typeface="Noto Sans CJK SC"/>
                <a:cs typeface="Noto Sans CJK SC"/>
              </a:rPr>
              <a:t>优惠规则</a:t>
            </a:r>
            <a:endParaRPr sz="720" b="1" i="0">
              <a:solidFill>
                <a:srgbClr val="14383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4" name="Rounded Rectangle 73"/>
          <p:cNvSpPr>
            <a:spLocks noGrp="1"/>
          </p:cNvSpPr>
          <p:nvPr/>
        </p:nvSpPr>
        <p:spPr>
          <a:xfrm>
            <a:off x="6858000" y="4974336"/>
            <a:ext cx="841248" cy="2468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0A8F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75" name="TextBox 74"/>
          <p:cNvSpPr>
            <a:spLocks noGrp="1"/>
          </p:cNvSpPr>
          <p:nvPr/>
        </p:nvSpPr>
        <p:spPr>
          <a:xfrm>
            <a:off x="6876288" y="4983479"/>
            <a:ext cx="804672" cy="2286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</a:pPr>
            <a:r>
              <a:rPr sz="720" b="1" i="0">
                <a:solidFill>
                  <a:srgbClr val="14383E"/>
                </a:solidFill>
                <a:latin typeface="Noto Sans CJK SC"/>
                <a:ea typeface="Noto Sans CJK SC"/>
                <a:cs typeface="Noto Sans CJK SC"/>
              </a:rPr>
              <a:t>商品与小样</a:t>
            </a:r>
            <a:endParaRPr sz="720" b="1" i="0">
              <a:solidFill>
                <a:srgbClr val="14383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6" name="Rounded Rectangle 75"/>
          <p:cNvSpPr>
            <a:spLocks noGrp="1"/>
          </p:cNvSpPr>
          <p:nvPr/>
        </p:nvSpPr>
        <p:spPr>
          <a:xfrm>
            <a:off x="3886200" y="5715000"/>
            <a:ext cx="4142232" cy="292608"/>
          </a:xfrm>
          <a:prstGeom prst="roundRect">
            <a:avLst/>
          </a:prstGeom>
          <a:solidFill>
            <a:srgbClr val="F0F4F3"/>
          </a:solidFill>
          <a:ln w="10160">
            <a:solidFill>
              <a:srgbClr val="C9D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77" name="TextBox 76"/>
          <p:cNvSpPr>
            <a:spLocks noGrp="1"/>
          </p:cNvSpPr>
          <p:nvPr/>
        </p:nvSpPr>
        <p:spPr>
          <a:xfrm>
            <a:off x="3886200" y="5769864"/>
            <a:ext cx="4142232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770" b="1" i="0">
                <a:solidFill>
                  <a:srgbClr val="44585C"/>
                </a:solidFill>
                <a:latin typeface="Noto Sans CJK SC"/>
                <a:ea typeface="Noto Sans CJK SC"/>
                <a:cs typeface="Noto Sans CJK SC"/>
              </a:rPr>
              <a:t>识别置信度 &lt; 0.6 或不在授权范围 → other / default 兜底</a:t>
            </a:r>
            <a:endParaRPr sz="770" b="1" i="0">
              <a:solidFill>
                <a:srgbClr val="6B8185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8" name="Right Arrow 77"/>
          <p:cNvSpPr>
            <a:spLocks noGrp="1"/>
          </p:cNvSpPr>
          <p:nvPr/>
        </p:nvSpPr>
        <p:spPr>
          <a:xfrm>
            <a:off x="8467344" y="3465576"/>
            <a:ext cx="384048" cy="530352"/>
          </a:xfrm>
          <a:prstGeom prst="rightArrow">
            <a:avLst/>
          </a:prstGeom>
          <a:solidFill>
            <a:srgbClr val="0A8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79" name="Rounded Rectangle 78"/>
          <p:cNvSpPr>
            <a:spLocks noGrp="1"/>
          </p:cNvSpPr>
          <p:nvPr/>
        </p:nvSpPr>
        <p:spPr>
          <a:xfrm>
            <a:off x="9029700" y="1723644"/>
            <a:ext cx="2505456" cy="4498848"/>
          </a:xfrm>
          <a:prstGeom prst="roundRect">
            <a:avLst/>
          </a:prstGeom>
          <a:solidFill>
            <a:srgbClr val="E3E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80" name="Rounded Rectangle 79"/>
          <p:cNvSpPr>
            <a:spLocks noGrp="1"/>
          </p:cNvSpPr>
          <p:nvPr/>
        </p:nvSpPr>
        <p:spPr>
          <a:xfrm>
            <a:off x="8997696" y="1682496"/>
            <a:ext cx="2505456" cy="44988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8B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82" name="TextBox 81"/>
          <p:cNvSpPr>
            <a:spLocks noGrp="1"/>
          </p:cNvSpPr>
          <p:nvPr/>
        </p:nvSpPr>
        <p:spPr>
          <a:xfrm>
            <a:off x="9262872" y="1892807"/>
            <a:ext cx="166420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320" b="1" i="0">
                <a:solidFill>
                  <a:srgbClr val="14383E"/>
                </a:solidFill>
                <a:latin typeface="Noto Sans CJK SC"/>
                <a:ea typeface="Noto Sans CJK SC"/>
                <a:cs typeface="Noto Sans CJK SC"/>
              </a:rPr>
              <a:t>绑定：处理方式</a:t>
            </a:r>
            <a:endParaRPr sz="1320" b="1" i="0">
              <a:solidFill>
                <a:srgbClr val="14383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83" name="TextBox 82"/>
          <p:cNvSpPr>
            <a:spLocks noGrp="1"/>
          </p:cNvSpPr>
          <p:nvPr/>
        </p:nvSpPr>
        <p:spPr>
          <a:xfrm>
            <a:off x="9262872" y="2212848"/>
            <a:ext cx="1901952" cy="3657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buNone/>
            </a:pPr>
            <a:r>
              <a:rPr sz="820" b="0" i="0">
                <a:solidFill>
                  <a:srgbClr val="44585C"/>
                </a:solidFill>
                <a:latin typeface="Noto Sans CJK SC"/>
                <a:ea typeface="Noto Sans CJK SC"/>
                <a:cs typeface="Noto Sans CJK SC"/>
              </a:rPr>
              <a:t>同一业务域内，不同场景可以采用不同授权级别。</a:t>
            </a:r>
            <a:endParaRPr sz="820" b="0" i="0">
              <a:solidFill>
                <a:srgbClr val="6B8185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84" name="Rounded Rectangle 83"/>
          <p:cNvSpPr>
            <a:spLocks noGrp="1"/>
          </p:cNvSpPr>
          <p:nvPr/>
        </p:nvSpPr>
        <p:spPr>
          <a:xfrm>
            <a:off x="9262872" y="2816352"/>
            <a:ext cx="1975104" cy="640080"/>
          </a:xfrm>
          <a:prstGeom prst="roundRect">
            <a:avLst/>
          </a:prstGeom>
          <a:solidFill>
            <a:srgbClr val="E8F6F0"/>
          </a:solidFill>
          <a:ln w="10160">
            <a:solidFill>
              <a:srgbClr val="0A8F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85" name="TextBox 84"/>
          <p:cNvSpPr>
            <a:spLocks noGrp="1"/>
          </p:cNvSpPr>
          <p:nvPr/>
        </p:nvSpPr>
        <p:spPr>
          <a:xfrm>
            <a:off x="9464040" y="2926080"/>
            <a:ext cx="804672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900" b="1" i="0">
                <a:solidFill>
                  <a:srgbClr val="076B50"/>
                </a:solidFill>
                <a:latin typeface="Noto Sans CJK SC"/>
                <a:ea typeface="Noto Sans CJK SC"/>
                <a:cs typeface="Noto Sans CJK SC"/>
              </a:rPr>
              <a:t>自动处理</a:t>
            </a:r>
            <a:endParaRPr sz="900" b="1" i="0">
              <a:solidFill>
                <a:srgbClr val="0A8F6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86" name="TextBox 85"/>
          <p:cNvSpPr>
            <a:spLocks noGrp="1"/>
          </p:cNvSpPr>
          <p:nvPr/>
        </p:nvSpPr>
        <p:spPr>
          <a:xfrm>
            <a:off x="10259568" y="2907792"/>
            <a:ext cx="749808" cy="31089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</a:pPr>
            <a:r>
              <a:rPr sz="680" b="0" i="0">
                <a:solidFill>
                  <a:srgbClr val="44585C"/>
                </a:solidFill>
                <a:latin typeface="Noto Sans CJK SC"/>
                <a:ea typeface="Noto Sans CJK SC"/>
                <a:cs typeface="Noto Sans CJK SC"/>
              </a:rPr>
              <a:t>低风险、结果可验证</a:t>
            </a:r>
            <a:endParaRPr sz="680" b="0" i="0">
              <a:solidFill>
                <a:srgbClr val="6B8185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87" name="Rounded Rectangle 86"/>
          <p:cNvSpPr>
            <a:spLocks noGrp="1"/>
          </p:cNvSpPr>
          <p:nvPr/>
        </p:nvSpPr>
        <p:spPr>
          <a:xfrm>
            <a:off x="9262872" y="3639312"/>
            <a:ext cx="1975104" cy="640080"/>
          </a:xfrm>
          <a:prstGeom prst="roundRect">
            <a:avLst/>
          </a:prstGeom>
          <a:solidFill>
            <a:srgbClr val="FFF0E4"/>
          </a:solidFill>
          <a:ln w="10160">
            <a:solidFill>
              <a:srgbClr val="F28B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88" name="TextBox 87"/>
          <p:cNvSpPr>
            <a:spLocks noGrp="1"/>
          </p:cNvSpPr>
          <p:nvPr/>
        </p:nvSpPr>
        <p:spPr>
          <a:xfrm>
            <a:off x="9464040" y="3749039"/>
            <a:ext cx="804672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900" b="1" i="0">
                <a:solidFill>
                  <a:srgbClr val="9A5210"/>
                </a:solidFill>
                <a:latin typeface="Noto Sans CJK SC"/>
                <a:ea typeface="Noto Sans CJK SC"/>
                <a:cs typeface="Noto Sans CJK SC"/>
              </a:rPr>
              <a:t>确认后执行</a:t>
            </a:r>
            <a:endParaRPr sz="900" b="1" i="0">
              <a:solidFill>
                <a:srgbClr val="F28B36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89" name="TextBox 88"/>
          <p:cNvSpPr>
            <a:spLocks noGrp="1"/>
          </p:cNvSpPr>
          <p:nvPr/>
        </p:nvSpPr>
        <p:spPr>
          <a:xfrm>
            <a:off x="10259568" y="3730752"/>
            <a:ext cx="749808" cy="31089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</a:pPr>
            <a:r>
              <a:rPr sz="680" b="0" i="0">
                <a:solidFill>
                  <a:srgbClr val="44585C"/>
                </a:solidFill>
                <a:latin typeface="Noto Sans CJK SC"/>
                <a:ea typeface="Noto Sans CJK SC"/>
                <a:cs typeface="Noto Sans CJK SC"/>
              </a:rPr>
              <a:t>客户或客服确认</a:t>
            </a:r>
            <a:endParaRPr sz="680" b="0" i="0">
              <a:solidFill>
                <a:srgbClr val="6B8185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90" name="Rounded Rectangle 89"/>
          <p:cNvSpPr>
            <a:spLocks noGrp="1"/>
          </p:cNvSpPr>
          <p:nvPr/>
        </p:nvSpPr>
        <p:spPr>
          <a:xfrm>
            <a:off x="9262872" y="4462272"/>
            <a:ext cx="1975104" cy="640080"/>
          </a:xfrm>
          <a:prstGeom prst="roundRect">
            <a:avLst/>
          </a:prstGeom>
          <a:solidFill>
            <a:srgbClr val="FDECE9"/>
          </a:solidFill>
          <a:ln w="10160">
            <a:solidFill>
              <a:srgbClr val="E257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91" name="TextBox 90"/>
          <p:cNvSpPr>
            <a:spLocks noGrp="1"/>
          </p:cNvSpPr>
          <p:nvPr/>
        </p:nvSpPr>
        <p:spPr>
          <a:xfrm>
            <a:off x="9464040" y="4572000"/>
            <a:ext cx="804672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900" b="1" i="0">
                <a:solidFill>
                  <a:srgbClr val="B8362C"/>
                </a:solidFill>
                <a:latin typeface="Noto Sans CJK SC"/>
                <a:ea typeface="Noto Sans CJK SC"/>
                <a:cs typeface="Noto Sans CJK SC"/>
              </a:rPr>
              <a:t>人工主导</a:t>
            </a:r>
            <a:endParaRPr sz="900" b="1" i="0">
              <a:solidFill>
                <a:srgbClr val="E2574C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92" name="TextBox 91"/>
          <p:cNvSpPr>
            <a:spLocks noGrp="1"/>
          </p:cNvSpPr>
          <p:nvPr/>
        </p:nvSpPr>
        <p:spPr>
          <a:xfrm>
            <a:off x="10259568" y="4553712"/>
            <a:ext cx="749808" cy="31089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</a:pPr>
            <a:r>
              <a:rPr sz="680" b="0" i="0">
                <a:solidFill>
                  <a:srgbClr val="44585C"/>
                </a:solidFill>
                <a:latin typeface="Noto Sans CJK SC"/>
                <a:ea typeface="Noto Sans CJK SC"/>
                <a:cs typeface="Noto Sans CJK SC"/>
              </a:rPr>
              <a:t>高风险或异常协同</a:t>
            </a:r>
            <a:endParaRPr sz="680" b="0" i="0">
              <a:solidFill>
                <a:srgbClr val="6B8185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93" name="Rounded Rectangle 92"/>
          <p:cNvSpPr>
            <a:spLocks noGrp="1"/>
          </p:cNvSpPr>
          <p:nvPr/>
        </p:nvSpPr>
        <p:spPr>
          <a:xfrm>
            <a:off x="9262872" y="5440680"/>
            <a:ext cx="1975104" cy="457200"/>
          </a:xfrm>
          <a:prstGeom prst="roundRect">
            <a:avLst/>
          </a:prstGeom>
          <a:solidFill>
            <a:srgbClr val="EFEEFF"/>
          </a:solidFill>
          <a:ln w="10160">
            <a:solidFill>
              <a:srgbClr val="6B6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94" name="TextBox 93"/>
          <p:cNvSpPr>
            <a:spLocks noGrp="1"/>
          </p:cNvSpPr>
          <p:nvPr/>
        </p:nvSpPr>
        <p:spPr>
          <a:xfrm>
            <a:off x="9400032" y="5522976"/>
            <a:ext cx="1700784" cy="27432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</a:pPr>
            <a:r>
              <a:rPr sz="700" b="1" i="0">
                <a:solidFill>
                  <a:srgbClr val="4A4EB0"/>
                </a:solidFill>
                <a:latin typeface="Noto Sans CJK SC"/>
                <a:ea typeface="Noto Sans CJK SC"/>
                <a:cs typeface="Noto Sans CJK SC"/>
              </a:rPr>
              <a:t>场景资产同时关联：
上下文、skill.md、工具、指标</a:t>
            </a:r>
            <a:endParaRPr sz="700" b="1" i="0">
              <a:solidFill>
                <a:srgbClr val="6B6FD8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95" name="Rectangle 94"/>
          <p:cNvSpPr>
            <a:spLocks noGrp="1"/>
          </p:cNvSpPr>
          <p:nvPr/>
        </p:nvSpPr>
        <p:spPr>
          <a:xfrm>
            <a:off x="0" y="0"/>
            <a:ext cx="41148" cy="6858000"/>
          </a:xfrm>
          <a:prstGeom prst="rect">
            <a:avLst/>
          </a:prstGeom>
          <a:solidFill>
            <a:srgbClr val="0A8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96" name="圆角矩形 95"/>
          <p:cNvSpPr>
            <a:spLocks noGrp="1"/>
          </p:cNvSpPr>
          <p:nvPr/>
        </p:nvSpPr>
        <p:spPr>
          <a:xfrm>
            <a:off x="6565583" y="127635"/>
            <a:ext cx="4937760" cy="365760"/>
          </a:xfrm>
          <a:prstGeom prst="roundRect">
            <a:avLst>
              <a:gd name="adj" fmla="val 20833"/>
            </a:avLst>
          </a:prstGeom>
          <a:solidFill>
            <a:srgbClr val="F7FBF9"/>
          </a:solidFill>
          <a:ln w="12668">
            <a:solidFill>
              <a:srgbClr val="F7FBF9"/>
            </a:solidFill>
            <a:prstDash val="solid"/>
          </a:ln>
        </p:spPr>
        <p:txBody>
          <a:bodyPr/>
          <a:p/>
        </p:txBody>
      </p:sp>
      <p:sp>
        <p:nvSpPr>
          <p:cNvPr id="97" name="圆角矩形 96"/>
          <p:cNvSpPr>
            <a:spLocks noGrp="1"/>
          </p:cNvSpPr>
          <p:nvPr/>
        </p:nvSpPr>
        <p:spPr>
          <a:xfrm>
            <a:off x="6657023" y="164783"/>
            <a:ext cx="1154430" cy="264795"/>
          </a:xfrm>
          <a:prstGeom prst="roundRect">
            <a:avLst>
              <a:gd name="adj" fmla="val 28777"/>
            </a:avLst>
          </a:prstGeom>
          <a:solidFill>
            <a:srgbClr val="007574"/>
          </a:solidFill>
          <a:ln w="12668">
            <a:solidFill>
              <a:srgbClr val="007574"/>
            </a:solidFill>
            <a:prstDash val="solid"/>
          </a:ln>
        </p:spPr>
        <p:txBody>
          <a:bodyPr/>
          <a:p/>
        </p:txBody>
      </p:sp>
      <p:sp>
        <p:nvSpPr>
          <p:cNvPr id="98" name="矩形 97"/>
          <p:cNvSpPr>
            <a:spLocks noGrp="1"/>
          </p:cNvSpPr>
          <p:nvPr/>
        </p:nvSpPr>
        <p:spPr>
          <a:xfrm>
            <a:off x="6657023" y="187643"/>
            <a:ext cx="1154430" cy="182880"/>
          </a:xfrm>
          <a:prstGeom prst="rect">
            <a:avLst/>
          </a:prstGeom>
        </p:spPr>
        <p:txBody>
          <a:bodyPr anchor="ctr"/>
          <a:lstStyle/>
          <a:p>
            <a:pPr algn="ctr">
              <a:defRPr sz="660" b="1">
                <a:solidFill>
                  <a:srgbClr val="FFFFFF"/>
                </a:solidFill>
              </a:defRPr>
            </a:pPr>
            <a:r>
              <a:t>理解</a:t>
            </a:r>
          </a:p>
        </p:txBody>
      </p:sp>
      <p:sp>
        <p:nvSpPr>
          <p:cNvPr id="99" name="圆角矩形 98"/>
          <p:cNvSpPr>
            <a:spLocks noGrp="1"/>
          </p:cNvSpPr>
          <p:nvPr/>
        </p:nvSpPr>
        <p:spPr>
          <a:xfrm>
            <a:off x="7857173" y="164783"/>
            <a:ext cx="1154430" cy="264795"/>
          </a:xfrm>
          <a:prstGeom prst="roundRect">
            <a:avLst>
              <a:gd name="adj" fmla="val 28777"/>
            </a:avLst>
          </a:prstGeom>
          <a:solidFill>
            <a:srgbClr val="007574"/>
          </a:solidFill>
          <a:ln w="12668">
            <a:solidFill>
              <a:srgbClr val="007574"/>
            </a:solidFill>
            <a:prstDash val="solid"/>
          </a:ln>
        </p:spPr>
        <p:txBody>
          <a:bodyPr/>
          <a:p/>
        </p:txBody>
      </p:sp>
      <p:sp>
        <p:nvSpPr>
          <p:cNvPr id="100" name="矩形 99"/>
          <p:cNvSpPr>
            <a:spLocks noGrp="1"/>
          </p:cNvSpPr>
          <p:nvPr/>
        </p:nvSpPr>
        <p:spPr>
          <a:xfrm>
            <a:off x="7857173" y="187643"/>
            <a:ext cx="1154430" cy="182880"/>
          </a:xfrm>
          <a:prstGeom prst="rect">
            <a:avLst/>
          </a:prstGeom>
        </p:spPr>
        <p:txBody>
          <a:bodyPr anchor="ctr"/>
          <a:lstStyle/>
          <a:p>
            <a:pPr algn="ctr">
              <a:defRPr sz="660" b="1">
                <a:solidFill>
                  <a:srgbClr val="FFFFFF"/>
                </a:solidFill>
              </a:defRPr>
            </a:pPr>
            <a:r>
              <a:t>查询</a:t>
            </a:r>
          </a:p>
        </p:txBody>
      </p:sp>
      <p:sp>
        <p:nvSpPr>
          <p:cNvPr id="101" name="圆角矩形 100"/>
          <p:cNvSpPr>
            <a:spLocks noGrp="1"/>
          </p:cNvSpPr>
          <p:nvPr/>
        </p:nvSpPr>
        <p:spPr>
          <a:xfrm>
            <a:off x="9057323" y="164783"/>
            <a:ext cx="1154430" cy="264795"/>
          </a:xfrm>
          <a:prstGeom prst="roundRect">
            <a:avLst>
              <a:gd name="adj" fmla="val 28777"/>
            </a:avLst>
          </a:prstGeom>
          <a:solidFill>
            <a:srgbClr val="007574"/>
          </a:solidFill>
          <a:ln w="12668">
            <a:solidFill>
              <a:srgbClr val="007574"/>
            </a:solidFill>
            <a:prstDash val="solid"/>
          </a:ln>
        </p:spPr>
        <p:txBody>
          <a:bodyPr/>
          <a:p/>
        </p:txBody>
      </p:sp>
      <p:sp>
        <p:nvSpPr>
          <p:cNvPr id="102" name="矩形 101"/>
          <p:cNvSpPr>
            <a:spLocks noGrp="1"/>
          </p:cNvSpPr>
          <p:nvPr/>
        </p:nvSpPr>
        <p:spPr>
          <a:xfrm>
            <a:off x="9057323" y="187643"/>
            <a:ext cx="1154430" cy="182880"/>
          </a:xfrm>
          <a:prstGeom prst="rect">
            <a:avLst/>
          </a:prstGeom>
        </p:spPr>
        <p:txBody>
          <a:bodyPr anchor="ctr"/>
          <a:lstStyle/>
          <a:p>
            <a:pPr algn="ctr">
              <a:defRPr sz="660" b="1">
                <a:solidFill>
                  <a:srgbClr val="FFFFFF"/>
                </a:solidFill>
              </a:defRPr>
            </a:pPr>
            <a:r>
              <a:t>决策</a:t>
            </a:r>
          </a:p>
        </p:txBody>
      </p:sp>
      <p:sp>
        <p:nvSpPr>
          <p:cNvPr id="103" name="圆角矩形 102"/>
          <p:cNvSpPr>
            <a:spLocks noGrp="1"/>
          </p:cNvSpPr>
          <p:nvPr/>
        </p:nvSpPr>
        <p:spPr>
          <a:xfrm>
            <a:off x="10257473" y="164783"/>
            <a:ext cx="1154430" cy="264795"/>
          </a:xfrm>
          <a:prstGeom prst="roundRect">
            <a:avLst>
              <a:gd name="adj" fmla="val 28777"/>
            </a:avLst>
          </a:prstGeom>
          <a:solidFill>
            <a:srgbClr val="007574"/>
          </a:solidFill>
          <a:ln w="12668">
            <a:solidFill>
              <a:srgbClr val="007574"/>
            </a:solidFill>
            <a:prstDash val="solid"/>
          </a:ln>
        </p:spPr>
        <p:txBody>
          <a:bodyPr/>
          <a:p/>
        </p:txBody>
      </p:sp>
      <p:sp>
        <p:nvSpPr>
          <p:cNvPr id="104" name="矩形 103"/>
          <p:cNvSpPr>
            <a:spLocks noGrp="1"/>
          </p:cNvSpPr>
          <p:nvPr/>
        </p:nvSpPr>
        <p:spPr>
          <a:xfrm>
            <a:off x="10257473" y="187643"/>
            <a:ext cx="1154430" cy="182880"/>
          </a:xfrm>
          <a:prstGeom prst="rect">
            <a:avLst/>
          </a:prstGeom>
        </p:spPr>
        <p:txBody>
          <a:bodyPr anchor="ctr"/>
          <a:lstStyle/>
          <a:p>
            <a:pPr algn="ctr">
              <a:defRPr sz="660" b="1">
                <a:solidFill>
                  <a:srgbClr val="FFFFFF"/>
                </a:solidFill>
              </a:defRPr>
            </a:pPr>
            <a:r>
              <a:t>执行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5" name="Connector 74"/>
          <p:cNvSpPr>
            <a:spLocks noGrp="1"/>
          </p:cNvSpPr>
          <p:nvPr/>
        </p:nvSpPr>
        <p:spPr>
          <a:xfrm flipV="1">
            <a:off x="2240280" y="2697480"/>
            <a:ext cx="4937760" cy="2331720"/>
          </a:xfrm>
          <a:prstGeom prst="line">
            <a:avLst/>
          </a:prstGeom>
          <a:ln w="20320">
            <a:solidFill>
              <a:srgbClr val="C9DCD7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p/>
        </p:txBody>
      </p:sp>
      <p:sp>
        <p:nvSpPr>
          <p:cNvPr id="2" name="Shape 0"/>
          <p:cNvSpPr>
            <a:spLocks noGrp="1"/>
          </p:cNvSpPr>
          <p:nvPr/>
        </p:nvSpPr>
        <p:spPr>
          <a:xfrm>
            <a:off x="16459" y="16459"/>
            <a:ext cx="38405" cy="6825082"/>
          </a:xfrm>
          <a:prstGeom prst="rect">
            <a:avLst/>
          </a:prstGeom>
          <a:solidFill>
            <a:srgbClr val="0A8F6A"/>
          </a:solidFill>
          <a:ln w="12700">
            <a:solidFill>
              <a:srgbClr val="12B07D"/>
            </a:solidFill>
            <a:prstDash val="solid"/>
          </a:ln>
        </p:spPr>
        <p:txBody>
          <a:bodyPr/>
          <a:lstStyle/>
          <a:p/>
        </p:txBody>
      </p:sp>
      <p:sp>
        <p:nvSpPr>
          <p:cNvPr id="4" name="Shape 2"/>
          <p:cNvSpPr>
            <a:spLocks noGrp="1"/>
          </p:cNvSpPr>
          <p:nvPr/>
        </p:nvSpPr>
        <p:spPr>
          <a:xfrm>
            <a:off x="10104120" y="73152"/>
            <a:ext cx="1874520" cy="1353312"/>
          </a:xfrm>
          <a:prstGeom prst="ellipse">
            <a:avLst/>
          </a:prstGeom>
          <a:solidFill>
            <a:srgbClr val="E8F7F1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/>
        </p:txBody>
      </p:sp>
      <p:sp>
        <p:nvSpPr>
          <p:cNvPr id="5" name="Shape 3"/>
          <p:cNvSpPr>
            <a:spLocks noGrp="1"/>
          </p:cNvSpPr>
          <p:nvPr/>
        </p:nvSpPr>
        <p:spPr>
          <a:xfrm>
            <a:off x="91440" y="5596128"/>
            <a:ext cx="1719072" cy="1051560"/>
          </a:xfrm>
          <a:prstGeom prst="ellipse">
            <a:avLst/>
          </a:prstGeom>
          <a:solidFill>
            <a:srgbClr val="FFF2E8">
              <a:alpha val="68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/>
        </p:txBody>
      </p:sp>
      <p:sp>
        <p:nvSpPr>
          <p:cNvPr id="6" name="Shape 4"/>
          <p:cNvSpPr>
            <a:spLocks noGrp="1"/>
          </p:cNvSpPr>
          <p:nvPr/>
        </p:nvSpPr>
        <p:spPr>
          <a:xfrm>
            <a:off x="658368" y="393192"/>
            <a:ext cx="68580" cy="68580"/>
          </a:xfrm>
          <a:prstGeom prst="ellipse">
            <a:avLst/>
          </a:prstGeom>
          <a:solidFill>
            <a:srgbClr val="0A8F6A"/>
          </a:solidFill>
          <a:ln w="12700">
            <a:solidFill>
              <a:srgbClr val="12B07D"/>
            </a:solidFill>
            <a:prstDash val="solid"/>
          </a:ln>
        </p:spPr>
        <p:txBody>
          <a:bodyPr/>
          <a:lstStyle/>
          <a:p/>
        </p:txBody>
      </p:sp>
      <p:sp>
        <p:nvSpPr>
          <p:cNvPr id="7" name="Shape 5"/>
          <p:cNvSpPr>
            <a:spLocks noGrp="1"/>
          </p:cNvSpPr>
          <p:nvPr/>
        </p:nvSpPr>
        <p:spPr>
          <a:xfrm>
            <a:off x="768096" y="427939"/>
            <a:ext cx="411480" cy="0"/>
          </a:xfrm>
          <a:prstGeom prst="line">
            <a:avLst/>
          </a:prstGeom>
          <a:noFill/>
          <a:ln w="15875">
            <a:solidFill>
              <a:srgbClr val="0A8F6A"/>
            </a:solidFill>
            <a:prstDash val="solid"/>
          </a:ln>
        </p:spPr>
        <p:txBody>
          <a:bodyPr/>
          <a:lstStyle/>
          <a:p/>
        </p:txBody>
      </p:sp>
      <p:sp>
        <p:nvSpPr>
          <p:cNvPr id="8" name="Text 6"/>
          <p:cNvSpPr>
            <a:spLocks noGrp="1"/>
          </p:cNvSpPr>
          <p:nvPr/>
        </p:nvSpPr>
        <p:spPr>
          <a:xfrm>
            <a:off x="1234440" y="265176"/>
            <a:ext cx="2331720" cy="31089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r>
              <a:rPr sz="1050" b="1">
                <a:solidFill>
                  <a:srgbClr val="076B50"/>
                </a:solidFill>
                <a:latin typeface="Noto Sans CJK SC"/>
                <a:ea typeface="Noto Sans CJK SC"/>
                <a:cs typeface="Noto Sans CJK SC"/>
              </a:rPr>
              <a:t>CHAPTER 2 · 场景与移交边界</a:t>
            </a:r>
            <a:endParaRPr sz="1050" b="1">
              <a:solidFill>
                <a:srgbClr val="0A8F6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9" name="Shape 7"/>
          <p:cNvSpPr>
            <a:spLocks noGrp="1"/>
          </p:cNvSpPr>
          <p:nvPr/>
        </p:nvSpPr>
        <p:spPr>
          <a:xfrm>
            <a:off x="9829800" y="301752"/>
            <a:ext cx="68580" cy="68580"/>
          </a:xfrm>
          <a:prstGeom prst="ellipse">
            <a:avLst/>
          </a:prstGeom>
          <a:solidFill>
            <a:srgbClr val="C7DAD6"/>
          </a:solidFill>
          <a:ln w="12700">
            <a:solidFill>
              <a:srgbClr val="C7DAD6"/>
            </a:solidFill>
            <a:prstDash val="solid"/>
          </a:ln>
        </p:spPr>
        <p:txBody>
          <a:bodyPr/>
          <a:lstStyle/>
          <a:p/>
        </p:txBody>
      </p:sp>
      <p:sp>
        <p:nvSpPr>
          <p:cNvPr id="10" name="Shape 8"/>
          <p:cNvSpPr>
            <a:spLocks noGrp="1"/>
          </p:cNvSpPr>
          <p:nvPr/>
        </p:nvSpPr>
        <p:spPr>
          <a:xfrm>
            <a:off x="10040112" y="301752"/>
            <a:ext cx="68580" cy="68580"/>
          </a:xfrm>
          <a:prstGeom prst="ellipse">
            <a:avLst/>
          </a:prstGeom>
          <a:solidFill>
            <a:srgbClr val="C7DAD6"/>
          </a:solidFill>
          <a:ln w="12700">
            <a:solidFill>
              <a:srgbClr val="C7DAD6"/>
            </a:solidFill>
            <a:prstDash val="solid"/>
          </a:ln>
        </p:spPr>
        <p:txBody>
          <a:bodyPr/>
          <a:lstStyle/>
          <a:p/>
        </p:txBody>
      </p:sp>
      <p:sp>
        <p:nvSpPr>
          <p:cNvPr id="11" name="Shape 9"/>
          <p:cNvSpPr>
            <a:spLocks noGrp="1"/>
          </p:cNvSpPr>
          <p:nvPr/>
        </p:nvSpPr>
        <p:spPr>
          <a:xfrm>
            <a:off x="10250424" y="301752"/>
            <a:ext cx="68580" cy="68580"/>
          </a:xfrm>
          <a:prstGeom prst="ellipse">
            <a:avLst/>
          </a:prstGeom>
          <a:solidFill>
            <a:srgbClr val="C7DAD6"/>
          </a:solidFill>
          <a:ln w="12700">
            <a:solidFill>
              <a:srgbClr val="C7DAD6"/>
            </a:solidFill>
            <a:prstDash val="solid"/>
          </a:ln>
        </p:spPr>
        <p:txBody>
          <a:bodyPr/>
          <a:lstStyle/>
          <a:p/>
        </p:txBody>
      </p:sp>
      <p:sp>
        <p:nvSpPr>
          <p:cNvPr id="12" name="Shape 10"/>
          <p:cNvSpPr>
            <a:spLocks noGrp="1"/>
          </p:cNvSpPr>
          <p:nvPr/>
        </p:nvSpPr>
        <p:spPr>
          <a:xfrm>
            <a:off x="10460736" y="301752"/>
            <a:ext cx="68580" cy="68580"/>
          </a:xfrm>
          <a:prstGeom prst="ellipse">
            <a:avLst/>
          </a:prstGeom>
          <a:solidFill>
            <a:srgbClr val="12B07D"/>
          </a:solidFill>
          <a:ln w="12700">
            <a:solidFill>
              <a:srgbClr val="12B07D"/>
            </a:solidFill>
            <a:prstDash val="solid"/>
          </a:ln>
        </p:spPr>
        <p:txBody>
          <a:bodyPr/>
          <a:lstStyle/>
          <a:p/>
        </p:txBody>
      </p:sp>
      <p:sp>
        <p:nvSpPr>
          <p:cNvPr id="13" name="Shape 11"/>
          <p:cNvSpPr>
            <a:spLocks noGrp="1"/>
          </p:cNvSpPr>
          <p:nvPr/>
        </p:nvSpPr>
        <p:spPr>
          <a:xfrm>
            <a:off x="10671048" y="301752"/>
            <a:ext cx="68580" cy="68580"/>
          </a:xfrm>
          <a:prstGeom prst="ellipse">
            <a:avLst/>
          </a:prstGeom>
          <a:solidFill>
            <a:srgbClr val="C7DAD6"/>
          </a:solidFill>
          <a:ln w="12700">
            <a:solidFill>
              <a:srgbClr val="C7DAD6"/>
            </a:solidFill>
            <a:prstDash val="solid"/>
          </a:ln>
        </p:spPr>
        <p:txBody>
          <a:bodyPr/>
          <a:lstStyle/>
          <a:p/>
        </p:txBody>
      </p:sp>
      <p:sp>
        <p:nvSpPr>
          <p:cNvPr id="14" name="Shape 12"/>
          <p:cNvSpPr>
            <a:spLocks noGrp="1"/>
          </p:cNvSpPr>
          <p:nvPr/>
        </p:nvSpPr>
        <p:spPr>
          <a:xfrm>
            <a:off x="10881360" y="301752"/>
            <a:ext cx="68580" cy="68580"/>
          </a:xfrm>
          <a:prstGeom prst="ellipse">
            <a:avLst/>
          </a:prstGeom>
          <a:solidFill>
            <a:srgbClr val="C7DAD6"/>
          </a:solidFill>
          <a:ln w="12700">
            <a:solidFill>
              <a:srgbClr val="C7DAD6"/>
            </a:solidFill>
            <a:prstDash val="solid"/>
          </a:ln>
        </p:spPr>
        <p:txBody>
          <a:bodyPr/>
          <a:lstStyle/>
          <a:p/>
        </p:txBody>
      </p:sp>
      <p:sp>
        <p:nvSpPr>
          <p:cNvPr id="15" name="Shape 13"/>
          <p:cNvSpPr>
            <a:spLocks noGrp="1"/>
          </p:cNvSpPr>
          <p:nvPr/>
        </p:nvSpPr>
        <p:spPr>
          <a:xfrm>
            <a:off x="11091672" y="301752"/>
            <a:ext cx="68580" cy="68580"/>
          </a:xfrm>
          <a:prstGeom prst="ellipse">
            <a:avLst/>
          </a:prstGeom>
          <a:solidFill>
            <a:srgbClr val="C7DAD6"/>
          </a:solidFill>
          <a:ln w="12700">
            <a:solidFill>
              <a:srgbClr val="C7DAD6"/>
            </a:solidFill>
            <a:prstDash val="solid"/>
          </a:ln>
        </p:spPr>
        <p:txBody>
          <a:bodyPr/>
          <a:lstStyle/>
          <a:p/>
        </p:txBody>
      </p:sp>
      <p:sp>
        <p:nvSpPr>
          <p:cNvPr id="16" name="Shape 14"/>
          <p:cNvSpPr>
            <a:spLocks noGrp="1"/>
          </p:cNvSpPr>
          <p:nvPr/>
        </p:nvSpPr>
        <p:spPr>
          <a:xfrm>
            <a:off x="11301984" y="301752"/>
            <a:ext cx="68580" cy="68580"/>
          </a:xfrm>
          <a:prstGeom prst="ellipse">
            <a:avLst/>
          </a:prstGeom>
          <a:solidFill>
            <a:srgbClr val="C7DAD6"/>
          </a:solidFill>
          <a:ln w="12700">
            <a:solidFill>
              <a:srgbClr val="C7DAD6"/>
            </a:solidFill>
            <a:prstDash val="solid"/>
          </a:ln>
        </p:spPr>
        <p:txBody>
          <a:bodyPr/>
          <a:lstStyle/>
          <a:p/>
        </p:txBody>
      </p:sp>
      <p:sp>
        <p:nvSpPr>
          <p:cNvPr id="17" name="Text 15"/>
          <p:cNvSpPr>
            <a:spLocks noGrp="1"/>
          </p:cNvSpPr>
          <p:nvPr/>
        </p:nvSpPr>
        <p:spPr>
          <a:xfrm>
            <a:off x="658368" y="713232"/>
            <a:ext cx="10652760" cy="49377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2550" b="1">
                <a:solidFill>
                  <a:srgbClr val="14383E"/>
                </a:solidFill>
                <a:latin typeface="Noto Sans CJK SC"/>
                <a:ea typeface="Noto Sans CJK SC"/>
                <a:cs typeface="Noto Sans CJK SC"/>
              </a:rPr>
              <a:t>处理权配置：谁判断、谁确认、谁执行</a:t>
            </a:r>
            <a:endParaRPr sz="2550"/>
          </a:p>
        </p:txBody>
      </p:sp>
      <p:sp>
        <p:nvSpPr>
          <p:cNvPr id="18" name="Text 16"/>
          <p:cNvSpPr>
            <a:spLocks noGrp="1"/>
          </p:cNvSpPr>
          <p:nvPr/>
        </p:nvSpPr>
        <p:spPr>
          <a:xfrm>
            <a:off x="658368" y="1197864"/>
            <a:ext cx="10469880" cy="29260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r>
              <a:rPr sz="1170">
                <a:solidFill>
                  <a:srgbClr val="44585C"/>
                </a:solidFill>
                <a:latin typeface="Noto Sans CJK SC"/>
                <a:ea typeface="Noto Sans CJK SC"/>
                <a:cs typeface="Noto Sans CJK SC"/>
              </a:rPr>
              <a:t>我们把“怎么判断”和“能不能执行”分开配置，避免模型一旦会判断就自动获得写权限。</a:t>
            </a:r>
            <a:endParaRPr sz="1170">
              <a:solidFill>
                <a:srgbClr val="6B8185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9" name="Shape 17"/>
          <p:cNvSpPr>
            <a:spLocks noGrp="1"/>
          </p:cNvSpPr>
          <p:nvPr/>
        </p:nvSpPr>
        <p:spPr>
          <a:xfrm>
            <a:off x="658368" y="6510528"/>
            <a:ext cx="10835640" cy="0"/>
          </a:xfrm>
          <a:prstGeom prst="line">
            <a:avLst/>
          </a:prstGeom>
          <a:noFill/>
          <a:ln w="11430">
            <a:solidFill>
              <a:srgbClr val="D7E7E3"/>
            </a:solidFill>
            <a:prstDash val="solid"/>
          </a:ln>
        </p:spPr>
        <p:txBody>
          <a:bodyPr/>
          <a:lstStyle/>
          <a:p/>
        </p:txBody>
      </p:sp>
      <p:sp>
        <p:nvSpPr>
          <p:cNvPr id="20" name="Text 18"/>
          <p:cNvSpPr>
            <a:spLocks noGrp="1"/>
          </p:cNvSpPr>
          <p:nvPr/>
        </p:nvSpPr>
        <p:spPr>
          <a:xfrm>
            <a:off x="658368" y="6556248"/>
            <a:ext cx="2103120" cy="16459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750" b="1" spc="40">
                <a:solidFill>
                  <a:srgbClr val="5C7276"/>
                </a:solidFill>
                <a:latin typeface="Noto Sans CJK SC"/>
                <a:ea typeface="Noto Sans CJK SC"/>
                <a:cs typeface="Noto Sans CJK SC"/>
              </a:rPr>
              <a:t>CUSTOMER SERVICE AI AGENT</a:t>
            </a:r>
            <a:endParaRPr sz="750"/>
          </a:p>
        </p:txBody>
      </p:sp>
      <p:sp>
        <p:nvSpPr>
          <p:cNvPr id="21" name="Text 19"/>
          <p:cNvSpPr>
            <a:spLocks noGrp="1"/>
          </p:cNvSpPr>
          <p:nvPr/>
        </p:nvSpPr>
        <p:spPr>
          <a:xfrm>
            <a:off x="10698480" y="6519672"/>
            <a:ext cx="749808" cy="21945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</a:pPr>
            <a:r>
              <a:rPr sz="880" b="1">
                <a:solidFill>
                  <a:srgbClr val="076B50"/>
                </a:solidFill>
                <a:latin typeface="Noto Sans CJK SC"/>
                <a:ea typeface="Noto Sans CJK SC"/>
                <a:cs typeface="Noto Sans CJK SC"/>
              </a:rPr>
              <a:t>17</a:t>
            </a:r>
            <a:endParaRPr sz="880" b="1">
              <a:solidFill>
                <a:srgbClr val="0A8F6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2" name="Shape 20"/>
          <p:cNvSpPr>
            <a:spLocks noGrp="1"/>
          </p:cNvSpPr>
          <p:nvPr/>
        </p:nvSpPr>
        <p:spPr>
          <a:xfrm>
            <a:off x="841248" y="1664208"/>
            <a:ext cx="7388352" cy="4425696"/>
          </a:xfrm>
          <a:prstGeom prst="roundRect">
            <a:avLst>
              <a:gd name="adj" fmla="val 3306"/>
            </a:avLst>
          </a:prstGeom>
          <a:solidFill>
            <a:srgbClr val="FFFFFF"/>
          </a:solidFill>
          <a:ln w="12700">
            <a:solidFill>
              <a:srgbClr val="BFD9D4"/>
            </a:solidFill>
            <a:prstDash val="solid"/>
          </a:ln>
          <a:effectLst>
            <a:outerShdw blurRad="27940" dist="50800" dir="2700000" algn="bl" rotWithShape="0">
              <a:srgbClr val="436264">
                <a:alpha val="12000"/>
              </a:srgbClr>
            </a:outerShdw>
          </a:effectLst>
        </p:spPr>
        <p:txBody>
          <a:bodyPr/>
          <a:lstStyle/>
          <a:p/>
        </p:txBody>
      </p:sp>
      <p:sp>
        <p:nvSpPr>
          <p:cNvPr id="23" name="Shape 21"/>
          <p:cNvSpPr>
            <a:spLocks noGrp="1"/>
          </p:cNvSpPr>
          <p:nvPr/>
        </p:nvSpPr>
        <p:spPr>
          <a:xfrm>
            <a:off x="1901952" y="5321808"/>
            <a:ext cx="5468112" cy="0"/>
          </a:xfrm>
          <a:prstGeom prst="line">
            <a:avLst/>
          </a:prstGeom>
          <a:noFill/>
          <a:ln w="20320">
            <a:solidFill>
              <a:srgbClr val="799292"/>
            </a:solidFill>
            <a:prstDash val="solid"/>
            <a:tailEnd type="triangle"/>
          </a:ln>
        </p:spPr>
        <p:txBody>
          <a:bodyPr/>
          <a:lstStyle/>
          <a:p/>
        </p:txBody>
      </p:sp>
      <p:sp>
        <p:nvSpPr>
          <p:cNvPr id="24" name="Shape 22"/>
          <p:cNvSpPr>
            <a:spLocks noGrp="1"/>
          </p:cNvSpPr>
          <p:nvPr/>
        </p:nvSpPr>
        <p:spPr>
          <a:xfrm>
            <a:off x="1901952" y="2377440"/>
            <a:ext cx="0" cy="2944368"/>
          </a:xfrm>
          <a:prstGeom prst="line">
            <a:avLst/>
          </a:prstGeom>
          <a:noFill/>
          <a:ln w="20320">
            <a:solidFill>
              <a:srgbClr val="799292"/>
            </a:solidFill>
            <a:prstDash val="solid"/>
            <a:tailEnd type="triangle"/>
          </a:ln>
        </p:spPr>
        <p:txBody>
          <a:bodyPr/>
          <a:lstStyle/>
          <a:p/>
        </p:txBody>
      </p:sp>
      <p:sp>
        <p:nvSpPr>
          <p:cNvPr id="25" name="Text 23"/>
          <p:cNvSpPr>
            <a:spLocks noGrp="1"/>
          </p:cNvSpPr>
          <p:nvPr/>
        </p:nvSpPr>
        <p:spPr>
          <a:xfrm>
            <a:off x="4773168" y="5532120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sz="930" b="1">
                <a:solidFill>
                  <a:srgbClr val="14383E"/>
                </a:solidFill>
                <a:latin typeface="Noto Sans CJK SC"/>
                <a:ea typeface="Noto Sans CJK SC"/>
                <a:cs typeface="Noto Sans CJK SC"/>
              </a:rPr>
              <a:t>判断自由度</a:t>
            </a:r>
            <a:endParaRPr sz="930"/>
          </a:p>
        </p:txBody>
      </p:sp>
      <p:sp>
        <p:nvSpPr>
          <p:cNvPr id="26" name="Text 24"/>
          <p:cNvSpPr>
            <a:spLocks noGrp="1"/>
          </p:cNvSpPr>
          <p:nvPr/>
        </p:nvSpPr>
        <p:spPr>
          <a:xfrm>
            <a:off x="1865376" y="5522976"/>
            <a:ext cx="1097280" cy="20116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820">
                <a:solidFill>
                  <a:srgbClr val="44585C"/>
                </a:solidFill>
                <a:latin typeface="Noto Sans CJK SC"/>
                <a:ea typeface="Noto Sans CJK SC"/>
                <a:cs typeface="Noto Sans CJK SC"/>
              </a:rPr>
              <a:t>确定性规则</a:t>
            </a:r>
            <a:endParaRPr sz="820"/>
          </a:p>
        </p:txBody>
      </p:sp>
      <p:sp>
        <p:nvSpPr>
          <p:cNvPr id="27" name="Text 25"/>
          <p:cNvSpPr>
            <a:spLocks noGrp="1"/>
          </p:cNvSpPr>
          <p:nvPr/>
        </p:nvSpPr>
        <p:spPr>
          <a:xfrm>
            <a:off x="6446520" y="5522976"/>
            <a:ext cx="960120" cy="20116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sz="820">
                <a:solidFill>
                  <a:srgbClr val="44585C"/>
                </a:solidFill>
                <a:latin typeface="Noto Sans CJK SC"/>
                <a:ea typeface="Noto Sans CJK SC"/>
                <a:cs typeface="Noto Sans CJK SC"/>
              </a:rPr>
              <a:t>开放理解</a:t>
            </a:r>
            <a:endParaRPr sz="820"/>
          </a:p>
        </p:txBody>
      </p:sp>
      <p:sp>
        <p:nvSpPr>
          <p:cNvPr id="28" name="Text 26"/>
          <p:cNvSpPr>
            <a:spLocks noGrp="1"/>
          </p:cNvSpPr>
          <p:nvPr/>
        </p:nvSpPr>
        <p:spPr>
          <a:xfrm>
            <a:off x="1097280" y="2606040"/>
            <a:ext cx="274320" cy="132588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sz="930" b="1">
                <a:solidFill>
                  <a:srgbClr val="14383E"/>
                </a:solidFill>
                <a:latin typeface="Noto Sans CJK SC"/>
                <a:ea typeface="Noto Sans CJK SC"/>
                <a:cs typeface="Noto Sans CJK SC"/>
              </a:rPr>
              <a:t>执行授权度</a:t>
            </a:r>
            <a:endParaRPr sz="930"/>
          </a:p>
        </p:txBody>
      </p:sp>
      <p:sp>
        <p:nvSpPr>
          <p:cNvPr id="29" name="Text 27"/>
          <p:cNvSpPr>
            <a:spLocks noGrp="1"/>
          </p:cNvSpPr>
          <p:nvPr/>
        </p:nvSpPr>
        <p:spPr>
          <a:xfrm>
            <a:off x="1298448" y="2386584"/>
            <a:ext cx="676656" cy="20116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sz="820">
                <a:solidFill>
                  <a:srgbClr val="44585C"/>
                </a:solidFill>
                <a:latin typeface="Noto Sans CJK SC"/>
                <a:ea typeface="Noto Sans CJK SC"/>
                <a:cs typeface="Noto Sans CJK SC"/>
              </a:rPr>
              <a:t>自动执行</a:t>
            </a:r>
            <a:endParaRPr sz="820"/>
          </a:p>
        </p:txBody>
      </p:sp>
      <p:sp>
        <p:nvSpPr>
          <p:cNvPr id="30" name="Text 28"/>
          <p:cNvSpPr>
            <a:spLocks noGrp="1"/>
          </p:cNvSpPr>
          <p:nvPr/>
        </p:nvSpPr>
        <p:spPr>
          <a:xfrm>
            <a:off x="1298448" y="5184648"/>
            <a:ext cx="676656" cy="20116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sz="820">
                <a:solidFill>
                  <a:srgbClr val="44585C"/>
                </a:solidFill>
                <a:latin typeface="Noto Sans CJK SC"/>
                <a:ea typeface="Noto Sans CJK SC"/>
                <a:cs typeface="Noto Sans CJK SC"/>
              </a:rPr>
              <a:t>仅建议</a:t>
            </a:r>
            <a:endParaRPr sz="820"/>
          </a:p>
        </p:txBody>
      </p:sp>
      <p:sp>
        <p:nvSpPr>
          <p:cNvPr id="31" name="Shape 29"/>
          <p:cNvSpPr>
            <a:spLocks noGrp="1"/>
          </p:cNvSpPr>
          <p:nvPr/>
        </p:nvSpPr>
        <p:spPr>
          <a:xfrm>
            <a:off x="4636008" y="2377440"/>
            <a:ext cx="0" cy="2944368"/>
          </a:xfrm>
          <a:prstGeom prst="line">
            <a:avLst/>
          </a:prstGeom>
          <a:noFill/>
          <a:ln w="11430">
            <a:solidFill>
              <a:srgbClr val="D8E7E4"/>
            </a:solidFill>
            <a:prstDash val="dash"/>
          </a:ln>
        </p:spPr>
        <p:txBody>
          <a:bodyPr/>
          <a:lstStyle/>
          <a:p/>
        </p:txBody>
      </p:sp>
      <p:sp>
        <p:nvSpPr>
          <p:cNvPr id="32" name="Shape 30"/>
          <p:cNvSpPr>
            <a:spLocks noGrp="1"/>
          </p:cNvSpPr>
          <p:nvPr/>
        </p:nvSpPr>
        <p:spPr>
          <a:xfrm>
            <a:off x="1901952" y="3849624"/>
            <a:ext cx="5468112" cy="0"/>
          </a:xfrm>
          <a:prstGeom prst="line">
            <a:avLst/>
          </a:prstGeom>
          <a:noFill/>
          <a:ln w="11430">
            <a:solidFill>
              <a:srgbClr val="D8E7E4"/>
            </a:solidFill>
            <a:prstDash val="dash"/>
          </a:ln>
        </p:spPr>
        <p:txBody>
          <a:bodyPr/>
          <a:lstStyle/>
          <a:p/>
        </p:txBody>
      </p:sp>
      <p:sp>
        <p:nvSpPr>
          <p:cNvPr id="33" name="Shape 31"/>
          <p:cNvSpPr>
            <a:spLocks noGrp="1"/>
          </p:cNvSpPr>
          <p:nvPr/>
        </p:nvSpPr>
        <p:spPr>
          <a:xfrm>
            <a:off x="5833872" y="2459736"/>
            <a:ext cx="1243584" cy="713232"/>
          </a:xfrm>
          <a:prstGeom prst="roundRect">
            <a:avLst>
              <a:gd name="adj" fmla="val 17949"/>
            </a:avLst>
          </a:prstGeom>
          <a:solidFill>
            <a:srgbClr val="E8F7F1">
              <a:alpha val="95000"/>
            </a:srgbClr>
          </a:solidFill>
          <a:ln w="15240">
            <a:solidFill>
              <a:srgbClr val="0A8F6A"/>
            </a:solidFill>
            <a:prstDash val="solid"/>
          </a:ln>
        </p:spPr>
        <p:txBody>
          <a:bodyPr/>
          <a:lstStyle/>
          <a:p/>
        </p:txBody>
      </p:sp>
      <p:sp>
        <p:nvSpPr>
          <p:cNvPr id="34" name="Text 32"/>
          <p:cNvSpPr>
            <a:spLocks noGrp="1"/>
          </p:cNvSpPr>
          <p:nvPr/>
        </p:nvSpPr>
        <p:spPr>
          <a:xfrm>
            <a:off x="5934456" y="2551176"/>
            <a:ext cx="1042416" cy="457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sz="870" b="1">
                <a:solidFill>
                  <a:srgbClr val="076B50"/>
                </a:solidFill>
                <a:latin typeface="Noto Sans CJK SC"/>
                <a:ea typeface="Noto Sans CJK SC"/>
                <a:cs typeface="Noto Sans CJK SC"/>
              </a:rPr>
              <a:t>已验证的</a:t>
            </a:r>
            <a:endParaRPr sz="870"/>
          </a:p>
          <a:p>
            <a:pPr marL="0" indent="0" algn="ctr">
              <a:lnSpc>
                <a:spcPct val="100000"/>
              </a:lnSpc>
              <a:buNone/>
            </a:pPr>
            <a:r>
              <a:rPr sz="870" b="1">
                <a:solidFill>
                  <a:srgbClr val="076B50"/>
                </a:solidFill>
                <a:latin typeface="Noto Sans CJK SC"/>
                <a:ea typeface="Noto Sans CJK SC"/>
                <a:cs typeface="Noto Sans CJK SC"/>
              </a:rPr>
              <a:t>低风险闭环</a:t>
            </a:r>
            <a:endParaRPr sz="870"/>
          </a:p>
        </p:txBody>
      </p:sp>
      <p:sp>
        <p:nvSpPr>
          <p:cNvPr id="35" name="Shape 33"/>
          <p:cNvSpPr>
            <a:spLocks noGrp="1"/>
          </p:cNvSpPr>
          <p:nvPr/>
        </p:nvSpPr>
        <p:spPr>
          <a:xfrm>
            <a:off x="2834640" y="2880360"/>
            <a:ext cx="1965960" cy="768096"/>
          </a:xfrm>
          <a:prstGeom prst="roundRect">
            <a:avLst>
              <a:gd name="adj" fmla="val 19048"/>
            </a:avLst>
          </a:prstGeom>
          <a:solidFill>
            <a:srgbClr val="E8F7F1"/>
          </a:solidFill>
          <a:ln w="12700">
            <a:solidFill>
              <a:srgbClr val="0A8F6A"/>
            </a:solidFill>
            <a:prstDash val="solid"/>
          </a:ln>
          <a:effectLst>
            <a:outerShdw blurRad="27940" dist="50800" dir="2700000" algn="bl" rotWithShape="0">
              <a:srgbClr val="436264">
                <a:alpha val="12000"/>
              </a:srgbClr>
            </a:outerShdw>
          </a:effectLst>
        </p:spPr>
        <p:txBody>
          <a:bodyPr/>
          <a:lstStyle/>
          <a:p/>
        </p:txBody>
      </p:sp>
      <p:sp>
        <p:nvSpPr>
          <p:cNvPr id="36" name="Shape 34"/>
          <p:cNvSpPr>
            <a:spLocks noGrp="1"/>
          </p:cNvSpPr>
          <p:nvPr/>
        </p:nvSpPr>
        <p:spPr>
          <a:xfrm>
            <a:off x="2944368" y="3026664"/>
            <a:ext cx="310896" cy="310896"/>
          </a:xfrm>
          <a:prstGeom prst="ellipse">
            <a:avLst/>
          </a:prstGeom>
          <a:solidFill>
            <a:srgbClr val="0A8F6A"/>
          </a:solidFill>
          <a:ln w="12700">
            <a:solidFill>
              <a:srgbClr val="0A8F6A"/>
            </a:solidFill>
            <a:prstDash val="solid"/>
          </a:ln>
        </p:spPr>
        <p:txBody>
          <a:bodyPr/>
          <a:lstStyle/>
          <a:p/>
        </p:txBody>
      </p:sp>
      <p:pic>
        <p:nvPicPr>
          <p:cNvPr id="125" name="Image 0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034528" y="3116824"/>
            <a:ext cx="130576" cy="130576"/>
          </a:xfrm>
          <a:prstGeom prst="rect">
            <a:avLst/>
          </a:prstGeom>
        </p:spPr>
      </p:pic>
      <p:sp>
        <p:nvSpPr>
          <p:cNvPr id="38" name="Text 35"/>
          <p:cNvSpPr>
            <a:spLocks noGrp="1"/>
          </p:cNvSpPr>
          <p:nvPr/>
        </p:nvSpPr>
        <p:spPr>
          <a:xfrm>
            <a:off x="3337560" y="2990088"/>
            <a:ext cx="1335024" cy="20116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930" b="1">
                <a:solidFill>
                  <a:srgbClr val="14383E"/>
                </a:solidFill>
                <a:latin typeface="Noto Sans CJK SC"/>
                <a:ea typeface="Noto Sans CJK SC"/>
                <a:cs typeface="Noto Sans CJK SC"/>
              </a:rPr>
              <a:t>自动化流程平台</a:t>
            </a:r>
            <a:endParaRPr sz="930"/>
          </a:p>
        </p:txBody>
      </p:sp>
      <p:sp>
        <p:nvSpPr>
          <p:cNvPr id="39" name="Text 36"/>
          <p:cNvSpPr>
            <a:spLocks noGrp="1"/>
          </p:cNvSpPr>
          <p:nvPr/>
        </p:nvSpPr>
        <p:spPr>
          <a:xfrm>
            <a:off x="3337560" y="3246120"/>
            <a:ext cx="1353312" cy="18288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780">
                <a:solidFill>
                  <a:srgbClr val="44585C"/>
                </a:solidFill>
                <a:latin typeface="Noto Sans CJK SC"/>
                <a:ea typeface="Noto Sans CJK SC"/>
                <a:cs typeface="Noto Sans CJK SC"/>
              </a:rPr>
              <a:t>规则主导 · 自动执行</a:t>
            </a:r>
            <a:endParaRPr sz="780"/>
          </a:p>
        </p:txBody>
      </p:sp>
      <p:sp>
        <p:nvSpPr>
          <p:cNvPr id="40" name="Shape 37"/>
          <p:cNvSpPr>
            <a:spLocks noGrp="1"/>
          </p:cNvSpPr>
          <p:nvPr/>
        </p:nvSpPr>
        <p:spPr>
          <a:xfrm>
            <a:off x="5303520" y="3383280"/>
            <a:ext cx="1965960" cy="768096"/>
          </a:xfrm>
          <a:prstGeom prst="roundRect">
            <a:avLst>
              <a:gd name="adj" fmla="val 19048"/>
            </a:avLst>
          </a:prstGeom>
          <a:solidFill>
            <a:srgbClr val="EAF3FF"/>
          </a:solidFill>
          <a:ln w="12700">
            <a:solidFill>
              <a:srgbClr val="2F80ED"/>
            </a:solidFill>
            <a:prstDash val="solid"/>
          </a:ln>
          <a:effectLst>
            <a:outerShdw blurRad="27940" dist="50800" dir="2700000" algn="bl" rotWithShape="0">
              <a:srgbClr val="436264">
                <a:alpha val="12000"/>
              </a:srgbClr>
            </a:outerShdw>
          </a:effectLst>
        </p:spPr>
        <p:txBody>
          <a:bodyPr/>
          <a:lstStyle/>
          <a:p/>
        </p:txBody>
      </p:sp>
      <p:sp>
        <p:nvSpPr>
          <p:cNvPr id="41" name="Shape 38"/>
          <p:cNvSpPr>
            <a:spLocks noGrp="1"/>
          </p:cNvSpPr>
          <p:nvPr/>
        </p:nvSpPr>
        <p:spPr>
          <a:xfrm>
            <a:off x="5413248" y="3529584"/>
            <a:ext cx="310896" cy="310896"/>
          </a:xfrm>
          <a:prstGeom prst="ellipse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  <p:txBody>
          <a:bodyPr/>
          <a:lstStyle/>
          <a:p/>
        </p:txBody>
      </p:sp>
      <p:pic>
        <p:nvPicPr>
          <p:cNvPr id="130" name="Image 1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03408" y="3619744"/>
            <a:ext cx="130576" cy="130576"/>
          </a:xfrm>
          <a:prstGeom prst="rect">
            <a:avLst/>
          </a:prstGeom>
        </p:spPr>
      </p:pic>
      <p:sp>
        <p:nvSpPr>
          <p:cNvPr id="43" name="Text 39"/>
          <p:cNvSpPr>
            <a:spLocks noGrp="1"/>
          </p:cNvSpPr>
          <p:nvPr/>
        </p:nvSpPr>
        <p:spPr>
          <a:xfrm>
            <a:off x="5806440" y="3493008"/>
            <a:ext cx="1335024" cy="20116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930" b="1">
                <a:solidFill>
                  <a:srgbClr val="14383E"/>
                </a:solidFill>
                <a:latin typeface="Noto Sans CJK SC"/>
                <a:ea typeface="Noto Sans CJK SC"/>
                <a:cs typeface="Noto Sans CJK SC"/>
              </a:rPr>
              <a:t>客服 AI Agent</a:t>
            </a:r>
            <a:endParaRPr sz="930"/>
          </a:p>
        </p:txBody>
      </p:sp>
      <p:sp>
        <p:nvSpPr>
          <p:cNvPr id="44" name="Text 40"/>
          <p:cNvSpPr>
            <a:spLocks noGrp="1"/>
          </p:cNvSpPr>
          <p:nvPr/>
        </p:nvSpPr>
        <p:spPr>
          <a:xfrm>
            <a:off x="5806440" y="3749040"/>
            <a:ext cx="1353312" cy="18288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780">
                <a:solidFill>
                  <a:srgbClr val="44585C"/>
                </a:solidFill>
                <a:latin typeface="Noto Sans CJK SC"/>
                <a:ea typeface="Noto Sans CJK SC"/>
                <a:cs typeface="Noto Sans CJK SC"/>
              </a:rPr>
              <a:t>AI 判断 · 受控执行</a:t>
            </a:r>
            <a:endParaRPr sz="780"/>
          </a:p>
        </p:txBody>
      </p:sp>
      <p:sp>
        <p:nvSpPr>
          <p:cNvPr id="45" name="Shape 41"/>
          <p:cNvSpPr>
            <a:spLocks noGrp="1"/>
          </p:cNvSpPr>
          <p:nvPr/>
        </p:nvSpPr>
        <p:spPr>
          <a:xfrm>
            <a:off x="4663440" y="4590288"/>
            <a:ext cx="1965960" cy="768096"/>
          </a:xfrm>
          <a:prstGeom prst="roundRect">
            <a:avLst>
              <a:gd name="adj" fmla="val 19048"/>
            </a:avLst>
          </a:prstGeom>
          <a:solidFill>
            <a:srgbClr val="FFF2E8"/>
          </a:solidFill>
          <a:ln w="12700">
            <a:solidFill>
              <a:srgbClr val="F28B36"/>
            </a:solidFill>
            <a:prstDash val="solid"/>
          </a:ln>
          <a:effectLst>
            <a:outerShdw blurRad="27940" dist="50800" dir="2700000" algn="bl" rotWithShape="0">
              <a:srgbClr val="436264">
                <a:alpha val="12000"/>
              </a:srgbClr>
            </a:outerShdw>
          </a:effectLst>
        </p:spPr>
        <p:txBody>
          <a:bodyPr/>
          <a:lstStyle/>
          <a:p/>
        </p:txBody>
      </p:sp>
      <p:sp>
        <p:nvSpPr>
          <p:cNvPr id="46" name="Shape 42"/>
          <p:cNvSpPr>
            <a:spLocks noGrp="1"/>
          </p:cNvSpPr>
          <p:nvPr/>
        </p:nvSpPr>
        <p:spPr>
          <a:xfrm>
            <a:off x="4773168" y="4736592"/>
            <a:ext cx="310896" cy="310896"/>
          </a:xfrm>
          <a:prstGeom prst="ellipse">
            <a:avLst/>
          </a:prstGeom>
          <a:solidFill>
            <a:srgbClr val="F28B36"/>
          </a:solidFill>
          <a:ln w="12700">
            <a:solidFill>
              <a:srgbClr val="F28B36"/>
            </a:solidFill>
            <a:prstDash val="solid"/>
          </a:ln>
        </p:spPr>
        <p:txBody>
          <a:bodyPr/>
          <a:lstStyle/>
          <a:p/>
        </p:txBody>
      </p:sp>
      <p:pic>
        <p:nvPicPr>
          <p:cNvPr id="135" name="Image 2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863328" y="4826752"/>
            <a:ext cx="130576" cy="130576"/>
          </a:xfrm>
          <a:prstGeom prst="rect">
            <a:avLst/>
          </a:prstGeom>
        </p:spPr>
      </p:pic>
      <p:sp>
        <p:nvSpPr>
          <p:cNvPr id="48" name="Text 43"/>
          <p:cNvSpPr>
            <a:spLocks noGrp="1"/>
          </p:cNvSpPr>
          <p:nvPr/>
        </p:nvSpPr>
        <p:spPr>
          <a:xfrm>
            <a:off x="5166360" y="4700016"/>
            <a:ext cx="1335024" cy="20116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930" b="1">
                <a:solidFill>
                  <a:srgbClr val="14383E"/>
                </a:solidFill>
                <a:latin typeface="Noto Sans CJK SC"/>
                <a:ea typeface="Noto Sans CJK SC"/>
                <a:cs typeface="Noto Sans CJK SC"/>
              </a:rPr>
              <a:t>客服工作台插件</a:t>
            </a:r>
            <a:endParaRPr sz="930"/>
          </a:p>
        </p:txBody>
      </p:sp>
      <p:sp>
        <p:nvSpPr>
          <p:cNvPr id="49" name="Text 44"/>
          <p:cNvSpPr>
            <a:spLocks noGrp="1"/>
          </p:cNvSpPr>
          <p:nvPr/>
        </p:nvSpPr>
        <p:spPr>
          <a:xfrm>
            <a:off x="5166360" y="4956048"/>
            <a:ext cx="1353312" cy="18288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780">
                <a:solidFill>
                  <a:srgbClr val="44585C"/>
                </a:solidFill>
                <a:latin typeface="Noto Sans CJK SC"/>
                <a:ea typeface="Noto Sans CJK SC"/>
                <a:cs typeface="Noto Sans CJK SC"/>
              </a:rPr>
              <a:t>人工主导 · AI 辅助</a:t>
            </a:r>
            <a:endParaRPr sz="780"/>
          </a:p>
        </p:txBody>
      </p:sp>
      <p:sp>
        <p:nvSpPr>
          <p:cNvPr id="50" name="Shape 45"/>
          <p:cNvSpPr>
            <a:spLocks noGrp="1"/>
          </p:cNvSpPr>
          <p:nvPr/>
        </p:nvSpPr>
        <p:spPr>
          <a:xfrm>
            <a:off x="8503920" y="1664208"/>
            <a:ext cx="2889504" cy="4425696"/>
          </a:xfrm>
          <a:prstGeom prst="roundRect">
            <a:avLst>
              <a:gd name="adj" fmla="val 5063"/>
            </a:avLst>
          </a:prstGeom>
          <a:solidFill>
            <a:srgbClr val="FFFFFF"/>
          </a:solidFill>
          <a:ln w="12700">
            <a:solidFill>
              <a:srgbClr val="BFD9D4"/>
            </a:solidFill>
            <a:prstDash val="solid"/>
          </a:ln>
          <a:effectLst>
            <a:outerShdw blurRad="27940" dist="50800" dir="2700000" algn="bl" rotWithShape="0">
              <a:srgbClr val="436264">
                <a:alpha val="12000"/>
              </a:srgbClr>
            </a:outerShdw>
          </a:effectLst>
        </p:spPr>
        <p:txBody>
          <a:bodyPr/>
          <a:lstStyle/>
          <a:p/>
        </p:txBody>
      </p:sp>
      <p:sp>
        <p:nvSpPr>
          <p:cNvPr id="51" name="Text 46"/>
          <p:cNvSpPr>
            <a:spLocks noGrp="1"/>
          </p:cNvSpPr>
          <p:nvPr/>
        </p:nvSpPr>
        <p:spPr>
          <a:xfrm>
            <a:off x="8759952" y="1920240"/>
            <a:ext cx="2377440" cy="23774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sz="1370" b="1">
                <a:solidFill>
                  <a:srgbClr val="14383E"/>
                </a:solidFill>
                <a:latin typeface="Noto Sans CJK SC"/>
                <a:ea typeface="Noto Sans CJK SC"/>
                <a:cs typeface="Noto Sans CJK SC"/>
              </a:rPr>
              <a:t>配置问题</a:t>
            </a:r>
            <a:endParaRPr sz="1370"/>
          </a:p>
        </p:txBody>
      </p:sp>
      <p:sp>
        <p:nvSpPr>
          <p:cNvPr id="52" name="Shape 47"/>
          <p:cNvSpPr>
            <a:spLocks noGrp="1"/>
          </p:cNvSpPr>
          <p:nvPr/>
        </p:nvSpPr>
        <p:spPr>
          <a:xfrm>
            <a:off x="8778240" y="2450592"/>
            <a:ext cx="2340864" cy="310896"/>
          </a:xfrm>
          <a:prstGeom prst="roundRect">
            <a:avLst>
              <a:gd name="adj" fmla="val 29412"/>
            </a:avLst>
          </a:prstGeom>
          <a:solidFill>
            <a:srgbClr val="F7FAFA"/>
          </a:solidFill>
          <a:ln w="12700">
            <a:solidFill>
              <a:srgbClr val="2F80ED"/>
            </a:solidFill>
            <a:prstDash val="solid"/>
          </a:ln>
        </p:spPr>
        <p:txBody>
          <a:bodyPr/>
          <a:lstStyle/>
          <a:p/>
        </p:txBody>
      </p:sp>
      <p:sp>
        <p:nvSpPr>
          <p:cNvPr id="53" name="Text 48"/>
          <p:cNvSpPr>
            <a:spLocks noGrp="1"/>
          </p:cNvSpPr>
          <p:nvPr/>
        </p:nvSpPr>
        <p:spPr>
          <a:xfrm>
            <a:off x="8778240" y="2450592"/>
            <a:ext cx="2340864" cy="31089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sz="840" b="1">
                <a:solidFill>
                  <a:srgbClr val="1B5FC4"/>
                </a:solidFill>
                <a:latin typeface="Noto Sans CJK SC"/>
                <a:ea typeface="Noto Sans CJK SC"/>
                <a:cs typeface="Noto Sans CJK SC"/>
              </a:rPr>
              <a:t>谁理解客户表达？</a:t>
            </a:r>
            <a:endParaRPr sz="840"/>
          </a:p>
        </p:txBody>
      </p:sp>
      <p:sp>
        <p:nvSpPr>
          <p:cNvPr id="54" name="Shape 49"/>
          <p:cNvSpPr>
            <a:spLocks noGrp="1"/>
          </p:cNvSpPr>
          <p:nvPr/>
        </p:nvSpPr>
        <p:spPr>
          <a:xfrm>
            <a:off x="8778240" y="3035808"/>
            <a:ext cx="2340864" cy="310896"/>
          </a:xfrm>
          <a:prstGeom prst="roundRect">
            <a:avLst>
              <a:gd name="adj" fmla="val 29412"/>
            </a:avLst>
          </a:prstGeom>
          <a:solidFill>
            <a:srgbClr val="FFFFFF"/>
          </a:solidFill>
          <a:ln w="12700">
            <a:solidFill>
              <a:srgbClr val="00A7A7"/>
            </a:solidFill>
            <a:prstDash val="solid"/>
          </a:ln>
        </p:spPr>
        <p:txBody>
          <a:bodyPr/>
          <a:lstStyle/>
          <a:p/>
        </p:txBody>
      </p:sp>
      <p:sp>
        <p:nvSpPr>
          <p:cNvPr id="55" name="Text 50"/>
          <p:cNvSpPr>
            <a:spLocks noGrp="1"/>
          </p:cNvSpPr>
          <p:nvPr/>
        </p:nvSpPr>
        <p:spPr>
          <a:xfrm>
            <a:off x="8778240" y="3035808"/>
            <a:ext cx="2340864" cy="31089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sz="840" b="1">
                <a:solidFill>
                  <a:srgbClr val="00706F"/>
                </a:solidFill>
                <a:latin typeface="Noto Sans CJK SC"/>
                <a:ea typeface="Noto Sans CJK SC"/>
                <a:cs typeface="Noto Sans CJK SC"/>
              </a:rPr>
              <a:t>谁判断业务条件？</a:t>
            </a:r>
            <a:endParaRPr sz="840"/>
          </a:p>
        </p:txBody>
      </p:sp>
      <p:sp>
        <p:nvSpPr>
          <p:cNvPr id="56" name="Shape 51"/>
          <p:cNvSpPr>
            <a:spLocks noGrp="1"/>
          </p:cNvSpPr>
          <p:nvPr/>
        </p:nvSpPr>
        <p:spPr>
          <a:xfrm>
            <a:off x="8778240" y="3621024"/>
            <a:ext cx="2340864" cy="310896"/>
          </a:xfrm>
          <a:prstGeom prst="roundRect">
            <a:avLst>
              <a:gd name="adj" fmla="val 29412"/>
            </a:avLst>
          </a:prstGeom>
          <a:solidFill>
            <a:srgbClr val="F7FAFA"/>
          </a:solidFill>
          <a:ln w="12700">
            <a:solidFill>
              <a:srgbClr val="F7AA2B"/>
            </a:solidFill>
            <a:prstDash val="solid"/>
          </a:ln>
        </p:spPr>
        <p:txBody>
          <a:bodyPr/>
          <a:lstStyle/>
          <a:p/>
        </p:txBody>
      </p:sp>
      <p:sp>
        <p:nvSpPr>
          <p:cNvPr id="57" name="Text 52"/>
          <p:cNvSpPr>
            <a:spLocks noGrp="1"/>
          </p:cNvSpPr>
          <p:nvPr/>
        </p:nvSpPr>
        <p:spPr>
          <a:xfrm>
            <a:off x="8778240" y="3621024"/>
            <a:ext cx="2340864" cy="31089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sz="840" b="1">
                <a:solidFill>
                  <a:srgbClr val="F7AA2B"/>
                </a:solidFill>
                <a:latin typeface="Noto Sans CJK SC"/>
                <a:ea typeface="Noto Sans CJK SC"/>
                <a:cs typeface="Noto Sans CJK SC"/>
              </a:rPr>
              <a:t>谁确认敏感动作？</a:t>
            </a:r>
            <a:endParaRPr sz="840"/>
          </a:p>
        </p:txBody>
      </p:sp>
      <p:sp>
        <p:nvSpPr>
          <p:cNvPr id="58" name="Shape 53"/>
          <p:cNvSpPr>
            <a:spLocks noGrp="1"/>
          </p:cNvSpPr>
          <p:nvPr/>
        </p:nvSpPr>
        <p:spPr>
          <a:xfrm>
            <a:off x="8778240" y="4206240"/>
            <a:ext cx="2340864" cy="310896"/>
          </a:xfrm>
          <a:prstGeom prst="roundRect">
            <a:avLst>
              <a:gd name="adj" fmla="val 29412"/>
            </a:avLst>
          </a:prstGeom>
          <a:solidFill>
            <a:srgbClr val="FFFFFF"/>
          </a:solidFill>
          <a:ln w="12700">
            <a:solidFill>
              <a:srgbClr val="F28B36"/>
            </a:solidFill>
            <a:prstDash val="solid"/>
          </a:ln>
        </p:spPr>
        <p:txBody>
          <a:bodyPr/>
          <a:lstStyle/>
          <a:p/>
        </p:txBody>
      </p:sp>
      <p:sp>
        <p:nvSpPr>
          <p:cNvPr id="59" name="Text 54"/>
          <p:cNvSpPr>
            <a:spLocks noGrp="1"/>
          </p:cNvSpPr>
          <p:nvPr/>
        </p:nvSpPr>
        <p:spPr>
          <a:xfrm>
            <a:off x="8778240" y="4206240"/>
            <a:ext cx="2340864" cy="31089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sz="840" b="1">
                <a:solidFill>
                  <a:srgbClr val="9A5210"/>
                </a:solidFill>
                <a:latin typeface="Noto Sans CJK SC"/>
                <a:ea typeface="Noto Sans CJK SC"/>
                <a:cs typeface="Noto Sans CJK SC"/>
              </a:rPr>
              <a:t>谁执行系统变更？</a:t>
            </a:r>
            <a:endParaRPr sz="840"/>
          </a:p>
        </p:txBody>
      </p:sp>
      <p:sp>
        <p:nvSpPr>
          <p:cNvPr id="60" name="Shape 55"/>
          <p:cNvSpPr>
            <a:spLocks noGrp="1"/>
          </p:cNvSpPr>
          <p:nvPr/>
        </p:nvSpPr>
        <p:spPr>
          <a:xfrm>
            <a:off x="8778240" y="4791456"/>
            <a:ext cx="2340864" cy="310896"/>
          </a:xfrm>
          <a:prstGeom prst="roundRect">
            <a:avLst>
              <a:gd name="adj" fmla="val 29412"/>
            </a:avLst>
          </a:prstGeom>
          <a:solidFill>
            <a:srgbClr val="F7FAFA"/>
          </a:solidFill>
          <a:ln w="12700">
            <a:solidFill>
              <a:srgbClr val="E2574C"/>
            </a:solidFill>
            <a:prstDash val="solid"/>
          </a:ln>
        </p:spPr>
        <p:txBody>
          <a:bodyPr/>
          <a:lstStyle/>
          <a:p/>
        </p:txBody>
      </p:sp>
      <p:sp>
        <p:nvSpPr>
          <p:cNvPr id="61" name="Text 56"/>
          <p:cNvSpPr>
            <a:spLocks noGrp="1"/>
          </p:cNvSpPr>
          <p:nvPr/>
        </p:nvSpPr>
        <p:spPr>
          <a:xfrm>
            <a:off x="8778240" y="4791456"/>
            <a:ext cx="2340864" cy="31089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sz="840" b="1">
                <a:solidFill>
                  <a:srgbClr val="B8362C"/>
                </a:solidFill>
                <a:latin typeface="Noto Sans CJK SC"/>
                <a:ea typeface="Noto Sans CJK SC"/>
                <a:cs typeface="Noto Sans CJK SC"/>
              </a:rPr>
              <a:t>谁承担最终责任？</a:t>
            </a:r>
            <a:endParaRPr sz="840"/>
          </a:p>
        </p:txBody>
      </p:sp>
      <p:sp>
        <p:nvSpPr>
          <p:cNvPr id="62" name="Text 57"/>
          <p:cNvSpPr>
            <a:spLocks noGrp="1"/>
          </p:cNvSpPr>
          <p:nvPr/>
        </p:nvSpPr>
        <p:spPr>
          <a:xfrm>
            <a:off x="8778240" y="5468112"/>
            <a:ext cx="2340864" cy="40233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sz="850">
                <a:solidFill>
                  <a:srgbClr val="44585C"/>
                </a:solidFill>
                <a:latin typeface="Noto Sans CJK SC"/>
                <a:ea typeface="Noto Sans CJK SC"/>
                <a:cs typeface="Noto Sans CJK SC"/>
              </a:rPr>
              <a:t>同一能力在不同通道中，可以采用不同处理权配置。</a:t>
            </a:r>
            <a:endParaRPr sz="850"/>
          </a:p>
        </p:txBody>
      </p:sp>
      <p:sp>
        <p:nvSpPr>
          <p:cNvPr id="63" name="Rectangle 62"/>
          <p:cNvSpPr>
            <a:spLocks noGrp="1"/>
          </p:cNvSpPr>
          <p:nvPr/>
        </p:nvSpPr>
        <p:spPr>
          <a:xfrm>
            <a:off x="0" y="0"/>
            <a:ext cx="41148" cy="6858000"/>
          </a:xfrm>
          <a:prstGeom prst="rect">
            <a:avLst/>
          </a:prstGeom>
          <a:solidFill>
            <a:srgbClr val="0A8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76" name="TextBox 75"/>
          <p:cNvSpPr>
            <a:spLocks noGrp="1"/>
          </p:cNvSpPr>
          <p:nvPr/>
        </p:nvSpPr>
        <p:spPr>
          <a:xfrm>
            <a:off x="2084831" y="4133087"/>
            <a:ext cx="17373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660" b="1">
                <a:solidFill>
                  <a:srgbClr val="55696A"/>
                </a:solidFill>
                <a:latin typeface="Noto Sans CJK SC"/>
                <a:ea typeface="Noto Sans CJK SC"/>
                <a:cs typeface="Noto Sans CJK SC"/>
              </a:rPr>
              <a:t>处理权开放方向 ↗</a:t>
            </a:r>
            <a:endParaRPr sz="660" b="1">
              <a:solidFill>
                <a:srgbClr val="8FA6A2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80" name="圆角矩形 79"/>
          <p:cNvSpPr>
            <a:spLocks noGrp="1"/>
          </p:cNvSpPr>
          <p:nvPr/>
        </p:nvSpPr>
        <p:spPr>
          <a:xfrm>
            <a:off x="6565583" y="127635"/>
            <a:ext cx="4937760" cy="365760"/>
          </a:xfrm>
          <a:prstGeom prst="roundRect">
            <a:avLst>
              <a:gd name="adj" fmla="val 20833"/>
            </a:avLst>
          </a:prstGeom>
          <a:solidFill>
            <a:srgbClr val="F7FBF9"/>
          </a:solidFill>
          <a:ln w="12668">
            <a:solidFill>
              <a:srgbClr val="F7FBF9"/>
            </a:solidFill>
            <a:prstDash val="solid"/>
          </a:ln>
        </p:spPr>
        <p:txBody>
          <a:bodyPr/>
          <a:p/>
        </p:txBody>
      </p:sp>
      <p:sp>
        <p:nvSpPr>
          <p:cNvPr id="81" name="圆角矩形 80"/>
          <p:cNvSpPr>
            <a:spLocks noGrp="1"/>
          </p:cNvSpPr>
          <p:nvPr/>
        </p:nvSpPr>
        <p:spPr>
          <a:xfrm>
            <a:off x="6657023" y="164783"/>
            <a:ext cx="1154430" cy="264795"/>
          </a:xfrm>
          <a:prstGeom prst="roundRect">
            <a:avLst>
              <a:gd name="adj" fmla="val 28777"/>
            </a:avLst>
          </a:prstGeom>
          <a:solidFill>
            <a:srgbClr val="007574"/>
          </a:solidFill>
          <a:ln w="12668">
            <a:solidFill>
              <a:srgbClr val="007574"/>
            </a:solidFill>
            <a:prstDash val="solid"/>
          </a:ln>
        </p:spPr>
        <p:txBody>
          <a:bodyPr/>
          <a:p/>
        </p:txBody>
      </p:sp>
      <p:sp>
        <p:nvSpPr>
          <p:cNvPr id="82" name="矩形 81"/>
          <p:cNvSpPr>
            <a:spLocks noGrp="1"/>
          </p:cNvSpPr>
          <p:nvPr/>
        </p:nvSpPr>
        <p:spPr>
          <a:xfrm>
            <a:off x="6657023" y="187643"/>
            <a:ext cx="1154430" cy="182880"/>
          </a:xfrm>
          <a:prstGeom prst="rect">
            <a:avLst/>
          </a:prstGeom>
        </p:spPr>
        <p:txBody>
          <a:bodyPr anchor="ctr"/>
          <a:lstStyle/>
          <a:p>
            <a:pPr algn="ctr">
              <a:defRPr sz="660" b="1">
                <a:solidFill>
                  <a:srgbClr val="FFFFFF"/>
                </a:solidFill>
              </a:defRPr>
            </a:pPr>
            <a:r>
              <a:t>理解</a:t>
            </a:r>
          </a:p>
        </p:txBody>
      </p:sp>
      <p:sp>
        <p:nvSpPr>
          <p:cNvPr id="83" name="圆角矩形 82"/>
          <p:cNvSpPr>
            <a:spLocks noGrp="1"/>
          </p:cNvSpPr>
          <p:nvPr/>
        </p:nvSpPr>
        <p:spPr>
          <a:xfrm>
            <a:off x="7857173" y="164783"/>
            <a:ext cx="1154430" cy="264795"/>
          </a:xfrm>
          <a:prstGeom prst="roundRect">
            <a:avLst>
              <a:gd name="adj" fmla="val 28777"/>
            </a:avLst>
          </a:prstGeom>
          <a:solidFill>
            <a:srgbClr val="007574"/>
          </a:solidFill>
          <a:ln w="12668">
            <a:solidFill>
              <a:srgbClr val="007574"/>
            </a:solidFill>
            <a:prstDash val="solid"/>
          </a:ln>
        </p:spPr>
        <p:txBody>
          <a:bodyPr/>
          <a:p/>
        </p:txBody>
      </p:sp>
      <p:sp>
        <p:nvSpPr>
          <p:cNvPr id="84" name="矩形 83"/>
          <p:cNvSpPr>
            <a:spLocks noGrp="1"/>
          </p:cNvSpPr>
          <p:nvPr/>
        </p:nvSpPr>
        <p:spPr>
          <a:xfrm>
            <a:off x="7857173" y="187643"/>
            <a:ext cx="1154430" cy="182880"/>
          </a:xfrm>
          <a:prstGeom prst="rect">
            <a:avLst/>
          </a:prstGeom>
        </p:spPr>
        <p:txBody>
          <a:bodyPr anchor="ctr"/>
          <a:lstStyle/>
          <a:p>
            <a:pPr algn="ctr">
              <a:defRPr sz="660" b="1">
                <a:solidFill>
                  <a:srgbClr val="FFFFFF"/>
                </a:solidFill>
              </a:defRPr>
            </a:pPr>
            <a:r>
              <a:t>查询</a:t>
            </a:r>
          </a:p>
        </p:txBody>
      </p:sp>
      <p:sp>
        <p:nvSpPr>
          <p:cNvPr id="85" name="圆角矩形 84"/>
          <p:cNvSpPr>
            <a:spLocks noGrp="1"/>
          </p:cNvSpPr>
          <p:nvPr/>
        </p:nvSpPr>
        <p:spPr>
          <a:xfrm>
            <a:off x="9057323" y="164783"/>
            <a:ext cx="1154430" cy="264795"/>
          </a:xfrm>
          <a:prstGeom prst="roundRect">
            <a:avLst>
              <a:gd name="adj" fmla="val 28777"/>
            </a:avLst>
          </a:prstGeom>
          <a:solidFill>
            <a:srgbClr val="007574"/>
          </a:solidFill>
          <a:ln w="12668">
            <a:solidFill>
              <a:srgbClr val="007574"/>
            </a:solidFill>
            <a:prstDash val="solid"/>
          </a:ln>
        </p:spPr>
        <p:txBody>
          <a:bodyPr/>
          <a:p/>
        </p:txBody>
      </p:sp>
      <p:sp>
        <p:nvSpPr>
          <p:cNvPr id="86" name="矩形 85"/>
          <p:cNvSpPr>
            <a:spLocks noGrp="1"/>
          </p:cNvSpPr>
          <p:nvPr/>
        </p:nvSpPr>
        <p:spPr>
          <a:xfrm>
            <a:off x="9057323" y="187643"/>
            <a:ext cx="1154430" cy="182880"/>
          </a:xfrm>
          <a:prstGeom prst="rect">
            <a:avLst/>
          </a:prstGeom>
        </p:spPr>
        <p:txBody>
          <a:bodyPr anchor="ctr"/>
          <a:lstStyle/>
          <a:p>
            <a:pPr algn="ctr">
              <a:defRPr sz="660" b="1">
                <a:solidFill>
                  <a:srgbClr val="FFFFFF"/>
                </a:solidFill>
              </a:defRPr>
            </a:pPr>
            <a:r>
              <a:t>决策</a:t>
            </a:r>
          </a:p>
        </p:txBody>
      </p:sp>
      <p:sp>
        <p:nvSpPr>
          <p:cNvPr id="87" name="圆角矩形 86"/>
          <p:cNvSpPr>
            <a:spLocks noGrp="1"/>
          </p:cNvSpPr>
          <p:nvPr/>
        </p:nvSpPr>
        <p:spPr>
          <a:xfrm>
            <a:off x="10257473" y="164783"/>
            <a:ext cx="1154430" cy="264795"/>
          </a:xfrm>
          <a:prstGeom prst="roundRect">
            <a:avLst>
              <a:gd name="adj" fmla="val 28777"/>
            </a:avLst>
          </a:prstGeom>
          <a:solidFill>
            <a:srgbClr val="007574"/>
          </a:solidFill>
          <a:ln w="12668">
            <a:solidFill>
              <a:srgbClr val="007574"/>
            </a:solidFill>
            <a:prstDash val="solid"/>
          </a:ln>
        </p:spPr>
        <p:txBody>
          <a:bodyPr/>
          <a:p/>
        </p:txBody>
      </p:sp>
      <p:sp>
        <p:nvSpPr>
          <p:cNvPr id="88" name="矩形 87"/>
          <p:cNvSpPr>
            <a:spLocks noGrp="1"/>
          </p:cNvSpPr>
          <p:nvPr/>
        </p:nvSpPr>
        <p:spPr>
          <a:xfrm>
            <a:off x="10257473" y="187643"/>
            <a:ext cx="1154430" cy="182880"/>
          </a:xfrm>
          <a:prstGeom prst="rect">
            <a:avLst/>
          </a:prstGeom>
        </p:spPr>
        <p:txBody>
          <a:bodyPr anchor="ctr"/>
          <a:lstStyle/>
          <a:p>
            <a:pPr algn="ctr">
              <a:defRPr sz="660" b="1">
                <a:solidFill>
                  <a:srgbClr val="FFFFFF"/>
                </a:solidFill>
              </a:defRPr>
            </a:pPr>
            <a:r>
              <a:t>执行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hape 0"/>
          <p:cNvSpPr>
            <a:spLocks noGrp="1"/>
          </p:cNvSpPr>
          <p:nvPr/>
        </p:nvSpPr>
        <p:spPr>
          <a:xfrm>
            <a:off x="16459" y="16459"/>
            <a:ext cx="38405" cy="6825082"/>
          </a:xfrm>
          <a:prstGeom prst="rect">
            <a:avLst/>
          </a:prstGeom>
          <a:solidFill>
            <a:srgbClr val="0A8F6A"/>
          </a:solidFill>
          <a:ln w="12700">
            <a:solidFill>
              <a:srgbClr val="12B07D"/>
            </a:solidFill>
            <a:prstDash val="solid"/>
          </a:ln>
        </p:spPr>
        <p:txBody>
          <a:bodyPr/>
          <a:lstStyle/>
          <a:p/>
        </p:txBody>
      </p:sp>
      <p:sp>
        <p:nvSpPr>
          <p:cNvPr id="4" name="Shape 2"/>
          <p:cNvSpPr>
            <a:spLocks noGrp="1"/>
          </p:cNvSpPr>
          <p:nvPr/>
        </p:nvSpPr>
        <p:spPr>
          <a:xfrm>
            <a:off x="10104120" y="73152"/>
            <a:ext cx="1874520" cy="1353312"/>
          </a:xfrm>
          <a:prstGeom prst="ellipse">
            <a:avLst/>
          </a:prstGeom>
          <a:solidFill>
            <a:srgbClr val="E8F7F1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/>
        </p:txBody>
      </p:sp>
      <p:sp>
        <p:nvSpPr>
          <p:cNvPr id="5" name="Shape 3"/>
          <p:cNvSpPr>
            <a:spLocks noGrp="1"/>
          </p:cNvSpPr>
          <p:nvPr/>
        </p:nvSpPr>
        <p:spPr>
          <a:xfrm>
            <a:off x="91440" y="5596128"/>
            <a:ext cx="1719072" cy="1051560"/>
          </a:xfrm>
          <a:prstGeom prst="ellipse">
            <a:avLst/>
          </a:prstGeom>
          <a:solidFill>
            <a:srgbClr val="FFF2E8">
              <a:alpha val="68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/>
        </p:txBody>
      </p:sp>
      <p:sp>
        <p:nvSpPr>
          <p:cNvPr id="6" name="Shape 4"/>
          <p:cNvSpPr>
            <a:spLocks noGrp="1"/>
          </p:cNvSpPr>
          <p:nvPr/>
        </p:nvSpPr>
        <p:spPr>
          <a:xfrm>
            <a:off x="658368" y="393192"/>
            <a:ext cx="68580" cy="68580"/>
          </a:xfrm>
          <a:prstGeom prst="ellipse">
            <a:avLst/>
          </a:prstGeom>
          <a:solidFill>
            <a:srgbClr val="0A8F6A"/>
          </a:solidFill>
          <a:ln w="12700">
            <a:solidFill>
              <a:srgbClr val="12B07D"/>
            </a:solidFill>
            <a:prstDash val="solid"/>
          </a:ln>
        </p:spPr>
        <p:txBody>
          <a:bodyPr/>
          <a:lstStyle/>
          <a:p/>
        </p:txBody>
      </p:sp>
      <p:sp>
        <p:nvSpPr>
          <p:cNvPr id="7" name="Shape 5"/>
          <p:cNvSpPr>
            <a:spLocks noGrp="1"/>
          </p:cNvSpPr>
          <p:nvPr/>
        </p:nvSpPr>
        <p:spPr>
          <a:xfrm>
            <a:off x="768096" y="427939"/>
            <a:ext cx="411480" cy="0"/>
          </a:xfrm>
          <a:prstGeom prst="line">
            <a:avLst/>
          </a:prstGeom>
          <a:noFill/>
          <a:ln w="15875">
            <a:solidFill>
              <a:srgbClr val="0A8F6A"/>
            </a:solidFill>
            <a:prstDash val="solid"/>
          </a:ln>
        </p:spPr>
        <p:txBody>
          <a:bodyPr/>
          <a:lstStyle/>
          <a:p/>
        </p:txBody>
      </p:sp>
      <p:sp>
        <p:nvSpPr>
          <p:cNvPr id="8" name="Text 6"/>
          <p:cNvSpPr>
            <a:spLocks noGrp="1"/>
          </p:cNvSpPr>
          <p:nvPr/>
        </p:nvSpPr>
        <p:spPr>
          <a:xfrm>
            <a:off x="1234440" y="265176"/>
            <a:ext cx="2331720" cy="31089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r>
              <a:rPr sz="1050" b="1">
                <a:solidFill>
                  <a:srgbClr val="076B50"/>
                </a:solidFill>
                <a:latin typeface="Noto Sans CJK SC"/>
                <a:ea typeface="Noto Sans CJK SC"/>
                <a:cs typeface="Noto Sans CJK SC"/>
              </a:rPr>
              <a:t>CHAPTER 3 · 系统蓝图</a:t>
            </a:r>
            <a:endParaRPr sz="1050" b="1">
              <a:solidFill>
                <a:srgbClr val="0A8F6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9" name="Shape 7"/>
          <p:cNvSpPr>
            <a:spLocks noGrp="1"/>
          </p:cNvSpPr>
          <p:nvPr/>
        </p:nvSpPr>
        <p:spPr>
          <a:xfrm>
            <a:off x="9829800" y="301752"/>
            <a:ext cx="68580" cy="68580"/>
          </a:xfrm>
          <a:prstGeom prst="ellipse">
            <a:avLst/>
          </a:prstGeom>
          <a:solidFill>
            <a:srgbClr val="C7DAD6"/>
          </a:solidFill>
          <a:ln w="12700">
            <a:solidFill>
              <a:srgbClr val="C7DAD6"/>
            </a:solidFill>
            <a:prstDash val="solid"/>
          </a:ln>
        </p:spPr>
        <p:txBody>
          <a:bodyPr/>
          <a:lstStyle/>
          <a:p/>
        </p:txBody>
      </p:sp>
      <p:sp>
        <p:nvSpPr>
          <p:cNvPr id="10" name="Shape 8"/>
          <p:cNvSpPr>
            <a:spLocks noGrp="1"/>
          </p:cNvSpPr>
          <p:nvPr/>
        </p:nvSpPr>
        <p:spPr>
          <a:xfrm>
            <a:off x="10040112" y="301752"/>
            <a:ext cx="68580" cy="68580"/>
          </a:xfrm>
          <a:prstGeom prst="ellipse">
            <a:avLst/>
          </a:prstGeom>
          <a:solidFill>
            <a:srgbClr val="C7DAD6"/>
          </a:solidFill>
          <a:ln w="12700">
            <a:solidFill>
              <a:srgbClr val="C7DAD6"/>
            </a:solidFill>
            <a:prstDash val="solid"/>
          </a:ln>
        </p:spPr>
        <p:txBody>
          <a:bodyPr/>
          <a:lstStyle/>
          <a:p/>
        </p:txBody>
      </p:sp>
      <p:sp>
        <p:nvSpPr>
          <p:cNvPr id="11" name="Shape 9"/>
          <p:cNvSpPr>
            <a:spLocks noGrp="1"/>
          </p:cNvSpPr>
          <p:nvPr/>
        </p:nvSpPr>
        <p:spPr>
          <a:xfrm>
            <a:off x="10250424" y="301752"/>
            <a:ext cx="68580" cy="68580"/>
          </a:xfrm>
          <a:prstGeom prst="ellipse">
            <a:avLst/>
          </a:prstGeom>
          <a:solidFill>
            <a:srgbClr val="C7DAD6"/>
          </a:solidFill>
          <a:ln w="12700">
            <a:solidFill>
              <a:srgbClr val="C7DAD6"/>
            </a:solidFill>
            <a:prstDash val="solid"/>
          </a:ln>
        </p:spPr>
        <p:txBody>
          <a:bodyPr/>
          <a:lstStyle/>
          <a:p/>
        </p:txBody>
      </p:sp>
      <p:sp>
        <p:nvSpPr>
          <p:cNvPr id="12" name="Shape 10"/>
          <p:cNvSpPr>
            <a:spLocks noGrp="1"/>
          </p:cNvSpPr>
          <p:nvPr/>
        </p:nvSpPr>
        <p:spPr>
          <a:xfrm>
            <a:off x="10460736" y="301752"/>
            <a:ext cx="68580" cy="68580"/>
          </a:xfrm>
          <a:prstGeom prst="ellipse">
            <a:avLst/>
          </a:prstGeom>
          <a:solidFill>
            <a:srgbClr val="12B07D"/>
          </a:solidFill>
          <a:ln w="12700">
            <a:solidFill>
              <a:srgbClr val="12B07D"/>
            </a:solidFill>
            <a:prstDash val="solid"/>
          </a:ln>
        </p:spPr>
        <p:txBody>
          <a:bodyPr/>
          <a:lstStyle/>
          <a:p/>
        </p:txBody>
      </p:sp>
      <p:sp>
        <p:nvSpPr>
          <p:cNvPr id="13" name="Shape 11"/>
          <p:cNvSpPr>
            <a:spLocks noGrp="1"/>
          </p:cNvSpPr>
          <p:nvPr/>
        </p:nvSpPr>
        <p:spPr>
          <a:xfrm>
            <a:off x="10671048" y="301752"/>
            <a:ext cx="68580" cy="68580"/>
          </a:xfrm>
          <a:prstGeom prst="ellipse">
            <a:avLst/>
          </a:prstGeom>
          <a:solidFill>
            <a:srgbClr val="C7DAD6"/>
          </a:solidFill>
          <a:ln w="12700">
            <a:solidFill>
              <a:srgbClr val="C7DAD6"/>
            </a:solidFill>
            <a:prstDash val="solid"/>
          </a:ln>
        </p:spPr>
        <p:txBody>
          <a:bodyPr/>
          <a:lstStyle/>
          <a:p/>
        </p:txBody>
      </p:sp>
      <p:sp>
        <p:nvSpPr>
          <p:cNvPr id="14" name="Shape 12"/>
          <p:cNvSpPr>
            <a:spLocks noGrp="1"/>
          </p:cNvSpPr>
          <p:nvPr/>
        </p:nvSpPr>
        <p:spPr>
          <a:xfrm>
            <a:off x="10881360" y="301752"/>
            <a:ext cx="68580" cy="68580"/>
          </a:xfrm>
          <a:prstGeom prst="ellipse">
            <a:avLst/>
          </a:prstGeom>
          <a:solidFill>
            <a:srgbClr val="C7DAD6"/>
          </a:solidFill>
          <a:ln w="12700">
            <a:solidFill>
              <a:srgbClr val="C7DAD6"/>
            </a:solidFill>
            <a:prstDash val="solid"/>
          </a:ln>
        </p:spPr>
        <p:txBody>
          <a:bodyPr/>
          <a:lstStyle/>
          <a:p/>
        </p:txBody>
      </p:sp>
      <p:sp>
        <p:nvSpPr>
          <p:cNvPr id="15" name="Shape 13"/>
          <p:cNvSpPr>
            <a:spLocks noGrp="1"/>
          </p:cNvSpPr>
          <p:nvPr/>
        </p:nvSpPr>
        <p:spPr>
          <a:xfrm>
            <a:off x="11091672" y="301752"/>
            <a:ext cx="68580" cy="68580"/>
          </a:xfrm>
          <a:prstGeom prst="ellipse">
            <a:avLst/>
          </a:prstGeom>
          <a:solidFill>
            <a:srgbClr val="C7DAD6"/>
          </a:solidFill>
          <a:ln w="12700">
            <a:solidFill>
              <a:srgbClr val="C7DAD6"/>
            </a:solidFill>
            <a:prstDash val="solid"/>
          </a:ln>
        </p:spPr>
        <p:txBody>
          <a:bodyPr/>
          <a:lstStyle/>
          <a:p/>
        </p:txBody>
      </p:sp>
      <p:sp>
        <p:nvSpPr>
          <p:cNvPr id="16" name="Shape 14"/>
          <p:cNvSpPr>
            <a:spLocks noGrp="1"/>
          </p:cNvSpPr>
          <p:nvPr/>
        </p:nvSpPr>
        <p:spPr>
          <a:xfrm>
            <a:off x="11301984" y="301752"/>
            <a:ext cx="68580" cy="68580"/>
          </a:xfrm>
          <a:prstGeom prst="ellipse">
            <a:avLst/>
          </a:prstGeom>
          <a:solidFill>
            <a:srgbClr val="C7DAD6"/>
          </a:solidFill>
          <a:ln w="12700">
            <a:solidFill>
              <a:srgbClr val="C7DAD6"/>
            </a:solidFill>
            <a:prstDash val="solid"/>
          </a:ln>
        </p:spPr>
        <p:txBody>
          <a:bodyPr/>
          <a:lstStyle/>
          <a:p/>
        </p:txBody>
      </p:sp>
      <p:sp>
        <p:nvSpPr>
          <p:cNvPr id="17" name="Text 15"/>
          <p:cNvSpPr>
            <a:spLocks noGrp="1"/>
          </p:cNvSpPr>
          <p:nvPr/>
        </p:nvSpPr>
        <p:spPr>
          <a:xfrm>
            <a:off x="658368" y="713232"/>
            <a:ext cx="10652760" cy="49377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2550" b="1">
                <a:solidFill>
                  <a:srgbClr val="14383E"/>
                </a:solidFill>
                <a:latin typeface="Noto Sans CJK SC"/>
                <a:ea typeface="Noto Sans CJK SC"/>
                <a:cs typeface="Noto Sans CJK SC"/>
              </a:rPr>
              <a:t>第三章 · 系统蓝图</a:t>
            </a:r>
            <a:endParaRPr sz="2550"/>
          </a:p>
        </p:txBody>
      </p:sp>
      <p:sp>
        <p:nvSpPr>
          <p:cNvPr id="18" name="Text 16"/>
          <p:cNvSpPr>
            <a:spLocks noGrp="1"/>
          </p:cNvSpPr>
          <p:nvPr/>
        </p:nvSpPr>
        <p:spPr>
          <a:xfrm>
            <a:off x="658368" y="1197864"/>
            <a:ext cx="10469880" cy="29260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r>
              <a:rPr sz="1170">
                <a:solidFill>
                  <a:srgbClr val="44585C"/>
                </a:solidFill>
                <a:latin typeface="Noto Sans CJK SC"/>
                <a:ea typeface="Noto Sans CJK SC"/>
                <a:cs typeface="Noto Sans CJK SC"/>
              </a:rPr>
              <a:t>这一块回答：这套系统怎么搭，各层各管什么。共 7 页，约 21 分钟。</a:t>
            </a:r>
            <a:endParaRPr sz="1170">
              <a:solidFill>
                <a:srgbClr val="6B8185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9" name="Shape 17"/>
          <p:cNvSpPr>
            <a:spLocks noGrp="1"/>
          </p:cNvSpPr>
          <p:nvPr/>
        </p:nvSpPr>
        <p:spPr>
          <a:xfrm>
            <a:off x="658368" y="6510528"/>
            <a:ext cx="10835640" cy="0"/>
          </a:xfrm>
          <a:prstGeom prst="line">
            <a:avLst/>
          </a:prstGeom>
          <a:noFill/>
          <a:ln w="11430">
            <a:solidFill>
              <a:srgbClr val="D7E7E3"/>
            </a:solidFill>
            <a:prstDash val="solid"/>
          </a:ln>
        </p:spPr>
        <p:txBody>
          <a:bodyPr/>
          <a:lstStyle/>
          <a:p/>
        </p:txBody>
      </p:sp>
      <p:sp>
        <p:nvSpPr>
          <p:cNvPr id="20" name="Text 18"/>
          <p:cNvSpPr>
            <a:spLocks noGrp="1"/>
          </p:cNvSpPr>
          <p:nvPr/>
        </p:nvSpPr>
        <p:spPr>
          <a:xfrm>
            <a:off x="658368" y="6556248"/>
            <a:ext cx="2103120" cy="16459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750" b="1" spc="40">
                <a:solidFill>
                  <a:srgbClr val="5C7276"/>
                </a:solidFill>
                <a:latin typeface="Noto Sans CJK SC"/>
                <a:ea typeface="Noto Sans CJK SC"/>
                <a:cs typeface="Noto Sans CJK SC"/>
              </a:rPr>
              <a:t>CUSTOMER SERVICE AI AGENT</a:t>
            </a:r>
            <a:endParaRPr sz="750"/>
          </a:p>
        </p:txBody>
      </p:sp>
      <p:sp>
        <p:nvSpPr>
          <p:cNvPr id="63" name="Rectangle 62"/>
          <p:cNvSpPr>
            <a:spLocks noGrp="1"/>
          </p:cNvSpPr>
          <p:nvPr/>
        </p:nvSpPr>
        <p:spPr>
          <a:xfrm>
            <a:off x="0" y="0"/>
            <a:ext cx="41148" cy="6858000"/>
          </a:xfrm>
          <a:prstGeom prst="rect">
            <a:avLst/>
          </a:prstGeom>
          <a:solidFill>
            <a:srgbClr val="0A8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64" name="圆角矩形 63"/>
          <p:cNvSpPr>
            <a:spLocks noGrp="1"/>
          </p:cNvSpPr>
          <p:nvPr/>
        </p:nvSpPr>
        <p:spPr>
          <a:xfrm>
            <a:off x="657225" y="2362200"/>
            <a:ext cx="10877550" cy="2419350"/>
          </a:xfrm>
          <a:prstGeom prst="roundRect">
            <a:avLst>
              <a:gd name="adj" fmla="val 3150"/>
            </a:avLst>
          </a:prstGeom>
          <a:solidFill>
            <a:srgbClr val="EFEEFF"/>
          </a:solidFill>
          <a:ln w="12668">
            <a:solidFill>
              <a:srgbClr val="6B6FD8"/>
            </a:solidFill>
            <a:prstDash val="solid"/>
          </a:ln>
        </p:spPr>
        <p:txBody>
          <a:bodyPr/>
          <a:p/>
        </p:txBody>
      </p:sp>
      <p:sp>
        <p:nvSpPr>
          <p:cNvPr id="65" name="圆角矩形 64"/>
          <p:cNvSpPr>
            <a:spLocks noGrp="1"/>
          </p:cNvSpPr>
          <p:nvPr/>
        </p:nvSpPr>
        <p:spPr>
          <a:xfrm>
            <a:off x="947738" y="2628900"/>
            <a:ext cx="1628775" cy="87630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668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67" name="矩形 66"/>
          <p:cNvSpPr>
            <a:spLocks noGrp="1"/>
          </p:cNvSpPr>
          <p:nvPr/>
        </p:nvSpPr>
        <p:spPr>
          <a:xfrm>
            <a:off x="1042988" y="2743200"/>
            <a:ext cx="1438275" cy="647700"/>
          </a:xfrm>
          <a:prstGeom prst="rect">
            <a:avLst/>
          </a:prstGeom>
        </p:spPr>
        <p:txBody>
          <a:bodyPr anchor="ctr"/>
          <a:lstStyle/>
          <a:p>
            <a:pPr algn="ctr">
              <a:defRPr sz="740" b="0">
                <a:solidFill>
                  <a:srgbClr val="14383E"/>
                </a:solidFill>
              </a:defRPr>
            </a:pPr>
            <a:r>
              <a:t>一个中枢，三种承接</a:t>
            </a:r>
          </a:p>
        </p:txBody>
      </p:sp>
      <p:sp>
        <p:nvSpPr>
          <p:cNvPr id="68" name="圆角矩形 67"/>
          <p:cNvSpPr>
            <a:spLocks noGrp="1"/>
          </p:cNvSpPr>
          <p:nvPr/>
        </p:nvSpPr>
        <p:spPr>
          <a:xfrm>
            <a:off x="2681288" y="2628900"/>
            <a:ext cx="1628775" cy="87630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668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70" name="矩形 69"/>
          <p:cNvSpPr>
            <a:spLocks noGrp="1"/>
          </p:cNvSpPr>
          <p:nvPr/>
        </p:nvSpPr>
        <p:spPr>
          <a:xfrm>
            <a:off x="2776538" y="2743200"/>
            <a:ext cx="1438275" cy="647700"/>
          </a:xfrm>
          <a:prstGeom prst="rect">
            <a:avLst/>
          </a:prstGeom>
        </p:spPr>
        <p:txBody>
          <a:bodyPr anchor="ctr"/>
          <a:lstStyle/>
          <a:p>
            <a:pPr algn="ctr">
              <a:defRPr sz="740" b="0">
                <a:solidFill>
                  <a:srgbClr val="14383E"/>
                </a:solidFill>
              </a:defRPr>
            </a:pPr>
            <a:r>
              <a:t>统一能力出口</a:t>
            </a:r>
          </a:p>
        </p:txBody>
      </p:sp>
      <p:sp>
        <p:nvSpPr>
          <p:cNvPr id="71" name="圆角矩形 70"/>
          <p:cNvSpPr>
            <a:spLocks noGrp="1"/>
          </p:cNvSpPr>
          <p:nvPr/>
        </p:nvSpPr>
        <p:spPr>
          <a:xfrm>
            <a:off x="4414838" y="2628900"/>
            <a:ext cx="1628775" cy="87630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668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73" name="矩形 72"/>
          <p:cNvSpPr>
            <a:spLocks noGrp="1"/>
          </p:cNvSpPr>
          <p:nvPr/>
        </p:nvSpPr>
        <p:spPr>
          <a:xfrm>
            <a:off x="4510088" y="2743200"/>
            <a:ext cx="1438275" cy="647700"/>
          </a:xfrm>
          <a:prstGeom prst="rect">
            <a:avLst/>
          </a:prstGeom>
        </p:spPr>
        <p:txBody>
          <a:bodyPr anchor="ctr"/>
          <a:lstStyle/>
          <a:p>
            <a:pPr algn="ctr">
              <a:defRPr sz="740" b="0">
                <a:solidFill>
                  <a:srgbClr val="14383E"/>
                </a:solidFill>
              </a:defRPr>
            </a:pPr>
            <a:r>
              <a:t>从客服平台到业务系统的</a:t>
            </a:r>
            <a:br/>
            <a:r>
              <a:t>五层架构</a:t>
            </a:r>
          </a:p>
        </p:txBody>
      </p:sp>
      <p:sp>
        <p:nvSpPr>
          <p:cNvPr id="74" name="圆角矩形 73"/>
          <p:cNvSpPr>
            <a:spLocks noGrp="1"/>
          </p:cNvSpPr>
          <p:nvPr/>
        </p:nvSpPr>
        <p:spPr>
          <a:xfrm>
            <a:off x="6148388" y="2628900"/>
            <a:ext cx="1628775" cy="87630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668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76" name="矩形 75"/>
          <p:cNvSpPr>
            <a:spLocks noGrp="1"/>
          </p:cNvSpPr>
          <p:nvPr/>
        </p:nvSpPr>
        <p:spPr>
          <a:xfrm>
            <a:off x="6243638" y="2743200"/>
            <a:ext cx="1438275" cy="647700"/>
          </a:xfrm>
          <a:prstGeom prst="rect">
            <a:avLst/>
          </a:prstGeom>
        </p:spPr>
        <p:txBody>
          <a:bodyPr anchor="ctr"/>
          <a:lstStyle/>
          <a:p>
            <a:pPr algn="ctr">
              <a:defRPr sz="740" b="0">
                <a:solidFill>
                  <a:srgbClr val="14383E"/>
                </a:solidFill>
              </a:defRPr>
            </a:pPr>
            <a:r>
              <a:t>三条渠道链路的共享与隔离</a:t>
            </a:r>
          </a:p>
        </p:txBody>
      </p:sp>
      <p:sp>
        <p:nvSpPr>
          <p:cNvPr id="77" name="圆角矩形 76"/>
          <p:cNvSpPr>
            <a:spLocks noGrp="1"/>
          </p:cNvSpPr>
          <p:nvPr/>
        </p:nvSpPr>
        <p:spPr>
          <a:xfrm>
            <a:off x="7881938" y="2628900"/>
            <a:ext cx="1628775" cy="87630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668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79" name="矩形 78"/>
          <p:cNvSpPr>
            <a:spLocks noGrp="1"/>
          </p:cNvSpPr>
          <p:nvPr/>
        </p:nvSpPr>
        <p:spPr>
          <a:xfrm>
            <a:off x="7977188" y="2743200"/>
            <a:ext cx="1438275" cy="647700"/>
          </a:xfrm>
          <a:prstGeom prst="rect">
            <a:avLst/>
          </a:prstGeom>
        </p:spPr>
        <p:txBody>
          <a:bodyPr anchor="ctr"/>
          <a:lstStyle/>
          <a:p>
            <a:pPr algn="ctr">
              <a:defRPr sz="740" b="0">
                <a:solidFill>
                  <a:srgbClr val="14383E"/>
                </a:solidFill>
              </a:defRPr>
            </a:pPr>
            <a:r>
              <a:t>数据同步、调度与性能保障</a:t>
            </a:r>
          </a:p>
        </p:txBody>
      </p:sp>
      <p:sp>
        <p:nvSpPr>
          <p:cNvPr id="80" name="圆角矩形 79"/>
          <p:cNvSpPr>
            <a:spLocks noGrp="1"/>
          </p:cNvSpPr>
          <p:nvPr/>
        </p:nvSpPr>
        <p:spPr>
          <a:xfrm>
            <a:off x="9615488" y="2628900"/>
            <a:ext cx="1628775" cy="87630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668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82" name="矩形 81"/>
          <p:cNvSpPr>
            <a:spLocks noGrp="1"/>
          </p:cNvSpPr>
          <p:nvPr/>
        </p:nvSpPr>
        <p:spPr>
          <a:xfrm>
            <a:off x="9710738" y="2743200"/>
            <a:ext cx="1438275" cy="647700"/>
          </a:xfrm>
          <a:prstGeom prst="rect">
            <a:avLst/>
          </a:prstGeom>
        </p:spPr>
        <p:txBody>
          <a:bodyPr anchor="ctr"/>
          <a:lstStyle/>
          <a:p>
            <a:pPr algn="ctr">
              <a:defRPr sz="740" b="0">
                <a:solidFill>
                  <a:srgbClr val="14383E"/>
                </a:solidFill>
              </a:defRPr>
            </a:pPr>
            <a:r>
              <a:t>一个客服场景的完整组成</a:t>
            </a:r>
          </a:p>
        </p:txBody>
      </p:sp>
      <p:sp>
        <p:nvSpPr>
          <p:cNvPr id="83" name="圆角矩形 82"/>
          <p:cNvSpPr>
            <a:spLocks noGrp="1"/>
          </p:cNvSpPr>
          <p:nvPr/>
        </p:nvSpPr>
        <p:spPr>
          <a:xfrm>
            <a:off x="5281613" y="3638550"/>
            <a:ext cx="1628775" cy="87630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668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85" name="矩形 84"/>
          <p:cNvSpPr>
            <a:spLocks noGrp="1"/>
          </p:cNvSpPr>
          <p:nvPr/>
        </p:nvSpPr>
        <p:spPr>
          <a:xfrm>
            <a:off x="5376863" y="3752850"/>
            <a:ext cx="1438275" cy="647700"/>
          </a:xfrm>
          <a:prstGeom prst="rect">
            <a:avLst/>
          </a:prstGeom>
        </p:spPr>
        <p:txBody>
          <a:bodyPr anchor="ctr"/>
          <a:lstStyle/>
          <a:p>
            <a:pPr algn="ctr">
              <a:defRPr sz="740" b="0">
                <a:solidFill>
                  <a:srgbClr val="14383E"/>
                </a:solidFill>
              </a:defRPr>
            </a:pPr>
            <a:r>
              <a:t>LLM 选型与降级链路</a:t>
            </a:r>
          </a:p>
        </p:txBody>
      </p:sp>
      <p:sp>
        <p:nvSpPr>
          <p:cNvPr id="86" name="圆角矩形 85"/>
          <p:cNvSpPr>
            <a:spLocks noGrp="1"/>
          </p:cNvSpPr>
          <p:nvPr/>
        </p:nvSpPr>
        <p:spPr>
          <a:xfrm>
            <a:off x="657225" y="5486400"/>
            <a:ext cx="10877550" cy="609600"/>
          </a:xfrm>
          <a:prstGeom prst="roundRect">
            <a:avLst>
              <a:gd name="adj" fmla="val 12500"/>
            </a:avLst>
          </a:prstGeom>
          <a:solidFill>
            <a:srgbClr val="F7FBF9"/>
          </a:solidFill>
          <a:ln w="12668">
            <a:solidFill>
              <a:srgbClr val="BFD9D4"/>
            </a:solidFill>
            <a:prstDash val="solid"/>
          </a:ln>
        </p:spPr>
        <p:txBody>
          <a:bodyPr/>
          <a:p/>
        </p:txBody>
      </p:sp>
      <p:sp>
        <p:nvSpPr>
          <p:cNvPr id="87" name="矩形 86"/>
          <p:cNvSpPr>
            <a:spLocks noGrp="1"/>
          </p:cNvSpPr>
          <p:nvPr/>
        </p:nvSpPr>
        <p:spPr>
          <a:xfrm>
            <a:off x="876300" y="5562600"/>
            <a:ext cx="1238250" cy="190500"/>
          </a:xfrm>
          <a:prstGeom prst="rect">
            <a:avLst/>
          </a:prstGeom>
        </p:spPr>
        <p:txBody>
          <a:bodyPr anchor="ctr"/>
          <a:lstStyle/>
          <a:p>
            <a:pPr algn="l">
              <a:defRPr sz="720" b="1">
                <a:solidFill>
                  <a:srgbClr val="6B6FD8"/>
                </a:solidFill>
              </a:defRPr>
            </a:pPr>
            <a:r>
              <a:t>这一章</a:t>
            </a:r>
          </a:p>
        </p:txBody>
      </p:sp>
      <p:sp>
        <p:nvSpPr>
          <p:cNvPr id="88" name="矩形 87"/>
          <p:cNvSpPr>
            <a:spLocks noGrp="1"/>
          </p:cNvSpPr>
          <p:nvPr/>
        </p:nvSpPr>
        <p:spPr>
          <a:xfrm>
            <a:off x="876300" y="5753100"/>
            <a:ext cx="1238250" cy="190500"/>
          </a:xfrm>
          <a:prstGeom prst="rect">
            <a:avLst/>
          </a:prstGeom>
        </p:spPr>
        <p:txBody>
          <a:bodyPr anchor="ctr"/>
          <a:lstStyle/>
          <a:p>
            <a:pPr algn="l">
              <a:defRPr sz="720" b="1">
                <a:solidFill>
                  <a:srgbClr val="6B6FD8"/>
                </a:solidFill>
              </a:defRPr>
            </a:pPr>
            <a:r>
              <a:t>服务哪一步</a:t>
            </a:r>
          </a:p>
        </p:txBody>
      </p:sp>
      <p:sp>
        <p:nvSpPr>
          <p:cNvPr id="89" name="矩形 88"/>
          <p:cNvSpPr>
            <a:spLocks noGrp="1"/>
          </p:cNvSpPr>
          <p:nvPr/>
        </p:nvSpPr>
        <p:spPr>
          <a:xfrm>
            <a:off x="2247900" y="5619750"/>
            <a:ext cx="9525" cy="342900"/>
          </a:xfrm>
          <a:prstGeom prst="rect">
            <a:avLst/>
          </a:prstGeom>
          <a:solidFill>
            <a:srgbClr val="C7DAD6"/>
          </a:solidFill>
          <a:ln w="12668">
            <a:solidFill>
              <a:srgbClr val="C7DAD6"/>
            </a:solidFill>
            <a:prstDash val="solid"/>
          </a:ln>
        </p:spPr>
        <p:txBody>
          <a:bodyPr/>
          <a:p/>
        </p:txBody>
      </p:sp>
      <p:sp>
        <p:nvSpPr>
          <p:cNvPr id="90" name="矩形 89"/>
          <p:cNvSpPr>
            <a:spLocks noGrp="1"/>
          </p:cNvSpPr>
          <p:nvPr/>
        </p:nvSpPr>
        <p:spPr>
          <a:xfrm>
            <a:off x="2438400" y="5562600"/>
            <a:ext cx="6286500" cy="381000"/>
          </a:xfrm>
          <a:prstGeom prst="rect">
            <a:avLst/>
          </a:prstGeom>
        </p:spPr>
        <p:txBody>
          <a:bodyPr anchor="ctr"/>
          <a:lstStyle/>
          <a:p>
            <a:pPr algn="l">
              <a:defRPr sz="840" b="1">
                <a:solidFill>
                  <a:srgbClr val="14383E"/>
                </a:solidFill>
              </a:defRPr>
            </a:pPr>
            <a:r>
              <a:t>四步分别落在系统的哪一层。</a:t>
            </a:r>
          </a:p>
        </p:txBody>
      </p:sp>
      <p:sp>
        <p:nvSpPr>
          <p:cNvPr id="91" name="圆角矩形 90"/>
          <p:cNvSpPr>
            <a:spLocks noGrp="1"/>
          </p:cNvSpPr>
          <p:nvPr/>
        </p:nvSpPr>
        <p:spPr>
          <a:xfrm>
            <a:off x="9067800" y="5581650"/>
            <a:ext cx="514350" cy="209550"/>
          </a:xfrm>
          <a:prstGeom prst="roundRect">
            <a:avLst>
              <a:gd name="adj" fmla="val 36364"/>
            </a:avLst>
          </a:prstGeom>
          <a:solidFill>
            <a:srgbClr val="6B6FD8"/>
          </a:solidFill>
          <a:ln w="12668">
            <a:solidFill>
              <a:srgbClr val="6B6FD8"/>
            </a:solidFill>
            <a:prstDash val="solid"/>
          </a:ln>
        </p:spPr>
        <p:txBody>
          <a:bodyPr/>
          <a:p/>
        </p:txBody>
      </p:sp>
      <p:sp>
        <p:nvSpPr>
          <p:cNvPr id="92" name="矩形 91"/>
          <p:cNvSpPr>
            <a:spLocks noGrp="1"/>
          </p:cNvSpPr>
          <p:nvPr/>
        </p:nvSpPr>
        <p:spPr>
          <a:xfrm>
            <a:off x="9067800" y="5581650"/>
            <a:ext cx="514350" cy="209550"/>
          </a:xfrm>
          <a:prstGeom prst="rect">
            <a:avLst/>
          </a:prstGeom>
        </p:spPr>
        <p:txBody>
          <a:bodyPr anchor="ctr"/>
          <a:lstStyle/>
          <a:p>
            <a:pPr algn="ctr">
              <a:defRPr sz="680" b="1">
                <a:solidFill>
                  <a:srgbClr val="FFFFFF"/>
                </a:solidFill>
              </a:defRPr>
            </a:pPr>
            <a:r>
              <a:t>理解</a:t>
            </a:r>
          </a:p>
        </p:txBody>
      </p:sp>
      <p:sp>
        <p:nvSpPr>
          <p:cNvPr id="93" name="圆角矩形 92"/>
          <p:cNvSpPr>
            <a:spLocks noGrp="1"/>
          </p:cNvSpPr>
          <p:nvPr/>
        </p:nvSpPr>
        <p:spPr>
          <a:xfrm>
            <a:off x="9658350" y="5581650"/>
            <a:ext cx="514350" cy="209550"/>
          </a:xfrm>
          <a:prstGeom prst="roundRect">
            <a:avLst>
              <a:gd name="adj" fmla="val 36364"/>
            </a:avLst>
          </a:prstGeom>
          <a:solidFill>
            <a:srgbClr val="6B6FD8"/>
          </a:solidFill>
          <a:ln w="12668">
            <a:solidFill>
              <a:srgbClr val="6B6FD8"/>
            </a:solidFill>
            <a:prstDash val="solid"/>
          </a:ln>
        </p:spPr>
        <p:txBody>
          <a:bodyPr/>
          <a:p/>
        </p:txBody>
      </p:sp>
      <p:sp>
        <p:nvSpPr>
          <p:cNvPr id="94" name="矩形 93"/>
          <p:cNvSpPr>
            <a:spLocks noGrp="1"/>
          </p:cNvSpPr>
          <p:nvPr/>
        </p:nvSpPr>
        <p:spPr>
          <a:xfrm>
            <a:off x="9658350" y="5581650"/>
            <a:ext cx="514350" cy="209550"/>
          </a:xfrm>
          <a:prstGeom prst="rect">
            <a:avLst/>
          </a:prstGeom>
        </p:spPr>
        <p:txBody>
          <a:bodyPr anchor="ctr"/>
          <a:lstStyle/>
          <a:p>
            <a:pPr algn="ctr">
              <a:defRPr sz="680" b="1">
                <a:solidFill>
                  <a:srgbClr val="FFFFFF"/>
                </a:solidFill>
              </a:defRPr>
            </a:pPr>
            <a:r>
              <a:t>查询</a:t>
            </a:r>
          </a:p>
        </p:txBody>
      </p:sp>
      <p:sp>
        <p:nvSpPr>
          <p:cNvPr id="95" name="圆角矩形 94"/>
          <p:cNvSpPr>
            <a:spLocks noGrp="1"/>
          </p:cNvSpPr>
          <p:nvPr/>
        </p:nvSpPr>
        <p:spPr>
          <a:xfrm>
            <a:off x="10248900" y="5581650"/>
            <a:ext cx="514350" cy="209550"/>
          </a:xfrm>
          <a:prstGeom prst="roundRect">
            <a:avLst>
              <a:gd name="adj" fmla="val 36364"/>
            </a:avLst>
          </a:prstGeom>
          <a:solidFill>
            <a:srgbClr val="6B6FD8"/>
          </a:solidFill>
          <a:ln w="12668">
            <a:solidFill>
              <a:srgbClr val="6B6FD8"/>
            </a:solidFill>
            <a:prstDash val="solid"/>
          </a:ln>
        </p:spPr>
        <p:txBody>
          <a:bodyPr/>
          <a:p/>
        </p:txBody>
      </p:sp>
      <p:sp>
        <p:nvSpPr>
          <p:cNvPr id="96" name="矩形 95"/>
          <p:cNvSpPr>
            <a:spLocks noGrp="1"/>
          </p:cNvSpPr>
          <p:nvPr/>
        </p:nvSpPr>
        <p:spPr>
          <a:xfrm>
            <a:off x="10248900" y="5581650"/>
            <a:ext cx="514350" cy="209550"/>
          </a:xfrm>
          <a:prstGeom prst="rect">
            <a:avLst/>
          </a:prstGeom>
        </p:spPr>
        <p:txBody>
          <a:bodyPr anchor="ctr"/>
          <a:lstStyle/>
          <a:p>
            <a:pPr algn="ctr">
              <a:defRPr sz="680" b="1">
                <a:solidFill>
                  <a:srgbClr val="FFFFFF"/>
                </a:solidFill>
              </a:defRPr>
            </a:pPr>
            <a:r>
              <a:t>决策</a:t>
            </a:r>
          </a:p>
        </p:txBody>
      </p:sp>
      <p:sp>
        <p:nvSpPr>
          <p:cNvPr id="97" name="圆角矩形 96"/>
          <p:cNvSpPr>
            <a:spLocks noGrp="1"/>
          </p:cNvSpPr>
          <p:nvPr/>
        </p:nvSpPr>
        <p:spPr>
          <a:xfrm>
            <a:off x="10839450" y="5581650"/>
            <a:ext cx="514350" cy="209550"/>
          </a:xfrm>
          <a:prstGeom prst="roundRect">
            <a:avLst>
              <a:gd name="adj" fmla="val 36364"/>
            </a:avLst>
          </a:prstGeom>
          <a:solidFill>
            <a:srgbClr val="6B6FD8"/>
          </a:solidFill>
          <a:ln w="12668">
            <a:solidFill>
              <a:srgbClr val="6B6FD8"/>
            </a:solidFill>
            <a:prstDash val="solid"/>
          </a:ln>
        </p:spPr>
        <p:txBody>
          <a:bodyPr/>
          <a:p/>
        </p:txBody>
      </p:sp>
      <p:sp>
        <p:nvSpPr>
          <p:cNvPr id="98" name="矩形 97"/>
          <p:cNvSpPr>
            <a:spLocks noGrp="1"/>
          </p:cNvSpPr>
          <p:nvPr/>
        </p:nvSpPr>
        <p:spPr>
          <a:xfrm>
            <a:off x="10839450" y="5581650"/>
            <a:ext cx="514350" cy="209550"/>
          </a:xfrm>
          <a:prstGeom prst="rect">
            <a:avLst/>
          </a:prstGeom>
        </p:spPr>
        <p:txBody>
          <a:bodyPr anchor="ctr"/>
          <a:lstStyle/>
          <a:p>
            <a:pPr algn="ctr">
              <a:defRPr sz="680" b="1">
                <a:solidFill>
                  <a:srgbClr val="FFFFFF"/>
                </a:solidFill>
              </a:defRPr>
            </a:pPr>
            <a:r>
              <a:t>执行</a:t>
            </a:r>
          </a:p>
        </p:txBody>
      </p:sp>
      <p:sp>
        <p:nvSpPr>
          <p:cNvPr id="99" name="矩形 98"/>
          <p:cNvSpPr>
            <a:spLocks noGrp="1"/>
          </p:cNvSpPr>
          <p:nvPr/>
        </p:nvSpPr>
        <p:spPr>
          <a:xfrm>
            <a:off x="657225" y="6172200"/>
            <a:ext cx="10877550" cy="190500"/>
          </a:xfrm>
          <a:prstGeom prst="rect">
            <a:avLst/>
          </a:prstGeom>
        </p:spPr>
        <p:txBody>
          <a:bodyPr anchor="ctr"/>
          <a:lstStyle/>
          <a:p>
            <a:pPr algn="l">
              <a:defRPr sz="720" b="0">
                <a:solidFill>
                  <a:srgbClr val="44585C"/>
                </a:solidFill>
              </a:defRPr>
            </a:pPr>
            <a:r>
              <a:t>本章讲完进入第四章 · 上下文与知识。</a:t>
            </a:r>
          </a:p>
        </p:txBody>
      </p:sp>
      <p:sp>
        <p:nvSpPr>
          <p:cNvPr id="100" name="圆角矩形 99"/>
          <p:cNvSpPr>
            <a:spLocks noGrp="1"/>
          </p:cNvSpPr>
          <p:nvPr/>
        </p:nvSpPr>
        <p:spPr>
          <a:xfrm>
            <a:off x="6565583" y="127635"/>
            <a:ext cx="4937760" cy="365760"/>
          </a:xfrm>
          <a:prstGeom prst="roundRect">
            <a:avLst>
              <a:gd name="adj" fmla="val 20833"/>
            </a:avLst>
          </a:prstGeom>
          <a:solidFill>
            <a:srgbClr val="F7FBF9"/>
          </a:solidFill>
          <a:ln w="12668">
            <a:solidFill>
              <a:srgbClr val="F7FBF9"/>
            </a:solidFill>
            <a:prstDash val="solid"/>
          </a:ln>
        </p:spPr>
        <p:txBody>
          <a:bodyPr/>
          <a:p/>
        </p:txBody>
      </p:sp>
      <p:sp>
        <p:nvSpPr>
          <p:cNvPr id="101" name="圆角矩形 100"/>
          <p:cNvSpPr>
            <a:spLocks noGrp="1"/>
          </p:cNvSpPr>
          <p:nvPr/>
        </p:nvSpPr>
        <p:spPr>
          <a:xfrm>
            <a:off x="6657023" y="164783"/>
            <a:ext cx="1154430" cy="264795"/>
          </a:xfrm>
          <a:prstGeom prst="roundRect">
            <a:avLst>
              <a:gd name="adj" fmla="val 28777"/>
            </a:avLst>
          </a:prstGeom>
          <a:solidFill>
            <a:srgbClr val="007574"/>
          </a:solidFill>
          <a:ln w="12668">
            <a:solidFill>
              <a:srgbClr val="007574"/>
            </a:solidFill>
            <a:prstDash val="solid"/>
          </a:ln>
        </p:spPr>
        <p:txBody>
          <a:bodyPr/>
          <a:p/>
        </p:txBody>
      </p:sp>
      <p:sp>
        <p:nvSpPr>
          <p:cNvPr id="102" name="矩形 101"/>
          <p:cNvSpPr>
            <a:spLocks noGrp="1"/>
          </p:cNvSpPr>
          <p:nvPr/>
        </p:nvSpPr>
        <p:spPr>
          <a:xfrm>
            <a:off x="6657023" y="187643"/>
            <a:ext cx="1154430" cy="182880"/>
          </a:xfrm>
          <a:prstGeom prst="rect">
            <a:avLst/>
          </a:prstGeom>
        </p:spPr>
        <p:txBody>
          <a:bodyPr anchor="ctr"/>
          <a:lstStyle/>
          <a:p>
            <a:pPr algn="ctr">
              <a:defRPr sz="660" b="1">
                <a:solidFill>
                  <a:srgbClr val="FFFFFF"/>
                </a:solidFill>
              </a:defRPr>
            </a:pPr>
            <a:r>
              <a:t>理解</a:t>
            </a:r>
          </a:p>
        </p:txBody>
      </p:sp>
      <p:sp>
        <p:nvSpPr>
          <p:cNvPr id="103" name="圆角矩形 102"/>
          <p:cNvSpPr>
            <a:spLocks noGrp="1"/>
          </p:cNvSpPr>
          <p:nvPr/>
        </p:nvSpPr>
        <p:spPr>
          <a:xfrm>
            <a:off x="7857173" y="164783"/>
            <a:ext cx="1154430" cy="264795"/>
          </a:xfrm>
          <a:prstGeom prst="roundRect">
            <a:avLst>
              <a:gd name="adj" fmla="val 28777"/>
            </a:avLst>
          </a:prstGeom>
          <a:solidFill>
            <a:srgbClr val="007574"/>
          </a:solidFill>
          <a:ln w="12668">
            <a:solidFill>
              <a:srgbClr val="007574"/>
            </a:solidFill>
            <a:prstDash val="solid"/>
          </a:ln>
        </p:spPr>
        <p:txBody>
          <a:bodyPr/>
          <a:p/>
        </p:txBody>
      </p:sp>
      <p:sp>
        <p:nvSpPr>
          <p:cNvPr id="104" name="矩形 103"/>
          <p:cNvSpPr>
            <a:spLocks noGrp="1"/>
          </p:cNvSpPr>
          <p:nvPr/>
        </p:nvSpPr>
        <p:spPr>
          <a:xfrm>
            <a:off x="7857173" y="187643"/>
            <a:ext cx="1154430" cy="182880"/>
          </a:xfrm>
          <a:prstGeom prst="rect">
            <a:avLst/>
          </a:prstGeom>
        </p:spPr>
        <p:txBody>
          <a:bodyPr anchor="ctr"/>
          <a:lstStyle/>
          <a:p>
            <a:pPr algn="ctr">
              <a:defRPr sz="660" b="1">
                <a:solidFill>
                  <a:srgbClr val="FFFFFF"/>
                </a:solidFill>
              </a:defRPr>
            </a:pPr>
            <a:r>
              <a:t>查询</a:t>
            </a:r>
          </a:p>
        </p:txBody>
      </p:sp>
      <p:sp>
        <p:nvSpPr>
          <p:cNvPr id="105" name="圆角矩形 104"/>
          <p:cNvSpPr>
            <a:spLocks noGrp="1"/>
          </p:cNvSpPr>
          <p:nvPr/>
        </p:nvSpPr>
        <p:spPr>
          <a:xfrm>
            <a:off x="9057323" y="164783"/>
            <a:ext cx="1154430" cy="264795"/>
          </a:xfrm>
          <a:prstGeom prst="roundRect">
            <a:avLst>
              <a:gd name="adj" fmla="val 28777"/>
            </a:avLst>
          </a:prstGeom>
          <a:solidFill>
            <a:srgbClr val="007574"/>
          </a:solidFill>
          <a:ln w="12668">
            <a:solidFill>
              <a:srgbClr val="007574"/>
            </a:solidFill>
            <a:prstDash val="solid"/>
          </a:ln>
        </p:spPr>
        <p:txBody>
          <a:bodyPr/>
          <a:p/>
        </p:txBody>
      </p:sp>
      <p:sp>
        <p:nvSpPr>
          <p:cNvPr id="106" name="矩形 105"/>
          <p:cNvSpPr>
            <a:spLocks noGrp="1"/>
          </p:cNvSpPr>
          <p:nvPr/>
        </p:nvSpPr>
        <p:spPr>
          <a:xfrm>
            <a:off x="9057323" y="187643"/>
            <a:ext cx="1154430" cy="182880"/>
          </a:xfrm>
          <a:prstGeom prst="rect">
            <a:avLst/>
          </a:prstGeom>
        </p:spPr>
        <p:txBody>
          <a:bodyPr anchor="ctr"/>
          <a:lstStyle/>
          <a:p>
            <a:pPr algn="ctr">
              <a:defRPr sz="660" b="1">
                <a:solidFill>
                  <a:srgbClr val="FFFFFF"/>
                </a:solidFill>
              </a:defRPr>
            </a:pPr>
            <a:r>
              <a:t>决策</a:t>
            </a:r>
          </a:p>
        </p:txBody>
      </p:sp>
      <p:sp>
        <p:nvSpPr>
          <p:cNvPr id="107" name="圆角矩形 106"/>
          <p:cNvSpPr>
            <a:spLocks noGrp="1"/>
          </p:cNvSpPr>
          <p:nvPr/>
        </p:nvSpPr>
        <p:spPr>
          <a:xfrm>
            <a:off x="10257473" y="164783"/>
            <a:ext cx="1154430" cy="264795"/>
          </a:xfrm>
          <a:prstGeom prst="roundRect">
            <a:avLst>
              <a:gd name="adj" fmla="val 28777"/>
            </a:avLst>
          </a:prstGeom>
          <a:solidFill>
            <a:srgbClr val="007574"/>
          </a:solidFill>
          <a:ln w="12668">
            <a:solidFill>
              <a:srgbClr val="007574"/>
            </a:solidFill>
            <a:prstDash val="solid"/>
          </a:ln>
        </p:spPr>
        <p:txBody>
          <a:bodyPr/>
          <a:p/>
        </p:txBody>
      </p:sp>
      <p:sp>
        <p:nvSpPr>
          <p:cNvPr id="108" name="矩形 107"/>
          <p:cNvSpPr>
            <a:spLocks noGrp="1"/>
          </p:cNvSpPr>
          <p:nvPr/>
        </p:nvSpPr>
        <p:spPr>
          <a:xfrm>
            <a:off x="10257473" y="187643"/>
            <a:ext cx="1154430" cy="182880"/>
          </a:xfrm>
          <a:prstGeom prst="rect">
            <a:avLst/>
          </a:prstGeom>
        </p:spPr>
        <p:txBody>
          <a:bodyPr anchor="ctr"/>
          <a:lstStyle/>
          <a:p>
            <a:pPr algn="ctr">
              <a:defRPr sz="660" b="1">
                <a:solidFill>
                  <a:srgbClr val="FFFFFF"/>
                </a:solidFill>
              </a:defRPr>
            </a:pPr>
            <a:r>
              <a:t>执行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hape 0"/>
          <p:cNvSpPr>
            <a:spLocks noGrp="1"/>
          </p:cNvSpPr>
          <p:nvPr/>
        </p:nvSpPr>
        <p:spPr>
          <a:xfrm>
            <a:off x="16459" y="16459"/>
            <a:ext cx="38405" cy="6825082"/>
          </a:xfrm>
          <a:prstGeom prst="rect">
            <a:avLst/>
          </a:prstGeom>
          <a:solidFill>
            <a:srgbClr val="0A8F6A"/>
          </a:solidFill>
          <a:ln w="12700">
            <a:solidFill>
              <a:srgbClr val="12B07D"/>
            </a:solidFill>
            <a:prstDash val="solid"/>
          </a:ln>
        </p:spPr>
        <p:txBody>
          <a:bodyPr/>
          <a:lstStyle/>
          <a:p/>
        </p:txBody>
      </p:sp>
      <p:sp>
        <p:nvSpPr>
          <p:cNvPr id="4" name="Shape 2"/>
          <p:cNvSpPr>
            <a:spLocks noGrp="1"/>
          </p:cNvSpPr>
          <p:nvPr/>
        </p:nvSpPr>
        <p:spPr>
          <a:xfrm>
            <a:off x="10104120" y="73152"/>
            <a:ext cx="1874520" cy="1353312"/>
          </a:xfrm>
          <a:prstGeom prst="ellipse">
            <a:avLst/>
          </a:prstGeom>
          <a:solidFill>
            <a:srgbClr val="E8F7F1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/>
        </p:txBody>
      </p:sp>
      <p:sp>
        <p:nvSpPr>
          <p:cNvPr id="5" name="Shape 3"/>
          <p:cNvSpPr>
            <a:spLocks noGrp="1"/>
          </p:cNvSpPr>
          <p:nvPr/>
        </p:nvSpPr>
        <p:spPr>
          <a:xfrm>
            <a:off x="91440" y="5596128"/>
            <a:ext cx="1719072" cy="1051560"/>
          </a:xfrm>
          <a:prstGeom prst="ellipse">
            <a:avLst/>
          </a:prstGeom>
          <a:solidFill>
            <a:srgbClr val="FFF2E8">
              <a:alpha val="68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/>
        </p:txBody>
      </p:sp>
      <p:sp>
        <p:nvSpPr>
          <p:cNvPr id="6" name="Shape 4"/>
          <p:cNvSpPr>
            <a:spLocks noGrp="1"/>
          </p:cNvSpPr>
          <p:nvPr/>
        </p:nvSpPr>
        <p:spPr>
          <a:xfrm>
            <a:off x="658368" y="393192"/>
            <a:ext cx="68580" cy="68580"/>
          </a:xfrm>
          <a:prstGeom prst="ellipse">
            <a:avLst/>
          </a:prstGeom>
          <a:solidFill>
            <a:srgbClr val="0A8F6A"/>
          </a:solidFill>
          <a:ln w="12700">
            <a:solidFill>
              <a:srgbClr val="12B07D"/>
            </a:solidFill>
            <a:prstDash val="solid"/>
          </a:ln>
        </p:spPr>
        <p:txBody>
          <a:bodyPr/>
          <a:lstStyle/>
          <a:p/>
        </p:txBody>
      </p:sp>
      <p:sp>
        <p:nvSpPr>
          <p:cNvPr id="7" name="Shape 5"/>
          <p:cNvSpPr>
            <a:spLocks noGrp="1"/>
          </p:cNvSpPr>
          <p:nvPr/>
        </p:nvSpPr>
        <p:spPr>
          <a:xfrm>
            <a:off x="768096" y="427939"/>
            <a:ext cx="411480" cy="0"/>
          </a:xfrm>
          <a:prstGeom prst="line">
            <a:avLst/>
          </a:prstGeom>
          <a:noFill/>
          <a:ln w="15875">
            <a:solidFill>
              <a:srgbClr val="0A8F6A"/>
            </a:solidFill>
            <a:prstDash val="solid"/>
          </a:ln>
        </p:spPr>
        <p:txBody>
          <a:bodyPr/>
          <a:lstStyle/>
          <a:p/>
        </p:txBody>
      </p:sp>
      <p:sp>
        <p:nvSpPr>
          <p:cNvPr id="8" name="Text 6"/>
          <p:cNvSpPr>
            <a:spLocks noGrp="1"/>
          </p:cNvSpPr>
          <p:nvPr/>
        </p:nvSpPr>
        <p:spPr>
          <a:xfrm>
            <a:off x="1234440" y="265176"/>
            <a:ext cx="2331720" cy="31089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r>
              <a:rPr sz="1050" b="1">
                <a:solidFill>
                  <a:srgbClr val="076B50"/>
                </a:solidFill>
                <a:latin typeface="Noto Sans CJK SC"/>
                <a:ea typeface="Noto Sans CJK SC"/>
                <a:cs typeface="Noto Sans CJK SC"/>
              </a:rPr>
              <a:t>CHAPTER 3 · 系统蓝图</a:t>
            </a:r>
            <a:endParaRPr sz="1050" b="1">
              <a:solidFill>
                <a:srgbClr val="2F80ED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9" name="Shape 7"/>
          <p:cNvSpPr>
            <a:spLocks noGrp="1"/>
          </p:cNvSpPr>
          <p:nvPr/>
        </p:nvSpPr>
        <p:spPr>
          <a:xfrm>
            <a:off x="9829800" y="301752"/>
            <a:ext cx="68580" cy="68580"/>
          </a:xfrm>
          <a:prstGeom prst="ellipse">
            <a:avLst/>
          </a:prstGeom>
          <a:solidFill>
            <a:srgbClr val="C7DAD6"/>
          </a:solidFill>
          <a:ln w="12700">
            <a:solidFill>
              <a:srgbClr val="C7DAD6"/>
            </a:solidFill>
            <a:prstDash val="solid"/>
          </a:ln>
        </p:spPr>
        <p:txBody>
          <a:bodyPr/>
          <a:lstStyle/>
          <a:p/>
        </p:txBody>
      </p:sp>
      <p:sp>
        <p:nvSpPr>
          <p:cNvPr id="10" name="Shape 8"/>
          <p:cNvSpPr>
            <a:spLocks noGrp="1"/>
          </p:cNvSpPr>
          <p:nvPr/>
        </p:nvSpPr>
        <p:spPr>
          <a:xfrm>
            <a:off x="10040112" y="301752"/>
            <a:ext cx="68580" cy="68580"/>
          </a:xfrm>
          <a:prstGeom prst="ellipse">
            <a:avLst/>
          </a:prstGeom>
          <a:solidFill>
            <a:srgbClr val="C7DAD6"/>
          </a:solidFill>
          <a:ln w="12700">
            <a:solidFill>
              <a:srgbClr val="C7DAD6"/>
            </a:solidFill>
            <a:prstDash val="solid"/>
          </a:ln>
        </p:spPr>
        <p:txBody>
          <a:bodyPr/>
          <a:lstStyle/>
          <a:p/>
        </p:txBody>
      </p:sp>
      <p:sp>
        <p:nvSpPr>
          <p:cNvPr id="11" name="Shape 9"/>
          <p:cNvSpPr>
            <a:spLocks noGrp="1"/>
          </p:cNvSpPr>
          <p:nvPr/>
        </p:nvSpPr>
        <p:spPr>
          <a:xfrm>
            <a:off x="10250424" y="301752"/>
            <a:ext cx="68580" cy="68580"/>
          </a:xfrm>
          <a:prstGeom prst="ellipse">
            <a:avLst/>
          </a:prstGeom>
          <a:solidFill>
            <a:srgbClr val="C7DAD6"/>
          </a:solidFill>
          <a:ln w="12700">
            <a:solidFill>
              <a:srgbClr val="C7DAD6"/>
            </a:solidFill>
            <a:prstDash val="solid"/>
          </a:ln>
        </p:spPr>
        <p:txBody>
          <a:bodyPr/>
          <a:lstStyle/>
          <a:p/>
        </p:txBody>
      </p:sp>
      <p:sp>
        <p:nvSpPr>
          <p:cNvPr id="12" name="Shape 10"/>
          <p:cNvSpPr>
            <a:spLocks noGrp="1"/>
          </p:cNvSpPr>
          <p:nvPr/>
        </p:nvSpPr>
        <p:spPr>
          <a:xfrm>
            <a:off x="10460736" y="301752"/>
            <a:ext cx="68580" cy="68580"/>
          </a:xfrm>
          <a:prstGeom prst="ellipse">
            <a:avLst/>
          </a:prstGeom>
          <a:solidFill>
            <a:srgbClr val="12B07D"/>
          </a:solidFill>
          <a:ln w="12700">
            <a:solidFill>
              <a:srgbClr val="12B07D"/>
            </a:solidFill>
            <a:prstDash val="solid"/>
          </a:ln>
        </p:spPr>
        <p:txBody>
          <a:bodyPr/>
          <a:lstStyle/>
          <a:p/>
        </p:txBody>
      </p:sp>
      <p:sp>
        <p:nvSpPr>
          <p:cNvPr id="13" name="Shape 11"/>
          <p:cNvSpPr>
            <a:spLocks noGrp="1"/>
          </p:cNvSpPr>
          <p:nvPr/>
        </p:nvSpPr>
        <p:spPr>
          <a:xfrm>
            <a:off x="10671048" y="301752"/>
            <a:ext cx="68580" cy="68580"/>
          </a:xfrm>
          <a:prstGeom prst="ellipse">
            <a:avLst/>
          </a:prstGeom>
          <a:solidFill>
            <a:srgbClr val="C7DAD6"/>
          </a:solidFill>
          <a:ln w="12700">
            <a:solidFill>
              <a:srgbClr val="C7DAD6"/>
            </a:solidFill>
            <a:prstDash val="solid"/>
          </a:ln>
        </p:spPr>
        <p:txBody>
          <a:bodyPr/>
          <a:lstStyle/>
          <a:p/>
        </p:txBody>
      </p:sp>
      <p:sp>
        <p:nvSpPr>
          <p:cNvPr id="14" name="Shape 12"/>
          <p:cNvSpPr>
            <a:spLocks noGrp="1"/>
          </p:cNvSpPr>
          <p:nvPr/>
        </p:nvSpPr>
        <p:spPr>
          <a:xfrm>
            <a:off x="10881360" y="301752"/>
            <a:ext cx="68580" cy="68580"/>
          </a:xfrm>
          <a:prstGeom prst="ellipse">
            <a:avLst/>
          </a:prstGeom>
          <a:solidFill>
            <a:srgbClr val="C7DAD6"/>
          </a:solidFill>
          <a:ln w="12700">
            <a:solidFill>
              <a:srgbClr val="C7DAD6"/>
            </a:solidFill>
            <a:prstDash val="solid"/>
          </a:ln>
        </p:spPr>
        <p:txBody>
          <a:bodyPr/>
          <a:lstStyle/>
          <a:p/>
        </p:txBody>
      </p:sp>
      <p:sp>
        <p:nvSpPr>
          <p:cNvPr id="15" name="Shape 13"/>
          <p:cNvSpPr>
            <a:spLocks noGrp="1"/>
          </p:cNvSpPr>
          <p:nvPr/>
        </p:nvSpPr>
        <p:spPr>
          <a:xfrm>
            <a:off x="11091672" y="301752"/>
            <a:ext cx="68580" cy="68580"/>
          </a:xfrm>
          <a:prstGeom prst="ellipse">
            <a:avLst/>
          </a:prstGeom>
          <a:solidFill>
            <a:srgbClr val="C7DAD6"/>
          </a:solidFill>
          <a:ln w="12700">
            <a:solidFill>
              <a:srgbClr val="C7DAD6"/>
            </a:solidFill>
            <a:prstDash val="solid"/>
          </a:ln>
        </p:spPr>
        <p:txBody>
          <a:bodyPr/>
          <a:lstStyle/>
          <a:p/>
        </p:txBody>
      </p:sp>
      <p:sp>
        <p:nvSpPr>
          <p:cNvPr id="16" name="Shape 14"/>
          <p:cNvSpPr>
            <a:spLocks noGrp="1"/>
          </p:cNvSpPr>
          <p:nvPr/>
        </p:nvSpPr>
        <p:spPr>
          <a:xfrm>
            <a:off x="11301984" y="301752"/>
            <a:ext cx="68580" cy="68580"/>
          </a:xfrm>
          <a:prstGeom prst="ellipse">
            <a:avLst/>
          </a:prstGeom>
          <a:solidFill>
            <a:srgbClr val="C7DAD6"/>
          </a:solidFill>
          <a:ln w="12700">
            <a:solidFill>
              <a:srgbClr val="C7DAD6"/>
            </a:solidFill>
            <a:prstDash val="solid"/>
          </a:ln>
        </p:spPr>
        <p:txBody>
          <a:bodyPr/>
          <a:lstStyle/>
          <a:p/>
        </p:txBody>
      </p:sp>
      <p:sp>
        <p:nvSpPr>
          <p:cNvPr id="17" name="Text 15"/>
          <p:cNvSpPr>
            <a:spLocks noGrp="1"/>
          </p:cNvSpPr>
          <p:nvPr/>
        </p:nvSpPr>
        <p:spPr>
          <a:xfrm>
            <a:off x="658368" y="713232"/>
            <a:ext cx="10652760" cy="49377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2550" b="1">
                <a:solidFill>
                  <a:srgbClr val="14383E"/>
                </a:solidFill>
                <a:latin typeface="Noto Sans CJK SC"/>
                <a:ea typeface="Noto Sans CJK SC"/>
                <a:cs typeface="Noto Sans CJK SC"/>
              </a:rPr>
              <a:t>一个中枢，三种承接</a:t>
            </a:r>
            <a:endParaRPr sz="2550"/>
          </a:p>
        </p:txBody>
      </p:sp>
      <p:sp>
        <p:nvSpPr>
          <p:cNvPr id="18" name="Text 16"/>
          <p:cNvSpPr>
            <a:spLocks noGrp="1"/>
          </p:cNvSpPr>
          <p:nvPr/>
        </p:nvSpPr>
        <p:spPr>
          <a:xfrm>
            <a:off x="658368" y="1197864"/>
            <a:ext cx="10469880" cy="29260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r>
              <a:rPr sz="1170">
                <a:solidFill>
                  <a:srgbClr val="44585C"/>
                </a:solidFill>
                <a:latin typeface="Noto Sans CJK SC"/>
                <a:ea typeface="Noto Sans CJK SC"/>
                <a:cs typeface="Noto Sans CJK SC"/>
              </a:rPr>
              <a:t>三种来源共享识别和决策能力；Chat 还会分流到定时 Workflow 或人工插件。</a:t>
            </a:r>
            <a:endParaRPr sz="1170">
              <a:solidFill>
                <a:srgbClr val="6B8185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9" name="Shape 17"/>
          <p:cNvSpPr>
            <a:spLocks noGrp="1"/>
          </p:cNvSpPr>
          <p:nvPr/>
        </p:nvSpPr>
        <p:spPr>
          <a:xfrm>
            <a:off x="658368" y="6510528"/>
            <a:ext cx="10835640" cy="0"/>
          </a:xfrm>
          <a:prstGeom prst="line">
            <a:avLst/>
          </a:prstGeom>
          <a:noFill/>
          <a:ln w="11430">
            <a:solidFill>
              <a:srgbClr val="D7E7E3"/>
            </a:solidFill>
            <a:prstDash val="solid"/>
          </a:ln>
        </p:spPr>
        <p:txBody>
          <a:bodyPr/>
          <a:lstStyle/>
          <a:p/>
        </p:txBody>
      </p:sp>
      <p:sp>
        <p:nvSpPr>
          <p:cNvPr id="20" name="Text 18"/>
          <p:cNvSpPr>
            <a:spLocks noGrp="1"/>
          </p:cNvSpPr>
          <p:nvPr/>
        </p:nvSpPr>
        <p:spPr>
          <a:xfrm>
            <a:off x="658368" y="6556248"/>
            <a:ext cx="2103120" cy="16459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750" b="1" spc="40">
                <a:solidFill>
                  <a:srgbClr val="5C7276"/>
                </a:solidFill>
                <a:latin typeface="Noto Sans CJK SC"/>
                <a:ea typeface="Noto Sans CJK SC"/>
                <a:cs typeface="Noto Sans CJK SC"/>
              </a:rPr>
              <a:t>CUSTOMER SERVICE AI AGENT</a:t>
            </a:r>
            <a:endParaRPr sz="750"/>
          </a:p>
        </p:txBody>
      </p:sp>
      <p:sp>
        <p:nvSpPr>
          <p:cNvPr id="21" name="Text 19"/>
          <p:cNvSpPr>
            <a:spLocks noGrp="1"/>
          </p:cNvSpPr>
          <p:nvPr/>
        </p:nvSpPr>
        <p:spPr>
          <a:xfrm>
            <a:off x="10698480" y="6519672"/>
            <a:ext cx="749808" cy="21945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</a:pPr>
            <a:r>
              <a:rPr sz="880" b="1">
                <a:solidFill>
                  <a:srgbClr val="076B50"/>
                </a:solidFill>
                <a:latin typeface="Noto Sans CJK SC"/>
                <a:ea typeface="Noto Sans CJK SC"/>
                <a:cs typeface="Noto Sans CJK SC"/>
              </a:rPr>
              <a:t>19</a:t>
            </a:r>
            <a:endParaRPr sz="880" b="1">
              <a:solidFill>
                <a:srgbClr val="2F80ED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86" name="Rectangle 85"/>
          <p:cNvSpPr>
            <a:spLocks noGrp="1"/>
          </p:cNvSpPr>
          <p:nvPr/>
        </p:nvSpPr>
        <p:spPr>
          <a:xfrm>
            <a:off x="0" y="0"/>
            <a:ext cx="41148" cy="6858000"/>
          </a:xfrm>
          <a:prstGeom prst="rect">
            <a:avLst/>
          </a:prstGeom>
          <a:solidFill>
            <a:srgbClr val="0A8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98" name="TextBox 97"/>
          <p:cNvSpPr>
            <a:spLocks noGrp="1"/>
          </p:cNvSpPr>
          <p:nvPr/>
        </p:nvSpPr>
        <p:spPr>
          <a:xfrm>
            <a:off x="731520" y="1554480"/>
            <a:ext cx="1600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700" b="1" spc="120">
                <a:solidFill>
                  <a:srgbClr val="44585C"/>
                </a:solidFill>
                <a:latin typeface="Noto Sans CJK SC"/>
                <a:ea typeface="Noto Sans CJK SC"/>
                <a:cs typeface="Noto Sans CJK SC"/>
              </a:rPr>
              <a:t>来 源</a:t>
            </a:r>
            <a:endParaRPr sz="700" b="1" spc="120">
              <a:solidFill>
                <a:srgbClr val="6B8185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99" name="TextBox 98"/>
          <p:cNvSpPr>
            <a:spLocks noGrp="1"/>
          </p:cNvSpPr>
          <p:nvPr/>
        </p:nvSpPr>
        <p:spPr>
          <a:xfrm>
            <a:off x="2697480" y="1554480"/>
            <a:ext cx="16916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700" b="1" spc="120">
                <a:solidFill>
                  <a:srgbClr val="44585C"/>
                </a:solidFill>
                <a:latin typeface="Noto Sans CJK SC"/>
                <a:ea typeface="Noto Sans CJK SC"/>
                <a:cs typeface="Noto Sans CJK SC"/>
              </a:rPr>
              <a:t>唯一入口</a:t>
            </a:r>
            <a:endParaRPr sz="700" b="1" spc="120">
              <a:solidFill>
                <a:srgbClr val="6B8185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00" name="TextBox 99"/>
          <p:cNvSpPr>
            <a:spLocks noGrp="1"/>
          </p:cNvSpPr>
          <p:nvPr/>
        </p:nvSpPr>
        <p:spPr>
          <a:xfrm>
            <a:off x="4709160" y="1554480"/>
            <a:ext cx="23774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700" b="1" spc="120">
                <a:solidFill>
                  <a:srgbClr val="44585C"/>
                </a:solidFill>
                <a:latin typeface="Noto Sans CJK SC"/>
                <a:ea typeface="Noto Sans CJK SC"/>
                <a:cs typeface="Noto Sans CJK SC"/>
              </a:rPr>
              <a:t>处理中枢</a:t>
            </a:r>
            <a:endParaRPr sz="700" b="1" spc="120">
              <a:solidFill>
                <a:srgbClr val="6B8185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01" name="TextBox 100"/>
          <p:cNvSpPr>
            <a:spLocks noGrp="1"/>
          </p:cNvSpPr>
          <p:nvPr/>
        </p:nvSpPr>
        <p:spPr>
          <a:xfrm>
            <a:off x="7635240" y="1554480"/>
            <a:ext cx="36118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700" b="1" spc="120">
                <a:solidFill>
                  <a:srgbClr val="44585C"/>
                </a:solidFill>
                <a:latin typeface="Noto Sans CJK SC"/>
                <a:ea typeface="Noto Sans CJK SC"/>
                <a:cs typeface="Noto Sans CJK SC"/>
              </a:rPr>
              <a:t>三种承接</a:t>
            </a:r>
            <a:endParaRPr sz="700" b="1" spc="120">
              <a:solidFill>
                <a:srgbClr val="6B8185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02" name="Rounded Rectangle 101"/>
          <p:cNvSpPr>
            <a:spLocks noGrp="1"/>
          </p:cNvSpPr>
          <p:nvPr/>
        </p:nvSpPr>
        <p:spPr>
          <a:xfrm>
            <a:off x="731520" y="2139696"/>
            <a:ext cx="1600200" cy="585216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5240">
            <a:solidFill>
              <a:srgbClr val="C9D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103" name="Oval 102"/>
          <p:cNvSpPr>
            <a:spLocks noGrp="1"/>
          </p:cNvSpPr>
          <p:nvPr/>
        </p:nvSpPr>
        <p:spPr>
          <a:xfrm>
            <a:off x="850392" y="2258568"/>
            <a:ext cx="347472" cy="347472"/>
          </a:xfrm>
          <a:prstGeom prst="ellipse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pic>
        <p:nvPicPr>
          <p:cNvPr id="225" name="Picture 10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6835" y="2335011"/>
            <a:ext cx="194584" cy="194584"/>
          </a:xfrm>
          <a:prstGeom prst="rect">
            <a:avLst/>
          </a:prstGeom>
        </p:spPr>
      </p:pic>
      <p:sp>
        <p:nvSpPr>
          <p:cNvPr id="105" name="TextBox 104"/>
          <p:cNvSpPr>
            <a:spLocks noGrp="1"/>
          </p:cNvSpPr>
          <p:nvPr/>
        </p:nvSpPr>
        <p:spPr>
          <a:xfrm>
            <a:off x="1298448" y="2249424"/>
            <a:ext cx="9601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100" b="1">
                <a:solidFill>
                  <a:srgbClr val="14383E"/>
                </a:solidFill>
                <a:latin typeface="Noto Sans CJK SC"/>
                <a:ea typeface="Noto Sans CJK SC"/>
                <a:cs typeface="Noto Sans CJK SC"/>
              </a:rPr>
              <a:t>chat</a:t>
            </a:r>
            <a:endParaRPr sz="1100" b="1">
              <a:solidFill>
                <a:srgbClr val="14383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06" name="TextBox 105"/>
          <p:cNvSpPr>
            <a:spLocks noGrp="1"/>
          </p:cNvSpPr>
          <p:nvPr/>
        </p:nvSpPr>
        <p:spPr>
          <a:xfrm>
            <a:off x="1298448" y="2468879"/>
            <a:ext cx="9601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700" b="0">
                <a:solidFill>
                  <a:srgbClr val="44585C"/>
                </a:solidFill>
                <a:latin typeface="Noto Sans CJK SC"/>
                <a:ea typeface="Noto Sans CJK SC"/>
                <a:cs typeface="Noto Sans CJK SC"/>
              </a:rPr>
              <a:t>会话 1 万+ / 周</a:t>
            </a:r>
            <a:endParaRPr sz="700" b="0">
              <a:solidFill>
                <a:srgbClr val="6B8185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07" name="Rounded Rectangle 106"/>
          <p:cNvSpPr>
            <a:spLocks noGrp="1"/>
          </p:cNvSpPr>
          <p:nvPr/>
        </p:nvSpPr>
        <p:spPr>
          <a:xfrm>
            <a:off x="731520" y="2816352"/>
            <a:ext cx="1600200" cy="585216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5240">
            <a:solidFill>
              <a:srgbClr val="C9D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108" name="Oval 107"/>
          <p:cNvSpPr>
            <a:spLocks noGrp="1"/>
          </p:cNvSpPr>
          <p:nvPr/>
        </p:nvSpPr>
        <p:spPr>
          <a:xfrm>
            <a:off x="850392" y="2935224"/>
            <a:ext cx="347472" cy="347472"/>
          </a:xfrm>
          <a:prstGeom prst="ellipse">
            <a:avLst/>
          </a:prstGeom>
          <a:solidFill>
            <a:srgbClr val="00A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pic>
        <p:nvPicPr>
          <p:cNvPr id="230" name="Picture 10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6835" y="3011667"/>
            <a:ext cx="194584" cy="194584"/>
          </a:xfrm>
          <a:prstGeom prst="rect">
            <a:avLst/>
          </a:prstGeom>
        </p:spPr>
      </p:pic>
      <p:sp>
        <p:nvSpPr>
          <p:cNvPr id="110" name="TextBox 109"/>
          <p:cNvSpPr>
            <a:spLocks noGrp="1"/>
          </p:cNvSpPr>
          <p:nvPr/>
        </p:nvSpPr>
        <p:spPr>
          <a:xfrm>
            <a:off x="1298448" y="2926080"/>
            <a:ext cx="9601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100" b="1">
                <a:solidFill>
                  <a:srgbClr val="14383E"/>
                </a:solidFill>
                <a:latin typeface="Noto Sans CJK SC"/>
                <a:ea typeface="Noto Sans CJK SC"/>
                <a:cs typeface="Noto Sans CJK SC"/>
              </a:rPr>
              <a:t>email</a:t>
            </a:r>
            <a:endParaRPr sz="1100" b="1">
              <a:solidFill>
                <a:srgbClr val="14383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11" name="TextBox 110"/>
          <p:cNvSpPr>
            <a:spLocks noGrp="1"/>
          </p:cNvSpPr>
          <p:nvPr/>
        </p:nvSpPr>
        <p:spPr>
          <a:xfrm>
            <a:off x="1298448" y="3145536"/>
            <a:ext cx="9601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700" b="0">
                <a:solidFill>
                  <a:srgbClr val="44585C"/>
                </a:solidFill>
                <a:latin typeface="Noto Sans CJK SC"/>
                <a:ea typeface="Noto Sans CJK SC"/>
                <a:cs typeface="Noto Sans CJK SC"/>
              </a:rPr>
              <a:t>工单 6 千+ / 周</a:t>
            </a:r>
            <a:endParaRPr sz="700" b="0">
              <a:solidFill>
                <a:srgbClr val="6B8185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12" name="Rounded Rectangle 111"/>
          <p:cNvSpPr>
            <a:spLocks noGrp="1"/>
          </p:cNvSpPr>
          <p:nvPr/>
        </p:nvSpPr>
        <p:spPr>
          <a:xfrm>
            <a:off x="731520" y="3493008"/>
            <a:ext cx="1600200" cy="585216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5240">
            <a:solidFill>
              <a:srgbClr val="C9D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113" name="Oval 112"/>
          <p:cNvSpPr>
            <a:spLocks noGrp="1"/>
          </p:cNvSpPr>
          <p:nvPr/>
        </p:nvSpPr>
        <p:spPr>
          <a:xfrm>
            <a:off x="850392" y="3611879"/>
            <a:ext cx="347472" cy="347472"/>
          </a:xfrm>
          <a:prstGeom prst="ellipse">
            <a:avLst/>
          </a:prstGeom>
          <a:solidFill>
            <a:srgbClr val="6B6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pic>
        <p:nvPicPr>
          <p:cNvPr id="235" name="Picture 1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6835" y="3688323"/>
            <a:ext cx="194584" cy="194584"/>
          </a:xfrm>
          <a:prstGeom prst="rect">
            <a:avLst/>
          </a:prstGeom>
        </p:spPr>
      </p:pic>
      <p:sp>
        <p:nvSpPr>
          <p:cNvPr id="115" name="TextBox 114"/>
          <p:cNvSpPr>
            <a:spLocks noGrp="1"/>
          </p:cNvSpPr>
          <p:nvPr/>
        </p:nvSpPr>
        <p:spPr>
          <a:xfrm>
            <a:off x="1298448" y="3602736"/>
            <a:ext cx="9601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100" b="1">
                <a:solidFill>
                  <a:srgbClr val="14383E"/>
                </a:solidFill>
                <a:latin typeface="Noto Sans CJK SC"/>
                <a:ea typeface="Noto Sans CJK SC"/>
                <a:cs typeface="Noto Sans CJK SC"/>
              </a:rPr>
              <a:t>voice</a:t>
            </a:r>
            <a:endParaRPr sz="1100" b="1">
              <a:solidFill>
                <a:srgbClr val="14383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16" name="TextBox 115"/>
          <p:cNvSpPr>
            <a:spLocks noGrp="1"/>
          </p:cNvSpPr>
          <p:nvPr/>
        </p:nvSpPr>
        <p:spPr>
          <a:xfrm>
            <a:off x="1298448" y="3822191"/>
            <a:ext cx="9601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700" b="0">
                <a:solidFill>
                  <a:srgbClr val="44585C"/>
                </a:solidFill>
                <a:latin typeface="Noto Sans CJK SC"/>
                <a:ea typeface="Noto Sans CJK SC"/>
                <a:cs typeface="Noto Sans CJK SC"/>
              </a:rPr>
              <a:t>电话 · Cartesia</a:t>
            </a:r>
            <a:endParaRPr sz="700" b="0">
              <a:solidFill>
                <a:srgbClr val="6B8185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17" name="Connector 116"/>
          <p:cNvSpPr>
            <a:spLocks noGrp="1"/>
          </p:cNvSpPr>
          <p:nvPr/>
        </p:nvSpPr>
        <p:spPr>
          <a:xfrm>
            <a:off x="2331720" y="2432303"/>
            <a:ext cx="155448" cy="0"/>
          </a:xfrm>
          <a:prstGeom prst="line">
            <a:avLst/>
          </a:prstGeom>
          <a:ln w="17780">
            <a:solidFill>
              <a:srgbClr val="C9DC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p/>
        </p:txBody>
      </p:sp>
      <p:sp>
        <p:nvSpPr>
          <p:cNvPr id="118" name="Connector 117"/>
          <p:cNvSpPr>
            <a:spLocks noGrp="1"/>
          </p:cNvSpPr>
          <p:nvPr/>
        </p:nvSpPr>
        <p:spPr>
          <a:xfrm>
            <a:off x="2331720" y="3108960"/>
            <a:ext cx="155448" cy="0"/>
          </a:xfrm>
          <a:prstGeom prst="line">
            <a:avLst/>
          </a:prstGeom>
          <a:ln w="17780">
            <a:solidFill>
              <a:srgbClr val="C9DC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p/>
        </p:txBody>
      </p:sp>
      <p:sp>
        <p:nvSpPr>
          <p:cNvPr id="119" name="Connector 118"/>
          <p:cNvSpPr>
            <a:spLocks noGrp="1"/>
          </p:cNvSpPr>
          <p:nvPr/>
        </p:nvSpPr>
        <p:spPr>
          <a:xfrm>
            <a:off x="2331720" y="3785615"/>
            <a:ext cx="155448" cy="0"/>
          </a:xfrm>
          <a:prstGeom prst="line">
            <a:avLst/>
          </a:prstGeom>
          <a:ln w="17780">
            <a:solidFill>
              <a:srgbClr val="C9DC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p/>
        </p:txBody>
      </p:sp>
      <p:sp>
        <p:nvSpPr>
          <p:cNvPr id="120" name="Connector 119"/>
          <p:cNvSpPr>
            <a:spLocks noGrp="1"/>
          </p:cNvSpPr>
          <p:nvPr/>
        </p:nvSpPr>
        <p:spPr>
          <a:xfrm>
            <a:off x="2487168" y="2432304"/>
            <a:ext cx="0" cy="1353311"/>
          </a:xfrm>
          <a:prstGeom prst="line">
            <a:avLst/>
          </a:prstGeom>
          <a:ln w="17780">
            <a:solidFill>
              <a:srgbClr val="C9DC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p/>
        </p:txBody>
      </p:sp>
      <p:sp>
        <p:nvSpPr>
          <p:cNvPr id="121" name="Connector 120"/>
          <p:cNvSpPr>
            <a:spLocks noGrp="1"/>
          </p:cNvSpPr>
          <p:nvPr/>
        </p:nvSpPr>
        <p:spPr>
          <a:xfrm>
            <a:off x="2487168" y="3108960"/>
            <a:ext cx="210312" cy="0"/>
          </a:xfrm>
          <a:prstGeom prst="line">
            <a:avLst/>
          </a:prstGeom>
          <a:ln w="22860">
            <a:solidFill>
              <a:srgbClr val="6B818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p/>
        </p:txBody>
      </p:sp>
      <p:sp>
        <p:nvSpPr>
          <p:cNvPr id="122" name="Rounded Rectangle 121"/>
          <p:cNvSpPr>
            <a:spLocks noGrp="1"/>
          </p:cNvSpPr>
          <p:nvPr/>
        </p:nvSpPr>
        <p:spPr>
          <a:xfrm>
            <a:off x="2697480" y="2651760"/>
            <a:ext cx="169164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6B81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123" name="Oval 122"/>
          <p:cNvSpPr>
            <a:spLocks noGrp="1"/>
          </p:cNvSpPr>
          <p:nvPr/>
        </p:nvSpPr>
        <p:spPr>
          <a:xfrm>
            <a:off x="3387852" y="2715768"/>
            <a:ext cx="310896" cy="310896"/>
          </a:xfrm>
          <a:prstGeom prst="ellipse">
            <a:avLst/>
          </a:prstGeom>
          <a:solidFill>
            <a:srgbClr val="6B8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pic>
        <p:nvPicPr>
          <p:cNvPr id="245" name="Picture 12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56249" y="2784165"/>
            <a:ext cx="174101" cy="174101"/>
          </a:xfrm>
          <a:prstGeom prst="rect">
            <a:avLst/>
          </a:prstGeom>
        </p:spPr>
      </p:pic>
      <p:sp>
        <p:nvSpPr>
          <p:cNvPr id="125" name="TextBox 124"/>
          <p:cNvSpPr>
            <a:spLocks noGrp="1"/>
          </p:cNvSpPr>
          <p:nvPr/>
        </p:nvSpPr>
        <p:spPr>
          <a:xfrm>
            <a:off x="2697480" y="3072384"/>
            <a:ext cx="16916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1">
                <a:solidFill>
                  <a:srgbClr val="14383E"/>
                </a:solidFill>
                <a:latin typeface="Noto Sans CJK SC"/>
                <a:ea typeface="Noto Sans CJK SC"/>
                <a:cs typeface="Noto Sans CJK SC"/>
              </a:rPr>
              <a:t>客服平台</a:t>
            </a:r>
            <a:endParaRPr sz="1100" b="1">
              <a:solidFill>
                <a:srgbClr val="14383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26" name="TextBox 125"/>
          <p:cNvSpPr>
            <a:spLocks noGrp="1"/>
          </p:cNvSpPr>
          <p:nvPr/>
        </p:nvSpPr>
        <p:spPr>
          <a:xfrm>
            <a:off x="2697480" y="3291840"/>
            <a:ext cx="16916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700" b="0">
                <a:solidFill>
                  <a:srgbClr val="44585C"/>
                </a:solidFill>
                <a:latin typeface="Noto Sans CJK SC"/>
                <a:ea typeface="Noto Sans CJK SC"/>
                <a:cs typeface="Noto Sans CJK SC"/>
              </a:rPr>
              <a:t>唯一工单入口 · 统一身份</a:t>
            </a:r>
            <a:endParaRPr sz="700" b="0">
              <a:solidFill>
                <a:srgbClr val="6B8185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27" name="Connector 126"/>
          <p:cNvSpPr>
            <a:spLocks noGrp="1"/>
          </p:cNvSpPr>
          <p:nvPr/>
        </p:nvSpPr>
        <p:spPr>
          <a:xfrm>
            <a:off x="4389120" y="3108960"/>
            <a:ext cx="320040" cy="0"/>
          </a:xfrm>
          <a:prstGeom prst="line">
            <a:avLst/>
          </a:prstGeom>
          <a:ln w="38100">
            <a:solidFill>
              <a:srgbClr val="2F80E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p/>
        </p:txBody>
      </p:sp>
      <p:sp>
        <p:nvSpPr>
          <p:cNvPr id="128" name="TextBox 127"/>
          <p:cNvSpPr>
            <a:spLocks noGrp="1"/>
          </p:cNvSpPr>
          <p:nvPr/>
        </p:nvSpPr>
        <p:spPr>
          <a:xfrm>
            <a:off x="4279392" y="2889504"/>
            <a:ext cx="384048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buNone/>
            </a:pPr>
            <a:r>
              <a:rPr sz="660" b="1">
                <a:solidFill>
                  <a:srgbClr val="1B5FC4"/>
                </a:solidFill>
                <a:latin typeface="Noto Sans CJK SC"/>
                <a:ea typeface="Noto Sans CJK SC"/>
                <a:cs typeface="Noto Sans CJK SC"/>
              </a:rPr>
              <a:t>全部经过</a:t>
            </a:r>
            <a:endParaRPr sz="660" b="1">
              <a:solidFill>
                <a:srgbClr val="2F80ED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29" name="Rounded Rectangle 128"/>
          <p:cNvSpPr>
            <a:spLocks noGrp="1"/>
          </p:cNvSpPr>
          <p:nvPr/>
        </p:nvSpPr>
        <p:spPr>
          <a:xfrm>
            <a:off x="4709160" y="2148840"/>
            <a:ext cx="2377440" cy="1920240"/>
          </a:xfrm>
          <a:prstGeom prst="roundRect">
            <a:avLst>
              <a:gd name="adj" fmla="val 9000"/>
            </a:avLst>
          </a:prstGeom>
          <a:solidFill>
            <a:srgbClr val="153D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130" name="Oval 129"/>
          <p:cNvSpPr>
            <a:spLocks noGrp="1"/>
          </p:cNvSpPr>
          <p:nvPr/>
        </p:nvSpPr>
        <p:spPr>
          <a:xfrm>
            <a:off x="5715000" y="2240279"/>
            <a:ext cx="365760" cy="365760"/>
          </a:xfrm>
          <a:prstGeom prst="ellipse">
            <a:avLst/>
          </a:prstGeom>
          <a:solidFill>
            <a:srgbClr val="0D5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pic>
        <p:nvPicPr>
          <p:cNvPr id="252" name="Picture 13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88152" y="2313432"/>
            <a:ext cx="219456" cy="219456"/>
          </a:xfrm>
          <a:prstGeom prst="rect">
            <a:avLst/>
          </a:prstGeom>
        </p:spPr>
      </p:pic>
      <p:sp>
        <p:nvSpPr>
          <p:cNvPr id="132" name="TextBox 131"/>
          <p:cNvSpPr>
            <a:spLocks noGrp="1"/>
          </p:cNvSpPr>
          <p:nvPr/>
        </p:nvSpPr>
        <p:spPr>
          <a:xfrm>
            <a:off x="4709160" y="2624328"/>
            <a:ext cx="23774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AI Agent</a:t>
            </a:r>
            <a:endParaRPr sz="180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33" name="TextBox 132"/>
          <p:cNvSpPr>
            <a:spLocks noGrp="1"/>
          </p:cNvSpPr>
          <p:nvPr/>
        </p:nvSpPr>
        <p:spPr>
          <a:xfrm>
            <a:off x="4709160" y="2953512"/>
            <a:ext cx="23774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950" b="1">
                <a:solidFill>
                  <a:srgbClr val="7FD8C0"/>
                </a:solidFill>
                <a:latin typeface="Noto Sans CJK SC"/>
                <a:ea typeface="Noto Sans CJK SC"/>
                <a:cs typeface="Noto Sans CJK SC"/>
              </a:rPr>
              <a:t>处理中枢</a:t>
            </a:r>
            <a:endParaRPr sz="950" b="1">
              <a:solidFill>
                <a:srgbClr val="7FD8C0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34" name="Connector 133"/>
          <p:cNvSpPr>
            <a:spLocks noGrp="1"/>
          </p:cNvSpPr>
          <p:nvPr/>
        </p:nvSpPr>
        <p:spPr>
          <a:xfrm>
            <a:off x="4946904" y="3191256"/>
            <a:ext cx="1901952" cy="0"/>
          </a:xfrm>
          <a:prstGeom prst="line">
            <a:avLst/>
          </a:prstGeom>
          <a:ln w="12700">
            <a:solidFill>
              <a:srgbClr val="3B6B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p/>
        </p:txBody>
      </p:sp>
      <p:sp>
        <p:nvSpPr>
          <p:cNvPr id="135" name="TextBox 134"/>
          <p:cNvSpPr>
            <a:spLocks noGrp="1"/>
          </p:cNvSpPr>
          <p:nvPr/>
        </p:nvSpPr>
        <p:spPr>
          <a:xfrm>
            <a:off x="4709160" y="3282696"/>
            <a:ext cx="23774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760" b="0">
                <a:solidFill>
                  <a:srgbClr val="E4F1EE"/>
                </a:solidFill>
                <a:latin typeface="Noto Sans CJK SC"/>
                <a:ea typeface="Noto Sans CJK SC"/>
                <a:cs typeface="Noto Sans CJK SC"/>
              </a:rPr>
              <a:t>意图识别 · 上下文组装</a:t>
            </a:r>
            <a:endParaRPr sz="760" b="0">
              <a:solidFill>
                <a:srgbClr val="D6E7E3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36" name="TextBox 135"/>
          <p:cNvSpPr>
            <a:spLocks noGrp="1"/>
          </p:cNvSpPr>
          <p:nvPr/>
        </p:nvSpPr>
        <p:spPr>
          <a:xfrm>
            <a:off x="4709160" y="3465576"/>
            <a:ext cx="23774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760" b="0">
                <a:solidFill>
                  <a:srgbClr val="E4F1EE"/>
                </a:solidFill>
                <a:latin typeface="Noto Sans CJK SC"/>
                <a:ea typeface="Noto Sans CJK SC"/>
                <a:cs typeface="Noto Sans CJK SC"/>
              </a:rPr>
              <a:t>Skill 选择 · 风险判断</a:t>
            </a:r>
            <a:endParaRPr sz="760" b="0">
              <a:solidFill>
                <a:srgbClr val="D6E7E3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37" name="TextBox 136"/>
          <p:cNvSpPr>
            <a:spLocks noGrp="1"/>
          </p:cNvSpPr>
          <p:nvPr/>
        </p:nvSpPr>
        <p:spPr>
          <a:xfrm>
            <a:off x="4709160" y="3648456"/>
            <a:ext cx="23774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760" b="0">
                <a:solidFill>
                  <a:srgbClr val="E4F1EE"/>
                </a:solidFill>
                <a:latin typeface="Noto Sans CJK SC"/>
                <a:ea typeface="Noto Sans CJK SC"/>
                <a:cs typeface="Noto Sans CJK SC"/>
              </a:rPr>
              <a:t>生成回复 · 打标 · 转人工</a:t>
            </a:r>
            <a:endParaRPr sz="760" b="0">
              <a:solidFill>
                <a:srgbClr val="D6E7E3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38" name="TextBox 137"/>
          <p:cNvSpPr>
            <a:spLocks noGrp="1"/>
          </p:cNvSpPr>
          <p:nvPr/>
        </p:nvSpPr>
        <p:spPr>
          <a:xfrm>
            <a:off x="4709160" y="3867912"/>
            <a:ext cx="23774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700" b="1">
                <a:solidFill>
                  <a:srgbClr val="7FD8C0"/>
                </a:solidFill>
                <a:latin typeface="Noto Sans CJK SC"/>
                <a:ea typeface="Noto Sans CJK SC"/>
                <a:cs typeface="Noto Sans CJK SC"/>
              </a:rPr>
              <a:t>决定：自动回复 / 打标 / 转人工</a:t>
            </a:r>
            <a:endParaRPr sz="700" b="1">
              <a:solidFill>
                <a:srgbClr val="7FD8C0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39" name="Connector 138"/>
          <p:cNvSpPr>
            <a:spLocks noGrp="1"/>
          </p:cNvSpPr>
          <p:nvPr/>
        </p:nvSpPr>
        <p:spPr>
          <a:xfrm>
            <a:off x="7086600" y="3108960"/>
            <a:ext cx="274320" cy="0"/>
          </a:xfrm>
          <a:prstGeom prst="line">
            <a:avLst/>
          </a:prstGeom>
          <a:ln w="20320">
            <a:solidFill>
              <a:srgbClr val="C9DC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p/>
        </p:txBody>
      </p:sp>
      <p:sp>
        <p:nvSpPr>
          <p:cNvPr id="140" name="Connector 139"/>
          <p:cNvSpPr>
            <a:spLocks noGrp="1"/>
          </p:cNvSpPr>
          <p:nvPr/>
        </p:nvSpPr>
        <p:spPr>
          <a:xfrm>
            <a:off x="7360920" y="2121408"/>
            <a:ext cx="0" cy="1938528"/>
          </a:xfrm>
          <a:prstGeom prst="line">
            <a:avLst/>
          </a:prstGeom>
          <a:ln w="20320">
            <a:solidFill>
              <a:srgbClr val="C9DC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p/>
        </p:txBody>
      </p:sp>
      <p:sp>
        <p:nvSpPr>
          <p:cNvPr id="141" name="Connector 140"/>
          <p:cNvSpPr>
            <a:spLocks noGrp="1"/>
          </p:cNvSpPr>
          <p:nvPr/>
        </p:nvSpPr>
        <p:spPr>
          <a:xfrm>
            <a:off x="7360920" y="2121408"/>
            <a:ext cx="274320" cy="0"/>
          </a:xfrm>
          <a:prstGeom prst="line">
            <a:avLst/>
          </a:prstGeom>
          <a:ln w="30480">
            <a:solidFill>
              <a:srgbClr val="0A8F6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p/>
        </p:txBody>
      </p:sp>
      <p:sp>
        <p:nvSpPr>
          <p:cNvPr id="142" name="TextBox 141"/>
          <p:cNvSpPr>
            <a:spLocks noGrp="1"/>
          </p:cNvSpPr>
          <p:nvPr/>
        </p:nvSpPr>
        <p:spPr>
          <a:xfrm>
            <a:off x="7379208" y="1929384"/>
            <a:ext cx="237744" cy="14630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650" b="1">
                <a:solidFill>
                  <a:srgbClr val="076B50"/>
                </a:solidFill>
                <a:latin typeface="Noto Sans CJK SC"/>
                <a:ea typeface="Noto Sans CJK SC"/>
                <a:cs typeface="Noto Sans CJK SC"/>
              </a:rPr>
              <a:t>回复</a:t>
            </a:r>
            <a:endParaRPr sz="650" b="1">
              <a:solidFill>
                <a:srgbClr val="0A8F6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43" name="Rounded Rectangle 142"/>
          <p:cNvSpPr>
            <a:spLocks noGrp="1"/>
          </p:cNvSpPr>
          <p:nvPr/>
        </p:nvSpPr>
        <p:spPr>
          <a:xfrm>
            <a:off x="7635240" y="1700784"/>
            <a:ext cx="3611880" cy="841248"/>
          </a:xfrm>
          <a:prstGeom prst="roundRect">
            <a:avLst>
              <a:gd name="adj" fmla="val 10000"/>
            </a:avLst>
          </a:prstGeom>
          <a:solidFill>
            <a:srgbClr val="E8F7F1"/>
          </a:solidFill>
          <a:ln w="21590">
            <a:solidFill>
              <a:srgbClr val="0A8F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144" name="Oval 143"/>
          <p:cNvSpPr>
            <a:spLocks noGrp="1"/>
          </p:cNvSpPr>
          <p:nvPr/>
        </p:nvSpPr>
        <p:spPr>
          <a:xfrm>
            <a:off x="7726680" y="1773936"/>
            <a:ext cx="347472" cy="347472"/>
          </a:xfrm>
          <a:prstGeom prst="ellipse">
            <a:avLst/>
          </a:prstGeom>
          <a:solidFill>
            <a:srgbClr val="0A8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pic>
        <p:nvPicPr>
          <p:cNvPr id="266" name="Picture 14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03123" y="1850379"/>
            <a:ext cx="194584" cy="194584"/>
          </a:xfrm>
          <a:prstGeom prst="rect">
            <a:avLst/>
          </a:prstGeom>
        </p:spPr>
      </p:pic>
      <p:sp>
        <p:nvSpPr>
          <p:cNvPr id="146" name="TextBox 145"/>
          <p:cNvSpPr>
            <a:spLocks noGrp="1"/>
          </p:cNvSpPr>
          <p:nvPr/>
        </p:nvSpPr>
        <p:spPr>
          <a:xfrm>
            <a:off x="8138160" y="1810512"/>
            <a:ext cx="2743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700" b="1">
                <a:solidFill>
                  <a:srgbClr val="076B50"/>
                </a:solidFill>
                <a:latin typeface="Noto Sans CJK SC"/>
                <a:ea typeface="Noto Sans CJK SC"/>
                <a:cs typeface="Noto Sans CJK SC"/>
              </a:rPr>
              <a:t>01</a:t>
            </a:r>
            <a:endParaRPr sz="700" b="1">
              <a:solidFill>
                <a:srgbClr val="0A8F6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47" name="TextBox 146"/>
          <p:cNvSpPr>
            <a:spLocks noGrp="1"/>
          </p:cNvSpPr>
          <p:nvPr/>
        </p:nvSpPr>
        <p:spPr>
          <a:xfrm>
            <a:off x="8412480" y="1792224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050" b="1">
                <a:solidFill>
                  <a:srgbClr val="14383E"/>
                </a:solidFill>
                <a:latin typeface="Noto Sans CJK SC"/>
                <a:ea typeface="Noto Sans CJK SC"/>
                <a:cs typeface="Noto Sans CJK SC"/>
              </a:rPr>
              <a:t>AI 自动回复</a:t>
            </a:r>
            <a:endParaRPr sz="1050" b="1">
              <a:solidFill>
                <a:srgbClr val="14383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48" name="TextBox 147"/>
          <p:cNvSpPr>
            <a:spLocks noGrp="1"/>
          </p:cNvSpPr>
          <p:nvPr/>
        </p:nvSpPr>
        <p:spPr>
          <a:xfrm>
            <a:off x="7772400" y="2103120"/>
            <a:ext cx="340156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740" b="0">
                <a:solidFill>
                  <a:srgbClr val="44585C"/>
                </a:solidFill>
                <a:latin typeface="Noto Sans CJK SC"/>
                <a:ea typeface="Noto Sans CJK SC"/>
                <a:cs typeface="Noto Sans CJK SC"/>
              </a:rPr>
              <a:t>低风险直接发送；中风险经客户确认或人工审核后发送。</a:t>
            </a:r>
            <a:endParaRPr sz="740" b="0">
              <a:solidFill>
                <a:srgbClr val="6B8185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49" name="TextBox 148"/>
          <p:cNvSpPr>
            <a:spLocks noGrp="1"/>
          </p:cNvSpPr>
          <p:nvPr/>
        </p:nvSpPr>
        <p:spPr>
          <a:xfrm>
            <a:off x="7772400" y="2295144"/>
            <a:ext cx="340156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740" b="1">
                <a:solidFill>
                  <a:srgbClr val="076B50"/>
                </a:solidFill>
                <a:latin typeface="Noto Sans CJK SC"/>
                <a:ea typeface="Noto Sans CJK SC"/>
                <a:cs typeface="Noto Sans CJK SC"/>
              </a:rPr>
              <a:t>实时 · 全渠道</a:t>
            </a:r>
            <a:endParaRPr sz="740" b="1">
              <a:solidFill>
                <a:srgbClr val="0A8F6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50" name="Connector 149"/>
          <p:cNvSpPr>
            <a:spLocks noGrp="1"/>
          </p:cNvSpPr>
          <p:nvPr/>
        </p:nvSpPr>
        <p:spPr>
          <a:xfrm>
            <a:off x="7360920" y="3090672"/>
            <a:ext cx="274320" cy="0"/>
          </a:xfrm>
          <a:prstGeom prst="line">
            <a:avLst/>
          </a:prstGeom>
          <a:ln w="30480">
            <a:solidFill>
              <a:srgbClr val="6B6FD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p/>
        </p:txBody>
      </p:sp>
      <p:sp>
        <p:nvSpPr>
          <p:cNvPr id="151" name="TextBox 150"/>
          <p:cNvSpPr>
            <a:spLocks noGrp="1"/>
          </p:cNvSpPr>
          <p:nvPr/>
        </p:nvSpPr>
        <p:spPr>
          <a:xfrm>
            <a:off x="7379208" y="2898648"/>
            <a:ext cx="237744" cy="14630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650" b="1">
                <a:solidFill>
                  <a:srgbClr val="4A4EB0"/>
                </a:solidFill>
                <a:latin typeface="Noto Sans CJK SC"/>
                <a:ea typeface="Noto Sans CJK SC"/>
                <a:cs typeface="Noto Sans CJK SC"/>
              </a:rPr>
              <a:t>打标</a:t>
            </a:r>
            <a:endParaRPr sz="650" b="1">
              <a:solidFill>
                <a:srgbClr val="6B6FD8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52" name="Rounded Rectangle 151"/>
          <p:cNvSpPr>
            <a:spLocks noGrp="1"/>
          </p:cNvSpPr>
          <p:nvPr/>
        </p:nvSpPr>
        <p:spPr>
          <a:xfrm>
            <a:off x="7635240" y="2670048"/>
            <a:ext cx="3611880" cy="841248"/>
          </a:xfrm>
          <a:prstGeom prst="roundRect">
            <a:avLst>
              <a:gd name="adj" fmla="val 10000"/>
            </a:avLst>
          </a:prstGeom>
          <a:solidFill>
            <a:srgbClr val="EEF0FF"/>
          </a:solidFill>
          <a:ln w="21590">
            <a:solidFill>
              <a:srgbClr val="6B6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153" name="Oval 152"/>
          <p:cNvSpPr>
            <a:spLocks noGrp="1"/>
          </p:cNvSpPr>
          <p:nvPr/>
        </p:nvSpPr>
        <p:spPr>
          <a:xfrm>
            <a:off x="7726680" y="2743200"/>
            <a:ext cx="347472" cy="347472"/>
          </a:xfrm>
          <a:prstGeom prst="ellipse">
            <a:avLst/>
          </a:prstGeom>
          <a:solidFill>
            <a:srgbClr val="6B6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pic>
        <p:nvPicPr>
          <p:cNvPr id="275" name="Picture 15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03123" y="2819643"/>
            <a:ext cx="194584" cy="194584"/>
          </a:xfrm>
          <a:prstGeom prst="rect">
            <a:avLst/>
          </a:prstGeom>
        </p:spPr>
      </p:pic>
      <p:sp>
        <p:nvSpPr>
          <p:cNvPr id="155" name="TextBox 154"/>
          <p:cNvSpPr>
            <a:spLocks noGrp="1"/>
          </p:cNvSpPr>
          <p:nvPr/>
        </p:nvSpPr>
        <p:spPr>
          <a:xfrm>
            <a:off x="8138160" y="2779776"/>
            <a:ext cx="2743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700" b="1">
                <a:solidFill>
                  <a:srgbClr val="4A4EB0"/>
                </a:solidFill>
                <a:latin typeface="Noto Sans CJK SC"/>
                <a:ea typeface="Noto Sans CJK SC"/>
                <a:cs typeface="Noto Sans CJK SC"/>
              </a:rPr>
              <a:t>02</a:t>
            </a:r>
            <a:endParaRPr sz="700" b="1">
              <a:solidFill>
                <a:srgbClr val="6B6FD8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56" name="TextBox 155"/>
          <p:cNvSpPr>
            <a:spLocks noGrp="1"/>
          </p:cNvSpPr>
          <p:nvPr/>
        </p:nvSpPr>
        <p:spPr>
          <a:xfrm>
            <a:off x="8412480" y="2761488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050" b="1">
                <a:solidFill>
                  <a:srgbClr val="14383E"/>
                </a:solidFill>
                <a:latin typeface="Noto Sans CJK SC"/>
                <a:ea typeface="Noto Sans CJK SC"/>
                <a:cs typeface="Noto Sans CJK SC"/>
              </a:rPr>
              <a:t>Workflow 自动化流程</a:t>
            </a:r>
            <a:endParaRPr sz="1050" b="1">
              <a:solidFill>
                <a:srgbClr val="14383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57" name="TextBox 156"/>
          <p:cNvSpPr>
            <a:spLocks noGrp="1"/>
          </p:cNvSpPr>
          <p:nvPr/>
        </p:nvSpPr>
        <p:spPr>
          <a:xfrm>
            <a:off x="7772400" y="3072384"/>
            <a:ext cx="340156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740" b="0">
                <a:solidFill>
                  <a:srgbClr val="44585C"/>
                </a:solidFill>
                <a:latin typeface="Noto Sans CJK SC"/>
                <a:ea typeface="Noto Sans CJK SC"/>
                <a:cs typeface="Noto Sans CJK SC"/>
              </a:rPr>
              <a:t>AI Agent 打标后由 Workflow 定时批量执行，规则可枚举。</a:t>
            </a:r>
            <a:endParaRPr sz="740" b="0">
              <a:solidFill>
                <a:srgbClr val="6B8185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58" name="TextBox 157"/>
          <p:cNvSpPr>
            <a:spLocks noGrp="1"/>
          </p:cNvSpPr>
          <p:nvPr/>
        </p:nvSpPr>
        <p:spPr>
          <a:xfrm>
            <a:off x="7772400" y="3264408"/>
            <a:ext cx="340156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740" b="1">
                <a:solidFill>
                  <a:srgbClr val="4A4EB0"/>
                </a:solidFill>
                <a:latin typeface="Noto Sans CJK SC"/>
                <a:ea typeface="Noto Sans CJK SC"/>
                <a:cs typeface="Noto Sans CJK SC"/>
              </a:rPr>
              <a:t>非实时 · 定时 · 主要承接 chat 部分标准工单</a:t>
            </a:r>
            <a:endParaRPr sz="740" b="1">
              <a:solidFill>
                <a:srgbClr val="6B6FD8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59" name="Connector 158"/>
          <p:cNvSpPr>
            <a:spLocks noGrp="1"/>
          </p:cNvSpPr>
          <p:nvPr/>
        </p:nvSpPr>
        <p:spPr>
          <a:xfrm>
            <a:off x="7360920" y="4059936"/>
            <a:ext cx="274320" cy="0"/>
          </a:xfrm>
          <a:prstGeom prst="line">
            <a:avLst/>
          </a:prstGeom>
          <a:ln w="30480">
            <a:solidFill>
              <a:srgbClr val="F28B3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p/>
        </p:txBody>
      </p:sp>
      <p:sp>
        <p:nvSpPr>
          <p:cNvPr id="160" name="TextBox 159"/>
          <p:cNvSpPr>
            <a:spLocks noGrp="1"/>
          </p:cNvSpPr>
          <p:nvPr/>
        </p:nvSpPr>
        <p:spPr>
          <a:xfrm>
            <a:off x="7379208" y="3867912"/>
            <a:ext cx="256032" cy="14630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650" b="1">
                <a:solidFill>
                  <a:srgbClr val="9A5210"/>
                </a:solidFill>
                <a:latin typeface="Noto Sans CJK SC"/>
                <a:ea typeface="Noto Sans CJK SC"/>
                <a:cs typeface="Noto Sans CJK SC"/>
              </a:rPr>
              <a:t>转人工</a:t>
            </a:r>
            <a:endParaRPr sz="650" b="1">
              <a:solidFill>
                <a:srgbClr val="F28B36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61" name="Rounded Rectangle 160"/>
          <p:cNvSpPr>
            <a:spLocks noGrp="1"/>
          </p:cNvSpPr>
          <p:nvPr/>
        </p:nvSpPr>
        <p:spPr>
          <a:xfrm>
            <a:off x="7635240" y="3639312"/>
            <a:ext cx="3611880" cy="841248"/>
          </a:xfrm>
          <a:prstGeom prst="roundRect">
            <a:avLst>
              <a:gd name="adj" fmla="val 10000"/>
            </a:avLst>
          </a:prstGeom>
          <a:solidFill>
            <a:srgbClr val="FFF2E8"/>
          </a:solidFill>
          <a:ln w="21590">
            <a:solidFill>
              <a:srgbClr val="F28B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162" name="Oval 161"/>
          <p:cNvSpPr>
            <a:spLocks noGrp="1"/>
          </p:cNvSpPr>
          <p:nvPr/>
        </p:nvSpPr>
        <p:spPr>
          <a:xfrm>
            <a:off x="7726680" y="3712463"/>
            <a:ext cx="347472" cy="347472"/>
          </a:xfrm>
          <a:prstGeom prst="ellipse">
            <a:avLst/>
          </a:prstGeom>
          <a:solidFill>
            <a:srgbClr val="F28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pic>
        <p:nvPicPr>
          <p:cNvPr id="284" name="Picture 16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03123" y="3788907"/>
            <a:ext cx="194584" cy="194584"/>
          </a:xfrm>
          <a:prstGeom prst="rect">
            <a:avLst/>
          </a:prstGeom>
        </p:spPr>
      </p:pic>
      <p:sp>
        <p:nvSpPr>
          <p:cNvPr id="164" name="TextBox 163"/>
          <p:cNvSpPr>
            <a:spLocks noGrp="1"/>
          </p:cNvSpPr>
          <p:nvPr/>
        </p:nvSpPr>
        <p:spPr>
          <a:xfrm>
            <a:off x="8138160" y="3749039"/>
            <a:ext cx="2743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700" b="1">
                <a:solidFill>
                  <a:srgbClr val="9A5210"/>
                </a:solidFill>
                <a:latin typeface="Noto Sans CJK SC"/>
                <a:ea typeface="Noto Sans CJK SC"/>
                <a:cs typeface="Noto Sans CJK SC"/>
              </a:rPr>
              <a:t>03</a:t>
            </a:r>
            <a:endParaRPr sz="700" b="1">
              <a:solidFill>
                <a:srgbClr val="F28B36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65" name="TextBox 164"/>
          <p:cNvSpPr>
            <a:spLocks noGrp="1"/>
          </p:cNvSpPr>
          <p:nvPr/>
        </p:nvSpPr>
        <p:spPr>
          <a:xfrm>
            <a:off x="8412480" y="3730752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050" b="1">
                <a:solidFill>
                  <a:srgbClr val="14383E"/>
                </a:solidFill>
                <a:latin typeface="Noto Sans CJK SC"/>
                <a:ea typeface="Noto Sans CJK SC"/>
                <a:cs typeface="Noto Sans CJK SC"/>
              </a:rPr>
              <a:t>人工 · 工作台浏览器插件</a:t>
            </a:r>
            <a:endParaRPr sz="1050" b="1">
              <a:solidFill>
                <a:srgbClr val="14383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66" name="TextBox 165"/>
          <p:cNvSpPr>
            <a:spLocks noGrp="1"/>
          </p:cNvSpPr>
          <p:nvPr/>
        </p:nvSpPr>
        <p:spPr>
          <a:xfrm>
            <a:off x="7772400" y="4041648"/>
            <a:ext cx="340156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740" b="0">
                <a:solidFill>
                  <a:srgbClr val="44585C"/>
                </a:solidFill>
                <a:latin typeface="Noto Sans CJK SC"/>
                <a:ea typeface="Noto Sans CJK SC"/>
                <a:cs typeface="Noto Sans CJK SC"/>
              </a:rPr>
              <a:t>异常订单、投诉与特殊协商由人工处理；插件提供 AI 辅助。</a:t>
            </a:r>
            <a:endParaRPr sz="740" b="0">
              <a:solidFill>
                <a:srgbClr val="6B8185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67" name="TextBox 166"/>
          <p:cNvSpPr>
            <a:spLocks noGrp="1"/>
          </p:cNvSpPr>
          <p:nvPr/>
        </p:nvSpPr>
        <p:spPr>
          <a:xfrm>
            <a:off x="7772400" y="4233672"/>
            <a:ext cx="340156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740" b="1">
                <a:solidFill>
                  <a:srgbClr val="9A5210"/>
                </a:solidFill>
                <a:latin typeface="Noto Sans CJK SC"/>
                <a:ea typeface="Noto Sans CJK SC"/>
                <a:cs typeface="Noto Sans CJK SC"/>
              </a:rPr>
              <a:t>插件同样调用 AI Agent，人工处理时仍有 AI 辅助</a:t>
            </a:r>
            <a:endParaRPr sz="740" b="1">
              <a:solidFill>
                <a:srgbClr val="F28B36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68" name="Connector 167"/>
          <p:cNvSpPr>
            <a:spLocks noGrp="1"/>
          </p:cNvSpPr>
          <p:nvPr/>
        </p:nvSpPr>
        <p:spPr>
          <a:xfrm>
            <a:off x="8321040" y="4480560"/>
            <a:ext cx="0" cy="219456"/>
          </a:xfrm>
          <a:prstGeom prst="line">
            <a:avLst/>
          </a:prstGeom>
          <a:ln w="20320">
            <a:solidFill>
              <a:srgbClr val="F28B3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p/>
        </p:txBody>
      </p:sp>
      <p:sp>
        <p:nvSpPr>
          <p:cNvPr id="169" name="Connector 168"/>
          <p:cNvSpPr>
            <a:spLocks noGrp="1"/>
          </p:cNvSpPr>
          <p:nvPr/>
        </p:nvSpPr>
        <p:spPr>
          <a:xfrm flipH="1">
            <a:off x="5897880" y="4700016"/>
            <a:ext cx="2423160" cy="0"/>
          </a:xfrm>
          <a:prstGeom prst="line">
            <a:avLst/>
          </a:prstGeom>
          <a:ln w="20320">
            <a:solidFill>
              <a:srgbClr val="F28B3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p/>
        </p:txBody>
      </p:sp>
      <p:sp>
        <p:nvSpPr>
          <p:cNvPr id="170" name="Connector 169"/>
          <p:cNvSpPr>
            <a:spLocks noGrp="1"/>
          </p:cNvSpPr>
          <p:nvPr/>
        </p:nvSpPr>
        <p:spPr>
          <a:xfrm flipV="1">
            <a:off x="5897880" y="4096512"/>
            <a:ext cx="0" cy="603504"/>
          </a:xfrm>
          <a:prstGeom prst="line">
            <a:avLst/>
          </a:prstGeom>
          <a:ln w="20320">
            <a:solidFill>
              <a:srgbClr val="F28B36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p/>
        </p:txBody>
      </p:sp>
      <p:sp>
        <p:nvSpPr>
          <p:cNvPr id="171" name="TextBox 170"/>
          <p:cNvSpPr>
            <a:spLocks noGrp="1"/>
          </p:cNvSpPr>
          <p:nvPr/>
        </p:nvSpPr>
        <p:spPr>
          <a:xfrm>
            <a:off x="6035040" y="4517136"/>
            <a:ext cx="23774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660" b="1">
                <a:solidFill>
                  <a:srgbClr val="9A5210"/>
                </a:solidFill>
                <a:latin typeface="Noto Sans CJK SC"/>
                <a:ea typeface="Noto Sans CJK SC"/>
                <a:cs typeface="Noto Sans CJK SC"/>
              </a:rPr>
              <a:t>插件通过统一入口调用 AI Agent</a:t>
            </a:r>
            <a:endParaRPr sz="660" b="1">
              <a:solidFill>
                <a:srgbClr val="F28B36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72" name="Rounded Rectangle 171"/>
          <p:cNvSpPr>
            <a:spLocks noGrp="1"/>
          </p:cNvSpPr>
          <p:nvPr/>
        </p:nvSpPr>
        <p:spPr>
          <a:xfrm>
            <a:off x="731520" y="4956048"/>
            <a:ext cx="10515600" cy="731520"/>
          </a:xfrm>
          <a:prstGeom prst="roundRect">
            <a:avLst>
              <a:gd name="adj" fmla="val 6000"/>
            </a:avLst>
          </a:prstGeom>
          <a:solidFill>
            <a:srgbClr val="F7FBF9"/>
          </a:solidFill>
          <a:ln w="15240">
            <a:solidFill>
              <a:srgbClr val="C9D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173" name="TextBox 172"/>
          <p:cNvSpPr>
            <a:spLocks noGrp="1"/>
          </p:cNvSpPr>
          <p:nvPr/>
        </p:nvSpPr>
        <p:spPr>
          <a:xfrm>
            <a:off x="896112" y="5084064"/>
            <a:ext cx="9144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800" b="1" spc="100">
                <a:solidFill>
                  <a:srgbClr val="44585C"/>
                </a:solidFill>
                <a:latin typeface="Noto Sans CJK SC"/>
                <a:ea typeface="Noto Sans CJK SC"/>
                <a:cs typeface="Noto Sans CJK SC"/>
              </a:rPr>
              <a:t>共同底座</a:t>
            </a:r>
            <a:endParaRPr sz="800" b="1" spc="100">
              <a:solidFill>
                <a:srgbClr val="6B8185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74" name="TextBox 173"/>
          <p:cNvSpPr>
            <a:spLocks noGrp="1"/>
          </p:cNvSpPr>
          <p:nvPr/>
        </p:nvSpPr>
        <p:spPr>
          <a:xfrm>
            <a:off x="2011680" y="5084064"/>
            <a:ext cx="17373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800" b="1">
                <a:solidFill>
                  <a:srgbClr val="14383E"/>
                </a:solidFill>
                <a:latin typeface="Noto Sans CJK SC"/>
                <a:ea typeface="Noto Sans CJK SC"/>
                <a:cs typeface="Noto Sans CJK SC"/>
              </a:rPr>
              <a:t>统一能力出口</a:t>
            </a:r>
            <a:endParaRPr sz="800" b="1">
              <a:solidFill>
                <a:srgbClr val="14383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75" name="TextBox 174"/>
          <p:cNvSpPr>
            <a:spLocks noGrp="1"/>
          </p:cNvSpPr>
          <p:nvPr/>
        </p:nvSpPr>
        <p:spPr>
          <a:xfrm>
            <a:off x="3794760" y="5084064"/>
            <a:ext cx="17373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800" b="1">
                <a:solidFill>
                  <a:srgbClr val="14383E"/>
                </a:solidFill>
                <a:latin typeface="Noto Sans CJK SC"/>
                <a:ea typeface="Noto Sans CJK SC"/>
                <a:cs typeface="Noto Sans CJK SC"/>
              </a:rPr>
              <a:t>权限 · 工具白名单</a:t>
            </a:r>
            <a:endParaRPr sz="800" b="1">
              <a:solidFill>
                <a:srgbClr val="14383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76" name="TextBox 175"/>
          <p:cNvSpPr>
            <a:spLocks noGrp="1"/>
          </p:cNvSpPr>
          <p:nvPr/>
        </p:nvSpPr>
        <p:spPr>
          <a:xfrm>
            <a:off x="5577840" y="5084064"/>
            <a:ext cx="17373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800" b="1">
                <a:solidFill>
                  <a:srgbClr val="14383E"/>
                </a:solidFill>
                <a:latin typeface="Noto Sans CJK SC"/>
                <a:ea typeface="Noto Sans CJK SC"/>
                <a:cs typeface="Noto Sans CJK SC"/>
              </a:rPr>
              <a:t>幂等与配额（分布式状态）</a:t>
            </a:r>
            <a:endParaRPr sz="800" b="1">
              <a:solidFill>
                <a:srgbClr val="14383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77" name="TextBox 176"/>
          <p:cNvSpPr>
            <a:spLocks noGrp="1"/>
          </p:cNvSpPr>
          <p:nvPr/>
        </p:nvSpPr>
        <p:spPr>
          <a:xfrm>
            <a:off x="7360920" y="5084064"/>
            <a:ext cx="17373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800" b="1">
                <a:solidFill>
                  <a:srgbClr val="14383E"/>
                </a:solidFill>
                <a:latin typeface="Noto Sans CJK SC"/>
                <a:ea typeface="Noto Sans CJK SC"/>
                <a:cs typeface="Noto Sans CJK SC"/>
              </a:rPr>
              <a:t>审计 · 业务审计记录（动作逐条落库）</a:t>
            </a:r>
            <a:endParaRPr sz="800" b="1">
              <a:solidFill>
                <a:srgbClr val="14383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78" name="TextBox 177"/>
          <p:cNvSpPr>
            <a:spLocks noGrp="1"/>
          </p:cNvSpPr>
          <p:nvPr/>
        </p:nvSpPr>
        <p:spPr>
          <a:xfrm>
            <a:off x="9144000" y="5084064"/>
            <a:ext cx="17373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800" b="1">
                <a:solidFill>
                  <a:srgbClr val="14383E"/>
                </a:solidFill>
                <a:latin typeface="Noto Sans CJK SC"/>
                <a:ea typeface="Noto Sans CJK SC"/>
                <a:cs typeface="Noto Sans CJK SC"/>
              </a:rPr>
              <a:t>统一运营与评测</a:t>
            </a:r>
            <a:endParaRPr sz="800" b="1">
              <a:solidFill>
                <a:srgbClr val="14383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79" name="TextBox 178"/>
          <p:cNvSpPr>
            <a:spLocks noGrp="1"/>
          </p:cNvSpPr>
          <p:nvPr/>
        </p:nvSpPr>
        <p:spPr>
          <a:xfrm>
            <a:off x="896112" y="5358384"/>
            <a:ext cx="1018641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750" b="0">
                <a:solidFill>
                  <a:srgbClr val="44585C"/>
                </a:solidFill>
                <a:latin typeface="Noto Sans CJK SC"/>
                <a:ea typeface="Noto Sans CJK SC"/>
                <a:cs typeface="Noto Sans CJK SC"/>
              </a:rPr>
              <a:t>三种承接共用同一套业务能力与控制策略；Workflow 与插件都依赖 AI Agent 的输出（打标触发 / 插件调用）。</a:t>
            </a:r>
            <a:endParaRPr sz="750" b="0">
              <a:solidFill>
                <a:srgbClr val="6B8185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80" name="TextBox 179"/>
          <p:cNvSpPr>
            <a:spLocks noGrp="1"/>
          </p:cNvSpPr>
          <p:nvPr/>
        </p:nvSpPr>
        <p:spPr>
          <a:xfrm>
            <a:off x="731520" y="5852160"/>
            <a:ext cx="10515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720" b="0">
                <a:solidFill>
                  <a:srgbClr val="44585C"/>
                </a:solidFill>
                <a:latin typeface="Noto Sans CJK SC"/>
                <a:ea typeface="Noto Sans CJK SC"/>
                <a:cs typeface="Noto Sans CJK SC"/>
              </a:rPr>
              <a:t>渠道量级：chat 会话每周 1 万+ · email 工单每周 6 千+ · voice 已上线（语音平台 Cartesia）；三者单位不同不可相加。旺季黑五 / 春节峰值集中。</a:t>
            </a:r>
            <a:endParaRPr sz="720" b="0">
              <a:solidFill>
                <a:srgbClr val="6B8185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89" name="圆角矩形 188"/>
          <p:cNvSpPr>
            <a:spLocks noGrp="1"/>
          </p:cNvSpPr>
          <p:nvPr/>
        </p:nvSpPr>
        <p:spPr>
          <a:xfrm>
            <a:off x="6565583" y="127635"/>
            <a:ext cx="4937760" cy="365760"/>
          </a:xfrm>
          <a:prstGeom prst="roundRect">
            <a:avLst>
              <a:gd name="adj" fmla="val 20833"/>
            </a:avLst>
          </a:prstGeom>
          <a:solidFill>
            <a:srgbClr val="F7FBF9"/>
          </a:solidFill>
          <a:ln w="12668">
            <a:solidFill>
              <a:srgbClr val="F7FBF9"/>
            </a:solidFill>
            <a:prstDash val="solid"/>
          </a:ln>
        </p:spPr>
        <p:txBody>
          <a:bodyPr/>
          <a:p/>
        </p:txBody>
      </p:sp>
      <p:sp>
        <p:nvSpPr>
          <p:cNvPr id="190" name="圆角矩形 189"/>
          <p:cNvSpPr>
            <a:spLocks noGrp="1"/>
          </p:cNvSpPr>
          <p:nvPr/>
        </p:nvSpPr>
        <p:spPr>
          <a:xfrm>
            <a:off x="6657023" y="164783"/>
            <a:ext cx="1154430" cy="264795"/>
          </a:xfrm>
          <a:prstGeom prst="roundRect">
            <a:avLst>
              <a:gd name="adj" fmla="val 28777"/>
            </a:avLst>
          </a:prstGeom>
          <a:solidFill>
            <a:srgbClr val="007574"/>
          </a:solidFill>
          <a:ln w="12668">
            <a:solidFill>
              <a:srgbClr val="007574"/>
            </a:solidFill>
            <a:prstDash val="solid"/>
          </a:ln>
        </p:spPr>
        <p:txBody>
          <a:bodyPr/>
          <a:p/>
        </p:txBody>
      </p:sp>
      <p:sp>
        <p:nvSpPr>
          <p:cNvPr id="191" name="矩形 190"/>
          <p:cNvSpPr>
            <a:spLocks noGrp="1"/>
          </p:cNvSpPr>
          <p:nvPr/>
        </p:nvSpPr>
        <p:spPr>
          <a:xfrm>
            <a:off x="6657023" y="187643"/>
            <a:ext cx="1154430" cy="182880"/>
          </a:xfrm>
          <a:prstGeom prst="rect">
            <a:avLst/>
          </a:prstGeom>
        </p:spPr>
        <p:txBody>
          <a:bodyPr anchor="ctr"/>
          <a:lstStyle/>
          <a:p>
            <a:pPr algn="ctr">
              <a:defRPr sz="660" b="1">
                <a:solidFill>
                  <a:srgbClr val="FFFFFF"/>
                </a:solidFill>
              </a:defRPr>
            </a:pPr>
            <a:r>
              <a:t>理解</a:t>
            </a:r>
          </a:p>
        </p:txBody>
      </p:sp>
      <p:sp>
        <p:nvSpPr>
          <p:cNvPr id="192" name="圆角矩形 191"/>
          <p:cNvSpPr>
            <a:spLocks noGrp="1"/>
          </p:cNvSpPr>
          <p:nvPr/>
        </p:nvSpPr>
        <p:spPr>
          <a:xfrm>
            <a:off x="7857173" y="164783"/>
            <a:ext cx="1154430" cy="264795"/>
          </a:xfrm>
          <a:prstGeom prst="roundRect">
            <a:avLst>
              <a:gd name="adj" fmla="val 28777"/>
            </a:avLst>
          </a:prstGeom>
          <a:solidFill>
            <a:srgbClr val="007574"/>
          </a:solidFill>
          <a:ln w="12668">
            <a:solidFill>
              <a:srgbClr val="007574"/>
            </a:solidFill>
            <a:prstDash val="solid"/>
          </a:ln>
        </p:spPr>
        <p:txBody>
          <a:bodyPr/>
          <a:p/>
        </p:txBody>
      </p:sp>
      <p:sp>
        <p:nvSpPr>
          <p:cNvPr id="193" name="矩形 192"/>
          <p:cNvSpPr>
            <a:spLocks noGrp="1"/>
          </p:cNvSpPr>
          <p:nvPr/>
        </p:nvSpPr>
        <p:spPr>
          <a:xfrm>
            <a:off x="7857173" y="187643"/>
            <a:ext cx="1154430" cy="182880"/>
          </a:xfrm>
          <a:prstGeom prst="rect">
            <a:avLst/>
          </a:prstGeom>
        </p:spPr>
        <p:txBody>
          <a:bodyPr anchor="ctr"/>
          <a:lstStyle/>
          <a:p>
            <a:pPr algn="ctr">
              <a:defRPr sz="660" b="1">
                <a:solidFill>
                  <a:srgbClr val="FFFFFF"/>
                </a:solidFill>
              </a:defRPr>
            </a:pPr>
            <a:r>
              <a:t>查询</a:t>
            </a:r>
          </a:p>
        </p:txBody>
      </p:sp>
      <p:sp>
        <p:nvSpPr>
          <p:cNvPr id="194" name="圆角矩形 193"/>
          <p:cNvSpPr>
            <a:spLocks noGrp="1"/>
          </p:cNvSpPr>
          <p:nvPr/>
        </p:nvSpPr>
        <p:spPr>
          <a:xfrm>
            <a:off x="9057323" y="164783"/>
            <a:ext cx="1154430" cy="264795"/>
          </a:xfrm>
          <a:prstGeom prst="roundRect">
            <a:avLst>
              <a:gd name="adj" fmla="val 28777"/>
            </a:avLst>
          </a:prstGeom>
          <a:solidFill>
            <a:srgbClr val="007574"/>
          </a:solidFill>
          <a:ln w="12668">
            <a:solidFill>
              <a:srgbClr val="007574"/>
            </a:solidFill>
            <a:prstDash val="solid"/>
          </a:ln>
        </p:spPr>
        <p:txBody>
          <a:bodyPr/>
          <a:p/>
        </p:txBody>
      </p:sp>
      <p:sp>
        <p:nvSpPr>
          <p:cNvPr id="195" name="矩形 194"/>
          <p:cNvSpPr>
            <a:spLocks noGrp="1"/>
          </p:cNvSpPr>
          <p:nvPr/>
        </p:nvSpPr>
        <p:spPr>
          <a:xfrm>
            <a:off x="9057323" y="187643"/>
            <a:ext cx="1154430" cy="182880"/>
          </a:xfrm>
          <a:prstGeom prst="rect">
            <a:avLst/>
          </a:prstGeom>
        </p:spPr>
        <p:txBody>
          <a:bodyPr anchor="ctr"/>
          <a:lstStyle/>
          <a:p>
            <a:pPr algn="ctr">
              <a:defRPr sz="660" b="1">
                <a:solidFill>
                  <a:srgbClr val="FFFFFF"/>
                </a:solidFill>
              </a:defRPr>
            </a:pPr>
            <a:r>
              <a:t>决策</a:t>
            </a:r>
          </a:p>
        </p:txBody>
      </p:sp>
      <p:sp>
        <p:nvSpPr>
          <p:cNvPr id="196" name="圆角矩形 195"/>
          <p:cNvSpPr>
            <a:spLocks noGrp="1"/>
          </p:cNvSpPr>
          <p:nvPr/>
        </p:nvSpPr>
        <p:spPr>
          <a:xfrm>
            <a:off x="10257473" y="164783"/>
            <a:ext cx="1154430" cy="264795"/>
          </a:xfrm>
          <a:prstGeom prst="roundRect">
            <a:avLst>
              <a:gd name="adj" fmla="val 28777"/>
            </a:avLst>
          </a:prstGeom>
          <a:solidFill>
            <a:srgbClr val="007574"/>
          </a:solidFill>
          <a:ln w="12668">
            <a:solidFill>
              <a:srgbClr val="007574"/>
            </a:solidFill>
            <a:prstDash val="solid"/>
          </a:ln>
        </p:spPr>
        <p:txBody>
          <a:bodyPr/>
          <a:p/>
        </p:txBody>
      </p:sp>
      <p:sp>
        <p:nvSpPr>
          <p:cNvPr id="197" name="矩形 196"/>
          <p:cNvSpPr>
            <a:spLocks noGrp="1"/>
          </p:cNvSpPr>
          <p:nvPr/>
        </p:nvSpPr>
        <p:spPr>
          <a:xfrm>
            <a:off x="10257473" y="187643"/>
            <a:ext cx="1154430" cy="182880"/>
          </a:xfrm>
          <a:prstGeom prst="rect">
            <a:avLst/>
          </a:prstGeom>
        </p:spPr>
        <p:txBody>
          <a:bodyPr anchor="ctr"/>
          <a:lstStyle/>
          <a:p>
            <a:pPr algn="ctr">
              <a:defRPr sz="660" b="1">
                <a:solidFill>
                  <a:srgbClr val="FFFFFF"/>
                </a:solidFill>
              </a:defRPr>
            </a:pPr>
            <a:r>
              <a:t>执行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>
            <a:spLocks noGrp="1"/>
          </p:cNvSpPr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" name="Rectangle 2"/>
          <p:cNvSpPr>
            <a:spLocks noGrp="1"/>
          </p:cNvSpPr>
          <p:nvPr/>
        </p:nvSpPr>
        <p:spPr>
          <a:xfrm>
            <a:off x="0" y="0"/>
            <a:ext cx="41148" cy="6858000"/>
          </a:xfrm>
          <a:prstGeom prst="rect">
            <a:avLst/>
          </a:prstGeom>
          <a:solidFill>
            <a:srgbClr val="0A8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4" name="Oval 3"/>
          <p:cNvSpPr>
            <a:spLocks noGrp="1"/>
          </p:cNvSpPr>
          <p:nvPr/>
        </p:nvSpPr>
        <p:spPr>
          <a:xfrm>
            <a:off x="658368" y="384048"/>
            <a:ext cx="73152" cy="73152"/>
          </a:xfrm>
          <a:prstGeom prst="ellipse">
            <a:avLst/>
          </a:prstGeom>
          <a:solidFill>
            <a:srgbClr val="0A8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5" name="Rectangle 4"/>
          <p:cNvSpPr>
            <a:spLocks noGrp="1"/>
          </p:cNvSpPr>
          <p:nvPr/>
        </p:nvSpPr>
        <p:spPr>
          <a:xfrm>
            <a:off x="768096" y="420624"/>
            <a:ext cx="411480" cy="16459"/>
          </a:xfrm>
          <a:prstGeom prst="rect">
            <a:avLst/>
          </a:prstGeom>
          <a:solidFill>
            <a:srgbClr val="0A8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6" name="TextBox 5"/>
          <p:cNvSpPr>
            <a:spLocks noGrp="1"/>
          </p:cNvSpPr>
          <p:nvPr/>
        </p:nvSpPr>
        <p:spPr>
          <a:xfrm>
            <a:off x="1225296" y="256032"/>
            <a:ext cx="41148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050" b="1">
                <a:solidFill>
                  <a:srgbClr val="076B50"/>
                </a:solidFill>
                <a:latin typeface="Noto Sans CJK SC"/>
                <a:ea typeface="Noto Sans CJK SC"/>
                <a:cs typeface="Noto Sans CJK SC"/>
              </a:rPr>
              <a:t>CHAPTER 3 · 系统蓝图</a:t>
            </a:r>
            <a:endParaRPr sz="1050" b="1">
              <a:solidFill>
                <a:srgbClr val="2F80ED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" name="TextBox 6"/>
          <p:cNvSpPr>
            <a:spLocks noGrp="1"/>
          </p:cNvSpPr>
          <p:nvPr/>
        </p:nvSpPr>
        <p:spPr>
          <a:xfrm>
            <a:off x="658368" y="694944"/>
            <a:ext cx="10652760" cy="47548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</a:pPr>
            <a:r>
              <a:rPr sz="2720" b="1" i="0">
                <a:solidFill>
                  <a:srgbClr val="14383E"/>
                </a:solidFill>
                <a:latin typeface="Noto Sans CJK SC"/>
                <a:ea typeface="Noto Sans CJK SC"/>
                <a:cs typeface="Noto Sans CJK SC"/>
              </a:rPr>
              <a:t>统一能力出口</a:t>
            </a:r>
            <a:endParaRPr sz="2720" b="1" i="0">
              <a:solidFill>
                <a:srgbClr val="14383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8" name="TextBox 7"/>
          <p:cNvSpPr>
            <a:spLocks noGrp="1"/>
          </p:cNvSpPr>
          <p:nvPr/>
        </p:nvSpPr>
        <p:spPr>
          <a:xfrm>
            <a:off x="658368" y="1170432"/>
            <a:ext cx="10561320" cy="31089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</a:pPr>
            <a:r>
              <a:rPr sz="1170" b="0" i="0">
                <a:solidFill>
                  <a:srgbClr val="44585C"/>
                </a:solidFill>
                <a:latin typeface="Noto Sans CJK SC"/>
                <a:ea typeface="Noto Sans CJK SC"/>
                <a:cs typeface="Noto Sans CJK SC"/>
              </a:rPr>
              <a:t>Workflow 和人工插件都调用同一套能力接口，权限、幂等和审计不用各建一套。</a:t>
            </a:r>
            <a:endParaRPr sz="1170" b="0" i="0">
              <a:solidFill>
                <a:srgbClr val="6B8185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9" name="Rectangle 8"/>
          <p:cNvSpPr>
            <a:spLocks noGrp="1"/>
          </p:cNvSpPr>
          <p:nvPr/>
        </p:nvSpPr>
        <p:spPr>
          <a:xfrm>
            <a:off x="658368" y="6501384"/>
            <a:ext cx="10835640" cy="10972"/>
          </a:xfrm>
          <a:prstGeom prst="rect">
            <a:avLst/>
          </a:prstGeom>
          <a:solidFill>
            <a:srgbClr val="C9DC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0" name="TextBox 9"/>
          <p:cNvSpPr>
            <a:spLocks noGrp="1"/>
          </p:cNvSpPr>
          <p:nvPr/>
        </p:nvSpPr>
        <p:spPr>
          <a:xfrm>
            <a:off x="658368" y="6547104"/>
            <a:ext cx="237744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780" b="1" i="0">
                <a:solidFill>
                  <a:srgbClr val="5C7276"/>
                </a:solidFill>
                <a:latin typeface="Noto Sans CJK SC"/>
                <a:ea typeface="Noto Sans CJK SC"/>
                <a:cs typeface="Noto Sans CJK SC"/>
              </a:rPr>
              <a:t>CUSTOMER SERVICE AI AGENT</a:t>
            </a:r>
            <a:endParaRPr sz="780" b="1" i="0">
              <a:solidFill>
                <a:srgbClr val="98ACA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1" name="TextBox 10"/>
          <p:cNvSpPr>
            <a:spLocks noGrp="1"/>
          </p:cNvSpPr>
          <p:nvPr/>
        </p:nvSpPr>
        <p:spPr>
          <a:xfrm>
            <a:off x="10680192" y="6519672"/>
            <a:ext cx="82296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buNone/>
            </a:pPr>
            <a:r>
              <a:rPr sz="880" b="1">
                <a:solidFill>
                  <a:srgbClr val="076B50"/>
                </a:solidFill>
                <a:latin typeface="Noto Sans CJK SC"/>
                <a:ea typeface="Noto Sans CJK SC"/>
                <a:cs typeface="Noto Sans CJK SC"/>
              </a:rPr>
              <a:t>20</a:t>
            </a:r>
            <a:endParaRPr sz="880" b="1">
              <a:solidFill>
                <a:srgbClr val="2F80ED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83" name="Rectangle 82"/>
          <p:cNvSpPr>
            <a:spLocks noGrp="1"/>
          </p:cNvSpPr>
          <p:nvPr/>
        </p:nvSpPr>
        <p:spPr>
          <a:xfrm>
            <a:off x="0" y="0"/>
            <a:ext cx="41148" cy="6858000"/>
          </a:xfrm>
          <a:prstGeom prst="rect">
            <a:avLst/>
          </a:prstGeom>
          <a:solidFill>
            <a:srgbClr val="0A8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95" name="Rounded Rectangle 94"/>
          <p:cNvSpPr>
            <a:spLocks noGrp="1"/>
          </p:cNvSpPr>
          <p:nvPr/>
        </p:nvSpPr>
        <p:spPr>
          <a:xfrm>
            <a:off x="4617720" y="1664208"/>
            <a:ext cx="2926080" cy="841248"/>
          </a:xfrm>
          <a:prstGeom prst="roundRect">
            <a:avLst>
              <a:gd name="adj" fmla="val 9000"/>
            </a:avLst>
          </a:prstGeom>
          <a:solidFill>
            <a:srgbClr val="153D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96" name="Oval 95"/>
          <p:cNvSpPr>
            <a:spLocks noGrp="1"/>
          </p:cNvSpPr>
          <p:nvPr/>
        </p:nvSpPr>
        <p:spPr>
          <a:xfrm>
            <a:off x="4809744" y="1892808"/>
            <a:ext cx="384048" cy="384048"/>
          </a:xfrm>
          <a:prstGeom prst="ellipse">
            <a:avLst/>
          </a:prstGeom>
          <a:solidFill>
            <a:srgbClr val="0D5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pic>
        <p:nvPicPr>
          <p:cNvPr id="176" name="Picture 9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86553" y="1969617"/>
            <a:ext cx="230428" cy="230428"/>
          </a:xfrm>
          <a:prstGeom prst="rect">
            <a:avLst/>
          </a:prstGeom>
        </p:spPr>
      </p:pic>
      <p:sp>
        <p:nvSpPr>
          <p:cNvPr id="98" name="TextBox 97"/>
          <p:cNvSpPr>
            <a:spLocks noGrp="1"/>
          </p:cNvSpPr>
          <p:nvPr/>
        </p:nvSpPr>
        <p:spPr>
          <a:xfrm>
            <a:off x="5276088" y="1828800"/>
            <a:ext cx="21031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3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AI Agent · 处理中枢</a:t>
            </a:r>
            <a:endParaRPr sz="130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99" name="TextBox 98"/>
          <p:cNvSpPr>
            <a:spLocks noGrp="1"/>
          </p:cNvSpPr>
          <p:nvPr/>
        </p:nvSpPr>
        <p:spPr>
          <a:xfrm>
            <a:off x="5276088" y="2121408"/>
            <a:ext cx="21031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800" b="0">
                <a:solidFill>
                  <a:srgbClr val="B8DED6"/>
                </a:solidFill>
                <a:latin typeface="Noto Sans CJK SC"/>
                <a:ea typeface="Noto Sans CJK SC"/>
                <a:cs typeface="Noto Sans CJK SC"/>
              </a:rPr>
              <a:t>把业务意图翻译成能力调用</a:t>
            </a:r>
            <a:endParaRPr sz="800" b="0">
              <a:solidFill>
                <a:srgbClr val="9FCFC4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00" name="Rounded Rectangle 99"/>
          <p:cNvSpPr>
            <a:spLocks noGrp="1"/>
          </p:cNvSpPr>
          <p:nvPr/>
        </p:nvSpPr>
        <p:spPr>
          <a:xfrm>
            <a:off x="1188720" y="1773936"/>
            <a:ext cx="2377440" cy="621792"/>
          </a:xfrm>
          <a:prstGeom prst="roundRect">
            <a:avLst>
              <a:gd name="adj" fmla="val 12000"/>
            </a:avLst>
          </a:prstGeom>
          <a:solidFill>
            <a:srgbClr val="EEF0FF"/>
          </a:solidFill>
          <a:ln w="21590">
            <a:solidFill>
              <a:srgbClr val="6B6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101" name="Oval 100"/>
          <p:cNvSpPr>
            <a:spLocks noGrp="1"/>
          </p:cNvSpPr>
          <p:nvPr/>
        </p:nvSpPr>
        <p:spPr>
          <a:xfrm>
            <a:off x="1316736" y="1920239"/>
            <a:ext cx="329184" cy="329184"/>
          </a:xfrm>
          <a:prstGeom prst="ellipse">
            <a:avLst/>
          </a:prstGeom>
          <a:solidFill>
            <a:srgbClr val="6B6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pic>
        <p:nvPicPr>
          <p:cNvPr id="181" name="Picture 10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9156" y="1992660"/>
            <a:ext cx="184343" cy="184343"/>
          </a:xfrm>
          <a:prstGeom prst="rect">
            <a:avLst/>
          </a:prstGeom>
        </p:spPr>
      </p:pic>
      <p:sp>
        <p:nvSpPr>
          <p:cNvPr id="103" name="TextBox 102"/>
          <p:cNvSpPr>
            <a:spLocks noGrp="1"/>
          </p:cNvSpPr>
          <p:nvPr/>
        </p:nvSpPr>
        <p:spPr>
          <a:xfrm>
            <a:off x="1755648" y="1883664"/>
            <a:ext cx="17373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960" b="1">
                <a:solidFill>
                  <a:srgbClr val="14383E"/>
                </a:solidFill>
                <a:latin typeface="Noto Sans CJK SC"/>
                <a:ea typeface="Noto Sans CJK SC"/>
                <a:cs typeface="Noto Sans CJK SC"/>
              </a:rPr>
              <a:t>Workflow 自动化流程</a:t>
            </a:r>
            <a:endParaRPr sz="960" b="1">
              <a:solidFill>
                <a:srgbClr val="14383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04" name="TextBox 103"/>
          <p:cNvSpPr>
            <a:spLocks noGrp="1"/>
          </p:cNvSpPr>
          <p:nvPr/>
        </p:nvSpPr>
        <p:spPr>
          <a:xfrm>
            <a:off x="1755648" y="2103120"/>
            <a:ext cx="17373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740" b="1">
                <a:solidFill>
                  <a:srgbClr val="4A4EB0"/>
                </a:solidFill>
                <a:latin typeface="Noto Sans CJK SC"/>
                <a:ea typeface="Noto Sans CJK SC"/>
                <a:cs typeface="Noto Sans CJK SC"/>
              </a:rPr>
              <a:t>AI 打标触发 · 定时执行</a:t>
            </a:r>
            <a:endParaRPr sz="740" b="1">
              <a:solidFill>
                <a:srgbClr val="6B6FD8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05" name="Rounded Rectangle 104"/>
          <p:cNvSpPr>
            <a:spLocks noGrp="1"/>
          </p:cNvSpPr>
          <p:nvPr/>
        </p:nvSpPr>
        <p:spPr>
          <a:xfrm>
            <a:off x="8595360" y="1773936"/>
            <a:ext cx="2377440" cy="621792"/>
          </a:xfrm>
          <a:prstGeom prst="roundRect">
            <a:avLst>
              <a:gd name="adj" fmla="val 12000"/>
            </a:avLst>
          </a:prstGeom>
          <a:solidFill>
            <a:srgbClr val="FFF2E8"/>
          </a:solidFill>
          <a:ln w="21590">
            <a:solidFill>
              <a:srgbClr val="F28B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106" name="Oval 105"/>
          <p:cNvSpPr>
            <a:spLocks noGrp="1"/>
          </p:cNvSpPr>
          <p:nvPr/>
        </p:nvSpPr>
        <p:spPr>
          <a:xfrm>
            <a:off x="8723376" y="1920239"/>
            <a:ext cx="329184" cy="329184"/>
          </a:xfrm>
          <a:prstGeom prst="ellipse">
            <a:avLst/>
          </a:prstGeom>
          <a:solidFill>
            <a:srgbClr val="F28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pic>
        <p:nvPicPr>
          <p:cNvPr id="186" name="Picture 10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95796" y="1992660"/>
            <a:ext cx="184343" cy="184343"/>
          </a:xfrm>
          <a:prstGeom prst="rect">
            <a:avLst/>
          </a:prstGeom>
        </p:spPr>
      </p:pic>
      <p:sp>
        <p:nvSpPr>
          <p:cNvPr id="108" name="TextBox 107"/>
          <p:cNvSpPr>
            <a:spLocks noGrp="1"/>
          </p:cNvSpPr>
          <p:nvPr/>
        </p:nvSpPr>
        <p:spPr>
          <a:xfrm>
            <a:off x="9162288" y="1883664"/>
            <a:ext cx="17373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960" b="1">
                <a:solidFill>
                  <a:srgbClr val="14383E"/>
                </a:solidFill>
                <a:latin typeface="Noto Sans CJK SC"/>
                <a:ea typeface="Noto Sans CJK SC"/>
                <a:cs typeface="Noto Sans CJK SC"/>
              </a:rPr>
              <a:t>人工 · 工作台插件</a:t>
            </a:r>
            <a:endParaRPr sz="960" b="1">
              <a:solidFill>
                <a:srgbClr val="14383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09" name="TextBox 108"/>
          <p:cNvSpPr>
            <a:spLocks noGrp="1"/>
          </p:cNvSpPr>
          <p:nvPr/>
        </p:nvSpPr>
        <p:spPr>
          <a:xfrm>
            <a:off x="9162288" y="2103120"/>
            <a:ext cx="17373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740" b="1">
                <a:solidFill>
                  <a:srgbClr val="9A5210"/>
                </a:solidFill>
                <a:latin typeface="Noto Sans CJK SC"/>
                <a:ea typeface="Noto Sans CJK SC"/>
                <a:cs typeface="Noto Sans CJK SC"/>
              </a:rPr>
              <a:t>人工处理 · 调用 AI Agent</a:t>
            </a:r>
            <a:endParaRPr sz="740" b="1">
              <a:solidFill>
                <a:srgbClr val="F28B36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10" name="Connector 109"/>
          <p:cNvSpPr>
            <a:spLocks noGrp="1"/>
          </p:cNvSpPr>
          <p:nvPr/>
        </p:nvSpPr>
        <p:spPr>
          <a:xfrm>
            <a:off x="3566160" y="2084831"/>
            <a:ext cx="1051560" cy="0"/>
          </a:xfrm>
          <a:prstGeom prst="line">
            <a:avLst/>
          </a:prstGeom>
          <a:ln w="33020" cap="flat" cmpd="sng">
            <a:solidFill>
              <a:schemeClr val="accent1"/>
            </a:solidFill>
            <a:prstDash val="solid"/>
            <a:headEnd type="triangle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p/>
        </p:txBody>
      </p:sp>
      <p:sp>
        <p:nvSpPr>
          <p:cNvPr id="111" name="TextBox 110"/>
          <p:cNvSpPr>
            <a:spLocks noGrp="1"/>
          </p:cNvSpPr>
          <p:nvPr/>
        </p:nvSpPr>
        <p:spPr>
          <a:xfrm>
            <a:off x="3639312" y="1883664"/>
            <a:ext cx="9144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680" b="1">
                <a:solidFill>
                  <a:srgbClr val="4A4EB0"/>
                </a:solidFill>
                <a:latin typeface="Noto Sans CJK SC"/>
                <a:ea typeface="Noto Sans CJK SC"/>
                <a:cs typeface="Noto Sans CJK SC"/>
              </a:rPr>
              <a:t>打标交给它</a:t>
            </a:r>
            <a:endParaRPr sz="680" b="1">
              <a:solidFill>
                <a:srgbClr val="6B6FD8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12" name="Connector 111"/>
          <p:cNvSpPr>
            <a:spLocks noGrp="1"/>
          </p:cNvSpPr>
          <p:nvPr/>
        </p:nvSpPr>
        <p:spPr>
          <a:xfrm flipH="1">
            <a:off x="7543800" y="2084831"/>
            <a:ext cx="1051560" cy="0"/>
          </a:xfrm>
          <a:prstGeom prst="line">
            <a:avLst/>
          </a:prstGeom>
          <a:ln w="33020">
            <a:solidFill>
              <a:srgbClr val="F28B3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p/>
        </p:txBody>
      </p:sp>
      <p:sp>
        <p:nvSpPr>
          <p:cNvPr id="113" name="TextBox 112"/>
          <p:cNvSpPr>
            <a:spLocks noGrp="1"/>
          </p:cNvSpPr>
          <p:nvPr/>
        </p:nvSpPr>
        <p:spPr>
          <a:xfrm>
            <a:off x="7607808" y="1883664"/>
            <a:ext cx="9144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680" b="1">
                <a:solidFill>
                  <a:srgbClr val="9A5210"/>
                </a:solidFill>
                <a:latin typeface="Noto Sans CJK SC"/>
                <a:ea typeface="Noto Sans CJK SC"/>
                <a:cs typeface="Noto Sans CJK SC"/>
              </a:rPr>
              <a:t>插件调用它</a:t>
            </a:r>
            <a:endParaRPr sz="680" b="1">
              <a:solidFill>
                <a:srgbClr val="F28B36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14" name="Connector 113"/>
          <p:cNvSpPr>
            <a:spLocks noGrp="1"/>
          </p:cNvSpPr>
          <p:nvPr/>
        </p:nvSpPr>
        <p:spPr>
          <a:xfrm>
            <a:off x="2377440" y="2395728"/>
            <a:ext cx="0" cy="384048"/>
          </a:xfrm>
          <a:prstGeom prst="line">
            <a:avLst/>
          </a:prstGeom>
          <a:ln w="20320">
            <a:solidFill>
              <a:srgbClr val="6B6F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p/>
        </p:txBody>
      </p:sp>
      <p:sp>
        <p:nvSpPr>
          <p:cNvPr id="115" name="Connector 114"/>
          <p:cNvSpPr>
            <a:spLocks noGrp="1"/>
          </p:cNvSpPr>
          <p:nvPr/>
        </p:nvSpPr>
        <p:spPr>
          <a:xfrm>
            <a:off x="2377440" y="2779776"/>
            <a:ext cx="0" cy="237744"/>
          </a:xfrm>
          <a:prstGeom prst="line">
            <a:avLst/>
          </a:prstGeom>
          <a:ln w="20320">
            <a:solidFill>
              <a:srgbClr val="6B6FD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p/>
        </p:txBody>
      </p:sp>
      <p:sp>
        <p:nvSpPr>
          <p:cNvPr id="116" name="Connector 115"/>
          <p:cNvSpPr>
            <a:spLocks noGrp="1"/>
          </p:cNvSpPr>
          <p:nvPr/>
        </p:nvSpPr>
        <p:spPr>
          <a:xfrm>
            <a:off x="6080760" y="2505456"/>
            <a:ext cx="0" cy="274320"/>
          </a:xfrm>
          <a:prstGeom prst="line">
            <a:avLst/>
          </a:prstGeom>
          <a:ln w="20320">
            <a:solidFill>
              <a:srgbClr val="2F80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p/>
        </p:txBody>
      </p:sp>
      <p:sp>
        <p:nvSpPr>
          <p:cNvPr id="117" name="Connector 116"/>
          <p:cNvSpPr>
            <a:spLocks noGrp="1"/>
          </p:cNvSpPr>
          <p:nvPr/>
        </p:nvSpPr>
        <p:spPr>
          <a:xfrm>
            <a:off x="6080760" y="2779776"/>
            <a:ext cx="0" cy="237744"/>
          </a:xfrm>
          <a:prstGeom prst="line">
            <a:avLst/>
          </a:prstGeom>
          <a:ln w="20320">
            <a:solidFill>
              <a:srgbClr val="2F80E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p/>
        </p:txBody>
      </p:sp>
      <p:sp>
        <p:nvSpPr>
          <p:cNvPr id="118" name="Connector 117"/>
          <p:cNvSpPr>
            <a:spLocks noGrp="1"/>
          </p:cNvSpPr>
          <p:nvPr/>
        </p:nvSpPr>
        <p:spPr>
          <a:xfrm>
            <a:off x="9784080" y="2395728"/>
            <a:ext cx="0" cy="384048"/>
          </a:xfrm>
          <a:prstGeom prst="line">
            <a:avLst/>
          </a:prstGeom>
          <a:ln w="20320">
            <a:solidFill>
              <a:srgbClr val="F28B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p/>
        </p:txBody>
      </p:sp>
      <p:sp>
        <p:nvSpPr>
          <p:cNvPr id="119" name="Connector 118"/>
          <p:cNvSpPr>
            <a:spLocks noGrp="1"/>
          </p:cNvSpPr>
          <p:nvPr/>
        </p:nvSpPr>
        <p:spPr>
          <a:xfrm>
            <a:off x="9784080" y="2779776"/>
            <a:ext cx="0" cy="237744"/>
          </a:xfrm>
          <a:prstGeom prst="line">
            <a:avLst/>
          </a:prstGeom>
          <a:ln w="20320">
            <a:solidFill>
              <a:srgbClr val="F28B3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p/>
        </p:txBody>
      </p:sp>
      <p:sp>
        <p:nvSpPr>
          <p:cNvPr id="120" name="TextBox 119"/>
          <p:cNvSpPr>
            <a:spLocks noGrp="1"/>
          </p:cNvSpPr>
          <p:nvPr/>
        </p:nvSpPr>
        <p:spPr>
          <a:xfrm>
            <a:off x="4480560" y="2798064"/>
            <a:ext cx="32004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680" b="1">
                <a:solidFill>
                  <a:srgbClr val="44585C"/>
                </a:solidFill>
                <a:latin typeface="Noto Sans CJK SC"/>
                <a:ea typeface="Noto Sans CJK SC"/>
                <a:cs typeface="Noto Sans CJK SC"/>
              </a:rPr>
              <a:t>业务动作统一以“能力”表达</a:t>
            </a:r>
            <a:endParaRPr sz="680" b="1">
              <a:solidFill>
                <a:srgbClr val="6B8185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21" name="Rounded Rectangle 120"/>
          <p:cNvSpPr>
            <a:spLocks noGrp="1"/>
          </p:cNvSpPr>
          <p:nvPr/>
        </p:nvSpPr>
        <p:spPr>
          <a:xfrm>
            <a:off x="1188720" y="3017520"/>
            <a:ext cx="9784080" cy="162763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122" name="TextBox 121"/>
          <p:cNvSpPr>
            <a:spLocks noGrp="1"/>
          </p:cNvSpPr>
          <p:nvPr/>
        </p:nvSpPr>
        <p:spPr>
          <a:xfrm>
            <a:off x="1389888" y="3145536"/>
            <a:ext cx="29260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100" b="1">
                <a:solidFill>
                  <a:srgbClr val="14383E"/>
                </a:solidFill>
                <a:latin typeface="Noto Sans CJK SC"/>
                <a:ea typeface="Noto Sans CJK SC"/>
                <a:cs typeface="Noto Sans CJK SC"/>
              </a:rPr>
              <a:t>统一能力出口（逻辑层）</a:t>
            </a:r>
            <a:endParaRPr sz="1100" b="1">
              <a:solidFill>
                <a:srgbClr val="14383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23" name="TextBox 122"/>
          <p:cNvSpPr>
            <a:spLocks noGrp="1"/>
          </p:cNvSpPr>
          <p:nvPr/>
        </p:nvSpPr>
        <p:spPr>
          <a:xfrm>
            <a:off x="4480560" y="3172968"/>
            <a:ext cx="63093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750" b="0">
                <a:solidFill>
                  <a:srgbClr val="44585C"/>
                </a:solidFill>
                <a:latin typeface="Noto Sans CJK SC"/>
                <a:ea typeface="Noto Sans CJK SC"/>
                <a:cs typeface="Noto Sans CJK SC"/>
              </a:rPr>
              <a:t>调用方只表达业务意图；权限 / 幂等 / 风险 / 审计在此统一消化</a:t>
            </a:r>
            <a:endParaRPr sz="750" b="0">
              <a:solidFill>
                <a:srgbClr val="6B8185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24" name="Rounded Rectangle 123"/>
          <p:cNvSpPr>
            <a:spLocks noGrp="1"/>
          </p:cNvSpPr>
          <p:nvPr/>
        </p:nvSpPr>
        <p:spPr>
          <a:xfrm>
            <a:off x="1389888" y="3474720"/>
            <a:ext cx="2212848" cy="292608"/>
          </a:xfrm>
          <a:prstGeom prst="roundRect">
            <a:avLst>
              <a:gd name="adj" fmla="val 16000"/>
            </a:avLst>
          </a:prstGeom>
          <a:solidFill>
            <a:srgbClr val="EA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anchor="ctr"/>
          <a:lstStyle/>
          <a:p>
            <a:pPr algn="ctr">
              <a:buNone/>
            </a:pPr>
            <a:r>
              <a:rPr sz="800" b="1">
                <a:solidFill>
                  <a:srgbClr val="14383E"/>
                </a:solidFill>
                <a:latin typeface="Noto Sans CJK SC"/>
                <a:ea typeface="Noto Sans CJK SC"/>
                <a:cs typeface="Noto Sans CJK SC"/>
              </a:rPr>
              <a:t>订单查询</a:t>
            </a:r>
            <a:endParaRPr sz="800" b="1">
              <a:solidFill>
                <a:srgbClr val="14383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25" name="Rounded Rectangle 124"/>
          <p:cNvSpPr>
            <a:spLocks noGrp="1"/>
          </p:cNvSpPr>
          <p:nvPr/>
        </p:nvSpPr>
        <p:spPr>
          <a:xfrm>
            <a:off x="3712464" y="3474720"/>
            <a:ext cx="2212848" cy="292608"/>
          </a:xfrm>
          <a:prstGeom prst="roundRect">
            <a:avLst>
              <a:gd name="adj" fmla="val 16000"/>
            </a:avLst>
          </a:prstGeom>
          <a:solidFill>
            <a:srgbClr val="EA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anchor="ctr"/>
          <a:lstStyle/>
          <a:p>
            <a:pPr algn="ctr">
              <a:buNone/>
            </a:pPr>
            <a:r>
              <a:rPr sz="800" b="1">
                <a:solidFill>
                  <a:srgbClr val="14383E"/>
                </a:solidFill>
                <a:latin typeface="Noto Sans CJK SC"/>
                <a:ea typeface="Noto Sans CJK SC"/>
                <a:cs typeface="Noto Sans CJK SC"/>
              </a:rPr>
              <a:t>物流包裹</a:t>
            </a:r>
            <a:endParaRPr sz="800" b="1">
              <a:solidFill>
                <a:srgbClr val="14383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26" name="Rounded Rectangle 125"/>
          <p:cNvSpPr>
            <a:spLocks noGrp="1"/>
          </p:cNvSpPr>
          <p:nvPr/>
        </p:nvSpPr>
        <p:spPr>
          <a:xfrm>
            <a:off x="6035040" y="3474720"/>
            <a:ext cx="2212848" cy="292608"/>
          </a:xfrm>
          <a:prstGeom prst="roundRect">
            <a:avLst>
              <a:gd name="adj" fmla="val 16000"/>
            </a:avLst>
          </a:prstGeom>
          <a:solidFill>
            <a:srgbClr val="EA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anchor="ctr"/>
          <a:lstStyle/>
          <a:p>
            <a:pPr algn="ctr">
              <a:buNone/>
            </a:pPr>
            <a:r>
              <a:rPr sz="800" b="1">
                <a:solidFill>
                  <a:srgbClr val="14383E"/>
                </a:solidFill>
                <a:latin typeface="Noto Sans CJK SC"/>
                <a:ea typeface="Noto Sans CJK SC"/>
                <a:cs typeface="Noto Sans CJK SC"/>
              </a:rPr>
              <a:t>退款状态</a:t>
            </a:r>
            <a:endParaRPr sz="800" b="1">
              <a:solidFill>
                <a:srgbClr val="14383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27" name="Rounded Rectangle 126"/>
          <p:cNvSpPr>
            <a:spLocks noGrp="1"/>
          </p:cNvSpPr>
          <p:nvPr/>
        </p:nvSpPr>
        <p:spPr>
          <a:xfrm>
            <a:off x="8357616" y="3474720"/>
            <a:ext cx="2212848" cy="292608"/>
          </a:xfrm>
          <a:prstGeom prst="roundRect">
            <a:avLst>
              <a:gd name="adj" fmla="val 16000"/>
            </a:avLst>
          </a:prstGeom>
          <a:solidFill>
            <a:srgbClr val="EA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anchor="ctr"/>
          <a:lstStyle/>
          <a:p>
            <a:pPr algn="ctr">
              <a:buNone/>
            </a:pPr>
            <a:r>
              <a:rPr sz="800" b="1">
                <a:solidFill>
                  <a:srgbClr val="14383E"/>
                </a:solidFill>
                <a:latin typeface="Noto Sans CJK SC"/>
                <a:ea typeface="Noto Sans CJK SC"/>
                <a:cs typeface="Noto Sans CJK SC"/>
              </a:rPr>
              <a:t>退货资格判定</a:t>
            </a:r>
            <a:endParaRPr sz="800" b="1">
              <a:solidFill>
                <a:srgbClr val="14383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28" name="Rounded Rectangle 127"/>
          <p:cNvSpPr>
            <a:spLocks noGrp="1"/>
          </p:cNvSpPr>
          <p:nvPr/>
        </p:nvSpPr>
        <p:spPr>
          <a:xfrm>
            <a:off x="1389888" y="3840480"/>
            <a:ext cx="2212848" cy="292608"/>
          </a:xfrm>
          <a:prstGeom prst="roundRect">
            <a:avLst>
              <a:gd name="adj" fmla="val 16000"/>
            </a:avLst>
          </a:prstGeom>
          <a:solidFill>
            <a:srgbClr val="EA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anchor="ctr"/>
          <a:lstStyle/>
          <a:p>
            <a:pPr algn="ctr">
              <a:buNone/>
            </a:pPr>
            <a:r>
              <a:rPr sz="800" b="1">
                <a:solidFill>
                  <a:srgbClr val="14383E"/>
                </a:solidFill>
                <a:latin typeface="Noto Sans CJK SC"/>
                <a:ea typeface="Noto Sans CJK SC"/>
                <a:cs typeface="Noto Sans CJK SC"/>
              </a:rPr>
              <a:t>地址修改</a:t>
            </a:r>
            <a:endParaRPr sz="800" b="1">
              <a:solidFill>
                <a:srgbClr val="14383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29" name="Rounded Rectangle 128"/>
          <p:cNvSpPr>
            <a:spLocks noGrp="1"/>
          </p:cNvSpPr>
          <p:nvPr/>
        </p:nvSpPr>
        <p:spPr>
          <a:xfrm>
            <a:off x="3712464" y="3840480"/>
            <a:ext cx="2212848" cy="292608"/>
          </a:xfrm>
          <a:prstGeom prst="roundRect">
            <a:avLst>
              <a:gd name="adj" fmla="val 16000"/>
            </a:avLst>
          </a:prstGeom>
          <a:solidFill>
            <a:srgbClr val="EA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anchor="ctr"/>
          <a:lstStyle/>
          <a:p>
            <a:pPr algn="ctr">
              <a:buNone/>
            </a:pPr>
            <a:r>
              <a:rPr sz="800" b="1">
                <a:solidFill>
                  <a:srgbClr val="14383E"/>
                </a:solidFill>
                <a:latin typeface="Noto Sans CJK SC"/>
                <a:ea typeface="Noto Sans CJK SC"/>
                <a:cs typeface="Noto Sans CJK SC"/>
              </a:rPr>
              <a:t>取消订单</a:t>
            </a:r>
            <a:endParaRPr sz="800" b="1">
              <a:solidFill>
                <a:srgbClr val="14383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30" name="Rounded Rectangle 129"/>
          <p:cNvSpPr>
            <a:spLocks noGrp="1"/>
          </p:cNvSpPr>
          <p:nvPr/>
        </p:nvSpPr>
        <p:spPr>
          <a:xfrm>
            <a:off x="6035040" y="3840480"/>
            <a:ext cx="2212848" cy="292608"/>
          </a:xfrm>
          <a:prstGeom prst="roundRect">
            <a:avLst>
              <a:gd name="adj" fmla="val 16000"/>
            </a:avLst>
          </a:prstGeom>
          <a:solidFill>
            <a:srgbClr val="EA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anchor="ctr"/>
          <a:lstStyle/>
          <a:p>
            <a:pPr algn="ctr">
              <a:buNone/>
            </a:pPr>
            <a:r>
              <a:rPr sz="800" b="1">
                <a:solidFill>
                  <a:srgbClr val="14383E"/>
                </a:solidFill>
                <a:latin typeface="Noto Sans CJK SC"/>
                <a:ea typeface="Noto Sans CJK SC"/>
                <a:cs typeface="Noto Sans CJK SC"/>
              </a:rPr>
              <a:t>修改邮箱</a:t>
            </a:r>
            <a:endParaRPr sz="800" b="1">
              <a:solidFill>
                <a:srgbClr val="14383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31" name="Rounded Rectangle 130"/>
          <p:cNvSpPr>
            <a:spLocks noGrp="1"/>
          </p:cNvSpPr>
          <p:nvPr/>
        </p:nvSpPr>
        <p:spPr>
          <a:xfrm>
            <a:off x="8357616" y="3840480"/>
            <a:ext cx="2212848" cy="292608"/>
          </a:xfrm>
          <a:prstGeom prst="roundRect">
            <a:avLst>
              <a:gd name="adj" fmla="val 16000"/>
            </a:avLst>
          </a:prstGeom>
          <a:solidFill>
            <a:srgbClr val="EA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anchor="ctr"/>
          <a:lstStyle/>
          <a:p>
            <a:pPr algn="ctr">
              <a:buNone/>
            </a:pPr>
            <a:r>
              <a:rPr sz="800" b="1">
                <a:solidFill>
                  <a:srgbClr val="14383E"/>
                </a:solidFill>
                <a:latin typeface="Noto Sans CJK SC"/>
                <a:ea typeface="Noto Sans CJK SC"/>
                <a:cs typeface="Noto Sans CJK SC"/>
              </a:rPr>
              <a:t>善意补偿（服务端执行）</a:t>
            </a:r>
            <a:endParaRPr sz="800" b="1">
              <a:solidFill>
                <a:srgbClr val="14383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32" name="TextBox 131"/>
          <p:cNvSpPr>
            <a:spLocks noGrp="1"/>
          </p:cNvSpPr>
          <p:nvPr/>
        </p:nvSpPr>
        <p:spPr>
          <a:xfrm>
            <a:off x="1389888" y="4297679"/>
            <a:ext cx="8229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750" b="1">
                <a:solidFill>
                  <a:srgbClr val="44585C"/>
                </a:solidFill>
                <a:latin typeface="Noto Sans CJK SC"/>
                <a:ea typeface="Noto Sans CJK SC"/>
                <a:cs typeface="Noto Sans CJK SC"/>
              </a:rPr>
              <a:t>统一治理</a:t>
            </a:r>
            <a:endParaRPr sz="750" b="1">
              <a:solidFill>
                <a:srgbClr val="6B8185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33" name="TextBox 132"/>
          <p:cNvSpPr>
            <a:spLocks noGrp="1"/>
          </p:cNvSpPr>
          <p:nvPr/>
        </p:nvSpPr>
        <p:spPr>
          <a:xfrm>
            <a:off x="2267712" y="4297679"/>
            <a:ext cx="140817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750" b="0">
                <a:solidFill>
                  <a:srgbClr val="14383E"/>
                </a:solidFill>
                <a:latin typeface="Noto Sans CJK SC"/>
                <a:ea typeface="Noto Sans CJK SC"/>
                <a:cs typeface="Noto Sans CJK SC"/>
              </a:rPr>
              <a:t>权限 = 工具白名单</a:t>
            </a:r>
            <a:endParaRPr sz="750" b="0">
              <a:solidFill>
                <a:srgbClr val="14383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34" name="TextBox 133"/>
          <p:cNvSpPr>
            <a:spLocks noGrp="1"/>
          </p:cNvSpPr>
          <p:nvPr/>
        </p:nvSpPr>
        <p:spPr>
          <a:xfrm>
            <a:off x="3712464" y="4297679"/>
            <a:ext cx="140817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750" b="0">
                <a:solidFill>
                  <a:srgbClr val="14383E"/>
                </a:solidFill>
                <a:latin typeface="Noto Sans CJK SC"/>
                <a:ea typeface="Noto Sans CJK SC"/>
                <a:cs typeface="Noto Sans CJK SC"/>
              </a:rPr>
              <a:t>客户确认</a:t>
            </a:r>
            <a:endParaRPr sz="750" b="0">
              <a:solidFill>
                <a:srgbClr val="14383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35" name="TextBox 134"/>
          <p:cNvSpPr>
            <a:spLocks noGrp="1"/>
          </p:cNvSpPr>
          <p:nvPr/>
        </p:nvSpPr>
        <p:spPr>
          <a:xfrm>
            <a:off x="5157216" y="4297679"/>
            <a:ext cx="140817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750" b="0">
                <a:solidFill>
                  <a:srgbClr val="14383E"/>
                </a:solidFill>
                <a:latin typeface="Noto Sans CJK SC"/>
                <a:ea typeface="Noto Sans CJK SC"/>
                <a:cs typeface="Noto Sans CJK SC"/>
              </a:rPr>
              <a:t>幂等与配额 = 分布式状态</a:t>
            </a:r>
            <a:endParaRPr sz="750" b="0">
              <a:solidFill>
                <a:srgbClr val="14383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36" name="TextBox 135"/>
          <p:cNvSpPr>
            <a:spLocks noGrp="1"/>
          </p:cNvSpPr>
          <p:nvPr/>
        </p:nvSpPr>
        <p:spPr>
          <a:xfrm>
            <a:off x="6601968" y="4297679"/>
            <a:ext cx="140817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750" b="0">
                <a:solidFill>
                  <a:srgbClr val="14383E"/>
                </a:solidFill>
                <a:latin typeface="Noto Sans CJK SC"/>
                <a:ea typeface="Noto Sans CJK SC"/>
                <a:cs typeface="Noto Sans CJK SC"/>
              </a:rPr>
              <a:t>风险校验</a:t>
            </a:r>
            <a:endParaRPr sz="750" b="0">
              <a:solidFill>
                <a:srgbClr val="14383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37" name="TextBox 136"/>
          <p:cNvSpPr>
            <a:spLocks noGrp="1"/>
          </p:cNvSpPr>
          <p:nvPr/>
        </p:nvSpPr>
        <p:spPr>
          <a:xfrm>
            <a:off x="8046720" y="4297679"/>
            <a:ext cx="140817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750" b="0">
                <a:solidFill>
                  <a:srgbClr val="14383E"/>
                </a:solidFill>
                <a:latin typeface="Noto Sans CJK SC"/>
                <a:ea typeface="Noto Sans CJK SC"/>
                <a:cs typeface="Noto Sans CJK SC"/>
              </a:rPr>
              <a:t>审计 = 业务审计记录（动作逐条落库，只追加）</a:t>
            </a:r>
            <a:endParaRPr sz="750" b="0">
              <a:solidFill>
                <a:srgbClr val="14383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38" name="TextBox 137"/>
          <p:cNvSpPr>
            <a:spLocks noGrp="1"/>
          </p:cNvSpPr>
          <p:nvPr/>
        </p:nvSpPr>
        <p:spPr>
          <a:xfrm>
            <a:off x="9491472" y="4297679"/>
            <a:ext cx="140817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750" b="0">
                <a:solidFill>
                  <a:srgbClr val="14383E"/>
                </a:solidFill>
                <a:latin typeface="Noto Sans CJK SC"/>
                <a:ea typeface="Noto Sans CJK SC"/>
                <a:cs typeface="Noto Sans CJK SC"/>
              </a:rPr>
              <a:t>异常与人工接管</a:t>
            </a:r>
            <a:endParaRPr sz="750" b="0">
              <a:solidFill>
                <a:srgbClr val="14383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39" name="Connector 138"/>
          <p:cNvSpPr>
            <a:spLocks noGrp="1"/>
          </p:cNvSpPr>
          <p:nvPr/>
        </p:nvSpPr>
        <p:spPr>
          <a:xfrm>
            <a:off x="6080760" y="4645152"/>
            <a:ext cx="0" cy="256032"/>
          </a:xfrm>
          <a:prstGeom prst="line">
            <a:avLst/>
          </a:prstGeom>
          <a:ln w="25400">
            <a:solidFill>
              <a:srgbClr val="6B818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p/>
        </p:txBody>
      </p:sp>
      <p:sp>
        <p:nvSpPr>
          <p:cNvPr id="140" name="Rounded Rectangle 139"/>
          <p:cNvSpPr>
            <a:spLocks noGrp="1"/>
          </p:cNvSpPr>
          <p:nvPr/>
        </p:nvSpPr>
        <p:spPr>
          <a:xfrm>
            <a:off x="1188720" y="4901184"/>
            <a:ext cx="9784080" cy="603504"/>
          </a:xfrm>
          <a:prstGeom prst="roundRect">
            <a:avLst>
              <a:gd name="adj" fmla="val 6000"/>
            </a:avLst>
          </a:prstGeom>
          <a:solidFill>
            <a:srgbClr val="F7FBF9"/>
          </a:solidFill>
          <a:ln w="15240">
            <a:solidFill>
              <a:srgbClr val="C9D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141" name="TextBox 140"/>
          <p:cNvSpPr>
            <a:spLocks noGrp="1"/>
          </p:cNvSpPr>
          <p:nvPr/>
        </p:nvSpPr>
        <p:spPr>
          <a:xfrm>
            <a:off x="1389888" y="5074920"/>
            <a:ext cx="11887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850" b="1">
                <a:solidFill>
                  <a:srgbClr val="44585C"/>
                </a:solidFill>
                <a:latin typeface="Noto Sans CJK SC"/>
                <a:ea typeface="Noto Sans CJK SC"/>
                <a:cs typeface="Noto Sans CJK SC"/>
              </a:rPr>
              <a:t>业务系统适配</a:t>
            </a:r>
            <a:endParaRPr sz="850" b="1">
              <a:solidFill>
                <a:srgbClr val="6B8185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42" name="TextBox 141"/>
          <p:cNvSpPr>
            <a:spLocks noGrp="1"/>
          </p:cNvSpPr>
          <p:nvPr/>
        </p:nvSpPr>
        <p:spPr>
          <a:xfrm>
            <a:off x="2834640" y="5074920"/>
            <a:ext cx="15544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850" b="1">
                <a:solidFill>
                  <a:srgbClr val="14383E"/>
                </a:solidFill>
                <a:latin typeface="Noto Sans CJK SC"/>
                <a:ea typeface="Noto Sans CJK SC"/>
                <a:cs typeface="Noto Sans CJK SC"/>
              </a:rPr>
              <a:t>订单系统</a:t>
            </a:r>
            <a:endParaRPr sz="850" b="1">
              <a:solidFill>
                <a:srgbClr val="14383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43" name="TextBox 142"/>
          <p:cNvSpPr>
            <a:spLocks noGrp="1"/>
          </p:cNvSpPr>
          <p:nvPr/>
        </p:nvSpPr>
        <p:spPr>
          <a:xfrm>
            <a:off x="4434840" y="5074920"/>
            <a:ext cx="15544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850" b="1">
                <a:solidFill>
                  <a:srgbClr val="14383E"/>
                </a:solidFill>
                <a:latin typeface="Noto Sans CJK SC"/>
                <a:ea typeface="Noto Sans CJK SC"/>
                <a:cs typeface="Noto Sans CJK SC"/>
              </a:rPr>
              <a:t>履约系统</a:t>
            </a:r>
            <a:endParaRPr sz="850" b="1">
              <a:solidFill>
                <a:srgbClr val="14383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44" name="TextBox 143"/>
          <p:cNvSpPr>
            <a:spLocks noGrp="1"/>
          </p:cNvSpPr>
          <p:nvPr/>
        </p:nvSpPr>
        <p:spPr>
          <a:xfrm>
            <a:off x="6035040" y="5074920"/>
            <a:ext cx="15544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850" b="1">
                <a:solidFill>
                  <a:srgbClr val="14383E"/>
                </a:solidFill>
                <a:latin typeface="Noto Sans CJK SC"/>
                <a:ea typeface="Noto Sans CJK SC"/>
                <a:cs typeface="Noto Sans CJK SC"/>
              </a:rPr>
              <a:t>仓储物流系统</a:t>
            </a:r>
            <a:endParaRPr sz="850" b="1">
              <a:solidFill>
                <a:srgbClr val="14383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45" name="TextBox 144"/>
          <p:cNvSpPr>
            <a:spLocks noGrp="1"/>
          </p:cNvSpPr>
          <p:nvPr/>
        </p:nvSpPr>
        <p:spPr>
          <a:xfrm>
            <a:off x="7635240" y="5074920"/>
            <a:ext cx="15544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850" b="1">
                <a:solidFill>
                  <a:srgbClr val="14383E"/>
                </a:solidFill>
                <a:latin typeface="Noto Sans CJK SC"/>
                <a:ea typeface="Noto Sans CJK SC"/>
                <a:cs typeface="Noto Sans CJK SC"/>
              </a:rPr>
              <a:t>退款系统</a:t>
            </a:r>
            <a:endParaRPr sz="850" b="1">
              <a:solidFill>
                <a:srgbClr val="14383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46" name="TextBox 145"/>
          <p:cNvSpPr>
            <a:spLocks noGrp="1"/>
          </p:cNvSpPr>
          <p:nvPr/>
        </p:nvSpPr>
        <p:spPr>
          <a:xfrm>
            <a:off x="9235440" y="5074920"/>
            <a:ext cx="15544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850" b="1">
                <a:solidFill>
                  <a:srgbClr val="14383E"/>
                </a:solidFill>
                <a:latin typeface="Noto Sans CJK SC"/>
                <a:ea typeface="Noto Sans CJK SC"/>
                <a:cs typeface="Noto Sans CJK SC"/>
              </a:rPr>
              <a:t>工单回写</a:t>
            </a:r>
            <a:endParaRPr sz="850" b="1">
              <a:solidFill>
                <a:srgbClr val="14383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47" name="Rounded Rectangle 146"/>
          <p:cNvSpPr>
            <a:spLocks noGrp="1"/>
          </p:cNvSpPr>
          <p:nvPr/>
        </p:nvSpPr>
        <p:spPr>
          <a:xfrm>
            <a:off x="1188720" y="5687568"/>
            <a:ext cx="9784080" cy="566928"/>
          </a:xfrm>
          <a:prstGeom prst="roundRect">
            <a:avLst>
              <a:gd name="adj" fmla="val 14000"/>
            </a:avLst>
          </a:prstGeom>
          <a:solidFill>
            <a:srgbClr val="EA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148" name="TextBox 147"/>
          <p:cNvSpPr>
            <a:spLocks noGrp="1"/>
          </p:cNvSpPr>
          <p:nvPr/>
        </p:nvSpPr>
        <p:spPr>
          <a:xfrm>
            <a:off x="1389888" y="5769864"/>
            <a:ext cx="10058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780" b="1">
                <a:solidFill>
                  <a:srgbClr val="1B5FC4"/>
                </a:solidFill>
                <a:latin typeface="Noto Sans CJK SC"/>
                <a:ea typeface="Noto Sans CJK SC"/>
                <a:cs typeface="Noto Sans CJK SC"/>
              </a:rPr>
              <a:t>怎么继续改</a:t>
            </a:r>
            <a:endParaRPr sz="780" b="1">
              <a:solidFill>
                <a:srgbClr val="2F80ED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49" name="TextBox 148"/>
          <p:cNvSpPr>
            <a:spLocks noGrp="1"/>
          </p:cNvSpPr>
          <p:nvPr/>
        </p:nvSpPr>
        <p:spPr>
          <a:xfrm>
            <a:off x="2395728" y="5769864"/>
            <a:ext cx="84124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780" b="0">
                <a:solidFill>
                  <a:srgbClr val="1B5FC4"/>
                </a:solidFill>
                <a:latin typeface="Noto Sans CJK SC"/>
                <a:ea typeface="Noto Sans CJK SC"/>
                <a:cs typeface="Noto Sans CJK SC"/>
              </a:rPr>
              <a:t>看问题 → 收反馈 → 改 Skill / Workflow → 回归验证 → 再上线</a:t>
            </a:r>
            <a:endParaRPr sz="780" b="0">
              <a:solidFill>
                <a:srgbClr val="2F80ED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50" name="TextBox 149"/>
          <p:cNvSpPr>
            <a:spLocks noGrp="1"/>
          </p:cNvSpPr>
          <p:nvPr/>
        </p:nvSpPr>
        <p:spPr>
          <a:xfrm>
            <a:off x="1389888" y="5989320"/>
            <a:ext cx="94183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720" b="0">
                <a:solidFill>
                  <a:srgbClr val="44585C"/>
                </a:solidFill>
                <a:latin typeface="Noto Sans CJK SC"/>
                <a:ea typeface="Noto Sans CJK SC"/>
                <a:cs typeface="Noto Sans CJK SC"/>
              </a:rPr>
              <a:t>Workflow 和插件都不直连业务系统；读写统一经过能力出口，审计口径也一致。</a:t>
            </a:r>
            <a:endParaRPr sz="720" b="0">
              <a:solidFill>
                <a:srgbClr val="6B8185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54" name="圆角矩形 153"/>
          <p:cNvSpPr>
            <a:spLocks noGrp="1"/>
          </p:cNvSpPr>
          <p:nvPr/>
        </p:nvSpPr>
        <p:spPr>
          <a:xfrm>
            <a:off x="6565583" y="127635"/>
            <a:ext cx="4937760" cy="365760"/>
          </a:xfrm>
          <a:prstGeom prst="roundRect">
            <a:avLst>
              <a:gd name="adj" fmla="val 20833"/>
            </a:avLst>
          </a:prstGeom>
          <a:solidFill>
            <a:srgbClr val="F7FBF9"/>
          </a:solidFill>
          <a:ln w="12668">
            <a:solidFill>
              <a:srgbClr val="F7FBF9"/>
            </a:solidFill>
            <a:prstDash val="solid"/>
          </a:ln>
        </p:spPr>
        <p:txBody>
          <a:bodyPr/>
          <a:p/>
        </p:txBody>
      </p:sp>
      <p:sp>
        <p:nvSpPr>
          <p:cNvPr id="155" name="圆角矩形 154"/>
          <p:cNvSpPr>
            <a:spLocks noGrp="1"/>
          </p:cNvSpPr>
          <p:nvPr/>
        </p:nvSpPr>
        <p:spPr>
          <a:xfrm>
            <a:off x="6657023" y="164783"/>
            <a:ext cx="1154430" cy="264795"/>
          </a:xfrm>
          <a:prstGeom prst="roundRect">
            <a:avLst>
              <a:gd name="adj" fmla="val 28777"/>
            </a:avLst>
          </a:prstGeom>
          <a:solidFill>
            <a:srgbClr val="007574"/>
          </a:solidFill>
          <a:ln w="12668">
            <a:solidFill>
              <a:srgbClr val="007574"/>
            </a:solidFill>
            <a:prstDash val="solid"/>
          </a:ln>
        </p:spPr>
        <p:txBody>
          <a:bodyPr/>
          <a:p/>
        </p:txBody>
      </p:sp>
      <p:sp>
        <p:nvSpPr>
          <p:cNvPr id="156" name="矩形 155"/>
          <p:cNvSpPr>
            <a:spLocks noGrp="1"/>
          </p:cNvSpPr>
          <p:nvPr/>
        </p:nvSpPr>
        <p:spPr>
          <a:xfrm>
            <a:off x="6657023" y="187643"/>
            <a:ext cx="1154430" cy="182880"/>
          </a:xfrm>
          <a:prstGeom prst="rect">
            <a:avLst/>
          </a:prstGeom>
        </p:spPr>
        <p:txBody>
          <a:bodyPr anchor="ctr"/>
          <a:lstStyle/>
          <a:p>
            <a:pPr algn="ctr">
              <a:defRPr sz="660" b="1">
                <a:solidFill>
                  <a:srgbClr val="FFFFFF"/>
                </a:solidFill>
              </a:defRPr>
            </a:pPr>
            <a:r>
              <a:t>理解</a:t>
            </a:r>
          </a:p>
        </p:txBody>
      </p:sp>
      <p:sp>
        <p:nvSpPr>
          <p:cNvPr id="157" name="圆角矩形 156"/>
          <p:cNvSpPr>
            <a:spLocks noGrp="1"/>
          </p:cNvSpPr>
          <p:nvPr/>
        </p:nvSpPr>
        <p:spPr>
          <a:xfrm>
            <a:off x="7857173" y="164783"/>
            <a:ext cx="1154430" cy="264795"/>
          </a:xfrm>
          <a:prstGeom prst="roundRect">
            <a:avLst>
              <a:gd name="adj" fmla="val 28777"/>
            </a:avLst>
          </a:prstGeom>
          <a:solidFill>
            <a:srgbClr val="007574"/>
          </a:solidFill>
          <a:ln w="12668">
            <a:solidFill>
              <a:srgbClr val="007574"/>
            </a:solidFill>
            <a:prstDash val="solid"/>
          </a:ln>
        </p:spPr>
        <p:txBody>
          <a:bodyPr/>
          <a:p/>
        </p:txBody>
      </p:sp>
      <p:sp>
        <p:nvSpPr>
          <p:cNvPr id="158" name="矩形 157"/>
          <p:cNvSpPr>
            <a:spLocks noGrp="1"/>
          </p:cNvSpPr>
          <p:nvPr/>
        </p:nvSpPr>
        <p:spPr>
          <a:xfrm>
            <a:off x="7857173" y="187643"/>
            <a:ext cx="1154430" cy="182880"/>
          </a:xfrm>
          <a:prstGeom prst="rect">
            <a:avLst/>
          </a:prstGeom>
        </p:spPr>
        <p:txBody>
          <a:bodyPr anchor="ctr"/>
          <a:lstStyle/>
          <a:p>
            <a:pPr algn="ctr">
              <a:defRPr sz="660" b="1">
                <a:solidFill>
                  <a:srgbClr val="FFFFFF"/>
                </a:solidFill>
              </a:defRPr>
            </a:pPr>
            <a:r>
              <a:t>查询</a:t>
            </a:r>
          </a:p>
        </p:txBody>
      </p:sp>
      <p:sp>
        <p:nvSpPr>
          <p:cNvPr id="159" name="圆角矩形 158"/>
          <p:cNvSpPr>
            <a:spLocks noGrp="1"/>
          </p:cNvSpPr>
          <p:nvPr/>
        </p:nvSpPr>
        <p:spPr>
          <a:xfrm>
            <a:off x="9057323" y="164783"/>
            <a:ext cx="1154430" cy="264795"/>
          </a:xfrm>
          <a:prstGeom prst="roundRect">
            <a:avLst>
              <a:gd name="adj" fmla="val 28777"/>
            </a:avLst>
          </a:prstGeom>
          <a:solidFill>
            <a:srgbClr val="007574"/>
          </a:solidFill>
          <a:ln w="12668">
            <a:solidFill>
              <a:srgbClr val="007574"/>
            </a:solidFill>
            <a:prstDash val="solid"/>
          </a:ln>
        </p:spPr>
        <p:txBody>
          <a:bodyPr/>
          <a:p/>
        </p:txBody>
      </p:sp>
      <p:sp>
        <p:nvSpPr>
          <p:cNvPr id="160" name="矩形 159"/>
          <p:cNvSpPr>
            <a:spLocks noGrp="1"/>
          </p:cNvSpPr>
          <p:nvPr/>
        </p:nvSpPr>
        <p:spPr>
          <a:xfrm>
            <a:off x="9057323" y="187643"/>
            <a:ext cx="1154430" cy="182880"/>
          </a:xfrm>
          <a:prstGeom prst="rect">
            <a:avLst/>
          </a:prstGeom>
        </p:spPr>
        <p:txBody>
          <a:bodyPr anchor="ctr"/>
          <a:lstStyle/>
          <a:p>
            <a:pPr algn="ctr">
              <a:defRPr sz="660" b="1">
                <a:solidFill>
                  <a:srgbClr val="FFFFFF"/>
                </a:solidFill>
              </a:defRPr>
            </a:pPr>
            <a:r>
              <a:t>决策</a:t>
            </a:r>
          </a:p>
        </p:txBody>
      </p:sp>
      <p:sp>
        <p:nvSpPr>
          <p:cNvPr id="161" name="圆角矩形 160"/>
          <p:cNvSpPr>
            <a:spLocks noGrp="1"/>
          </p:cNvSpPr>
          <p:nvPr/>
        </p:nvSpPr>
        <p:spPr>
          <a:xfrm>
            <a:off x="10257473" y="164783"/>
            <a:ext cx="1154430" cy="264795"/>
          </a:xfrm>
          <a:prstGeom prst="roundRect">
            <a:avLst>
              <a:gd name="adj" fmla="val 28777"/>
            </a:avLst>
          </a:prstGeom>
          <a:solidFill>
            <a:srgbClr val="007574"/>
          </a:solidFill>
          <a:ln w="12668">
            <a:solidFill>
              <a:srgbClr val="007574"/>
            </a:solidFill>
            <a:prstDash val="solid"/>
          </a:ln>
        </p:spPr>
        <p:txBody>
          <a:bodyPr/>
          <a:p/>
        </p:txBody>
      </p:sp>
      <p:sp>
        <p:nvSpPr>
          <p:cNvPr id="162" name="矩形 161"/>
          <p:cNvSpPr>
            <a:spLocks noGrp="1"/>
          </p:cNvSpPr>
          <p:nvPr/>
        </p:nvSpPr>
        <p:spPr>
          <a:xfrm>
            <a:off x="10257473" y="187643"/>
            <a:ext cx="1154430" cy="182880"/>
          </a:xfrm>
          <a:prstGeom prst="rect">
            <a:avLst/>
          </a:prstGeom>
        </p:spPr>
        <p:txBody>
          <a:bodyPr anchor="ctr"/>
          <a:lstStyle/>
          <a:p>
            <a:pPr algn="ctr">
              <a:defRPr sz="660" b="1">
                <a:solidFill>
                  <a:srgbClr val="FFFFFF"/>
                </a:solidFill>
              </a:defRPr>
            </a:pPr>
            <a:r>
              <a:t>执行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hape 0"/>
          <p:cNvSpPr>
            <a:spLocks noGrp="1"/>
          </p:cNvSpPr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A"/>
          </a:solidFill>
          <a:ln w="12700">
            <a:solidFill>
              <a:srgbClr val="F7FBFA"/>
            </a:solidFill>
            <a:prstDash val="solid"/>
          </a:ln>
        </p:spPr>
        <p:txBody>
          <a:bodyPr/>
          <a:lstStyle/>
          <a:p/>
        </p:txBody>
      </p:sp>
      <p:sp>
        <p:nvSpPr>
          <p:cNvPr id="3" name="Shape 1"/>
          <p:cNvSpPr>
            <a:spLocks noGrp="1"/>
          </p:cNvSpPr>
          <p:nvPr/>
        </p:nvSpPr>
        <p:spPr>
          <a:xfrm>
            <a:off x="0" y="0"/>
            <a:ext cx="50292" cy="6858000"/>
          </a:xfrm>
          <a:prstGeom prst="rect">
            <a:avLst/>
          </a:prstGeom>
          <a:solidFill>
            <a:srgbClr val="0A8F6A"/>
          </a:solidFill>
          <a:ln w="12700">
            <a:solidFill>
              <a:srgbClr val="07966F"/>
            </a:solidFill>
            <a:prstDash val="solid"/>
          </a:ln>
        </p:spPr>
        <p:txBody>
          <a:bodyPr/>
          <a:lstStyle/>
          <a:p/>
        </p:txBody>
      </p:sp>
      <p:sp>
        <p:nvSpPr>
          <p:cNvPr id="4" name="Shape 2"/>
          <p:cNvSpPr>
            <a:spLocks noGrp="1"/>
          </p:cNvSpPr>
          <p:nvPr/>
        </p:nvSpPr>
        <p:spPr>
          <a:xfrm>
            <a:off x="10716768" y="45720"/>
            <a:ext cx="1170432" cy="658368"/>
          </a:xfrm>
          <a:prstGeom prst="ellipse">
            <a:avLst/>
          </a:prstGeom>
          <a:solidFill>
            <a:srgbClr val="E8F4F1"/>
          </a:solidFill>
          <a:ln w="12700">
            <a:solidFill>
              <a:srgbClr val="E8F4F1"/>
            </a:solidFill>
            <a:prstDash val="solid"/>
          </a:ln>
        </p:spPr>
        <p:txBody>
          <a:bodyPr/>
          <a:lstStyle/>
          <a:p/>
        </p:txBody>
      </p:sp>
      <p:sp>
        <p:nvSpPr>
          <p:cNvPr id="5" name="Shape 3"/>
          <p:cNvSpPr>
            <a:spLocks noGrp="1"/>
          </p:cNvSpPr>
          <p:nvPr/>
        </p:nvSpPr>
        <p:spPr>
          <a:xfrm>
            <a:off x="9948672" y="274320"/>
            <a:ext cx="64008" cy="64008"/>
          </a:xfrm>
          <a:prstGeom prst="ellipse">
            <a:avLst/>
          </a:prstGeom>
          <a:solidFill>
            <a:srgbClr val="C7DAD6"/>
          </a:solidFill>
          <a:ln w="12700">
            <a:solidFill>
              <a:srgbClr val="C7DAD6"/>
            </a:solidFill>
            <a:prstDash val="solid"/>
          </a:ln>
        </p:spPr>
        <p:txBody>
          <a:bodyPr/>
          <a:lstStyle/>
          <a:p/>
        </p:txBody>
      </p:sp>
      <p:sp>
        <p:nvSpPr>
          <p:cNvPr id="6" name="Text 4"/>
          <p:cNvSpPr>
            <a:spLocks noGrp="1"/>
          </p:cNvSpPr>
          <p:nvPr/>
        </p:nvSpPr>
        <p:spPr>
          <a:xfrm>
            <a:off x="9948672" y="274320"/>
            <a:ext cx="64008" cy="6400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endParaRPr sz="100"/>
          </a:p>
        </p:txBody>
      </p:sp>
      <p:sp>
        <p:nvSpPr>
          <p:cNvPr id="7" name="Shape 5"/>
          <p:cNvSpPr>
            <a:spLocks noGrp="1"/>
          </p:cNvSpPr>
          <p:nvPr/>
        </p:nvSpPr>
        <p:spPr>
          <a:xfrm>
            <a:off x="10158984" y="274320"/>
            <a:ext cx="64008" cy="64008"/>
          </a:xfrm>
          <a:prstGeom prst="ellipse">
            <a:avLst/>
          </a:prstGeom>
          <a:solidFill>
            <a:srgbClr val="C7DAD6"/>
          </a:solidFill>
          <a:ln w="12700">
            <a:solidFill>
              <a:srgbClr val="C7DAD6"/>
            </a:solidFill>
            <a:prstDash val="solid"/>
          </a:ln>
        </p:spPr>
        <p:txBody>
          <a:bodyPr/>
          <a:lstStyle/>
          <a:p/>
        </p:txBody>
      </p:sp>
      <p:sp>
        <p:nvSpPr>
          <p:cNvPr id="8" name="Text 6"/>
          <p:cNvSpPr>
            <a:spLocks noGrp="1"/>
          </p:cNvSpPr>
          <p:nvPr/>
        </p:nvSpPr>
        <p:spPr>
          <a:xfrm>
            <a:off x="10158984" y="274320"/>
            <a:ext cx="64008" cy="6400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endParaRPr sz="100"/>
          </a:p>
        </p:txBody>
      </p:sp>
      <p:sp>
        <p:nvSpPr>
          <p:cNvPr id="9" name="Shape 7"/>
          <p:cNvSpPr>
            <a:spLocks noGrp="1"/>
          </p:cNvSpPr>
          <p:nvPr/>
        </p:nvSpPr>
        <p:spPr>
          <a:xfrm>
            <a:off x="10369296" y="274320"/>
            <a:ext cx="64008" cy="64008"/>
          </a:xfrm>
          <a:prstGeom prst="ellipse">
            <a:avLst/>
          </a:prstGeom>
          <a:solidFill>
            <a:srgbClr val="07966F"/>
          </a:solidFill>
          <a:ln w="12700">
            <a:solidFill>
              <a:srgbClr val="07966F"/>
            </a:solidFill>
            <a:prstDash val="solid"/>
          </a:ln>
        </p:spPr>
        <p:txBody>
          <a:bodyPr/>
          <a:lstStyle/>
          <a:p/>
        </p:txBody>
      </p:sp>
      <p:sp>
        <p:nvSpPr>
          <p:cNvPr id="10" name="Text 8"/>
          <p:cNvSpPr>
            <a:spLocks noGrp="1"/>
          </p:cNvSpPr>
          <p:nvPr/>
        </p:nvSpPr>
        <p:spPr>
          <a:xfrm>
            <a:off x="10369296" y="274320"/>
            <a:ext cx="64008" cy="6400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endParaRPr sz="100"/>
          </a:p>
        </p:txBody>
      </p:sp>
      <p:sp>
        <p:nvSpPr>
          <p:cNvPr id="11" name="Shape 9"/>
          <p:cNvSpPr>
            <a:spLocks noGrp="1"/>
          </p:cNvSpPr>
          <p:nvPr/>
        </p:nvSpPr>
        <p:spPr>
          <a:xfrm>
            <a:off x="10579608" y="274320"/>
            <a:ext cx="64008" cy="64008"/>
          </a:xfrm>
          <a:prstGeom prst="ellipse">
            <a:avLst/>
          </a:prstGeom>
          <a:solidFill>
            <a:srgbClr val="C7DAD6"/>
          </a:solidFill>
          <a:ln w="12700">
            <a:solidFill>
              <a:srgbClr val="C7DAD6"/>
            </a:solidFill>
            <a:prstDash val="solid"/>
          </a:ln>
        </p:spPr>
        <p:txBody>
          <a:bodyPr/>
          <a:lstStyle/>
          <a:p/>
        </p:txBody>
      </p:sp>
      <p:sp>
        <p:nvSpPr>
          <p:cNvPr id="12" name="Text 10"/>
          <p:cNvSpPr>
            <a:spLocks noGrp="1"/>
          </p:cNvSpPr>
          <p:nvPr/>
        </p:nvSpPr>
        <p:spPr>
          <a:xfrm>
            <a:off x="10579608" y="274320"/>
            <a:ext cx="64008" cy="6400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endParaRPr sz="100"/>
          </a:p>
        </p:txBody>
      </p:sp>
      <p:sp>
        <p:nvSpPr>
          <p:cNvPr id="13" name="Shape 11"/>
          <p:cNvSpPr>
            <a:spLocks noGrp="1"/>
          </p:cNvSpPr>
          <p:nvPr/>
        </p:nvSpPr>
        <p:spPr>
          <a:xfrm>
            <a:off x="10789920" y="274320"/>
            <a:ext cx="64008" cy="64008"/>
          </a:xfrm>
          <a:prstGeom prst="ellipse">
            <a:avLst/>
          </a:prstGeom>
          <a:solidFill>
            <a:srgbClr val="C7DAD6"/>
          </a:solidFill>
          <a:ln w="12700">
            <a:solidFill>
              <a:srgbClr val="C7DAD6"/>
            </a:solidFill>
            <a:prstDash val="solid"/>
          </a:ln>
        </p:spPr>
        <p:txBody>
          <a:bodyPr/>
          <a:lstStyle/>
          <a:p/>
        </p:txBody>
      </p:sp>
      <p:sp>
        <p:nvSpPr>
          <p:cNvPr id="14" name="Text 12"/>
          <p:cNvSpPr>
            <a:spLocks noGrp="1"/>
          </p:cNvSpPr>
          <p:nvPr/>
        </p:nvSpPr>
        <p:spPr>
          <a:xfrm>
            <a:off x="10789920" y="274320"/>
            <a:ext cx="64008" cy="6400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endParaRPr sz="100"/>
          </a:p>
        </p:txBody>
      </p:sp>
      <p:sp>
        <p:nvSpPr>
          <p:cNvPr id="15" name="Shape 13"/>
          <p:cNvSpPr>
            <a:spLocks noGrp="1"/>
          </p:cNvSpPr>
          <p:nvPr/>
        </p:nvSpPr>
        <p:spPr>
          <a:xfrm>
            <a:off x="11000232" y="274320"/>
            <a:ext cx="64008" cy="64008"/>
          </a:xfrm>
          <a:prstGeom prst="ellipse">
            <a:avLst/>
          </a:prstGeom>
          <a:solidFill>
            <a:srgbClr val="C7DAD6"/>
          </a:solidFill>
          <a:ln w="12700">
            <a:solidFill>
              <a:srgbClr val="C7DAD6"/>
            </a:solidFill>
            <a:prstDash val="solid"/>
          </a:ln>
        </p:spPr>
        <p:txBody>
          <a:bodyPr/>
          <a:lstStyle/>
          <a:p/>
        </p:txBody>
      </p:sp>
      <p:sp>
        <p:nvSpPr>
          <p:cNvPr id="16" name="Text 14"/>
          <p:cNvSpPr>
            <a:spLocks noGrp="1"/>
          </p:cNvSpPr>
          <p:nvPr/>
        </p:nvSpPr>
        <p:spPr>
          <a:xfrm>
            <a:off x="11000232" y="274320"/>
            <a:ext cx="64008" cy="6400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endParaRPr sz="100"/>
          </a:p>
        </p:txBody>
      </p:sp>
      <p:sp>
        <p:nvSpPr>
          <p:cNvPr id="17" name="Shape 15"/>
          <p:cNvSpPr>
            <a:spLocks noGrp="1"/>
          </p:cNvSpPr>
          <p:nvPr/>
        </p:nvSpPr>
        <p:spPr>
          <a:xfrm>
            <a:off x="11210544" y="274320"/>
            <a:ext cx="64008" cy="64008"/>
          </a:xfrm>
          <a:prstGeom prst="ellipse">
            <a:avLst/>
          </a:prstGeom>
          <a:solidFill>
            <a:srgbClr val="C7DAD6"/>
          </a:solidFill>
          <a:ln w="12700">
            <a:solidFill>
              <a:srgbClr val="C7DAD6"/>
            </a:solidFill>
            <a:prstDash val="solid"/>
          </a:ln>
        </p:spPr>
        <p:txBody>
          <a:bodyPr/>
          <a:lstStyle/>
          <a:p/>
        </p:txBody>
      </p:sp>
      <p:sp>
        <p:nvSpPr>
          <p:cNvPr id="18" name="Text 16"/>
          <p:cNvSpPr>
            <a:spLocks noGrp="1"/>
          </p:cNvSpPr>
          <p:nvPr/>
        </p:nvSpPr>
        <p:spPr>
          <a:xfrm>
            <a:off x="11210544" y="274320"/>
            <a:ext cx="64008" cy="6400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endParaRPr sz="100"/>
          </a:p>
        </p:txBody>
      </p:sp>
      <p:sp>
        <p:nvSpPr>
          <p:cNvPr id="19" name="Shape 17"/>
          <p:cNvSpPr>
            <a:spLocks noGrp="1"/>
          </p:cNvSpPr>
          <p:nvPr/>
        </p:nvSpPr>
        <p:spPr>
          <a:xfrm>
            <a:off x="658368" y="420624"/>
            <a:ext cx="237744" cy="0"/>
          </a:xfrm>
          <a:prstGeom prst="line">
            <a:avLst/>
          </a:prstGeom>
          <a:noFill/>
          <a:ln w="15875">
            <a:solidFill>
              <a:srgbClr val="0A8F6A"/>
            </a:solidFill>
            <a:prstDash val="solid"/>
          </a:ln>
        </p:spPr>
        <p:txBody>
          <a:bodyPr/>
          <a:lstStyle/>
          <a:p/>
        </p:txBody>
      </p:sp>
      <p:sp>
        <p:nvSpPr>
          <p:cNvPr id="20" name="Text 18"/>
          <p:cNvSpPr>
            <a:spLocks noGrp="1"/>
          </p:cNvSpPr>
          <p:nvPr/>
        </p:nvSpPr>
        <p:spPr>
          <a:xfrm>
            <a:off x="950976" y="274320"/>
            <a:ext cx="3931920" cy="25603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r>
              <a:rPr sz="1050" b="1">
                <a:solidFill>
                  <a:srgbClr val="076B50"/>
                </a:solidFill>
                <a:latin typeface="Noto Sans CJK SC"/>
                <a:ea typeface="Noto Sans CJK SC"/>
                <a:cs typeface="Noto Sans CJK SC"/>
              </a:rPr>
              <a:t>CHAPTER 3 · 系统蓝图</a:t>
            </a:r>
            <a:endParaRPr sz="1050" b="1">
              <a:solidFill>
                <a:srgbClr val="2F80ED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1" name="Text 19"/>
          <p:cNvSpPr>
            <a:spLocks noGrp="1"/>
          </p:cNvSpPr>
          <p:nvPr/>
        </p:nvSpPr>
        <p:spPr>
          <a:xfrm>
            <a:off x="658368" y="658368"/>
            <a:ext cx="10607040" cy="457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buNone/>
            </a:pPr>
            <a:r>
              <a:rPr sz="2900" b="1">
                <a:solidFill>
                  <a:srgbClr val="153D39"/>
                </a:solidFill>
                <a:latin typeface="Noto Sans CJK SC"/>
                <a:ea typeface="Noto Sans CJK SC"/>
                <a:cs typeface="Noto Sans CJK SC"/>
              </a:rPr>
              <a:t>从客服平台到业务系统的五层架构</a:t>
            </a:r>
            <a:endParaRPr sz="2900"/>
          </a:p>
        </p:txBody>
      </p:sp>
      <p:sp>
        <p:nvSpPr>
          <p:cNvPr id="22" name="Text 20"/>
          <p:cNvSpPr>
            <a:spLocks noGrp="1"/>
          </p:cNvSpPr>
          <p:nvPr/>
        </p:nvSpPr>
        <p:spPr>
          <a:xfrm>
            <a:off x="658368" y="1143000"/>
            <a:ext cx="10561320" cy="31089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r>
              <a:rPr sz="1170">
                <a:solidFill>
                  <a:srgbClr val="44585C"/>
                </a:solidFill>
                <a:latin typeface="Noto Sans CJK SC"/>
                <a:ea typeface="Noto Sans CJK SC"/>
                <a:cs typeface="Noto Sans CJK SC"/>
              </a:rPr>
              <a:t>五层各管一件事；任何一层单独失效，都拿不到完整的业务写权限。</a:t>
            </a:r>
            <a:endParaRPr sz="1170">
              <a:solidFill>
                <a:srgbClr val="6B8185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3" name="Shape 21"/>
          <p:cNvSpPr>
            <a:spLocks noGrp="1"/>
          </p:cNvSpPr>
          <p:nvPr/>
        </p:nvSpPr>
        <p:spPr>
          <a:xfrm>
            <a:off x="658368" y="6519672"/>
            <a:ext cx="11064240" cy="0"/>
          </a:xfrm>
          <a:prstGeom prst="line">
            <a:avLst/>
          </a:prstGeom>
          <a:noFill/>
          <a:ln w="12700">
            <a:solidFill>
              <a:srgbClr val="D7E7E3"/>
            </a:solidFill>
            <a:prstDash val="solid"/>
          </a:ln>
        </p:spPr>
        <p:txBody>
          <a:bodyPr/>
          <a:lstStyle/>
          <a:p/>
        </p:txBody>
      </p:sp>
      <p:sp>
        <p:nvSpPr>
          <p:cNvPr id="24" name="Text 22"/>
          <p:cNvSpPr>
            <a:spLocks noGrp="1"/>
          </p:cNvSpPr>
          <p:nvPr/>
        </p:nvSpPr>
        <p:spPr>
          <a:xfrm>
            <a:off x="658368" y="6583680"/>
            <a:ext cx="3931920" cy="14630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buNone/>
            </a:pPr>
            <a:r>
              <a:rPr sz="850">
                <a:solidFill>
                  <a:srgbClr val="55696A"/>
                </a:solidFill>
                <a:latin typeface="Noto Sans CJK SC"/>
                <a:ea typeface="Noto Sans CJK SC"/>
                <a:cs typeface="Noto Sans CJK SC"/>
              </a:rPr>
              <a:t>CUSTOMER SERVICE AI AGENT</a:t>
            </a:r>
            <a:endParaRPr sz="850"/>
          </a:p>
        </p:txBody>
      </p:sp>
      <p:sp>
        <p:nvSpPr>
          <p:cNvPr id="25" name="Text 23"/>
          <p:cNvSpPr>
            <a:spLocks noGrp="1"/>
          </p:cNvSpPr>
          <p:nvPr/>
        </p:nvSpPr>
        <p:spPr>
          <a:xfrm>
            <a:off x="10927080" y="6565392"/>
            <a:ext cx="777240" cy="16459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</a:pPr>
            <a:r>
              <a:rPr sz="880" b="1">
                <a:solidFill>
                  <a:srgbClr val="076B50"/>
                </a:solidFill>
                <a:latin typeface="Noto Sans CJK SC"/>
                <a:ea typeface="Noto Sans CJK SC"/>
                <a:cs typeface="Noto Sans CJK SC"/>
              </a:rPr>
              <a:t>21</a:t>
            </a:r>
            <a:endParaRPr sz="880" b="1">
              <a:solidFill>
                <a:srgbClr val="2F80ED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18" name="Rectangle 117"/>
          <p:cNvSpPr>
            <a:spLocks noGrp="1"/>
          </p:cNvSpPr>
          <p:nvPr/>
        </p:nvSpPr>
        <p:spPr>
          <a:xfrm>
            <a:off x="0" y="0"/>
            <a:ext cx="41148" cy="6858000"/>
          </a:xfrm>
          <a:prstGeom prst="rect">
            <a:avLst/>
          </a:prstGeom>
          <a:solidFill>
            <a:srgbClr val="0A8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30" name="Rounded Rectangle 129"/>
          <p:cNvSpPr>
            <a:spLocks noGrp="1"/>
          </p:cNvSpPr>
          <p:nvPr/>
        </p:nvSpPr>
        <p:spPr>
          <a:xfrm>
            <a:off x="1051560" y="1554480"/>
            <a:ext cx="9144000" cy="74980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6510"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131" name="Rounded Rectangle 130"/>
          <p:cNvSpPr>
            <a:spLocks noGrp="1"/>
          </p:cNvSpPr>
          <p:nvPr/>
        </p:nvSpPr>
        <p:spPr>
          <a:xfrm>
            <a:off x="1051560" y="1554480"/>
            <a:ext cx="1783080" cy="749808"/>
          </a:xfrm>
          <a:prstGeom prst="roundRect">
            <a:avLst>
              <a:gd name="adj" fmla="val 5000"/>
            </a:avLst>
          </a:prstGeom>
          <a:solidFill>
            <a:srgbClr val="1F63C4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132" name="Oval 131"/>
          <p:cNvSpPr>
            <a:spLocks noGrp="1"/>
          </p:cNvSpPr>
          <p:nvPr/>
        </p:nvSpPr>
        <p:spPr>
          <a:xfrm>
            <a:off x="1197863" y="1746504"/>
            <a:ext cx="365760" cy="36576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133" name="TextBox 132"/>
          <p:cNvSpPr>
            <a:spLocks noGrp="1"/>
          </p:cNvSpPr>
          <p:nvPr/>
        </p:nvSpPr>
        <p:spPr>
          <a:xfrm>
            <a:off x="1197863" y="1810512"/>
            <a:ext cx="3657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000" b="1">
                <a:solidFill>
                  <a:srgbClr val="1B5FC4"/>
                </a:solidFill>
                <a:latin typeface="Noto Sans CJK SC"/>
                <a:ea typeface="Noto Sans CJK SC"/>
                <a:cs typeface="Noto Sans CJK SC"/>
              </a:rPr>
              <a:t>1</a:t>
            </a:r>
            <a:endParaRPr sz="1000" b="1">
              <a:solidFill>
                <a:srgbClr val="2F80ED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34" name="TextBox 133"/>
          <p:cNvSpPr>
            <a:spLocks noGrp="1"/>
          </p:cNvSpPr>
          <p:nvPr/>
        </p:nvSpPr>
        <p:spPr>
          <a:xfrm>
            <a:off x="1655064" y="1828800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接入与分流</a:t>
            </a:r>
            <a:endParaRPr sz="110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35" name="Rounded Rectangle 134"/>
          <p:cNvSpPr>
            <a:spLocks noGrp="1"/>
          </p:cNvSpPr>
          <p:nvPr/>
        </p:nvSpPr>
        <p:spPr>
          <a:xfrm>
            <a:off x="1051560" y="2414016"/>
            <a:ext cx="9144000" cy="74980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6510">
            <a:solidFill>
              <a:srgbClr val="00A7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136" name="Rounded Rectangle 135"/>
          <p:cNvSpPr>
            <a:spLocks noGrp="1"/>
          </p:cNvSpPr>
          <p:nvPr/>
        </p:nvSpPr>
        <p:spPr>
          <a:xfrm>
            <a:off x="1051560" y="2414016"/>
            <a:ext cx="1783080" cy="749808"/>
          </a:xfrm>
          <a:prstGeom prst="roundRect">
            <a:avLst>
              <a:gd name="adj" fmla="val 5000"/>
            </a:avLst>
          </a:prstGeom>
          <a:solidFill>
            <a:srgbClr val="007574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137" name="Oval 136"/>
          <p:cNvSpPr>
            <a:spLocks noGrp="1"/>
          </p:cNvSpPr>
          <p:nvPr/>
        </p:nvSpPr>
        <p:spPr>
          <a:xfrm>
            <a:off x="1197863" y="2606040"/>
            <a:ext cx="365760" cy="36576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0A7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138" name="TextBox 137"/>
          <p:cNvSpPr>
            <a:spLocks noGrp="1"/>
          </p:cNvSpPr>
          <p:nvPr/>
        </p:nvSpPr>
        <p:spPr>
          <a:xfrm>
            <a:off x="1197863" y="2670048"/>
            <a:ext cx="3657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000" b="1">
                <a:solidFill>
                  <a:srgbClr val="00706F"/>
                </a:solidFill>
                <a:latin typeface="Noto Sans CJK SC"/>
                <a:ea typeface="Noto Sans CJK SC"/>
                <a:cs typeface="Noto Sans CJK SC"/>
              </a:rPr>
              <a:t>2</a:t>
            </a:r>
            <a:endParaRPr sz="1000" b="1">
              <a:solidFill>
                <a:srgbClr val="00A7A7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39" name="TextBox 138"/>
          <p:cNvSpPr>
            <a:spLocks noGrp="1"/>
          </p:cNvSpPr>
          <p:nvPr/>
        </p:nvSpPr>
        <p:spPr>
          <a:xfrm>
            <a:off x="1655064" y="2688336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上下文设计层</a:t>
            </a:r>
            <a:endParaRPr sz="110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40" name="Rounded Rectangle 139"/>
          <p:cNvSpPr>
            <a:spLocks noGrp="1"/>
          </p:cNvSpPr>
          <p:nvPr/>
        </p:nvSpPr>
        <p:spPr>
          <a:xfrm>
            <a:off x="1051560" y="3273552"/>
            <a:ext cx="9144000" cy="74980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6510">
            <a:solidFill>
              <a:srgbClr val="6B6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141" name="Rounded Rectangle 140"/>
          <p:cNvSpPr>
            <a:spLocks noGrp="1"/>
          </p:cNvSpPr>
          <p:nvPr/>
        </p:nvSpPr>
        <p:spPr>
          <a:xfrm>
            <a:off x="1051560" y="3273552"/>
            <a:ext cx="1783080" cy="749808"/>
          </a:xfrm>
          <a:prstGeom prst="roundRect">
            <a:avLst>
              <a:gd name="adj" fmla="val 5000"/>
            </a:avLst>
          </a:prstGeom>
          <a:solidFill>
            <a:srgbClr val="5356BE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142" name="Oval 141"/>
          <p:cNvSpPr>
            <a:spLocks noGrp="1"/>
          </p:cNvSpPr>
          <p:nvPr/>
        </p:nvSpPr>
        <p:spPr>
          <a:xfrm>
            <a:off x="1197863" y="3465576"/>
            <a:ext cx="365760" cy="36576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6B6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143" name="TextBox 142"/>
          <p:cNvSpPr>
            <a:spLocks noGrp="1"/>
          </p:cNvSpPr>
          <p:nvPr/>
        </p:nvSpPr>
        <p:spPr>
          <a:xfrm>
            <a:off x="1197863" y="3529584"/>
            <a:ext cx="3657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000" b="1">
                <a:solidFill>
                  <a:srgbClr val="4A4EB0"/>
                </a:solidFill>
                <a:latin typeface="Noto Sans CJK SC"/>
                <a:ea typeface="Noto Sans CJK SC"/>
                <a:cs typeface="Noto Sans CJK SC"/>
              </a:rPr>
              <a:t>3</a:t>
            </a:r>
            <a:endParaRPr sz="1000" b="1">
              <a:solidFill>
                <a:srgbClr val="6B6FD8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44" name="TextBox 143"/>
          <p:cNvSpPr>
            <a:spLocks noGrp="1"/>
          </p:cNvSpPr>
          <p:nvPr/>
        </p:nvSpPr>
        <p:spPr>
          <a:xfrm>
            <a:off x="1655064" y="3547872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决策与编排层</a:t>
            </a:r>
            <a:endParaRPr sz="110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45" name="Rounded Rectangle 144"/>
          <p:cNvSpPr>
            <a:spLocks noGrp="1"/>
          </p:cNvSpPr>
          <p:nvPr/>
        </p:nvSpPr>
        <p:spPr>
          <a:xfrm>
            <a:off x="1051560" y="4133087"/>
            <a:ext cx="9144000" cy="74980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6510">
            <a:solidFill>
              <a:srgbClr val="F28B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146" name="Rounded Rectangle 145"/>
          <p:cNvSpPr>
            <a:spLocks noGrp="1"/>
          </p:cNvSpPr>
          <p:nvPr/>
        </p:nvSpPr>
        <p:spPr>
          <a:xfrm>
            <a:off x="1051560" y="4133087"/>
            <a:ext cx="1783080" cy="749808"/>
          </a:xfrm>
          <a:prstGeom prst="roundRect">
            <a:avLst>
              <a:gd name="adj" fmla="val 5000"/>
            </a:avLst>
          </a:prstGeom>
          <a:solidFill>
            <a:srgbClr val="BC6414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147" name="Oval 146"/>
          <p:cNvSpPr>
            <a:spLocks noGrp="1"/>
          </p:cNvSpPr>
          <p:nvPr/>
        </p:nvSpPr>
        <p:spPr>
          <a:xfrm>
            <a:off x="1197863" y="4325112"/>
            <a:ext cx="365760" cy="36576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F28B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148" name="TextBox 147"/>
          <p:cNvSpPr>
            <a:spLocks noGrp="1"/>
          </p:cNvSpPr>
          <p:nvPr/>
        </p:nvSpPr>
        <p:spPr>
          <a:xfrm>
            <a:off x="1197863" y="4389120"/>
            <a:ext cx="3657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000" b="1">
                <a:solidFill>
                  <a:srgbClr val="9A5210"/>
                </a:solidFill>
                <a:latin typeface="Noto Sans CJK SC"/>
                <a:ea typeface="Noto Sans CJK SC"/>
                <a:cs typeface="Noto Sans CJK SC"/>
              </a:rPr>
              <a:t>4</a:t>
            </a:r>
            <a:endParaRPr sz="1000" b="1">
              <a:solidFill>
                <a:srgbClr val="F28B36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49" name="TextBox 148"/>
          <p:cNvSpPr>
            <a:spLocks noGrp="1"/>
          </p:cNvSpPr>
          <p:nvPr/>
        </p:nvSpPr>
        <p:spPr>
          <a:xfrm>
            <a:off x="1655064" y="4407407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能力与执行层</a:t>
            </a:r>
            <a:endParaRPr sz="110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50" name="Rounded Rectangle 149"/>
          <p:cNvSpPr>
            <a:spLocks noGrp="1"/>
          </p:cNvSpPr>
          <p:nvPr/>
        </p:nvSpPr>
        <p:spPr>
          <a:xfrm>
            <a:off x="1051560" y="4992624"/>
            <a:ext cx="9144000" cy="74980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6510">
            <a:solidFill>
              <a:srgbClr val="0A8F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151" name="Rounded Rectangle 150"/>
          <p:cNvSpPr>
            <a:spLocks noGrp="1"/>
          </p:cNvSpPr>
          <p:nvPr/>
        </p:nvSpPr>
        <p:spPr>
          <a:xfrm>
            <a:off x="1051560" y="4992624"/>
            <a:ext cx="1783080" cy="749808"/>
          </a:xfrm>
          <a:prstGeom prst="roundRect">
            <a:avLst>
              <a:gd name="adj" fmla="val 5000"/>
            </a:avLst>
          </a:prstGeom>
          <a:solidFill>
            <a:srgbClr val="07714F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152" name="Oval 151"/>
          <p:cNvSpPr>
            <a:spLocks noGrp="1"/>
          </p:cNvSpPr>
          <p:nvPr/>
        </p:nvSpPr>
        <p:spPr>
          <a:xfrm>
            <a:off x="1197863" y="5184648"/>
            <a:ext cx="365760" cy="36576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A8F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153" name="TextBox 152"/>
          <p:cNvSpPr>
            <a:spLocks noGrp="1"/>
          </p:cNvSpPr>
          <p:nvPr/>
        </p:nvSpPr>
        <p:spPr>
          <a:xfrm>
            <a:off x="1197863" y="5248656"/>
            <a:ext cx="3657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000" b="1">
                <a:solidFill>
                  <a:srgbClr val="076B50"/>
                </a:solidFill>
                <a:latin typeface="Noto Sans CJK SC"/>
                <a:ea typeface="Noto Sans CJK SC"/>
                <a:cs typeface="Noto Sans CJK SC"/>
              </a:rPr>
              <a:t>5</a:t>
            </a:r>
            <a:endParaRPr sz="1000" b="1">
              <a:solidFill>
                <a:srgbClr val="0A8F6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54" name="TextBox 153"/>
          <p:cNvSpPr>
            <a:spLocks noGrp="1"/>
          </p:cNvSpPr>
          <p:nvPr/>
        </p:nvSpPr>
        <p:spPr>
          <a:xfrm>
            <a:off x="1655064" y="5266944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业务系统层</a:t>
            </a:r>
            <a:endParaRPr sz="110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55" name="TextBox 154"/>
          <p:cNvSpPr>
            <a:spLocks noGrp="1"/>
          </p:cNvSpPr>
          <p:nvPr/>
        </p:nvSpPr>
        <p:spPr>
          <a:xfrm>
            <a:off x="2944368" y="1591056"/>
            <a:ext cx="7141464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640" b="1">
                <a:solidFill>
                  <a:srgbClr val="44585C"/>
                </a:solidFill>
                <a:latin typeface="Noto Sans CJK SC"/>
                <a:ea typeface="Noto Sans CJK SC"/>
                <a:cs typeface="Noto Sans CJK SC"/>
              </a:rPr>
              <a:t>本层只做接入与分流，不做业务判断</a:t>
            </a:r>
            <a:endParaRPr sz="640" b="1">
              <a:solidFill>
                <a:srgbClr val="6B8185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56" name="Rounded Rectangle 155"/>
          <p:cNvSpPr>
            <a:spLocks noGrp="1"/>
          </p:cNvSpPr>
          <p:nvPr/>
        </p:nvSpPr>
        <p:spPr>
          <a:xfrm>
            <a:off x="2944368" y="1737360"/>
            <a:ext cx="182880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6B81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157" name="TextBox 156"/>
          <p:cNvSpPr>
            <a:spLocks noGrp="1"/>
          </p:cNvSpPr>
          <p:nvPr/>
        </p:nvSpPr>
        <p:spPr>
          <a:xfrm>
            <a:off x="2944368" y="1810512"/>
            <a:ext cx="18288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860" b="1">
                <a:solidFill>
                  <a:srgbClr val="163B36"/>
                </a:solidFill>
                <a:latin typeface="Noto Sans CJK SC"/>
                <a:ea typeface="Noto Sans CJK SC"/>
                <a:cs typeface="Noto Sans CJK SC"/>
              </a:rPr>
              <a:t>客服平台 · 唯一入口</a:t>
            </a:r>
            <a:endParaRPr sz="860" b="1">
              <a:solidFill>
                <a:srgbClr val="163B36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58" name="TextBox 157"/>
          <p:cNvSpPr>
            <a:spLocks noGrp="1"/>
          </p:cNvSpPr>
          <p:nvPr/>
        </p:nvSpPr>
        <p:spPr>
          <a:xfrm>
            <a:off x="2944368" y="1993391"/>
            <a:ext cx="182880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660" b="0">
                <a:solidFill>
                  <a:srgbClr val="44585C"/>
                </a:solidFill>
                <a:latin typeface="Noto Sans CJK SC"/>
                <a:ea typeface="Noto Sans CJK SC"/>
                <a:cs typeface="Noto Sans CJK SC"/>
              </a:rPr>
              <a:t>chat · email · voice</a:t>
            </a:r>
            <a:endParaRPr sz="660" b="0">
              <a:solidFill>
                <a:srgbClr val="6B8185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59" name="Connector 158"/>
          <p:cNvSpPr>
            <a:spLocks noGrp="1"/>
          </p:cNvSpPr>
          <p:nvPr/>
        </p:nvSpPr>
        <p:spPr>
          <a:xfrm>
            <a:off x="4773168" y="1929384"/>
            <a:ext cx="256032" cy="0"/>
          </a:xfrm>
          <a:prstGeom prst="line">
            <a:avLst/>
          </a:prstGeom>
          <a:ln w="22860">
            <a:solidFill>
              <a:srgbClr val="2F80E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p/>
        </p:txBody>
      </p:sp>
      <p:sp>
        <p:nvSpPr>
          <p:cNvPr id="160" name="Rounded Rectangle 159"/>
          <p:cNvSpPr>
            <a:spLocks noGrp="1"/>
          </p:cNvSpPr>
          <p:nvPr/>
        </p:nvSpPr>
        <p:spPr>
          <a:xfrm>
            <a:off x="5029200" y="1737360"/>
            <a:ext cx="1874519" cy="457200"/>
          </a:xfrm>
          <a:prstGeom prst="roundRect">
            <a:avLst>
              <a:gd name="adj" fmla="val 16000"/>
            </a:avLst>
          </a:prstGeom>
          <a:solidFill>
            <a:srgbClr val="153D39"/>
          </a:solidFill>
          <a:ln w="15240">
            <a:solidFill>
              <a:srgbClr val="153D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161" name="TextBox 160"/>
          <p:cNvSpPr>
            <a:spLocks noGrp="1"/>
          </p:cNvSpPr>
          <p:nvPr/>
        </p:nvSpPr>
        <p:spPr>
          <a:xfrm>
            <a:off x="5029200" y="1883664"/>
            <a:ext cx="187451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endParaRPr sz="86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62" name="TextBox 161"/>
          <p:cNvSpPr>
            <a:spLocks noGrp="1"/>
          </p:cNvSpPr>
          <p:nvPr/>
        </p:nvSpPr>
        <p:spPr>
          <a:xfrm>
            <a:off x="5029200" y="1810512"/>
            <a:ext cx="187451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9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AI Agent · 中枢</a:t>
            </a:r>
            <a:endParaRPr sz="90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63" name="TextBox 162"/>
          <p:cNvSpPr>
            <a:spLocks noGrp="1"/>
          </p:cNvSpPr>
          <p:nvPr/>
        </p:nvSpPr>
        <p:spPr>
          <a:xfrm>
            <a:off x="5029200" y="1993391"/>
            <a:ext cx="1874519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660" b="0">
                <a:solidFill>
                  <a:srgbClr val="B8DED6"/>
                </a:solidFill>
                <a:latin typeface="Noto Sans CJK SC"/>
                <a:ea typeface="Noto Sans CJK SC"/>
                <a:cs typeface="Noto Sans CJK SC"/>
              </a:rPr>
              <a:t>决策细节见下方 2–5 层</a:t>
            </a:r>
            <a:endParaRPr sz="660" b="0">
              <a:solidFill>
                <a:srgbClr val="D6E7F7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64" name="Connector 163"/>
          <p:cNvSpPr>
            <a:spLocks noGrp="1"/>
          </p:cNvSpPr>
          <p:nvPr/>
        </p:nvSpPr>
        <p:spPr>
          <a:xfrm>
            <a:off x="6903720" y="1929384"/>
            <a:ext cx="228600" cy="0"/>
          </a:xfrm>
          <a:prstGeom prst="line">
            <a:avLst/>
          </a:prstGeom>
          <a:ln w="17780">
            <a:solidFill>
              <a:srgbClr val="2F80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p/>
        </p:txBody>
      </p:sp>
      <p:sp>
        <p:nvSpPr>
          <p:cNvPr id="165" name="Connector 164"/>
          <p:cNvSpPr>
            <a:spLocks noGrp="1"/>
          </p:cNvSpPr>
          <p:nvPr/>
        </p:nvSpPr>
        <p:spPr>
          <a:xfrm>
            <a:off x="7132320" y="1856231"/>
            <a:ext cx="0" cy="256033"/>
          </a:xfrm>
          <a:prstGeom prst="line">
            <a:avLst/>
          </a:prstGeom>
          <a:ln w="17780">
            <a:solidFill>
              <a:srgbClr val="2F80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p/>
        </p:txBody>
      </p:sp>
      <p:sp>
        <p:nvSpPr>
          <p:cNvPr id="166" name="Connector 165"/>
          <p:cNvSpPr>
            <a:spLocks noGrp="1"/>
          </p:cNvSpPr>
          <p:nvPr/>
        </p:nvSpPr>
        <p:spPr>
          <a:xfrm>
            <a:off x="7132320" y="1856231"/>
            <a:ext cx="228600" cy="0"/>
          </a:xfrm>
          <a:prstGeom prst="line">
            <a:avLst/>
          </a:prstGeom>
          <a:ln w="17780">
            <a:solidFill>
              <a:srgbClr val="6B6FD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p/>
        </p:txBody>
      </p:sp>
      <p:sp>
        <p:nvSpPr>
          <p:cNvPr id="167" name="Rounded Rectangle 166"/>
          <p:cNvSpPr>
            <a:spLocks noGrp="1"/>
          </p:cNvSpPr>
          <p:nvPr/>
        </p:nvSpPr>
        <p:spPr>
          <a:xfrm>
            <a:off x="7360920" y="1728215"/>
            <a:ext cx="2724912" cy="256032"/>
          </a:xfrm>
          <a:prstGeom prst="roundRect">
            <a:avLst>
              <a:gd name="adj" fmla="val 26000"/>
            </a:avLst>
          </a:prstGeom>
          <a:solidFill>
            <a:srgbClr val="EEF0FF"/>
          </a:solidFill>
          <a:ln w="13970">
            <a:solidFill>
              <a:srgbClr val="6B6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168" name="TextBox 167"/>
          <p:cNvSpPr>
            <a:spLocks noGrp="1"/>
          </p:cNvSpPr>
          <p:nvPr/>
        </p:nvSpPr>
        <p:spPr>
          <a:xfrm>
            <a:off x="7479792" y="1783079"/>
            <a:ext cx="14630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800" b="1">
                <a:solidFill>
                  <a:srgbClr val="163B36"/>
                </a:solidFill>
                <a:latin typeface="Noto Sans CJK SC"/>
                <a:ea typeface="Noto Sans CJK SC"/>
                <a:cs typeface="Noto Sans CJK SC"/>
              </a:rPr>
              <a:t>Workflow 流程</a:t>
            </a:r>
            <a:endParaRPr sz="800" b="1">
              <a:solidFill>
                <a:srgbClr val="163B36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69" name="TextBox 168"/>
          <p:cNvSpPr>
            <a:spLocks noGrp="1"/>
          </p:cNvSpPr>
          <p:nvPr/>
        </p:nvSpPr>
        <p:spPr>
          <a:xfrm>
            <a:off x="8503920" y="1783079"/>
            <a:ext cx="14630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buNone/>
            </a:pPr>
            <a:r>
              <a:rPr sz="680" b="1">
                <a:solidFill>
                  <a:srgbClr val="4A4EB0"/>
                </a:solidFill>
                <a:latin typeface="Noto Sans CJK SC"/>
                <a:ea typeface="Noto Sans CJK SC"/>
                <a:cs typeface="Noto Sans CJK SC"/>
              </a:rPr>
              <a:t>打标触发 · 定时</a:t>
            </a:r>
            <a:endParaRPr sz="680" b="1">
              <a:solidFill>
                <a:srgbClr val="6B6FD8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70" name="Connector 169"/>
          <p:cNvSpPr>
            <a:spLocks noGrp="1"/>
          </p:cNvSpPr>
          <p:nvPr/>
        </p:nvSpPr>
        <p:spPr>
          <a:xfrm>
            <a:off x="7132320" y="2112264"/>
            <a:ext cx="228600" cy="0"/>
          </a:xfrm>
          <a:prstGeom prst="line">
            <a:avLst/>
          </a:prstGeom>
          <a:ln w="17780">
            <a:solidFill>
              <a:srgbClr val="F28B3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p/>
        </p:txBody>
      </p:sp>
      <p:sp>
        <p:nvSpPr>
          <p:cNvPr id="171" name="Rounded Rectangle 170"/>
          <p:cNvSpPr>
            <a:spLocks noGrp="1"/>
          </p:cNvSpPr>
          <p:nvPr/>
        </p:nvSpPr>
        <p:spPr>
          <a:xfrm>
            <a:off x="7360920" y="1984248"/>
            <a:ext cx="2724912" cy="256032"/>
          </a:xfrm>
          <a:prstGeom prst="roundRect">
            <a:avLst>
              <a:gd name="adj" fmla="val 26000"/>
            </a:avLst>
          </a:prstGeom>
          <a:solidFill>
            <a:srgbClr val="FFF2E8"/>
          </a:solidFill>
          <a:ln w="13970">
            <a:solidFill>
              <a:srgbClr val="F28B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172" name="TextBox 171"/>
          <p:cNvSpPr>
            <a:spLocks noGrp="1"/>
          </p:cNvSpPr>
          <p:nvPr/>
        </p:nvSpPr>
        <p:spPr>
          <a:xfrm>
            <a:off x="7479792" y="2039112"/>
            <a:ext cx="14630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800" b="1">
                <a:solidFill>
                  <a:srgbClr val="163B36"/>
                </a:solidFill>
                <a:latin typeface="Noto Sans CJK SC"/>
                <a:ea typeface="Noto Sans CJK SC"/>
                <a:cs typeface="Noto Sans CJK SC"/>
              </a:rPr>
              <a:t>人工 · 工作台插件</a:t>
            </a:r>
            <a:endParaRPr sz="800" b="1">
              <a:solidFill>
                <a:srgbClr val="163B36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73" name="TextBox 172"/>
          <p:cNvSpPr>
            <a:spLocks noGrp="1"/>
          </p:cNvSpPr>
          <p:nvPr/>
        </p:nvSpPr>
        <p:spPr>
          <a:xfrm>
            <a:off x="8503920" y="2039112"/>
            <a:ext cx="14630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buNone/>
            </a:pPr>
            <a:r>
              <a:rPr sz="680" b="1">
                <a:solidFill>
                  <a:srgbClr val="9A5210"/>
                </a:solidFill>
                <a:latin typeface="Noto Sans CJK SC"/>
                <a:ea typeface="Noto Sans CJK SC"/>
                <a:cs typeface="Noto Sans CJK SC"/>
              </a:rPr>
              <a:t>插件调用 AI Agent</a:t>
            </a:r>
            <a:endParaRPr sz="680" b="1">
              <a:solidFill>
                <a:srgbClr val="F28B36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74" name="Rounded Rectangle 173"/>
          <p:cNvSpPr>
            <a:spLocks noGrp="1"/>
          </p:cNvSpPr>
          <p:nvPr/>
        </p:nvSpPr>
        <p:spPr>
          <a:xfrm>
            <a:off x="2944368" y="2615184"/>
            <a:ext cx="1170432" cy="347472"/>
          </a:xfrm>
          <a:prstGeom prst="roundRect">
            <a:avLst>
              <a:gd name="adj" fmla="val 16000"/>
            </a:avLst>
          </a:prstGeom>
          <a:solidFill>
            <a:srgbClr val="E7F7F7"/>
          </a:solidFill>
          <a:ln w="15240">
            <a:solidFill>
              <a:srgbClr val="00A7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175" name="TextBox 174"/>
          <p:cNvSpPr>
            <a:spLocks noGrp="1"/>
          </p:cNvSpPr>
          <p:nvPr/>
        </p:nvSpPr>
        <p:spPr>
          <a:xfrm>
            <a:off x="2944368" y="2706624"/>
            <a:ext cx="117043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860" b="1">
                <a:solidFill>
                  <a:srgbClr val="163B36"/>
                </a:solidFill>
                <a:latin typeface="Noto Sans CJK SC"/>
                <a:ea typeface="Noto Sans CJK SC"/>
                <a:cs typeface="Noto Sans CJK SC"/>
              </a:rPr>
              <a:t>会话与工单</a:t>
            </a:r>
            <a:endParaRPr sz="860" b="1">
              <a:solidFill>
                <a:srgbClr val="163B36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76" name="Rounded Rectangle 175"/>
          <p:cNvSpPr>
            <a:spLocks noGrp="1"/>
          </p:cNvSpPr>
          <p:nvPr/>
        </p:nvSpPr>
        <p:spPr>
          <a:xfrm>
            <a:off x="4187952" y="2615184"/>
            <a:ext cx="1170432" cy="347472"/>
          </a:xfrm>
          <a:prstGeom prst="roundRect">
            <a:avLst>
              <a:gd name="adj" fmla="val 16000"/>
            </a:avLst>
          </a:prstGeom>
          <a:solidFill>
            <a:srgbClr val="E7F7F7"/>
          </a:solidFill>
          <a:ln w="15240">
            <a:solidFill>
              <a:srgbClr val="00A7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177" name="TextBox 176"/>
          <p:cNvSpPr>
            <a:spLocks noGrp="1"/>
          </p:cNvSpPr>
          <p:nvPr/>
        </p:nvSpPr>
        <p:spPr>
          <a:xfrm>
            <a:off x="4187952" y="2706624"/>
            <a:ext cx="117043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860" b="1">
                <a:solidFill>
                  <a:srgbClr val="163B36"/>
                </a:solidFill>
                <a:latin typeface="Noto Sans CJK SC"/>
                <a:ea typeface="Noto Sans CJK SC"/>
                <a:cs typeface="Noto Sans CJK SC"/>
              </a:rPr>
              <a:t>知识 / RAG</a:t>
            </a:r>
            <a:endParaRPr sz="860" b="1">
              <a:solidFill>
                <a:srgbClr val="163B36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78" name="Rounded Rectangle 177"/>
          <p:cNvSpPr>
            <a:spLocks noGrp="1"/>
          </p:cNvSpPr>
          <p:nvPr/>
        </p:nvSpPr>
        <p:spPr>
          <a:xfrm>
            <a:off x="5431536" y="2615184"/>
            <a:ext cx="1170432" cy="347472"/>
          </a:xfrm>
          <a:prstGeom prst="roundRect">
            <a:avLst>
              <a:gd name="adj" fmla="val 16000"/>
            </a:avLst>
          </a:prstGeom>
          <a:solidFill>
            <a:srgbClr val="E7F7F7"/>
          </a:solidFill>
          <a:ln w="15240">
            <a:solidFill>
              <a:srgbClr val="00A7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179" name="TextBox 178"/>
          <p:cNvSpPr>
            <a:spLocks noGrp="1"/>
          </p:cNvSpPr>
          <p:nvPr/>
        </p:nvSpPr>
        <p:spPr>
          <a:xfrm>
            <a:off x="5431536" y="2706624"/>
            <a:ext cx="117043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860" b="1">
                <a:solidFill>
                  <a:srgbClr val="163B36"/>
                </a:solidFill>
                <a:latin typeface="Noto Sans CJK SC"/>
                <a:ea typeface="Noto Sans CJK SC"/>
                <a:cs typeface="Noto Sans CJK SC"/>
              </a:rPr>
              <a:t>业务实时状态</a:t>
            </a:r>
            <a:endParaRPr sz="860" b="1">
              <a:solidFill>
                <a:srgbClr val="163B36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80" name="Connector 179"/>
          <p:cNvSpPr>
            <a:spLocks noGrp="1"/>
          </p:cNvSpPr>
          <p:nvPr/>
        </p:nvSpPr>
        <p:spPr>
          <a:xfrm>
            <a:off x="6601968" y="2788920"/>
            <a:ext cx="256032" cy="0"/>
          </a:xfrm>
          <a:prstGeom prst="line">
            <a:avLst/>
          </a:prstGeom>
          <a:ln w="20320">
            <a:solidFill>
              <a:srgbClr val="00A7A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p/>
        </p:txBody>
      </p:sp>
      <p:sp>
        <p:nvSpPr>
          <p:cNvPr id="181" name="Rounded Rectangle 180"/>
          <p:cNvSpPr>
            <a:spLocks noGrp="1"/>
          </p:cNvSpPr>
          <p:nvPr/>
        </p:nvSpPr>
        <p:spPr>
          <a:xfrm>
            <a:off x="6858000" y="2615184"/>
            <a:ext cx="1517904" cy="347472"/>
          </a:xfrm>
          <a:prstGeom prst="roundRect">
            <a:avLst>
              <a:gd name="adj" fmla="val 16000"/>
            </a:avLst>
          </a:prstGeom>
          <a:solidFill>
            <a:srgbClr val="E7F7F7"/>
          </a:solidFill>
          <a:ln w="15240">
            <a:solidFill>
              <a:srgbClr val="00A7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182" name="TextBox 181"/>
          <p:cNvSpPr>
            <a:spLocks noGrp="1"/>
          </p:cNvSpPr>
          <p:nvPr/>
        </p:nvSpPr>
        <p:spPr>
          <a:xfrm>
            <a:off x="6858000" y="2706624"/>
            <a:ext cx="151790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860" b="1">
                <a:solidFill>
                  <a:srgbClr val="163B36"/>
                </a:solidFill>
                <a:latin typeface="Noto Sans CJK SC"/>
                <a:ea typeface="Noto Sans CJK SC"/>
                <a:cs typeface="Noto Sans CJK SC"/>
              </a:rPr>
              <a:t>Context 组装</a:t>
            </a:r>
            <a:endParaRPr sz="860" b="1">
              <a:solidFill>
                <a:srgbClr val="163B36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83" name="Connector 182"/>
          <p:cNvSpPr>
            <a:spLocks noGrp="1"/>
          </p:cNvSpPr>
          <p:nvPr/>
        </p:nvSpPr>
        <p:spPr>
          <a:xfrm>
            <a:off x="8375904" y="2788920"/>
            <a:ext cx="256032" cy="0"/>
          </a:xfrm>
          <a:prstGeom prst="line">
            <a:avLst/>
          </a:prstGeom>
          <a:ln w="20320">
            <a:solidFill>
              <a:srgbClr val="00A7A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p/>
        </p:txBody>
      </p:sp>
      <p:sp>
        <p:nvSpPr>
          <p:cNvPr id="184" name="Rounded Rectangle 183"/>
          <p:cNvSpPr>
            <a:spLocks noGrp="1"/>
          </p:cNvSpPr>
          <p:nvPr/>
        </p:nvSpPr>
        <p:spPr>
          <a:xfrm>
            <a:off x="8631936" y="2615184"/>
            <a:ext cx="1453896" cy="347472"/>
          </a:xfrm>
          <a:prstGeom prst="roundRect">
            <a:avLst>
              <a:gd name="adj" fmla="val 16000"/>
            </a:avLst>
          </a:prstGeom>
          <a:solidFill>
            <a:srgbClr val="E7F7F7"/>
          </a:solidFill>
          <a:ln w="15240">
            <a:solidFill>
              <a:srgbClr val="00A7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185" name="TextBox 184"/>
          <p:cNvSpPr>
            <a:spLocks noGrp="1"/>
          </p:cNvSpPr>
          <p:nvPr/>
        </p:nvSpPr>
        <p:spPr>
          <a:xfrm>
            <a:off x="8631936" y="2706624"/>
            <a:ext cx="145389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860" b="1">
                <a:solidFill>
                  <a:srgbClr val="163B36"/>
                </a:solidFill>
                <a:latin typeface="Noto Sans CJK SC"/>
                <a:ea typeface="Noto Sans CJK SC"/>
                <a:cs typeface="Noto Sans CJK SC"/>
              </a:rPr>
              <a:t>Prompt / 输出约束</a:t>
            </a:r>
            <a:endParaRPr sz="860" b="1">
              <a:solidFill>
                <a:srgbClr val="163B36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86" name="TextBox 185"/>
          <p:cNvSpPr>
            <a:spLocks noGrp="1"/>
          </p:cNvSpPr>
          <p:nvPr/>
        </p:nvSpPr>
        <p:spPr>
          <a:xfrm>
            <a:off x="2944368" y="2432304"/>
            <a:ext cx="36576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640" b="1">
                <a:solidFill>
                  <a:srgbClr val="44585C"/>
                </a:solidFill>
                <a:latin typeface="Noto Sans CJK SC"/>
                <a:ea typeface="Noto Sans CJK SC"/>
                <a:cs typeface="Noto Sans CJK SC"/>
              </a:rPr>
              <a:t>来源（并列取数）</a:t>
            </a:r>
            <a:endParaRPr sz="640" b="1">
              <a:solidFill>
                <a:srgbClr val="6B8185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87" name="TextBox 186"/>
          <p:cNvSpPr>
            <a:spLocks noGrp="1"/>
          </p:cNvSpPr>
          <p:nvPr/>
        </p:nvSpPr>
        <p:spPr>
          <a:xfrm>
            <a:off x="6858000" y="2432304"/>
            <a:ext cx="3227832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640" b="1">
                <a:solidFill>
                  <a:srgbClr val="44585C"/>
                </a:solidFill>
                <a:latin typeface="Noto Sans CJK SC"/>
                <a:ea typeface="Noto Sans CJK SC"/>
                <a:cs typeface="Noto Sans CJK SC"/>
              </a:rPr>
              <a:t>组装 → 约束输出</a:t>
            </a:r>
            <a:endParaRPr sz="640" b="1">
              <a:solidFill>
                <a:srgbClr val="6B8185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88" name="Rounded Rectangle 187"/>
          <p:cNvSpPr>
            <a:spLocks noGrp="1"/>
          </p:cNvSpPr>
          <p:nvPr/>
        </p:nvSpPr>
        <p:spPr>
          <a:xfrm>
            <a:off x="2944368" y="3474720"/>
            <a:ext cx="1037844" cy="347472"/>
          </a:xfrm>
          <a:prstGeom prst="roundRect">
            <a:avLst>
              <a:gd name="adj" fmla="val 16000"/>
            </a:avLst>
          </a:prstGeom>
          <a:solidFill>
            <a:srgbClr val="EEF0FF"/>
          </a:solidFill>
          <a:ln w="15240">
            <a:solidFill>
              <a:srgbClr val="6B6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189" name="TextBox 188"/>
          <p:cNvSpPr>
            <a:spLocks noGrp="1"/>
          </p:cNvSpPr>
          <p:nvPr/>
        </p:nvSpPr>
        <p:spPr>
          <a:xfrm>
            <a:off x="2944368" y="3566160"/>
            <a:ext cx="103784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820" b="1">
                <a:solidFill>
                  <a:srgbClr val="163B36"/>
                </a:solidFill>
                <a:latin typeface="Noto Sans CJK SC"/>
                <a:ea typeface="Noto Sans CJK SC"/>
                <a:cs typeface="Noto Sans CJK SC"/>
              </a:rPr>
              <a:t>场景识别</a:t>
            </a:r>
            <a:endParaRPr sz="820" b="1">
              <a:solidFill>
                <a:srgbClr val="163B36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90" name="Connector 189"/>
          <p:cNvSpPr>
            <a:spLocks noGrp="1"/>
          </p:cNvSpPr>
          <p:nvPr/>
        </p:nvSpPr>
        <p:spPr>
          <a:xfrm>
            <a:off x="3982212" y="3648456"/>
            <a:ext cx="182880" cy="0"/>
          </a:xfrm>
          <a:prstGeom prst="line">
            <a:avLst/>
          </a:prstGeom>
          <a:ln w="19050">
            <a:solidFill>
              <a:srgbClr val="6B6FD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p/>
        </p:txBody>
      </p:sp>
      <p:sp>
        <p:nvSpPr>
          <p:cNvPr id="191" name="Rounded Rectangle 190"/>
          <p:cNvSpPr>
            <a:spLocks noGrp="1"/>
          </p:cNvSpPr>
          <p:nvPr/>
        </p:nvSpPr>
        <p:spPr>
          <a:xfrm>
            <a:off x="4165092" y="3474720"/>
            <a:ext cx="1037844" cy="347472"/>
          </a:xfrm>
          <a:prstGeom prst="roundRect">
            <a:avLst>
              <a:gd name="adj" fmla="val 16000"/>
            </a:avLst>
          </a:prstGeom>
          <a:solidFill>
            <a:srgbClr val="EEF0FF"/>
          </a:solidFill>
          <a:ln w="15240">
            <a:solidFill>
              <a:srgbClr val="6B6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192" name="TextBox 191"/>
          <p:cNvSpPr>
            <a:spLocks noGrp="1"/>
          </p:cNvSpPr>
          <p:nvPr/>
        </p:nvSpPr>
        <p:spPr>
          <a:xfrm>
            <a:off x="4165092" y="3566160"/>
            <a:ext cx="103784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820" b="1">
                <a:solidFill>
                  <a:srgbClr val="163B36"/>
                </a:solidFill>
                <a:latin typeface="Noto Sans CJK SC"/>
                <a:ea typeface="Noto Sans CJK SC"/>
                <a:cs typeface="Noto Sans CJK SC"/>
              </a:rPr>
              <a:t>多诉求拆分</a:t>
            </a:r>
            <a:endParaRPr sz="820" b="1">
              <a:solidFill>
                <a:srgbClr val="163B36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93" name="Connector 192"/>
          <p:cNvSpPr>
            <a:spLocks noGrp="1"/>
          </p:cNvSpPr>
          <p:nvPr/>
        </p:nvSpPr>
        <p:spPr>
          <a:xfrm>
            <a:off x="5202936" y="3648456"/>
            <a:ext cx="182880" cy="0"/>
          </a:xfrm>
          <a:prstGeom prst="line">
            <a:avLst/>
          </a:prstGeom>
          <a:ln w="19050">
            <a:solidFill>
              <a:srgbClr val="6B6FD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p/>
        </p:txBody>
      </p:sp>
      <p:sp>
        <p:nvSpPr>
          <p:cNvPr id="194" name="Rounded Rectangle 193"/>
          <p:cNvSpPr>
            <a:spLocks noGrp="1"/>
          </p:cNvSpPr>
          <p:nvPr/>
        </p:nvSpPr>
        <p:spPr>
          <a:xfrm>
            <a:off x="5385816" y="3474720"/>
            <a:ext cx="1037844" cy="347472"/>
          </a:xfrm>
          <a:prstGeom prst="roundRect">
            <a:avLst>
              <a:gd name="adj" fmla="val 16000"/>
            </a:avLst>
          </a:prstGeom>
          <a:solidFill>
            <a:srgbClr val="EEF0FF"/>
          </a:solidFill>
          <a:ln w="15240">
            <a:solidFill>
              <a:srgbClr val="6B6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195" name="TextBox 194"/>
          <p:cNvSpPr>
            <a:spLocks noGrp="1"/>
          </p:cNvSpPr>
          <p:nvPr/>
        </p:nvSpPr>
        <p:spPr>
          <a:xfrm>
            <a:off x="5385816" y="3566160"/>
            <a:ext cx="103784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820" b="1">
                <a:solidFill>
                  <a:srgbClr val="163B36"/>
                </a:solidFill>
                <a:latin typeface="Noto Sans CJK SC"/>
                <a:ea typeface="Noto Sans CJK SC"/>
                <a:cs typeface="Noto Sans CJK SC"/>
              </a:rPr>
              <a:t>风险判断</a:t>
            </a:r>
            <a:endParaRPr sz="820" b="1">
              <a:solidFill>
                <a:srgbClr val="163B36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96" name="Connector 195"/>
          <p:cNvSpPr>
            <a:spLocks noGrp="1"/>
          </p:cNvSpPr>
          <p:nvPr/>
        </p:nvSpPr>
        <p:spPr>
          <a:xfrm>
            <a:off x="6423660" y="3648456"/>
            <a:ext cx="182880" cy="0"/>
          </a:xfrm>
          <a:prstGeom prst="line">
            <a:avLst/>
          </a:prstGeom>
          <a:ln w="19050">
            <a:solidFill>
              <a:srgbClr val="6B6FD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p/>
        </p:txBody>
      </p:sp>
      <p:sp>
        <p:nvSpPr>
          <p:cNvPr id="197" name="Rounded Rectangle 196"/>
          <p:cNvSpPr>
            <a:spLocks noGrp="1"/>
          </p:cNvSpPr>
          <p:nvPr/>
        </p:nvSpPr>
        <p:spPr>
          <a:xfrm>
            <a:off x="6606540" y="3474720"/>
            <a:ext cx="1037844" cy="347472"/>
          </a:xfrm>
          <a:prstGeom prst="roundRect">
            <a:avLst>
              <a:gd name="adj" fmla="val 16000"/>
            </a:avLst>
          </a:prstGeom>
          <a:solidFill>
            <a:srgbClr val="EEF0FF"/>
          </a:solidFill>
          <a:ln w="15240">
            <a:solidFill>
              <a:srgbClr val="6B6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198" name="TextBox 197"/>
          <p:cNvSpPr>
            <a:spLocks noGrp="1"/>
          </p:cNvSpPr>
          <p:nvPr/>
        </p:nvSpPr>
        <p:spPr>
          <a:xfrm>
            <a:off x="6606540" y="3566160"/>
            <a:ext cx="103784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820" b="1">
                <a:solidFill>
                  <a:srgbClr val="163B36"/>
                </a:solidFill>
                <a:latin typeface="Noto Sans CJK SC"/>
                <a:ea typeface="Noto Sans CJK SC"/>
                <a:cs typeface="Noto Sans CJK SC"/>
              </a:rPr>
              <a:t>Skill 选择</a:t>
            </a:r>
            <a:endParaRPr sz="820" b="1">
              <a:solidFill>
                <a:srgbClr val="163B36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99" name="Connector 198"/>
          <p:cNvSpPr>
            <a:spLocks noGrp="1"/>
          </p:cNvSpPr>
          <p:nvPr/>
        </p:nvSpPr>
        <p:spPr>
          <a:xfrm>
            <a:off x="7644384" y="3648456"/>
            <a:ext cx="182880" cy="0"/>
          </a:xfrm>
          <a:prstGeom prst="line">
            <a:avLst/>
          </a:prstGeom>
          <a:ln w="19050">
            <a:solidFill>
              <a:srgbClr val="6B6FD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p/>
        </p:txBody>
      </p:sp>
      <p:sp>
        <p:nvSpPr>
          <p:cNvPr id="200" name="Rounded Rectangle 199"/>
          <p:cNvSpPr>
            <a:spLocks noGrp="1"/>
          </p:cNvSpPr>
          <p:nvPr/>
        </p:nvSpPr>
        <p:spPr>
          <a:xfrm>
            <a:off x="7827264" y="3474720"/>
            <a:ext cx="1037844" cy="347472"/>
          </a:xfrm>
          <a:prstGeom prst="roundRect">
            <a:avLst>
              <a:gd name="adj" fmla="val 16000"/>
            </a:avLst>
          </a:prstGeom>
          <a:solidFill>
            <a:srgbClr val="EEF0FF"/>
          </a:solidFill>
          <a:ln w="15240">
            <a:solidFill>
              <a:srgbClr val="6B6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201" name="TextBox 200"/>
          <p:cNvSpPr>
            <a:spLocks noGrp="1"/>
          </p:cNvSpPr>
          <p:nvPr/>
        </p:nvSpPr>
        <p:spPr>
          <a:xfrm>
            <a:off x="7827264" y="3566160"/>
            <a:ext cx="103784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820" b="1">
                <a:solidFill>
                  <a:srgbClr val="163B36"/>
                </a:solidFill>
                <a:latin typeface="Noto Sans CJK SC"/>
                <a:ea typeface="Noto Sans CJK SC"/>
                <a:cs typeface="Noto Sans CJK SC"/>
              </a:rPr>
              <a:t>执行计划</a:t>
            </a:r>
            <a:endParaRPr sz="820" b="1">
              <a:solidFill>
                <a:srgbClr val="163B36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02" name="Connector 201"/>
          <p:cNvSpPr>
            <a:spLocks noGrp="1"/>
          </p:cNvSpPr>
          <p:nvPr/>
        </p:nvSpPr>
        <p:spPr>
          <a:xfrm>
            <a:off x="8865108" y="3648456"/>
            <a:ext cx="182880" cy="0"/>
          </a:xfrm>
          <a:prstGeom prst="line">
            <a:avLst/>
          </a:prstGeom>
          <a:ln w="19050">
            <a:solidFill>
              <a:srgbClr val="6B6FD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p/>
        </p:txBody>
      </p:sp>
      <p:sp>
        <p:nvSpPr>
          <p:cNvPr id="203" name="Rounded Rectangle 202"/>
          <p:cNvSpPr>
            <a:spLocks noGrp="1"/>
          </p:cNvSpPr>
          <p:nvPr/>
        </p:nvSpPr>
        <p:spPr>
          <a:xfrm>
            <a:off x="9047988" y="3474720"/>
            <a:ext cx="1037844" cy="347472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6B6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204" name="TextBox 203"/>
          <p:cNvSpPr>
            <a:spLocks noGrp="1"/>
          </p:cNvSpPr>
          <p:nvPr/>
        </p:nvSpPr>
        <p:spPr>
          <a:xfrm>
            <a:off x="9047988" y="3557016"/>
            <a:ext cx="103784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820" b="1">
                <a:solidFill>
                  <a:srgbClr val="4A4EB0"/>
                </a:solidFill>
                <a:latin typeface="Noto Sans CJK SC"/>
                <a:ea typeface="Noto Sans CJK SC"/>
                <a:cs typeface="Noto Sans CJK SC"/>
              </a:rPr>
              <a:t>人工介入判断</a:t>
            </a:r>
            <a:endParaRPr sz="820" b="1">
              <a:solidFill>
                <a:srgbClr val="6B6FD8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05" name="TextBox 204"/>
          <p:cNvSpPr>
            <a:spLocks noGrp="1"/>
          </p:cNvSpPr>
          <p:nvPr/>
        </p:nvSpPr>
        <p:spPr>
          <a:xfrm>
            <a:off x="2944368" y="3291840"/>
            <a:ext cx="7141464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640" b="1">
                <a:solidFill>
                  <a:srgbClr val="44585C"/>
                </a:solidFill>
                <a:latin typeface="Noto Sans CJK SC"/>
                <a:ea typeface="Noto Sans CJK SC"/>
                <a:cs typeface="Noto Sans CJK SC"/>
              </a:rPr>
              <a:t>顺序推进；任一步不满足即转人工</a:t>
            </a:r>
            <a:endParaRPr sz="640" b="1">
              <a:solidFill>
                <a:srgbClr val="6B8185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06" name="Rounded Rectangle 205"/>
          <p:cNvSpPr>
            <a:spLocks noGrp="1"/>
          </p:cNvSpPr>
          <p:nvPr/>
        </p:nvSpPr>
        <p:spPr>
          <a:xfrm>
            <a:off x="2944368" y="4334255"/>
            <a:ext cx="1600200" cy="347472"/>
          </a:xfrm>
          <a:prstGeom prst="roundRect">
            <a:avLst>
              <a:gd name="adj" fmla="val 16000"/>
            </a:avLst>
          </a:prstGeom>
          <a:solidFill>
            <a:srgbClr val="FFF2E8"/>
          </a:solidFill>
          <a:ln w="15240">
            <a:solidFill>
              <a:srgbClr val="F28B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207" name="TextBox 206"/>
          <p:cNvSpPr>
            <a:spLocks noGrp="1"/>
          </p:cNvSpPr>
          <p:nvPr/>
        </p:nvSpPr>
        <p:spPr>
          <a:xfrm>
            <a:off x="2944368" y="4425695"/>
            <a:ext cx="16002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860" b="1">
                <a:solidFill>
                  <a:srgbClr val="163B36"/>
                </a:solidFill>
                <a:latin typeface="Noto Sans CJK SC"/>
                <a:ea typeface="Noto Sans CJK SC"/>
                <a:cs typeface="Noto Sans CJK SC"/>
              </a:rPr>
              <a:t>Skill 契约</a:t>
            </a:r>
            <a:endParaRPr sz="860" b="1">
              <a:solidFill>
                <a:srgbClr val="163B36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08" name="Rounded Rectangle 207"/>
          <p:cNvSpPr>
            <a:spLocks noGrp="1"/>
          </p:cNvSpPr>
          <p:nvPr/>
        </p:nvSpPr>
        <p:spPr>
          <a:xfrm>
            <a:off x="4617720" y="4334255"/>
            <a:ext cx="1783080" cy="347472"/>
          </a:xfrm>
          <a:prstGeom prst="roundRect">
            <a:avLst>
              <a:gd name="adj" fmla="val 16000"/>
            </a:avLst>
          </a:prstGeom>
          <a:solidFill>
            <a:srgbClr val="FFF2E8"/>
          </a:solidFill>
          <a:ln w="15240">
            <a:solidFill>
              <a:srgbClr val="F28B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209" name="TextBox 208"/>
          <p:cNvSpPr>
            <a:spLocks noGrp="1"/>
          </p:cNvSpPr>
          <p:nvPr/>
        </p:nvSpPr>
        <p:spPr>
          <a:xfrm>
            <a:off x="4617720" y="4425695"/>
            <a:ext cx="1783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860" b="1">
                <a:solidFill>
                  <a:srgbClr val="163B36"/>
                </a:solidFill>
                <a:latin typeface="Noto Sans CJK SC"/>
                <a:ea typeface="Noto Sans CJK SC"/>
                <a:cs typeface="Noto Sans CJK SC"/>
              </a:rPr>
              <a:t>确定性流程（代码）</a:t>
            </a:r>
            <a:endParaRPr sz="860" b="1">
              <a:solidFill>
                <a:srgbClr val="163B36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10" name="Connector 209"/>
          <p:cNvSpPr>
            <a:spLocks noGrp="1"/>
          </p:cNvSpPr>
          <p:nvPr/>
        </p:nvSpPr>
        <p:spPr>
          <a:xfrm>
            <a:off x="6400800" y="4507992"/>
            <a:ext cx="219456" cy="0"/>
          </a:xfrm>
          <a:prstGeom prst="line">
            <a:avLst/>
          </a:prstGeom>
          <a:ln w="20320">
            <a:solidFill>
              <a:srgbClr val="F28B3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p/>
        </p:txBody>
      </p:sp>
      <p:sp>
        <p:nvSpPr>
          <p:cNvPr id="211" name="Rounded Rectangle 210"/>
          <p:cNvSpPr>
            <a:spLocks noGrp="1"/>
          </p:cNvSpPr>
          <p:nvPr/>
        </p:nvSpPr>
        <p:spPr>
          <a:xfrm>
            <a:off x="6620256" y="4334255"/>
            <a:ext cx="2011680" cy="347472"/>
          </a:xfrm>
          <a:prstGeom prst="roundRect">
            <a:avLst>
              <a:gd name="adj" fmla="val 16000"/>
            </a:avLst>
          </a:prstGeom>
          <a:solidFill>
            <a:srgbClr val="FFF2E8"/>
          </a:solidFill>
          <a:ln w="15240">
            <a:solidFill>
              <a:srgbClr val="F28B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212" name="TextBox 211"/>
          <p:cNvSpPr>
            <a:spLocks noGrp="1"/>
          </p:cNvSpPr>
          <p:nvPr/>
        </p:nvSpPr>
        <p:spPr>
          <a:xfrm>
            <a:off x="6620256" y="4425695"/>
            <a:ext cx="20116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860" b="1">
                <a:solidFill>
                  <a:srgbClr val="163B36"/>
                </a:solidFill>
                <a:latin typeface="Noto Sans CJK SC"/>
                <a:ea typeface="Noto Sans CJK SC"/>
                <a:cs typeface="Noto Sans CJK SC"/>
              </a:rPr>
              <a:t>工具白名单与统一出口</a:t>
            </a:r>
            <a:endParaRPr sz="860" b="1">
              <a:solidFill>
                <a:srgbClr val="163B36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13" name="Connector 212"/>
          <p:cNvSpPr>
            <a:spLocks noGrp="1"/>
          </p:cNvSpPr>
          <p:nvPr/>
        </p:nvSpPr>
        <p:spPr>
          <a:xfrm>
            <a:off x="8631936" y="4507992"/>
            <a:ext cx="219456" cy="0"/>
          </a:xfrm>
          <a:prstGeom prst="line">
            <a:avLst/>
          </a:prstGeom>
          <a:ln w="20320">
            <a:solidFill>
              <a:srgbClr val="F28B3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p/>
        </p:txBody>
      </p:sp>
      <p:sp>
        <p:nvSpPr>
          <p:cNvPr id="214" name="Rounded Rectangle 213"/>
          <p:cNvSpPr>
            <a:spLocks noGrp="1"/>
          </p:cNvSpPr>
          <p:nvPr/>
        </p:nvSpPr>
        <p:spPr>
          <a:xfrm>
            <a:off x="8851392" y="4334255"/>
            <a:ext cx="1234440" cy="347472"/>
          </a:xfrm>
          <a:prstGeom prst="roundRect">
            <a:avLst>
              <a:gd name="adj" fmla="val 16000"/>
            </a:avLst>
          </a:prstGeom>
          <a:solidFill>
            <a:srgbClr val="FFF2E8"/>
          </a:solidFill>
          <a:ln w="15240">
            <a:solidFill>
              <a:srgbClr val="F28B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215" name="TextBox 214"/>
          <p:cNvSpPr>
            <a:spLocks noGrp="1"/>
          </p:cNvSpPr>
          <p:nvPr/>
        </p:nvSpPr>
        <p:spPr>
          <a:xfrm>
            <a:off x="8851392" y="4425695"/>
            <a:ext cx="12344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800" b="1">
                <a:solidFill>
                  <a:srgbClr val="163B36"/>
                </a:solidFill>
                <a:latin typeface="Noto Sans CJK SC"/>
                <a:ea typeface="Noto Sans CJK SC"/>
                <a:cs typeface="Noto Sans CJK SC"/>
              </a:rPr>
              <a:t>确认 / 幂等 / 审计</a:t>
            </a:r>
            <a:endParaRPr sz="800" b="1">
              <a:solidFill>
                <a:srgbClr val="163B36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16" name="TextBox 215"/>
          <p:cNvSpPr>
            <a:spLocks noGrp="1"/>
          </p:cNvSpPr>
          <p:nvPr/>
        </p:nvSpPr>
        <p:spPr>
          <a:xfrm>
            <a:off x="2944368" y="4151375"/>
            <a:ext cx="3547872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640" b="1">
                <a:solidFill>
                  <a:srgbClr val="44585C"/>
                </a:solidFill>
                <a:latin typeface="Noto Sans CJK SC"/>
                <a:ea typeface="Noto Sans CJK SC"/>
                <a:cs typeface="Noto Sans CJK SC"/>
              </a:rPr>
              <a:t>Agent 发现 · 代码固化</a:t>
            </a:r>
            <a:endParaRPr sz="640" b="1">
              <a:solidFill>
                <a:srgbClr val="6B8185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17" name="TextBox 216"/>
          <p:cNvSpPr>
            <a:spLocks noGrp="1"/>
          </p:cNvSpPr>
          <p:nvPr/>
        </p:nvSpPr>
        <p:spPr>
          <a:xfrm>
            <a:off x="6620256" y="4151375"/>
            <a:ext cx="3465576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640" b="1">
                <a:solidFill>
                  <a:srgbClr val="44585C"/>
                </a:solidFill>
                <a:latin typeface="Noto Sans CJK SC"/>
                <a:ea typeface="Noto Sans CJK SC"/>
                <a:cs typeface="Noto Sans CJK SC"/>
              </a:rPr>
              <a:t>唯一写出口</a:t>
            </a:r>
            <a:endParaRPr sz="640" b="1">
              <a:solidFill>
                <a:srgbClr val="6B8185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18" name="Rounded Rectangle 217"/>
          <p:cNvSpPr>
            <a:spLocks noGrp="1"/>
          </p:cNvSpPr>
          <p:nvPr/>
        </p:nvSpPr>
        <p:spPr>
          <a:xfrm>
            <a:off x="2944368" y="5193792"/>
            <a:ext cx="1355140" cy="347472"/>
          </a:xfrm>
          <a:prstGeom prst="roundRect">
            <a:avLst>
              <a:gd name="adj" fmla="val 16000"/>
            </a:avLst>
          </a:prstGeom>
          <a:solidFill>
            <a:srgbClr val="E8F7F1"/>
          </a:solidFill>
          <a:ln w="15240">
            <a:solidFill>
              <a:srgbClr val="0A8F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219" name="TextBox 218"/>
          <p:cNvSpPr>
            <a:spLocks noGrp="1"/>
          </p:cNvSpPr>
          <p:nvPr/>
        </p:nvSpPr>
        <p:spPr>
          <a:xfrm>
            <a:off x="2944368" y="5285231"/>
            <a:ext cx="13551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860" b="1">
                <a:solidFill>
                  <a:srgbClr val="163B36"/>
                </a:solidFill>
                <a:latin typeface="Noto Sans CJK SC"/>
                <a:ea typeface="Noto Sans CJK SC"/>
                <a:cs typeface="Noto Sans CJK SC"/>
              </a:rPr>
              <a:t>订单系统</a:t>
            </a:r>
            <a:endParaRPr sz="860" b="1">
              <a:solidFill>
                <a:srgbClr val="163B36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20" name="Rounded Rectangle 219"/>
          <p:cNvSpPr>
            <a:spLocks noGrp="1"/>
          </p:cNvSpPr>
          <p:nvPr/>
        </p:nvSpPr>
        <p:spPr>
          <a:xfrm>
            <a:off x="4390948" y="5193792"/>
            <a:ext cx="1355140" cy="347472"/>
          </a:xfrm>
          <a:prstGeom prst="roundRect">
            <a:avLst>
              <a:gd name="adj" fmla="val 16000"/>
            </a:avLst>
          </a:prstGeom>
          <a:solidFill>
            <a:srgbClr val="E8F7F1"/>
          </a:solidFill>
          <a:ln w="15240">
            <a:solidFill>
              <a:srgbClr val="0A8F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221" name="TextBox 220"/>
          <p:cNvSpPr>
            <a:spLocks noGrp="1"/>
          </p:cNvSpPr>
          <p:nvPr/>
        </p:nvSpPr>
        <p:spPr>
          <a:xfrm>
            <a:off x="4390948" y="5285231"/>
            <a:ext cx="13551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860" b="1">
                <a:solidFill>
                  <a:srgbClr val="163B36"/>
                </a:solidFill>
                <a:latin typeface="Noto Sans CJK SC"/>
                <a:ea typeface="Noto Sans CJK SC"/>
                <a:cs typeface="Noto Sans CJK SC"/>
              </a:rPr>
              <a:t>履约系统</a:t>
            </a:r>
            <a:endParaRPr sz="860" b="1">
              <a:solidFill>
                <a:srgbClr val="163B36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22" name="Rounded Rectangle 221"/>
          <p:cNvSpPr>
            <a:spLocks noGrp="1"/>
          </p:cNvSpPr>
          <p:nvPr/>
        </p:nvSpPr>
        <p:spPr>
          <a:xfrm>
            <a:off x="5837529" y="5193792"/>
            <a:ext cx="1355140" cy="347472"/>
          </a:xfrm>
          <a:prstGeom prst="roundRect">
            <a:avLst>
              <a:gd name="adj" fmla="val 16000"/>
            </a:avLst>
          </a:prstGeom>
          <a:solidFill>
            <a:srgbClr val="E8F7F1"/>
          </a:solidFill>
          <a:ln w="15240">
            <a:solidFill>
              <a:srgbClr val="0A8F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223" name="TextBox 222"/>
          <p:cNvSpPr>
            <a:spLocks noGrp="1"/>
          </p:cNvSpPr>
          <p:nvPr/>
        </p:nvSpPr>
        <p:spPr>
          <a:xfrm>
            <a:off x="5837529" y="5285231"/>
            <a:ext cx="13551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860" b="1">
                <a:solidFill>
                  <a:srgbClr val="163B36"/>
                </a:solidFill>
                <a:latin typeface="Noto Sans CJK SC"/>
                <a:ea typeface="Noto Sans CJK SC"/>
                <a:cs typeface="Noto Sans CJK SC"/>
              </a:rPr>
              <a:t>仓储物流系统</a:t>
            </a:r>
            <a:endParaRPr sz="860" b="1">
              <a:solidFill>
                <a:srgbClr val="163B36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24" name="Rounded Rectangle 223"/>
          <p:cNvSpPr>
            <a:spLocks noGrp="1"/>
          </p:cNvSpPr>
          <p:nvPr/>
        </p:nvSpPr>
        <p:spPr>
          <a:xfrm>
            <a:off x="7284110" y="5193792"/>
            <a:ext cx="1355140" cy="347472"/>
          </a:xfrm>
          <a:prstGeom prst="roundRect">
            <a:avLst>
              <a:gd name="adj" fmla="val 16000"/>
            </a:avLst>
          </a:prstGeom>
          <a:solidFill>
            <a:srgbClr val="E8F7F1"/>
          </a:solidFill>
          <a:ln w="15240">
            <a:solidFill>
              <a:srgbClr val="0A8F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225" name="TextBox 224"/>
          <p:cNvSpPr>
            <a:spLocks noGrp="1"/>
          </p:cNvSpPr>
          <p:nvPr/>
        </p:nvSpPr>
        <p:spPr>
          <a:xfrm>
            <a:off x="7284110" y="5285231"/>
            <a:ext cx="13551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860" b="1">
                <a:solidFill>
                  <a:srgbClr val="163B36"/>
                </a:solidFill>
                <a:latin typeface="Noto Sans CJK SC"/>
                <a:ea typeface="Noto Sans CJK SC"/>
                <a:cs typeface="Noto Sans CJK SC"/>
              </a:rPr>
              <a:t>退款系统</a:t>
            </a:r>
            <a:endParaRPr sz="860" b="1">
              <a:solidFill>
                <a:srgbClr val="163B36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26" name="Rounded Rectangle 225"/>
          <p:cNvSpPr>
            <a:spLocks noGrp="1"/>
          </p:cNvSpPr>
          <p:nvPr/>
        </p:nvSpPr>
        <p:spPr>
          <a:xfrm>
            <a:off x="8730691" y="5193792"/>
            <a:ext cx="1355140" cy="347472"/>
          </a:xfrm>
          <a:prstGeom prst="roundRect">
            <a:avLst>
              <a:gd name="adj" fmla="val 16000"/>
            </a:avLst>
          </a:prstGeom>
          <a:solidFill>
            <a:srgbClr val="E8F7F1"/>
          </a:solidFill>
          <a:ln w="15240">
            <a:solidFill>
              <a:srgbClr val="0A8F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227" name="TextBox 226"/>
          <p:cNvSpPr>
            <a:spLocks noGrp="1"/>
          </p:cNvSpPr>
          <p:nvPr/>
        </p:nvSpPr>
        <p:spPr>
          <a:xfrm>
            <a:off x="8730691" y="5285231"/>
            <a:ext cx="13551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860" b="1">
                <a:solidFill>
                  <a:srgbClr val="163B36"/>
                </a:solidFill>
                <a:latin typeface="Noto Sans CJK SC"/>
                <a:ea typeface="Noto Sans CJK SC"/>
                <a:cs typeface="Noto Sans CJK SC"/>
              </a:rPr>
              <a:t>工单回写</a:t>
            </a:r>
            <a:endParaRPr sz="860" b="1">
              <a:solidFill>
                <a:srgbClr val="163B36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28" name="TextBox 227"/>
          <p:cNvSpPr>
            <a:spLocks noGrp="1"/>
          </p:cNvSpPr>
          <p:nvPr/>
        </p:nvSpPr>
        <p:spPr>
          <a:xfrm>
            <a:off x="2944368" y="5010912"/>
            <a:ext cx="7141464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640" b="1">
                <a:solidFill>
                  <a:srgbClr val="44585C"/>
                </a:solidFill>
                <a:latin typeface="Noto Sans CJK SC"/>
                <a:ea typeface="Noto Sans CJK SC"/>
                <a:cs typeface="Noto Sans CJK SC"/>
              </a:rPr>
              <a:t>被统一出口调用（并列，不互相依赖）</a:t>
            </a:r>
            <a:endParaRPr sz="640" b="1">
              <a:solidFill>
                <a:srgbClr val="6B8185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29" name="Connector 228"/>
          <p:cNvSpPr>
            <a:spLocks noGrp="1"/>
          </p:cNvSpPr>
          <p:nvPr/>
        </p:nvSpPr>
        <p:spPr>
          <a:xfrm>
            <a:off x="1943100" y="2304288"/>
            <a:ext cx="0" cy="109728"/>
          </a:xfrm>
          <a:prstGeom prst="line">
            <a:avLst/>
          </a:prstGeom>
          <a:ln w="20320">
            <a:solidFill>
              <a:srgbClr val="6B818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p/>
        </p:txBody>
      </p:sp>
      <p:sp>
        <p:nvSpPr>
          <p:cNvPr id="230" name="Connector 229"/>
          <p:cNvSpPr>
            <a:spLocks noGrp="1"/>
          </p:cNvSpPr>
          <p:nvPr/>
        </p:nvSpPr>
        <p:spPr>
          <a:xfrm>
            <a:off x="1943100" y="3163824"/>
            <a:ext cx="0" cy="109728"/>
          </a:xfrm>
          <a:prstGeom prst="line">
            <a:avLst/>
          </a:prstGeom>
          <a:ln w="20320">
            <a:solidFill>
              <a:srgbClr val="6B818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p/>
        </p:txBody>
      </p:sp>
      <p:sp>
        <p:nvSpPr>
          <p:cNvPr id="231" name="Connector 230"/>
          <p:cNvSpPr>
            <a:spLocks noGrp="1"/>
          </p:cNvSpPr>
          <p:nvPr/>
        </p:nvSpPr>
        <p:spPr>
          <a:xfrm>
            <a:off x="1943100" y="4023360"/>
            <a:ext cx="0" cy="109728"/>
          </a:xfrm>
          <a:prstGeom prst="line">
            <a:avLst/>
          </a:prstGeom>
          <a:ln w="20320">
            <a:solidFill>
              <a:srgbClr val="6B818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p/>
        </p:txBody>
      </p:sp>
      <p:sp>
        <p:nvSpPr>
          <p:cNvPr id="232" name="Connector 231"/>
          <p:cNvSpPr>
            <a:spLocks noGrp="1"/>
          </p:cNvSpPr>
          <p:nvPr/>
        </p:nvSpPr>
        <p:spPr>
          <a:xfrm>
            <a:off x="1943100" y="4882896"/>
            <a:ext cx="0" cy="109728"/>
          </a:xfrm>
          <a:prstGeom prst="line">
            <a:avLst/>
          </a:prstGeom>
          <a:ln w="20320">
            <a:solidFill>
              <a:srgbClr val="6B818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p/>
        </p:txBody>
      </p:sp>
      <p:sp>
        <p:nvSpPr>
          <p:cNvPr id="233" name="Rounded Rectangle 232"/>
          <p:cNvSpPr>
            <a:spLocks noGrp="1"/>
          </p:cNvSpPr>
          <p:nvPr/>
        </p:nvSpPr>
        <p:spPr>
          <a:xfrm>
            <a:off x="10314432" y="1554480"/>
            <a:ext cx="1024128" cy="4187952"/>
          </a:xfrm>
          <a:prstGeom prst="roundRect">
            <a:avLst>
              <a:gd name="adj" fmla="val 5000"/>
            </a:avLst>
          </a:prstGeom>
          <a:solidFill>
            <a:srgbClr val="F7FBF9"/>
          </a:solidFill>
          <a:ln w="17780">
            <a:solidFill>
              <a:srgbClr val="00A7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234" name="TextBox 233"/>
          <p:cNvSpPr>
            <a:spLocks noGrp="1"/>
          </p:cNvSpPr>
          <p:nvPr/>
        </p:nvSpPr>
        <p:spPr>
          <a:xfrm>
            <a:off x="10314432" y="1645920"/>
            <a:ext cx="102412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900" b="1" spc="150">
                <a:solidFill>
                  <a:srgbClr val="00706F"/>
                </a:solidFill>
                <a:latin typeface="Noto Sans CJK SC"/>
                <a:ea typeface="Noto Sans CJK SC"/>
                <a:cs typeface="Noto Sans CJK SC"/>
              </a:rPr>
              <a:t>治 理</a:t>
            </a:r>
            <a:endParaRPr sz="900" b="1" spc="150">
              <a:solidFill>
                <a:srgbClr val="00A7A7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35" name="TextBox 234"/>
          <p:cNvSpPr>
            <a:spLocks noGrp="1"/>
          </p:cNvSpPr>
          <p:nvPr/>
        </p:nvSpPr>
        <p:spPr>
          <a:xfrm>
            <a:off x="10314432" y="1847088"/>
            <a:ext cx="102412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640" b="1">
                <a:solidFill>
                  <a:srgbClr val="44585C"/>
                </a:solidFill>
                <a:latin typeface="Noto Sans CJK SC"/>
                <a:ea typeface="Noto Sans CJK SC"/>
                <a:cs typeface="Noto Sans CJK SC"/>
              </a:rPr>
              <a:t>纵贯全层</a:t>
            </a:r>
            <a:endParaRPr sz="640" b="1">
              <a:solidFill>
                <a:srgbClr val="6B8185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36" name="Rounded Rectangle 235"/>
          <p:cNvSpPr>
            <a:spLocks noGrp="1"/>
          </p:cNvSpPr>
          <p:nvPr/>
        </p:nvSpPr>
        <p:spPr>
          <a:xfrm>
            <a:off x="10415015" y="2139696"/>
            <a:ext cx="822960" cy="27432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10160">
            <a:solidFill>
              <a:srgbClr val="00A7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anchor="ctr"/>
          <a:lstStyle/>
          <a:p>
            <a:pPr algn="ctr">
              <a:buNone/>
            </a:pPr>
            <a:r>
              <a:rPr sz="760" b="1">
                <a:solidFill>
                  <a:srgbClr val="163B36"/>
                </a:solidFill>
                <a:latin typeface="Noto Sans CJK SC"/>
                <a:ea typeface="Noto Sans CJK SC"/>
                <a:cs typeface="Noto Sans CJK SC"/>
              </a:rPr>
              <a:t>权限</a:t>
            </a:r>
            <a:endParaRPr sz="760" b="1">
              <a:solidFill>
                <a:srgbClr val="163B36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37" name="Rounded Rectangle 236"/>
          <p:cNvSpPr>
            <a:spLocks noGrp="1"/>
          </p:cNvSpPr>
          <p:nvPr/>
        </p:nvSpPr>
        <p:spPr>
          <a:xfrm>
            <a:off x="10415015" y="2615184"/>
            <a:ext cx="822960" cy="27432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10160">
            <a:solidFill>
              <a:srgbClr val="00A7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anchor="ctr"/>
          <a:lstStyle/>
          <a:p>
            <a:pPr algn="ctr">
              <a:buNone/>
            </a:pPr>
            <a:r>
              <a:rPr sz="760" b="1">
                <a:solidFill>
                  <a:srgbClr val="163B36"/>
                </a:solidFill>
                <a:latin typeface="Noto Sans CJK SC"/>
                <a:ea typeface="Noto Sans CJK SC"/>
                <a:cs typeface="Noto Sans CJK SC"/>
              </a:rPr>
              <a:t>确认</a:t>
            </a:r>
            <a:endParaRPr sz="760" b="1">
              <a:solidFill>
                <a:srgbClr val="163B36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38" name="Rounded Rectangle 237"/>
          <p:cNvSpPr>
            <a:spLocks noGrp="1"/>
          </p:cNvSpPr>
          <p:nvPr/>
        </p:nvSpPr>
        <p:spPr>
          <a:xfrm>
            <a:off x="10415015" y="3090672"/>
            <a:ext cx="822960" cy="27432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10160">
            <a:solidFill>
              <a:srgbClr val="00A7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anchor="ctr"/>
          <a:lstStyle/>
          <a:p>
            <a:pPr algn="ctr">
              <a:buNone/>
            </a:pPr>
            <a:r>
              <a:rPr sz="760" b="1">
                <a:solidFill>
                  <a:srgbClr val="163B36"/>
                </a:solidFill>
                <a:latin typeface="Noto Sans CJK SC"/>
                <a:ea typeface="Noto Sans CJK SC"/>
                <a:cs typeface="Noto Sans CJK SC"/>
              </a:rPr>
              <a:t>幂等</a:t>
            </a:r>
            <a:endParaRPr sz="760" b="1">
              <a:solidFill>
                <a:srgbClr val="163B36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39" name="Rounded Rectangle 238"/>
          <p:cNvSpPr>
            <a:spLocks noGrp="1"/>
          </p:cNvSpPr>
          <p:nvPr/>
        </p:nvSpPr>
        <p:spPr>
          <a:xfrm>
            <a:off x="10415015" y="3566160"/>
            <a:ext cx="822960" cy="27432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10160">
            <a:solidFill>
              <a:srgbClr val="00A7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anchor="ctr"/>
          <a:lstStyle/>
          <a:p>
            <a:pPr algn="ctr">
              <a:buNone/>
            </a:pPr>
            <a:r>
              <a:rPr sz="760" b="1">
                <a:solidFill>
                  <a:srgbClr val="163B36"/>
                </a:solidFill>
                <a:latin typeface="Noto Sans CJK SC"/>
                <a:ea typeface="Noto Sans CJK SC"/>
                <a:cs typeface="Noto Sans CJK SC"/>
              </a:rPr>
              <a:t>日志</a:t>
            </a:r>
            <a:endParaRPr sz="760" b="1">
              <a:solidFill>
                <a:srgbClr val="163B36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40" name="Rounded Rectangle 239"/>
          <p:cNvSpPr>
            <a:spLocks noGrp="1"/>
          </p:cNvSpPr>
          <p:nvPr/>
        </p:nvSpPr>
        <p:spPr>
          <a:xfrm>
            <a:off x="10415015" y="4041648"/>
            <a:ext cx="822960" cy="27432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10160">
            <a:solidFill>
              <a:srgbClr val="00A7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anchor="ctr"/>
          <a:lstStyle/>
          <a:p>
            <a:pPr algn="ctr">
              <a:buNone/>
            </a:pPr>
            <a:r>
              <a:rPr sz="760" b="1">
                <a:solidFill>
                  <a:srgbClr val="163B36"/>
                </a:solidFill>
                <a:latin typeface="Noto Sans CJK SC"/>
                <a:ea typeface="Noto Sans CJK SC"/>
                <a:cs typeface="Noto Sans CJK SC"/>
              </a:rPr>
              <a:t>监控</a:t>
            </a:r>
            <a:endParaRPr sz="760" b="1">
              <a:solidFill>
                <a:srgbClr val="163B36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41" name="Rounded Rectangle 240"/>
          <p:cNvSpPr>
            <a:spLocks noGrp="1"/>
          </p:cNvSpPr>
          <p:nvPr/>
        </p:nvSpPr>
        <p:spPr>
          <a:xfrm>
            <a:off x="10415015" y="4517136"/>
            <a:ext cx="822960" cy="27432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10160">
            <a:solidFill>
              <a:srgbClr val="00A7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anchor="ctr"/>
          <a:lstStyle/>
          <a:p>
            <a:pPr algn="ctr">
              <a:buNone/>
            </a:pPr>
            <a:r>
              <a:rPr sz="760" b="1">
                <a:solidFill>
                  <a:srgbClr val="163B36"/>
                </a:solidFill>
                <a:latin typeface="Noto Sans CJK SC"/>
                <a:ea typeface="Noto Sans CJK SC"/>
                <a:cs typeface="Noto Sans CJK SC"/>
              </a:rPr>
              <a:t>风控</a:t>
            </a:r>
            <a:endParaRPr sz="760" b="1">
              <a:solidFill>
                <a:srgbClr val="163B36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42" name="Rounded Rectangle 241"/>
          <p:cNvSpPr>
            <a:spLocks noGrp="1"/>
          </p:cNvSpPr>
          <p:nvPr/>
        </p:nvSpPr>
        <p:spPr>
          <a:xfrm>
            <a:off x="10415015" y="4992624"/>
            <a:ext cx="822960" cy="27432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10160">
            <a:solidFill>
              <a:srgbClr val="00A7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anchor="ctr"/>
          <a:lstStyle/>
          <a:p>
            <a:pPr algn="ctr">
              <a:buNone/>
            </a:pPr>
            <a:r>
              <a:rPr sz="760" b="1">
                <a:solidFill>
                  <a:srgbClr val="163B36"/>
                </a:solidFill>
                <a:latin typeface="Noto Sans CJK SC"/>
                <a:ea typeface="Noto Sans CJK SC"/>
                <a:cs typeface="Noto Sans CJK SC"/>
              </a:rPr>
              <a:t>审计</a:t>
            </a:r>
            <a:endParaRPr sz="760" b="1">
              <a:solidFill>
                <a:srgbClr val="163B36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43" name="Connector 242"/>
          <p:cNvSpPr>
            <a:spLocks noGrp="1"/>
          </p:cNvSpPr>
          <p:nvPr/>
        </p:nvSpPr>
        <p:spPr>
          <a:xfrm>
            <a:off x="10085832" y="1929384"/>
            <a:ext cx="228600" cy="0"/>
          </a:xfrm>
          <a:prstGeom prst="line">
            <a:avLst/>
          </a:prstGeom>
          <a:ln w="13970">
            <a:solidFill>
              <a:srgbClr val="00A7A7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p/>
        </p:txBody>
      </p:sp>
      <p:sp>
        <p:nvSpPr>
          <p:cNvPr id="244" name="Connector 243"/>
          <p:cNvSpPr>
            <a:spLocks noGrp="1"/>
          </p:cNvSpPr>
          <p:nvPr/>
        </p:nvSpPr>
        <p:spPr>
          <a:xfrm>
            <a:off x="10085832" y="2788920"/>
            <a:ext cx="228600" cy="0"/>
          </a:xfrm>
          <a:prstGeom prst="line">
            <a:avLst/>
          </a:prstGeom>
          <a:ln w="13970">
            <a:solidFill>
              <a:srgbClr val="00A7A7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p/>
        </p:txBody>
      </p:sp>
      <p:sp>
        <p:nvSpPr>
          <p:cNvPr id="245" name="Connector 244"/>
          <p:cNvSpPr>
            <a:spLocks noGrp="1"/>
          </p:cNvSpPr>
          <p:nvPr/>
        </p:nvSpPr>
        <p:spPr>
          <a:xfrm>
            <a:off x="10085832" y="3648456"/>
            <a:ext cx="228600" cy="0"/>
          </a:xfrm>
          <a:prstGeom prst="line">
            <a:avLst/>
          </a:prstGeom>
          <a:ln w="13970">
            <a:solidFill>
              <a:srgbClr val="00A7A7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p/>
        </p:txBody>
      </p:sp>
      <p:sp>
        <p:nvSpPr>
          <p:cNvPr id="246" name="Connector 245"/>
          <p:cNvSpPr>
            <a:spLocks noGrp="1"/>
          </p:cNvSpPr>
          <p:nvPr/>
        </p:nvSpPr>
        <p:spPr>
          <a:xfrm>
            <a:off x="10085832" y="4507992"/>
            <a:ext cx="228600" cy="0"/>
          </a:xfrm>
          <a:prstGeom prst="line">
            <a:avLst/>
          </a:prstGeom>
          <a:ln w="13970">
            <a:solidFill>
              <a:srgbClr val="00A7A7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p/>
        </p:txBody>
      </p:sp>
      <p:sp>
        <p:nvSpPr>
          <p:cNvPr id="247" name="Connector 246"/>
          <p:cNvSpPr>
            <a:spLocks noGrp="1"/>
          </p:cNvSpPr>
          <p:nvPr/>
        </p:nvSpPr>
        <p:spPr>
          <a:xfrm>
            <a:off x="10085832" y="5367528"/>
            <a:ext cx="228600" cy="0"/>
          </a:xfrm>
          <a:prstGeom prst="line">
            <a:avLst/>
          </a:prstGeom>
          <a:ln w="13970">
            <a:solidFill>
              <a:srgbClr val="00A7A7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p/>
        </p:txBody>
      </p:sp>
      <p:sp>
        <p:nvSpPr>
          <p:cNvPr id="248" name="Rounded Rectangle 247"/>
          <p:cNvSpPr>
            <a:spLocks noGrp="1"/>
          </p:cNvSpPr>
          <p:nvPr/>
        </p:nvSpPr>
        <p:spPr>
          <a:xfrm>
            <a:off x="1051560" y="5888736"/>
            <a:ext cx="9144000" cy="310896"/>
          </a:xfrm>
          <a:prstGeom prst="roundRect">
            <a:avLst>
              <a:gd name="adj" fmla="val 28000"/>
            </a:avLst>
          </a:prstGeom>
          <a:solidFill>
            <a:srgbClr val="E8F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249" name="TextBox 248"/>
          <p:cNvSpPr>
            <a:spLocks noGrp="1"/>
          </p:cNvSpPr>
          <p:nvPr/>
        </p:nvSpPr>
        <p:spPr>
          <a:xfrm>
            <a:off x="1234439" y="5971032"/>
            <a:ext cx="64008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800" b="1">
                <a:solidFill>
                  <a:srgbClr val="076B50"/>
                </a:solidFill>
                <a:latin typeface="Noto Sans CJK SC"/>
                <a:ea typeface="Noto Sans CJK SC"/>
                <a:cs typeface="Noto Sans CJK SC"/>
              </a:rPr>
              <a:t>执行结果会回写工单，并进入 Trace、运营报表和评测样本。</a:t>
            </a:r>
            <a:endParaRPr sz="800" b="1">
              <a:solidFill>
                <a:srgbClr val="0A8F6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50" name="TextBox 249"/>
          <p:cNvSpPr>
            <a:spLocks noGrp="1"/>
          </p:cNvSpPr>
          <p:nvPr/>
        </p:nvSpPr>
        <p:spPr>
          <a:xfrm>
            <a:off x="7086600" y="5971032"/>
            <a:ext cx="2926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buNone/>
            </a:pPr>
            <a:r>
              <a:rPr sz="720" b="1">
                <a:solidFill>
                  <a:srgbClr val="076B50"/>
                </a:solidFill>
                <a:latin typeface="Noto Sans CJK SC"/>
                <a:ea typeface="Noto Sans CJK SC"/>
                <a:cs typeface="Noto Sans CJK SC"/>
              </a:rPr>
              <a:t>这些结果会成为下一轮场景和能力调整的依据</a:t>
            </a:r>
            <a:endParaRPr sz="720" b="1">
              <a:solidFill>
                <a:srgbClr val="0A8F6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51" name="Connector 250"/>
          <p:cNvSpPr>
            <a:spLocks noGrp="1"/>
          </p:cNvSpPr>
          <p:nvPr/>
        </p:nvSpPr>
        <p:spPr>
          <a:xfrm flipH="1">
            <a:off x="749808" y="6044184"/>
            <a:ext cx="301752" cy="0"/>
          </a:xfrm>
          <a:prstGeom prst="line">
            <a:avLst/>
          </a:prstGeom>
          <a:ln w="19050">
            <a:solidFill>
              <a:srgbClr val="0A8F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p/>
        </p:txBody>
      </p:sp>
      <p:sp>
        <p:nvSpPr>
          <p:cNvPr id="252" name="Connector 251"/>
          <p:cNvSpPr>
            <a:spLocks noGrp="1"/>
          </p:cNvSpPr>
          <p:nvPr/>
        </p:nvSpPr>
        <p:spPr>
          <a:xfrm flipV="1">
            <a:off x="749808" y="1929384"/>
            <a:ext cx="0" cy="4114800"/>
          </a:xfrm>
          <a:prstGeom prst="line">
            <a:avLst/>
          </a:prstGeom>
          <a:ln w="19050">
            <a:solidFill>
              <a:srgbClr val="0A8F6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p/>
        </p:txBody>
      </p:sp>
      <p:sp>
        <p:nvSpPr>
          <p:cNvPr id="253" name="Connector 252"/>
          <p:cNvSpPr>
            <a:spLocks noGrp="1"/>
          </p:cNvSpPr>
          <p:nvPr/>
        </p:nvSpPr>
        <p:spPr>
          <a:xfrm>
            <a:off x="749808" y="1929384"/>
            <a:ext cx="301752" cy="0"/>
          </a:xfrm>
          <a:prstGeom prst="line">
            <a:avLst/>
          </a:prstGeom>
          <a:ln w="19050">
            <a:solidFill>
              <a:srgbClr val="0A8F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p/>
        </p:txBody>
      </p:sp>
      <p:sp>
        <p:nvSpPr>
          <p:cNvPr id="254" name="圆角矩形 253"/>
          <p:cNvSpPr>
            <a:spLocks noGrp="1"/>
          </p:cNvSpPr>
          <p:nvPr/>
        </p:nvSpPr>
        <p:spPr>
          <a:xfrm>
            <a:off x="6565583" y="127635"/>
            <a:ext cx="4937760" cy="365760"/>
          </a:xfrm>
          <a:prstGeom prst="roundRect">
            <a:avLst>
              <a:gd name="adj" fmla="val 20833"/>
            </a:avLst>
          </a:prstGeom>
          <a:solidFill>
            <a:srgbClr val="F7FBF9"/>
          </a:solidFill>
          <a:ln w="12668">
            <a:solidFill>
              <a:srgbClr val="F7FBF9"/>
            </a:solidFill>
            <a:prstDash val="solid"/>
          </a:ln>
        </p:spPr>
        <p:txBody>
          <a:bodyPr/>
          <a:p/>
        </p:txBody>
      </p:sp>
      <p:sp>
        <p:nvSpPr>
          <p:cNvPr id="255" name="圆角矩形 254"/>
          <p:cNvSpPr>
            <a:spLocks noGrp="1"/>
          </p:cNvSpPr>
          <p:nvPr/>
        </p:nvSpPr>
        <p:spPr>
          <a:xfrm>
            <a:off x="6657023" y="164783"/>
            <a:ext cx="1154430" cy="264795"/>
          </a:xfrm>
          <a:prstGeom prst="roundRect">
            <a:avLst>
              <a:gd name="adj" fmla="val 28777"/>
            </a:avLst>
          </a:prstGeom>
          <a:solidFill>
            <a:srgbClr val="007574"/>
          </a:solidFill>
          <a:ln w="12668">
            <a:solidFill>
              <a:srgbClr val="007574"/>
            </a:solidFill>
            <a:prstDash val="solid"/>
          </a:ln>
        </p:spPr>
        <p:txBody>
          <a:bodyPr/>
          <a:p/>
        </p:txBody>
      </p:sp>
      <p:sp>
        <p:nvSpPr>
          <p:cNvPr id="256" name="矩形 255"/>
          <p:cNvSpPr>
            <a:spLocks noGrp="1"/>
          </p:cNvSpPr>
          <p:nvPr/>
        </p:nvSpPr>
        <p:spPr>
          <a:xfrm>
            <a:off x="6657023" y="187643"/>
            <a:ext cx="1154430" cy="182880"/>
          </a:xfrm>
          <a:prstGeom prst="rect">
            <a:avLst/>
          </a:prstGeom>
        </p:spPr>
        <p:txBody>
          <a:bodyPr anchor="ctr"/>
          <a:lstStyle/>
          <a:p>
            <a:pPr algn="ctr">
              <a:defRPr sz="660" b="1">
                <a:solidFill>
                  <a:srgbClr val="FFFFFF"/>
                </a:solidFill>
              </a:defRPr>
            </a:pPr>
            <a:r>
              <a:t>理解</a:t>
            </a:r>
          </a:p>
        </p:txBody>
      </p:sp>
      <p:sp>
        <p:nvSpPr>
          <p:cNvPr id="257" name="圆角矩形 256"/>
          <p:cNvSpPr>
            <a:spLocks noGrp="1"/>
          </p:cNvSpPr>
          <p:nvPr/>
        </p:nvSpPr>
        <p:spPr>
          <a:xfrm>
            <a:off x="7857173" y="164783"/>
            <a:ext cx="1154430" cy="264795"/>
          </a:xfrm>
          <a:prstGeom prst="roundRect">
            <a:avLst>
              <a:gd name="adj" fmla="val 28777"/>
            </a:avLst>
          </a:prstGeom>
          <a:solidFill>
            <a:srgbClr val="007574"/>
          </a:solidFill>
          <a:ln w="12668">
            <a:solidFill>
              <a:srgbClr val="007574"/>
            </a:solidFill>
            <a:prstDash val="solid"/>
          </a:ln>
        </p:spPr>
        <p:txBody>
          <a:bodyPr/>
          <a:p/>
        </p:txBody>
      </p:sp>
      <p:sp>
        <p:nvSpPr>
          <p:cNvPr id="258" name="矩形 257"/>
          <p:cNvSpPr>
            <a:spLocks noGrp="1"/>
          </p:cNvSpPr>
          <p:nvPr/>
        </p:nvSpPr>
        <p:spPr>
          <a:xfrm>
            <a:off x="7857173" y="187643"/>
            <a:ext cx="1154430" cy="182880"/>
          </a:xfrm>
          <a:prstGeom prst="rect">
            <a:avLst/>
          </a:prstGeom>
        </p:spPr>
        <p:txBody>
          <a:bodyPr anchor="ctr"/>
          <a:lstStyle/>
          <a:p>
            <a:pPr algn="ctr">
              <a:defRPr sz="660" b="1">
                <a:solidFill>
                  <a:srgbClr val="FFFFFF"/>
                </a:solidFill>
              </a:defRPr>
            </a:pPr>
            <a:r>
              <a:t>查询</a:t>
            </a:r>
          </a:p>
        </p:txBody>
      </p:sp>
      <p:sp>
        <p:nvSpPr>
          <p:cNvPr id="259" name="圆角矩形 258"/>
          <p:cNvSpPr>
            <a:spLocks noGrp="1"/>
          </p:cNvSpPr>
          <p:nvPr/>
        </p:nvSpPr>
        <p:spPr>
          <a:xfrm>
            <a:off x="9057323" y="164783"/>
            <a:ext cx="1154430" cy="264795"/>
          </a:xfrm>
          <a:prstGeom prst="roundRect">
            <a:avLst>
              <a:gd name="adj" fmla="val 28777"/>
            </a:avLst>
          </a:prstGeom>
          <a:solidFill>
            <a:srgbClr val="007574"/>
          </a:solidFill>
          <a:ln w="12668">
            <a:solidFill>
              <a:srgbClr val="007574"/>
            </a:solidFill>
            <a:prstDash val="solid"/>
          </a:ln>
        </p:spPr>
        <p:txBody>
          <a:bodyPr/>
          <a:p/>
        </p:txBody>
      </p:sp>
      <p:sp>
        <p:nvSpPr>
          <p:cNvPr id="260" name="矩形 259"/>
          <p:cNvSpPr>
            <a:spLocks noGrp="1"/>
          </p:cNvSpPr>
          <p:nvPr/>
        </p:nvSpPr>
        <p:spPr>
          <a:xfrm>
            <a:off x="9057323" y="187643"/>
            <a:ext cx="1154430" cy="182880"/>
          </a:xfrm>
          <a:prstGeom prst="rect">
            <a:avLst/>
          </a:prstGeom>
        </p:spPr>
        <p:txBody>
          <a:bodyPr anchor="ctr"/>
          <a:lstStyle/>
          <a:p>
            <a:pPr algn="ctr">
              <a:defRPr sz="660" b="1">
                <a:solidFill>
                  <a:srgbClr val="FFFFFF"/>
                </a:solidFill>
              </a:defRPr>
            </a:pPr>
            <a:r>
              <a:t>决策</a:t>
            </a:r>
          </a:p>
        </p:txBody>
      </p:sp>
      <p:sp>
        <p:nvSpPr>
          <p:cNvPr id="261" name="圆角矩形 260"/>
          <p:cNvSpPr>
            <a:spLocks noGrp="1"/>
          </p:cNvSpPr>
          <p:nvPr/>
        </p:nvSpPr>
        <p:spPr>
          <a:xfrm>
            <a:off x="10257473" y="164783"/>
            <a:ext cx="1154430" cy="264795"/>
          </a:xfrm>
          <a:prstGeom prst="roundRect">
            <a:avLst>
              <a:gd name="adj" fmla="val 28777"/>
            </a:avLst>
          </a:prstGeom>
          <a:solidFill>
            <a:srgbClr val="007574"/>
          </a:solidFill>
          <a:ln w="12668">
            <a:solidFill>
              <a:srgbClr val="007574"/>
            </a:solidFill>
            <a:prstDash val="solid"/>
          </a:ln>
        </p:spPr>
        <p:txBody>
          <a:bodyPr/>
          <a:p/>
        </p:txBody>
      </p:sp>
      <p:sp>
        <p:nvSpPr>
          <p:cNvPr id="262" name="矩形 261"/>
          <p:cNvSpPr>
            <a:spLocks noGrp="1"/>
          </p:cNvSpPr>
          <p:nvPr/>
        </p:nvSpPr>
        <p:spPr>
          <a:xfrm>
            <a:off x="10257473" y="187643"/>
            <a:ext cx="1154430" cy="182880"/>
          </a:xfrm>
          <a:prstGeom prst="rect">
            <a:avLst/>
          </a:prstGeom>
        </p:spPr>
        <p:txBody>
          <a:bodyPr anchor="ctr"/>
          <a:lstStyle/>
          <a:p>
            <a:pPr algn="ctr">
              <a:defRPr sz="660" b="1">
                <a:solidFill>
                  <a:srgbClr val="FFFFFF"/>
                </a:solidFill>
              </a:defRPr>
            </a:pPr>
            <a:r>
              <a:t>执行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hape 0"/>
          <p:cNvSpPr>
            <a:spLocks noGrp="1"/>
          </p:cNvSpPr>
          <p:nvPr/>
        </p:nvSpPr>
        <p:spPr>
          <a:xfrm>
            <a:off x="16459" y="16459"/>
            <a:ext cx="38405" cy="6825082"/>
          </a:xfrm>
          <a:prstGeom prst="rect">
            <a:avLst/>
          </a:prstGeom>
          <a:solidFill>
            <a:srgbClr val="0A8F6A"/>
          </a:solidFill>
          <a:ln w="12700">
            <a:solidFill>
              <a:srgbClr val="12B07D"/>
            </a:solidFill>
            <a:prstDash val="solid"/>
          </a:ln>
        </p:spPr>
        <p:txBody>
          <a:bodyPr/>
          <a:lstStyle/>
          <a:p/>
        </p:txBody>
      </p:sp>
      <p:sp>
        <p:nvSpPr>
          <p:cNvPr id="4" name="Shape 2"/>
          <p:cNvSpPr>
            <a:spLocks noGrp="1"/>
          </p:cNvSpPr>
          <p:nvPr/>
        </p:nvSpPr>
        <p:spPr>
          <a:xfrm>
            <a:off x="10104120" y="73152"/>
            <a:ext cx="1874520" cy="1353312"/>
          </a:xfrm>
          <a:prstGeom prst="ellipse">
            <a:avLst/>
          </a:prstGeom>
          <a:solidFill>
            <a:srgbClr val="E8F7F1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/>
        </p:txBody>
      </p:sp>
      <p:sp>
        <p:nvSpPr>
          <p:cNvPr id="5" name="Shape 3"/>
          <p:cNvSpPr>
            <a:spLocks noGrp="1"/>
          </p:cNvSpPr>
          <p:nvPr/>
        </p:nvSpPr>
        <p:spPr>
          <a:xfrm>
            <a:off x="91440" y="5596128"/>
            <a:ext cx="1719072" cy="1051560"/>
          </a:xfrm>
          <a:prstGeom prst="ellipse">
            <a:avLst/>
          </a:prstGeom>
          <a:solidFill>
            <a:srgbClr val="FFF2E8">
              <a:alpha val="68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/>
        </p:txBody>
      </p:sp>
      <p:sp>
        <p:nvSpPr>
          <p:cNvPr id="6" name="Shape 4"/>
          <p:cNvSpPr>
            <a:spLocks noGrp="1"/>
          </p:cNvSpPr>
          <p:nvPr/>
        </p:nvSpPr>
        <p:spPr>
          <a:xfrm>
            <a:off x="658368" y="393192"/>
            <a:ext cx="68580" cy="68580"/>
          </a:xfrm>
          <a:prstGeom prst="ellipse">
            <a:avLst/>
          </a:prstGeom>
          <a:solidFill>
            <a:srgbClr val="0A8F6A"/>
          </a:solidFill>
          <a:ln w="12700">
            <a:solidFill>
              <a:srgbClr val="12B07D"/>
            </a:solidFill>
            <a:prstDash val="solid"/>
          </a:ln>
        </p:spPr>
        <p:txBody>
          <a:bodyPr/>
          <a:lstStyle/>
          <a:p/>
        </p:txBody>
      </p:sp>
      <p:sp>
        <p:nvSpPr>
          <p:cNvPr id="7" name="Shape 5"/>
          <p:cNvSpPr>
            <a:spLocks noGrp="1"/>
          </p:cNvSpPr>
          <p:nvPr/>
        </p:nvSpPr>
        <p:spPr>
          <a:xfrm>
            <a:off x="768096" y="427939"/>
            <a:ext cx="411480" cy="0"/>
          </a:xfrm>
          <a:prstGeom prst="line">
            <a:avLst/>
          </a:prstGeom>
          <a:noFill/>
          <a:ln w="15875">
            <a:solidFill>
              <a:srgbClr val="0A8F6A"/>
            </a:solidFill>
            <a:prstDash val="solid"/>
          </a:ln>
        </p:spPr>
        <p:txBody>
          <a:bodyPr/>
          <a:lstStyle/>
          <a:p/>
        </p:txBody>
      </p:sp>
      <p:sp>
        <p:nvSpPr>
          <p:cNvPr id="8" name="Text 6"/>
          <p:cNvSpPr>
            <a:spLocks noGrp="1"/>
          </p:cNvSpPr>
          <p:nvPr/>
        </p:nvSpPr>
        <p:spPr>
          <a:xfrm>
            <a:off x="1234440" y="265176"/>
            <a:ext cx="2331720" cy="31089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r>
              <a:rPr sz="1050" b="1">
                <a:solidFill>
                  <a:srgbClr val="076B50"/>
                </a:solidFill>
                <a:latin typeface="Noto Sans CJK SC"/>
                <a:ea typeface="Noto Sans CJK SC"/>
                <a:cs typeface="Noto Sans CJK SC"/>
              </a:rPr>
              <a:t>CHAPTER 3 · 系统蓝图</a:t>
            </a:r>
            <a:endParaRPr sz="1050" b="1">
              <a:solidFill>
                <a:srgbClr val="2F80ED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9" name="Shape 7"/>
          <p:cNvSpPr>
            <a:spLocks noGrp="1"/>
          </p:cNvSpPr>
          <p:nvPr/>
        </p:nvSpPr>
        <p:spPr>
          <a:xfrm>
            <a:off x="9829800" y="301752"/>
            <a:ext cx="68580" cy="68580"/>
          </a:xfrm>
          <a:prstGeom prst="ellipse">
            <a:avLst/>
          </a:prstGeom>
          <a:solidFill>
            <a:srgbClr val="C7DAD6"/>
          </a:solidFill>
          <a:ln w="12700">
            <a:solidFill>
              <a:srgbClr val="C7DAD6"/>
            </a:solidFill>
            <a:prstDash val="solid"/>
          </a:ln>
        </p:spPr>
        <p:txBody>
          <a:bodyPr/>
          <a:lstStyle/>
          <a:p/>
        </p:txBody>
      </p:sp>
      <p:sp>
        <p:nvSpPr>
          <p:cNvPr id="10" name="Shape 8"/>
          <p:cNvSpPr>
            <a:spLocks noGrp="1"/>
          </p:cNvSpPr>
          <p:nvPr/>
        </p:nvSpPr>
        <p:spPr>
          <a:xfrm>
            <a:off x="10040112" y="301752"/>
            <a:ext cx="68580" cy="68580"/>
          </a:xfrm>
          <a:prstGeom prst="ellipse">
            <a:avLst/>
          </a:prstGeom>
          <a:solidFill>
            <a:srgbClr val="C7DAD6"/>
          </a:solidFill>
          <a:ln w="12700">
            <a:solidFill>
              <a:srgbClr val="C7DAD6"/>
            </a:solidFill>
            <a:prstDash val="solid"/>
          </a:ln>
        </p:spPr>
        <p:txBody>
          <a:bodyPr/>
          <a:lstStyle/>
          <a:p/>
        </p:txBody>
      </p:sp>
      <p:sp>
        <p:nvSpPr>
          <p:cNvPr id="11" name="Shape 9"/>
          <p:cNvSpPr>
            <a:spLocks noGrp="1"/>
          </p:cNvSpPr>
          <p:nvPr/>
        </p:nvSpPr>
        <p:spPr>
          <a:xfrm>
            <a:off x="10250424" y="301752"/>
            <a:ext cx="68580" cy="68580"/>
          </a:xfrm>
          <a:prstGeom prst="ellipse">
            <a:avLst/>
          </a:prstGeom>
          <a:solidFill>
            <a:srgbClr val="C7DAD6"/>
          </a:solidFill>
          <a:ln w="12700">
            <a:solidFill>
              <a:srgbClr val="C7DAD6"/>
            </a:solidFill>
            <a:prstDash val="solid"/>
          </a:ln>
        </p:spPr>
        <p:txBody>
          <a:bodyPr/>
          <a:lstStyle/>
          <a:p/>
        </p:txBody>
      </p:sp>
      <p:sp>
        <p:nvSpPr>
          <p:cNvPr id="12" name="Shape 10"/>
          <p:cNvSpPr>
            <a:spLocks noGrp="1"/>
          </p:cNvSpPr>
          <p:nvPr/>
        </p:nvSpPr>
        <p:spPr>
          <a:xfrm>
            <a:off x="10460736" y="301752"/>
            <a:ext cx="68580" cy="68580"/>
          </a:xfrm>
          <a:prstGeom prst="ellipse">
            <a:avLst/>
          </a:prstGeom>
          <a:solidFill>
            <a:srgbClr val="12B07D"/>
          </a:solidFill>
          <a:ln w="12700">
            <a:solidFill>
              <a:srgbClr val="12B07D"/>
            </a:solidFill>
            <a:prstDash val="solid"/>
          </a:ln>
        </p:spPr>
        <p:txBody>
          <a:bodyPr/>
          <a:lstStyle/>
          <a:p/>
        </p:txBody>
      </p:sp>
      <p:sp>
        <p:nvSpPr>
          <p:cNvPr id="13" name="Shape 11"/>
          <p:cNvSpPr>
            <a:spLocks noGrp="1"/>
          </p:cNvSpPr>
          <p:nvPr/>
        </p:nvSpPr>
        <p:spPr>
          <a:xfrm>
            <a:off x="10671048" y="301752"/>
            <a:ext cx="68580" cy="68580"/>
          </a:xfrm>
          <a:prstGeom prst="ellipse">
            <a:avLst/>
          </a:prstGeom>
          <a:solidFill>
            <a:srgbClr val="C7DAD6"/>
          </a:solidFill>
          <a:ln w="12700">
            <a:solidFill>
              <a:srgbClr val="C7DAD6"/>
            </a:solidFill>
            <a:prstDash val="solid"/>
          </a:ln>
        </p:spPr>
        <p:txBody>
          <a:bodyPr/>
          <a:lstStyle/>
          <a:p/>
        </p:txBody>
      </p:sp>
      <p:sp>
        <p:nvSpPr>
          <p:cNvPr id="14" name="Shape 12"/>
          <p:cNvSpPr>
            <a:spLocks noGrp="1"/>
          </p:cNvSpPr>
          <p:nvPr/>
        </p:nvSpPr>
        <p:spPr>
          <a:xfrm>
            <a:off x="10881360" y="301752"/>
            <a:ext cx="68580" cy="68580"/>
          </a:xfrm>
          <a:prstGeom prst="ellipse">
            <a:avLst/>
          </a:prstGeom>
          <a:solidFill>
            <a:srgbClr val="C7DAD6"/>
          </a:solidFill>
          <a:ln w="12700">
            <a:solidFill>
              <a:srgbClr val="C7DAD6"/>
            </a:solidFill>
            <a:prstDash val="solid"/>
          </a:ln>
        </p:spPr>
        <p:txBody>
          <a:bodyPr/>
          <a:lstStyle/>
          <a:p/>
        </p:txBody>
      </p:sp>
      <p:sp>
        <p:nvSpPr>
          <p:cNvPr id="15" name="Shape 13"/>
          <p:cNvSpPr>
            <a:spLocks noGrp="1"/>
          </p:cNvSpPr>
          <p:nvPr/>
        </p:nvSpPr>
        <p:spPr>
          <a:xfrm>
            <a:off x="11091672" y="301752"/>
            <a:ext cx="68580" cy="68580"/>
          </a:xfrm>
          <a:prstGeom prst="ellipse">
            <a:avLst/>
          </a:prstGeom>
          <a:solidFill>
            <a:srgbClr val="C7DAD6"/>
          </a:solidFill>
          <a:ln w="12700">
            <a:solidFill>
              <a:srgbClr val="C7DAD6"/>
            </a:solidFill>
            <a:prstDash val="solid"/>
          </a:ln>
        </p:spPr>
        <p:txBody>
          <a:bodyPr/>
          <a:lstStyle/>
          <a:p/>
        </p:txBody>
      </p:sp>
      <p:sp>
        <p:nvSpPr>
          <p:cNvPr id="16" name="Shape 14"/>
          <p:cNvSpPr>
            <a:spLocks noGrp="1"/>
          </p:cNvSpPr>
          <p:nvPr/>
        </p:nvSpPr>
        <p:spPr>
          <a:xfrm>
            <a:off x="11301984" y="301752"/>
            <a:ext cx="68580" cy="68580"/>
          </a:xfrm>
          <a:prstGeom prst="ellipse">
            <a:avLst/>
          </a:prstGeom>
          <a:solidFill>
            <a:srgbClr val="C7DAD6"/>
          </a:solidFill>
          <a:ln w="12700">
            <a:solidFill>
              <a:srgbClr val="C7DAD6"/>
            </a:solidFill>
            <a:prstDash val="solid"/>
          </a:ln>
        </p:spPr>
        <p:txBody>
          <a:bodyPr/>
          <a:lstStyle/>
          <a:p/>
        </p:txBody>
      </p:sp>
      <p:sp>
        <p:nvSpPr>
          <p:cNvPr id="17" name="Text 15"/>
          <p:cNvSpPr>
            <a:spLocks noGrp="1"/>
          </p:cNvSpPr>
          <p:nvPr/>
        </p:nvSpPr>
        <p:spPr>
          <a:xfrm>
            <a:off x="658368" y="713232"/>
            <a:ext cx="10652760" cy="49377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2550" b="1">
                <a:solidFill>
                  <a:srgbClr val="14383E"/>
                </a:solidFill>
                <a:latin typeface="Noto Sans CJK SC"/>
                <a:ea typeface="Noto Sans CJK SC"/>
                <a:cs typeface="Noto Sans CJK SC"/>
              </a:rPr>
              <a:t>三条渠道链路的共享与隔离</a:t>
            </a:r>
            <a:endParaRPr sz="2550"/>
          </a:p>
        </p:txBody>
      </p:sp>
      <p:sp>
        <p:nvSpPr>
          <p:cNvPr id="18" name="Text 16"/>
          <p:cNvSpPr>
            <a:spLocks noGrp="1"/>
          </p:cNvSpPr>
          <p:nvPr/>
        </p:nvSpPr>
        <p:spPr>
          <a:xfrm>
            <a:off x="658368" y="1197864"/>
            <a:ext cx="10469880" cy="29260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r>
              <a:rPr sz="1170">
                <a:solidFill>
                  <a:srgbClr val="44585C"/>
                </a:solidFill>
                <a:latin typeface="Noto Sans CJK SC"/>
                <a:ea typeface="Noto Sans CJK SC"/>
                <a:cs typeface="Noto Sans CJK SC"/>
              </a:rPr>
              <a:t>Skill、工具和 Guard 可以共享；入口、时延、状态、发送和人工接管必须隔离。</a:t>
            </a:r>
            <a:endParaRPr sz="1170">
              <a:solidFill>
                <a:srgbClr val="6B8185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9" name="Shape 17"/>
          <p:cNvSpPr>
            <a:spLocks noGrp="1"/>
          </p:cNvSpPr>
          <p:nvPr/>
        </p:nvSpPr>
        <p:spPr>
          <a:xfrm>
            <a:off x="658368" y="6510528"/>
            <a:ext cx="10835640" cy="0"/>
          </a:xfrm>
          <a:prstGeom prst="line">
            <a:avLst/>
          </a:prstGeom>
          <a:noFill/>
          <a:ln w="11430">
            <a:solidFill>
              <a:srgbClr val="D7E7E3"/>
            </a:solidFill>
            <a:prstDash val="solid"/>
          </a:ln>
        </p:spPr>
        <p:txBody>
          <a:bodyPr/>
          <a:lstStyle/>
          <a:p/>
        </p:txBody>
      </p:sp>
      <p:sp>
        <p:nvSpPr>
          <p:cNvPr id="20" name="Text 18"/>
          <p:cNvSpPr>
            <a:spLocks noGrp="1"/>
          </p:cNvSpPr>
          <p:nvPr/>
        </p:nvSpPr>
        <p:spPr>
          <a:xfrm>
            <a:off x="658368" y="6556248"/>
            <a:ext cx="2103120" cy="16459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750" b="1" spc="40">
                <a:solidFill>
                  <a:srgbClr val="5C7276"/>
                </a:solidFill>
                <a:latin typeface="Noto Sans CJK SC"/>
                <a:ea typeface="Noto Sans CJK SC"/>
                <a:cs typeface="Noto Sans CJK SC"/>
              </a:rPr>
              <a:t>CUSTOMER SERVICE AI AGENT</a:t>
            </a:r>
            <a:endParaRPr sz="750"/>
          </a:p>
        </p:txBody>
      </p:sp>
      <p:sp>
        <p:nvSpPr>
          <p:cNvPr id="21" name="Text 19"/>
          <p:cNvSpPr>
            <a:spLocks noGrp="1"/>
          </p:cNvSpPr>
          <p:nvPr/>
        </p:nvSpPr>
        <p:spPr>
          <a:xfrm>
            <a:off x="10698480" y="6519672"/>
            <a:ext cx="749808" cy="21945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</a:pPr>
            <a:r>
              <a:rPr sz="880" b="1">
                <a:solidFill>
                  <a:srgbClr val="076B50"/>
                </a:solidFill>
                <a:latin typeface="Noto Sans CJK SC"/>
                <a:ea typeface="Noto Sans CJK SC"/>
                <a:cs typeface="Noto Sans CJK SC"/>
              </a:rPr>
              <a:t>22</a:t>
            </a:r>
            <a:endParaRPr sz="880" b="1">
              <a:solidFill>
                <a:srgbClr val="2F80ED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86" name="Rectangle 85"/>
          <p:cNvSpPr>
            <a:spLocks noGrp="1"/>
          </p:cNvSpPr>
          <p:nvPr/>
        </p:nvSpPr>
        <p:spPr>
          <a:xfrm>
            <a:off x="0" y="0"/>
            <a:ext cx="41148" cy="6858000"/>
          </a:xfrm>
          <a:prstGeom prst="rect">
            <a:avLst/>
          </a:prstGeom>
          <a:solidFill>
            <a:srgbClr val="0A8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98" name="TextBox 97"/>
          <p:cNvSpPr>
            <a:spLocks noGrp="1"/>
          </p:cNvSpPr>
          <p:nvPr/>
        </p:nvSpPr>
        <p:spPr>
          <a:xfrm>
            <a:off x="731520" y="1554480"/>
            <a:ext cx="1600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700" b="1" spc="120">
                <a:solidFill>
                  <a:srgbClr val="44585C"/>
                </a:solidFill>
                <a:latin typeface="Noto Sans CJK SC"/>
                <a:ea typeface="Noto Sans CJK SC"/>
                <a:cs typeface="Noto Sans CJK SC"/>
              </a:rPr>
              <a:t>来 源</a:t>
            </a:r>
            <a:endParaRPr sz="700" b="1" spc="120">
              <a:solidFill>
                <a:srgbClr val="6B8185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99" name="TextBox 98"/>
          <p:cNvSpPr>
            <a:spLocks noGrp="1"/>
          </p:cNvSpPr>
          <p:nvPr/>
        </p:nvSpPr>
        <p:spPr>
          <a:xfrm>
            <a:off x="2697480" y="1554480"/>
            <a:ext cx="16916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700" b="1" spc="120">
                <a:solidFill>
                  <a:srgbClr val="44585C"/>
                </a:solidFill>
                <a:latin typeface="Noto Sans CJK SC"/>
                <a:ea typeface="Noto Sans CJK SC"/>
                <a:cs typeface="Noto Sans CJK SC"/>
              </a:rPr>
              <a:t>渠道路由</a:t>
            </a:r>
            <a:endParaRPr sz="700" b="1" spc="120">
              <a:solidFill>
                <a:srgbClr val="6B8185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00" name="TextBox 99"/>
          <p:cNvSpPr>
            <a:spLocks noGrp="1"/>
          </p:cNvSpPr>
          <p:nvPr/>
        </p:nvSpPr>
        <p:spPr>
          <a:xfrm>
            <a:off x="4709160" y="1554480"/>
            <a:ext cx="23774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700" b="1" spc="120">
                <a:solidFill>
                  <a:srgbClr val="44585C"/>
                </a:solidFill>
                <a:latin typeface="Noto Sans CJK SC"/>
                <a:ea typeface="Noto Sans CJK SC"/>
                <a:cs typeface="Noto Sans CJK SC"/>
              </a:rPr>
              <a:t>共享中枢</a:t>
            </a:r>
            <a:endParaRPr sz="700" b="1" spc="120">
              <a:solidFill>
                <a:srgbClr val="6B8185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01" name="TextBox 100"/>
          <p:cNvSpPr>
            <a:spLocks noGrp="1"/>
          </p:cNvSpPr>
          <p:nvPr/>
        </p:nvSpPr>
        <p:spPr>
          <a:xfrm>
            <a:off x="7635240" y="1554480"/>
            <a:ext cx="36118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700" b="1" spc="120">
                <a:solidFill>
                  <a:srgbClr val="44585C"/>
                </a:solidFill>
                <a:latin typeface="Noto Sans CJK SC"/>
                <a:ea typeface="Noto Sans CJK SC"/>
                <a:cs typeface="Noto Sans CJK SC"/>
              </a:rPr>
              <a:t>三条运行链</a:t>
            </a:r>
            <a:endParaRPr sz="700" b="1" spc="120">
              <a:solidFill>
                <a:srgbClr val="6B8185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02" name="Rounded Rectangle 101"/>
          <p:cNvSpPr>
            <a:spLocks noGrp="1"/>
          </p:cNvSpPr>
          <p:nvPr/>
        </p:nvSpPr>
        <p:spPr>
          <a:xfrm>
            <a:off x="731520" y="2139696"/>
            <a:ext cx="1600200" cy="585216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5240">
            <a:solidFill>
              <a:srgbClr val="C9D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103" name="Oval 102"/>
          <p:cNvSpPr>
            <a:spLocks noGrp="1"/>
          </p:cNvSpPr>
          <p:nvPr/>
        </p:nvSpPr>
        <p:spPr>
          <a:xfrm>
            <a:off x="850392" y="2258568"/>
            <a:ext cx="347472" cy="347472"/>
          </a:xfrm>
          <a:prstGeom prst="ellipse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pic>
        <p:nvPicPr>
          <p:cNvPr id="225" name="Picture 10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6835" y="2335011"/>
            <a:ext cx="194584" cy="194584"/>
          </a:xfrm>
          <a:prstGeom prst="rect">
            <a:avLst/>
          </a:prstGeom>
        </p:spPr>
      </p:pic>
      <p:sp>
        <p:nvSpPr>
          <p:cNvPr id="105" name="TextBox 104"/>
          <p:cNvSpPr>
            <a:spLocks noGrp="1"/>
          </p:cNvSpPr>
          <p:nvPr/>
        </p:nvSpPr>
        <p:spPr>
          <a:xfrm>
            <a:off x="1298448" y="2249424"/>
            <a:ext cx="9601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100" b="1">
                <a:solidFill>
                  <a:srgbClr val="14383E"/>
                </a:solidFill>
                <a:latin typeface="Noto Sans CJK SC"/>
                <a:ea typeface="Noto Sans CJK SC"/>
                <a:cs typeface="Noto Sans CJK SC"/>
              </a:rPr>
              <a:t>chat</a:t>
            </a:r>
            <a:endParaRPr sz="1100" b="1">
              <a:solidFill>
                <a:srgbClr val="14383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06" name="TextBox 105"/>
          <p:cNvSpPr>
            <a:spLocks noGrp="1"/>
          </p:cNvSpPr>
          <p:nvPr/>
        </p:nvSpPr>
        <p:spPr>
          <a:xfrm>
            <a:off x="1298448" y="2468879"/>
            <a:ext cx="9601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700" b="0">
                <a:solidFill>
                  <a:srgbClr val="44585C"/>
                </a:solidFill>
                <a:latin typeface="Noto Sans CJK SC"/>
                <a:ea typeface="Noto Sans CJK SC"/>
                <a:cs typeface="Noto Sans CJK SC"/>
              </a:rPr>
              <a:t>实时会话事件</a:t>
            </a:r>
            <a:endParaRPr sz="700" b="0">
              <a:solidFill>
                <a:srgbClr val="6B8185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07" name="Rounded Rectangle 106"/>
          <p:cNvSpPr>
            <a:spLocks noGrp="1"/>
          </p:cNvSpPr>
          <p:nvPr/>
        </p:nvSpPr>
        <p:spPr>
          <a:xfrm>
            <a:off x="731520" y="2816352"/>
            <a:ext cx="1600200" cy="585216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5240">
            <a:solidFill>
              <a:srgbClr val="C9D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108" name="Oval 107"/>
          <p:cNvSpPr>
            <a:spLocks noGrp="1"/>
          </p:cNvSpPr>
          <p:nvPr/>
        </p:nvSpPr>
        <p:spPr>
          <a:xfrm>
            <a:off x="850392" y="2935224"/>
            <a:ext cx="347472" cy="347472"/>
          </a:xfrm>
          <a:prstGeom prst="ellipse">
            <a:avLst/>
          </a:prstGeom>
          <a:solidFill>
            <a:srgbClr val="00A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pic>
        <p:nvPicPr>
          <p:cNvPr id="230" name="Picture 10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6835" y="3011667"/>
            <a:ext cx="194584" cy="194584"/>
          </a:xfrm>
          <a:prstGeom prst="rect">
            <a:avLst/>
          </a:prstGeom>
        </p:spPr>
      </p:pic>
      <p:sp>
        <p:nvSpPr>
          <p:cNvPr id="110" name="TextBox 109"/>
          <p:cNvSpPr>
            <a:spLocks noGrp="1"/>
          </p:cNvSpPr>
          <p:nvPr/>
        </p:nvSpPr>
        <p:spPr>
          <a:xfrm>
            <a:off x="1298448" y="2926080"/>
            <a:ext cx="9601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100" b="1">
                <a:solidFill>
                  <a:srgbClr val="14383E"/>
                </a:solidFill>
                <a:latin typeface="Noto Sans CJK SC"/>
                <a:ea typeface="Noto Sans CJK SC"/>
                <a:cs typeface="Noto Sans CJK SC"/>
              </a:rPr>
              <a:t>email</a:t>
            </a:r>
            <a:endParaRPr sz="1100" b="1">
              <a:solidFill>
                <a:srgbClr val="14383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11" name="TextBox 110"/>
          <p:cNvSpPr>
            <a:spLocks noGrp="1"/>
          </p:cNvSpPr>
          <p:nvPr/>
        </p:nvSpPr>
        <p:spPr>
          <a:xfrm>
            <a:off x="1298448" y="3145536"/>
            <a:ext cx="9601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700" b="0">
                <a:solidFill>
                  <a:srgbClr val="44585C"/>
                </a:solidFill>
                <a:latin typeface="Noto Sans CJK SC"/>
                <a:ea typeface="Noto Sans CJK SC"/>
                <a:cs typeface="Noto Sans CJK SC"/>
              </a:rPr>
              <a:t>邮件 / 网页表单</a:t>
            </a:r>
            <a:endParaRPr sz="700" b="0">
              <a:solidFill>
                <a:srgbClr val="6B8185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12" name="Rounded Rectangle 111"/>
          <p:cNvSpPr>
            <a:spLocks noGrp="1"/>
          </p:cNvSpPr>
          <p:nvPr/>
        </p:nvSpPr>
        <p:spPr>
          <a:xfrm>
            <a:off x="731520" y="3493008"/>
            <a:ext cx="1600200" cy="585216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5240">
            <a:solidFill>
              <a:srgbClr val="C9D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113" name="Oval 112"/>
          <p:cNvSpPr>
            <a:spLocks noGrp="1"/>
          </p:cNvSpPr>
          <p:nvPr/>
        </p:nvSpPr>
        <p:spPr>
          <a:xfrm>
            <a:off x="850392" y="3611879"/>
            <a:ext cx="347472" cy="347472"/>
          </a:xfrm>
          <a:prstGeom prst="ellipse">
            <a:avLst/>
          </a:prstGeom>
          <a:solidFill>
            <a:srgbClr val="6B6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pic>
        <p:nvPicPr>
          <p:cNvPr id="235" name="Picture 1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6835" y="3688323"/>
            <a:ext cx="194584" cy="194584"/>
          </a:xfrm>
          <a:prstGeom prst="rect">
            <a:avLst/>
          </a:prstGeom>
        </p:spPr>
      </p:pic>
      <p:sp>
        <p:nvSpPr>
          <p:cNvPr id="115" name="TextBox 114"/>
          <p:cNvSpPr>
            <a:spLocks noGrp="1"/>
          </p:cNvSpPr>
          <p:nvPr/>
        </p:nvSpPr>
        <p:spPr>
          <a:xfrm>
            <a:off x="1298448" y="3602736"/>
            <a:ext cx="9601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100" b="1">
                <a:solidFill>
                  <a:srgbClr val="14383E"/>
                </a:solidFill>
                <a:latin typeface="Noto Sans CJK SC"/>
                <a:ea typeface="Noto Sans CJK SC"/>
                <a:cs typeface="Noto Sans CJK SC"/>
              </a:rPr>
              <a:t>voice</a:t>
            </a:r>
            <a:endParaRPr sz="1100" b="1">
              <a:solidFill>
                <a:srgbClr val="14383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16" name="TextBox 115"/>
          <p:cNvSpPr>
            <a:spLocks noGrp="1"/>
          </p:cNvSpPr>
          <p:nvPr/>
        </p:nvSpPr>
        <p:spPr>
          <a:xfrm>
            <a:off x="1298448" y="3822191"/>
            <a:ext cx="9601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700" b="0">
                <a:solidFill>
                  <a:srgbClr val="44585C"/>
                </a:solidFill>
                <a:latin typeface="Noto Sans CJK SC"/>
                <a:ea typeface="Noto Sans CJK SC"/>
                <a:cs typeface="Noto Sans CJK SC"/>
              </a:rPr>
              <a:t>实时通话事件</a:t>
            </a:r>
            <a:endParaRPr sz="700" b="0">
              <a:solidFill>
                <a:srgbClr val="6B8185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17" name="Connector 116"/>
          <p:cNvSpPr>
            <a:spLocks noGrp="1"/>
          </p:cNvSpPr>
          <p:nvPr/>
        </p:nvSpPr>
        <p:spPr>
          <a:xfrm>
            <a:off x="2331720" y="2432303"/>
            <a:ext cx="155448" cy="0"/>
          </a:xfrm>
          <a:prstGeom prst="line">
            <a:avLst/>
          </a:prstGeom>
          <a:ln w="17780">
            <a:solidFill>
              <a:srgbClr val="C9DC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p/>
        </p:txBody>
      </p:sp>
      <p:sp>
        <p:nvSpPr>
          <p:cNvPr id="118" name="Connector 117"/>
          <p:cNvSpPr>
            <a:spLocks noGrp="1"/>
          </p:cNvSpPr>
          <p:nvPr/>
        </p:nvSpPr>
        <p:spPr>
          <a:xfrm>
            <a:off x="2331720" y="3108960"/>
            <a:ext cx="155448" cy="0"/>
          </a:xfrm>
          <a:prstGeom prst="line">
            <a:avLst/>
          </a:prstGeom>
          <a:ln w="17780">
            <a:solidFill>
              <a:srgbClr val="C9DC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p/>
        </p:txBody>
      </p:sp>
      <p:sp>
        <p:nvSpPr>
          <p:cNvPr id="119" name="Connector 118"/>
          <p:cNvSpPr>
            <a:spLocks noGrp="1"/>
          </p:cNvSpPr>
          <p:nvPr/>
        </p:nvSpPr>
        <p:spPr>
          <a:xfrm>
            <a:off x="2331720" y="3785615"/>
            <a:ext cx="155448" cy="0"/>
          </a:xfrm>
          <a:prstGeom prst="line">
            <a:avLst/>
          </a:prstGeom>
          <a:ln w="17780">
            <a:solidFill>
              <a:srgbClr val="C9DC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p/>
        </p:txBody>
      </p:sp>
      <p:sp>
        <p:nvSpPr>
          <p:cNvPr id="120" name="Connector 119"/>
          <p:cNvSpPr>
            <a:spLocks noGrp="1"/>
          </p:cNvSpPr>
          <p:nvPr/>
        </p:nvSpPr>
        <p:spPr>
          <a:xfrm>
            <a:off x="2487168" y="2432304"/>
            <a:ext cx="0" cy="1353311"/>
          </a:xfrm>
          <a:prstGeom prst="line">
            <a:avLst/>
          </a:prstGeom>
          <a:ln w="17780">
            <a:solidFill>
              <a:srgbClr val="C9DC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p/>
        </p:txBody>
      </p:sp>
      <p:sp>
        <p:nvSpPr>
          <p:cNvPr id="121" name="Connector 120"/>
          <p:cNvSpPr>
            <a:spLocks noGrp="1"/>
          </p:cNvSpPr>
          <p:nvPr/>
        </p:nvSpPr>
        <p:spPr>
          <a:xfrm>
            <a:off x="2487168" y="3108960"/>
            <a:ext cx="210312" cy="0"/>
          </a:xfrm>
          <a:prstGeom prst="line">
            <a:avLst/>
          </a:prstGeom>
          <a:ln w="22860">
            <a:solidFill>
              <a:srgbClr val="6B818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p/>
        </p:txBody>
      </p:sp>
      <p:sp>
        <p:nvSpPr>
          <p:cNvPr id="122" name="Rounded Rectangle 121"/>
          <p:cNvSpPr>
            <a:spLocks noGrp="1"/>
          </p:cNvSpPr>
          <p:nvPr/>
        </p:nvSpPr>
        <p:spPr>
          <a:xfrm>
            <a:off x="2697480" y="2651760"/>
            <a:ext cx="169164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6B81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123" name="Oval 122"/>
          <p:cNvSpPr>
            <a:spLocks noGrp="1"/>
          </p:cNvSpPr>
          <p:nvPr/>
        </p:nvSpPr>
        <p:spPr>
          <a:xfrm>
            <a:off x="3387852" y="2715768"/>
            <a:ext cx="310896" cy="310896"/>
          </a:xfrm>
          <a:prstGeom prst="ellipse">
            <a:avLst/>
          </a:prstGeom>
          <a:solidFill>
            <a:srgbClr val="6B8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pic>
        <p:nvPicPr>
          <p:cNvPr id="245" name="Picture 12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56249" y="2784165"/>
            <a:ext cx="174101" cy="174101"/>
          </a:xfrm>
          <a:prstGeom prst="rect">
            <a:avLst/>
          </a:prstGeom>
        </p:spPr>
      </p:pic>
      <p:sp>
        <p:nvSpPr>
          <p:cNvPr id="125" name="TextBox 124"/>
          <p:cNvSpPr>
            <a:spLocks noGrp="1"/>
          </p:cNvSpPr>
          <p:nvPr/>
        </p:nvSpPr>
        <p:spPr>
          <a:xfrm>
            <a:off x="2697480" y="3072384"/>
            <a:ext cx="16916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100" b="1">
                <a:solidFill>
                  <a:srgbClr val="14383E"/>
                </a:solidFill>
                <a:latin typeface="Noto Sans CJK SC"/>
                <a:ea typeface="Noto Sans CJK SC"/>
                <a:cs typeface="Noto Sans CJK SC"/>
              </a:rPr>
              <a:t>渠道路由层</a:t>
            </a:r>
            <a:endParaRPr sz="1100" b="1">
              <a:solidFill>
                <a:srgbClr val="14383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26" name="TextBox 125"/>
          <p:cNvSpPr>
            <a:spLocks noGrp="1"/>
          </p:cNvSpPr>
          <p:nvPr/>
        </p:nvSpPr>
        <p:spPr>
          <a:xfrm>
            <a:off x="2697480" y="3291840"/>
            <a:ext cx="16916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700" b="0">
                <a:solidFill>
                  <a:srgbClr val="44585C"/>
                </a:solidFill>
                <a:latin typeface="Noto Sans CJK SC"/>
                <a:ea typeface="Noto Sans CJK SC"/>
                <a:cs typeface="Noto Sans CJK SC"/>
              </a:rPr>
              <a:t>来源校验 · 身份与归属</a:t>
            </a:r>
            <a:endParaRPr sz="700" b="0">
              <a:solidFill>
                <a:srgbClr val="6B8185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27" name="Connector 126"/>
          <p:cNvSpPr>
            <a:spLocks noGrp="1"/>
          </p:cNvSpPr>
          <p:nvPr/>
        </p:nvSpPr>
        <p:spPr>
          <a:xfrm>
            <a:off x="4389120" y="3108960"/>
            <a:ext cx="320040" cy="0"/>
          </a:xfrm>
          <a:prstGeom prst="line">
            <a:avLst/>
          </a:prstGeom>
          <a:ln w="38100">
            <a:solidFill>
              <a:srgbClr val="2F80E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p/>
        </p:txBody>
      </p:sp>
      <p:sp>
        <p:nvSpPr>
          <p:cNvPr id="128" name="TextBox 127"/>
          <p:cNvSpPr>
            <a:spLocks noGrp="1"/>
          </p:cNvSpPr>
          <p:nvPr/>
        </p:nvSpPr>
        <p:spPr>
          <a:xfrm>
            <a:off x="4279392" y="2889504"/>
            <a:ext cx="384048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buNone/>
            </a:pPr>
            <a:r>
              <a:rPr sz="660" b="1">
                <a:solidFill>
                  <a:srgbClr val="1B5FC4"/>
                </a:solidFill>
                <a:latin typeface="Noto Sans CJK SC"/>
                <a:ea typeface="Noto Sans CJK SC"/>
                <a:cs typeface="Noto Sans CJK SC"/>
              </a:rPr>
              <a:t>共享能力</a:t>
            </a:r>
            <a:endParaRPr sz="660" b="1">
              <a:solidFill>
                <a:srgbClr val="2F80ED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29" name="Rounded Rectangle 128"/>
          <p:cNvSpPr>
            <a:spLocks noGrp="1"/>
          </p:cNvSpPr>
          <p:nvPr/>
        </p:nvSpPr>
        <p:spPr>
          <a:xfrm>
            <a:off x="4709160" y="2148840"/>
            <a:ext cx="2377440" cy="1920240"/>
          </a:xfrm>
          <a:prstGeom prst="roundRect">
            <a:avLst>
              <a:gd name="adj" fmla="val 9000"/>
            </a:avLst>
          </a:prstGeom>
          <a:solidFill>
            <a:srgbClr val="153D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130" name="Oval 129"/>
          <p:cNvSpPr>
            <a:spLocks noGrp="1"/>
          </p:cNvSpPr>
          <p:nvPr/>
        </p:nvSpPr>
        <p:spPr>
          <a:xfrm>
            <a:off x="5715000" y="2240279"/>
            <a:ext cx="365760" cy="365760"/>
          </a:xfrm>
          <a:prstGeom prst="ellipse">
            <a:avLst/>
          </a:prstGeom>
          <a:solidFill>
            <a:srgbClr val="0D5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pic>
        <p:nvPicPr>
          <p:cNvPr id="252" name="Picture 13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88152" y="2313432"/>
            <a:ext cx="219456" cy="219456"/>
          </a:xfrm>
          <a:prstGeom prst="rect">
            <a:avLst/>
          </a:prstGeom>
        </p:spPr>
      </p:pic>
      <p:sp>
        <p:nvSpPr>
          <p:cNvPr id="132" name="TextBox 131"/>
          <p:cNvSpPr>
            <a:spLocks noGrp="1"/>
          </p:cNvSpPr>
          <p:nvPr/>
        </p:nvSpPr>
        <p:spPr>
          <a:xfrm>
            <a:off x="4709160" y="2624328"/>
            <a:ext cx="23774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AI Agent</a:t>
            </a:r>
            <a:endParaRPr sz="180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33" name="TextBox 132"/>
          <p:cNvSpPr>
            <a:spLocks noGrp="1"/>
          </p:cNvSpPr>
          <p:nvPr/>
        </p:nvSpPr>
        <p:spPr>
          <a:xfrm>
            <a:off x="4709160" y="2953512"/>
            <a:ext cx="23774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950" b="1">
                <a:solidFill>
                  <a:srgbClr val="7FD8C0"/>
                </a:solidFill>
                <a:latin typeface="Noto Sans CJK SC"/>
                <a:ea typeface="Noto Sans CJK SC"/>
                <a:cs typeface="Noto Sans CJK SC"/>
              </a:rPr>
              <a:t>共享运行时</a:t>
            </a:r>
            <a:endParaRPr sz="950" b="1">
              <a:solidFill>
                <a:srgbClr val="7FD8C0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34" name="Connector 133"/>
          <p:cNvSpPr>
            <a:spLocks noGrp="1"/>
          </p:cNvSpPr>
          <p:nvPr/>
        </p:nvSpPr>
        <p:spPr>
          <a:xfrm>
            <a:off x="4946904" y="3191256"/>
            <a:ext cx="1901952" cy="0"/>
          </a:xfrm>
          <a:prstGeom prst="line">
            <a:avLst/>
          </a:prstGeom>
          <a:ln w="12700">
            <a:solidFill>
              <a:srgbClr val="3B6B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p/>
        </p:txBody>
      </p:sp>
      <p:sp>
        <p:nvSpPr>
          <p:cNvPr id="135" name="TextBox 134"/>
          <p:cNvSpPr>
            <a:spLocks noGrp="1"/>
          </p:cNvSpPr>
          <p:nvPr/>
        </p:nvSpPr>
        <p:spPr>
          <a:xfrm>
            <a:off x="4709160" y="3282696"/>
            <a:ext cx="23774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760" b="0">
                <a:solidFill>
                  <a:srgbClr val="E4F1EE"/>
                </a:solidFill>
                <a:latin typeface="Noto Sans CJK SC"/>
                <a:ea typeface="Noto Sans CJK SC"/>
                <a:cs typeface="Noto Sans CJK SC"/>
              </a:rPr>
              <a:t>意图识别 · Context 组装</a:t>
            </a:r>
            <a:endParaRPr sz="760" b="0">
              <a:solidFill>
                <a:srgbClr val="D6E7E3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36" name="TextBox 135"/>
          <p:cNvSpPr>
            <a:spLocks noGrp="1"/>
          </p:cNvSpPr>
          <p:nvPr/>
        </p:nvSpPr>
        <p:spPr>
          <a:xfrm>
            <a:off x="4709160" y="3465576"/>
            <a:ext cx="23774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760" b="0">
                <a:solidFill>
                  <a:srgbClr val="E4F1EE"/>
                </a:solidFill>
                <a:latin typeface="Noto Sans CJK SC"/>
                <a:ea typeface="Noto Sans CJK SC"/>
                <a:cs typeface="Noto Sans CJK SC"/>
              </a:rPr>
              <a:t>Skill 选择 · 工具授权</a:t>
            </a:r>
            <a:endParaRPr sz="760" b="0">
              <a:solidFill>
                <a:srgbClr val="D6E7E3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37" name="TextBox 136"/>
          <p:cNvSpPr>
            <a:spLocks noGrp="1"/>
          </p:cNvSpPr>
          <p:nvPr/>
        </p:nvSpPr>
        <p:spPr>
          <a:xfrm>
            <a:off x="4709160" y="3648456"/>
            <a:ext cx="23774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760" b="0">
                <a:solidFill>
                  <a:srgbClr val="E4F1EE"/>
                </a:solidFill>
                <a:latin typeface="Noto Sans CJK SC"/>
                <a:ea typeface="Noto Sans CJK SC"/>
                <a:cs typeface="Noto Sans CJK SC"/>
              </a:rPr>
              <a:t>计划生成 · 风险判断 · 交接</a:t>
            </a:r>
            <a:endParaRPr sz="760" b="0">
              <a:solidFill>
                <a:srgbClr val="D6E7E3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38" name="TextBox 137"/>
          <p:cNvSpPr>
            <a:spLocks noGrp="1"/>
          </p:cNvSpPr>
          <p:nvPr/>
        </p:nvSpPr>
        <p:spPr>
          <a:xfrm>
            <a:off x="4709160" y="3867912"/>
            <a:ext cx="23774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700" b="1">
                <a:solidFill>
                  <a:srgbClr val="7FD8C0"/>
                </a:solidFill>
                <a:latin typeface="Noto Sans CJK SC"/>
                <a:ea typeface="Noto Sans CJK SC"/>
                <a:cs typeface="Noto Sans CJK SC"/>
              </a:rPr>
              <a:t>输出：回复 / 工具调用 / 人工交接</a:t>
            </a:r>
            <a:endParaRPr sz="700" b="1">
              <a:solidFill>
                <a:srgbClr val="7FD8C0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39" name="Connector 138"/>
          <p:cNvSpPr>
            <a:spLocks noGrp="1"/>
          </p:cNvSpPr>
          <p:nvPr/>
        </p:nvSpPr>
        <p:spPr>
          <a:xfrm>
            <a:off x="7086600" y="3108960"/>
            <a:ext cx="274320" cy="0"/>
          </a:xfrm>
          <a:prstGeom prst="line">
            <a:avLst/>
          </a:prstGeom>
          <a:ln w="20320">
            <a:solidFill>
              <a:srgbClr val="C9DC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p/>
        </p:txBody>
      </p:sp>
      <p:sp>
        <p:nvSpPr>
          <p:cNvPr id="140" name="Connector 139"/>
          <p:cNvSpPr>
            <a:spLocks noGrp="1"/>
          </p:cNvSpPr>
          <p:nvPr/>
        </p:nvSpPr>
        <p:spPr>
          <a:xfrm>
            <a:off x="7360920" y="2121408"/>
            <a:ext cx="0" cy="1938528"/>
          </a:xfrm>
          <a:prstGeom prst="line">
            <a:avLst/>
          </a:prstGeom>
          <a:ln w="20320">
            <a:solidFill>
              <a:srgbClr val="C9DC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p/>
        </p:txBody>
      </p:sp>
      <p:sp>
        <p:nvSpPr>
          <p:cNvPr id="141" name="Connector 140"/>
          <p:cNvSpPr>
            <a:spLocks noGrp="1"/>
          </p:cNvSpPr>
          <p:nvPr/>
        </p:nvSpPr>
        <p:spPr>
          <a:xfrm>
            <a:off x="7360920" y="2121408"/>
            <a:ext cx="274320" cy="0"/>
          </a:xfrm>
          <a:prstGeom prst="line">
            <a:avLst/>
          </a:prstGeom>
          <a:ln w="30480">
            <a:solidFill>
              <a:srgbClr val="0A8F6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p/>
        </p:txBody>
      </p:sp>
      <p:sp>
        <p:nvSpPr>
          <p:cNvPr id="142" name="TextBox 141"/>
          <p:cNvSpPr>
            <a:spLocks noGrp="1"/>
          </p:cNvSpPr>
          <p:nvPr/>
        </p:nvSpPr>
        <p:spPr>
          <a:xfrm>
            <a:off x="7379208" y="1929384"/>
            <a:ext cx="512064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650" b="1">
                <a:solidFill>
                  <a:srgbClr val="076B50"/>
                </a:solidFill>
                <a:latin typeface="Noto Sans CJK SC"/>
                <a:ea typeface="Noto Sans CJK SC"/>
                <a:cs typeface="Noto Sans CJK SC"/>
              </a:rPr>
              <a:t>工单型</a:t>
            </a:r>
            <a:endParaRPr sz="650" b="1">
              <a:solidFill>
                <a:srgbClr val="0A8F6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43" name="Rounded Rectangle 142"/>
          <p:cNvSpPr>
            <a:spLocks noGrp="1"/>
          </p:cNvSpPr>
          <p:nvPr/>
        </p:nvSpPr>
        <p:spPr>
          <a:xfrm>
            <a:off x="7635240" y="1700784"/>
            <a:ext cx="3611880" cy="841248"/>
          </a:xfrm>
          <a:prstGeom prst="roundRect">
            <a:avLst>
              <a:gd name="adj" fmla="val 10000"/>
            </a:avLst>
          </a:prstGeom>
          <a:solidFill>
            <a:srgbClr val="E8F7F1"/>
          </a:solidFill>
          <a:ln w="21590">
            <a:solidFill>
              <a:srgbClr val="0A8F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144" name="Oval 143"/>
          <p:cNvSpPr>
            <a:spLocks noGrp="1"/>
          </p:cNvSpPr>
          <p:nvPr/>
        </p:nvSpPr>
        <p:spPr>
          <a:xfrm>
            <a:off x="7726680" y="1773936"/>
            <a:ext cx="347472" cy="347472"/>
          </a:xfrm>
          <a:prstGeom prst="ellipse">
            <a:avLst/>
          </a:prstGeom>
          <a:solidFill>
            <a:srgbClr val="0A8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pic>
        <p:nvPicPr>
          <p:cNvPr id="266" name="Picture 14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03123" y="1850379"/>
            <a:ext cx="194584" cy="194584"/>
          </a:xfrm>
          <a:prstGeom prst="rect">
            <a:avLst/>
          </a:prstGeom>
        </p:spPr>
      </p:pic>
      <p:sp>
        <p:nvSpPr>
          <p:cNvPr id="146" name="TextBox 145"/>
          <p:cNvSpPr>
            <a:spLocks noGrp="1"/>
          </p:cNvSpPr>
          <p:nvPr/>
        </p:nvSpPr>
        <p:spPr>
          <a:xfrm>
            <a:off x="8138160" y="1810512"/>
            <a:ext cx="2743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700" b="1">
                <a:solidFill>
                  <a:srgbClr val="076B50"/>
                </a:solidFill>
                <a:latin typeface="Noto Sans CJK SC"/>
                <a:ea typeface="Noto Sans CJK SC"/>
                <a:cs typeface="Noto Sans CJK SC"/>
              </a:rPr>
              <a:t>01</a:t>
            </a:r>
            <a:endParaRPr sz="700" b="1">
              <a:solidFill>
                <a:srgbClr val="0A8F6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47" name="TextBox 146"/>
          <p:cNvSpPr>
            <a:spLocks noGrp="1"/>
          </p:cNvSpPr>
          <p:nvPr/>
        </p:nvSpPr>
        <p:spPr>
          <a:xfrm>
            <a:off x="8412480" y="1792224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050" b="1">
                <a:solidFill>
                  <a:srgbClr val="14383E"/>
                </a:solidFill>
                <a:latin typeface="Noto Sans CJK SC"/>
                <a:ea typeface="Noto Sans CJK SC"/>
                <a:cs typeface="Noto Sans CJK SC"/>
              </a:rPr>
              <a:t>Email Pipeline</a:t>
            </a:r>
            <a:endParaRPr sz="1050" b="1">
              <a:solidFill>
                <a:srgbClr val="14383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48" name="TextBox 147"/>
          <p:cNvSpPr>
            <a:spLocks noGrp="1"/>
          </p:cNvSpPr>
          <p:nvPr/>
        </p:nvSpPr>
        <p:spPr>
          <a:xfrm>
            <a:off x="7772400" y="2103120"/>
            <a:ext cx="340156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740" b="0">
                <a:solidFill>
                  <a:srgbClr val="44585C"/>
                </a:solidFill>
                <a:latin typeface="Noto Sans CJK SC"/>
                <a:ea typeface="Noto Sans CJK SC"/>
                <a:cs typeface="Noto Sans CJK SC"/>
              </a:rPr>
              <a:t>批处理或消息触发；长上下文、多意图、审核后发送。</a:t>
            </a:r>
            <a:endParaRPr sz="740" b="0">
              <a:solidFill>
                <a:srgbClr val="6B8185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49" name="TextBox 148"/>
          <p:cNvSpPr>
            <a:spLocks noGrp="1"/>
          </p:cNvSpPr>
          <p:nvPr/>
        </p:nvSpPr>
        <p:spPr>
          <a:xfrm>
            <a:off x="7772400" y="2295144"/>
            <a:ext cx="340156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740" b="1">
                <a:solidFill>
                  <a:srgbClr val="076B50"/>
                </a:solidFill>
                <a:latin typeface="Noto Sans CJK SC"/>
                <a:ea typeface="Noto Sans CJK SC"/>
                <a:cs typeface="Noto Sans CJK SC"/>
              </a:rPr>
              <a:t>异步 · 可续跑</a:t>
            </a:r>
            <a:endParaRPr sz="740" b="1">
              <a:solidFill>
                <a:srgbClr val="0A8F6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50" name="Connector 149"/>
          <p:cNvSpPr>
            <a:spLocks noGrp="1"/>
          </p:cNvSpPr>
          <p:nvPr/>
        </p:nvSpPr>
        <p:spPr>
          <a:xfrm>
            <a:off x="7360920" y="3090672"/>
            <a:ext cx="274320" cy="0"/>
          </a:xfrm>
          <a:prstGeom prst="line">
            <a:avLst/>
          </a:prstGeom>
          <a:ln w="30480">
            <a:solidFill>
              <a:srgbClr val="6B6FD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p/>
        </p:txBody>
      </p:sp>
      <p:sp>
        <p:nvSpPr>
          <p:cNvPr id="151" name="TextBox 150"/>
          <p:cNvSpPr>
            <a:spLocks noGrp="1"/>
          </p:cNvSpPr>
          <p:nvPr/>
        </p:nvSpPr>
        <p:spPr>
          <a:xfrm>
            <a:off x="7379208" y="2898648"/>
            <a:ext cx="512064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650" b="1">
                <a:solidFill>
                  <a:srgbClr val="4A4EB0"/>
                </a:solidFill>
                <a:latin typeface="Noto Sans CJK SC"/>
                <a:ea typeface="Noto Sans CJK SC"/>
                <a:cs typeface="Noto Sans CJK SC"/>
              </a:rPr>
              <a:t>会话型</a:t>
            </a:r>
            <a:endParaRPr sz="650" b="1">
              <a:solidFill>
                <a:srgbClr val="6B6FD8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52" name="Rounded Rectangle 151"/>
          <p:cNvSpPr>
            <a:spLocks noGrp="1"/>
          </p:cNvSpPr>
          <p:nvPr/>
        </p:nvSpPr>
        <p:spPr>
          <a:xfrm>
            <a:off x="7635240" y="2670048"/>
            <a:ext cx="3611880" cy="841248"/>
          </a:xfrm>
          <a:prstGeom prst="roundRect">
            <a:avLst>
              <a:gd name="adj" fmla="val 10000"/>
            </a:avLst>
          </a:prstGeom>
          <a:solidFill>
            <a:srgbClr val="EEF0FF"/>
          </a:solidFill>
          <a:ln w="21590">
            <a:solidFill>
              <a:srgbClr val="6B6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153" name="Oval 152"/>
          <p:cNvSpPr>
            <a:spLocks noGrp="1"/>
          </p:cNvSpPr>
          <p:nvPr/>
        </p:nvSpPr>
        <p:spPr>
          <a:xfrm>
            <a:off x="7726680" y="2743200"/>
            <a:ext cx="347472" cy="347472"/>
          </a:xfrm>
          <a:prstGeom prst="ellipse">
            <a:avLst/>
          </a:prstGeom>
          <a:solidFill>
            <a:srgbClr val="6B6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pic>
        <p:nvPicPr>
          <p:cNvPr id="275" name="Picture 15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03123" y="2819643"/>
            <a:ext cx="194584" cy="194584"/>
          </a:xfrm>
          <a:prstGeom prst="rect">
            <a:avLst/>
          </a:prstGeom>
        </p:spPr>
      </p:pic>
      <p:sp>
        <p:nvSpPr>
          <p:cNvPr id="155" name="TextBox 154"/>
          <p:cNvSpPr>
            <a:spLocks noGrp="1"/>
          </p:cNvSpPr>
          <p:nvPr/>
        </p:nvSpPr>
        <p:spPr>
          <a:xfrm>
            <a:off x="8138160" y="2779776"/>
            <a:ext cx="2743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700" b="1">
                <a:solidFill>
                  <a:srgbClr val="4A4EB0"/>
                </a:solidFill>
                <a:latin typeface="Noto Sans CJK SC"/>
                <a:ea typeface="Noto Sans CJK SC"/>
                <a:cs typeface="Noto Sans CJK SC"/>
              </a:rPr>
              <a:t>02</a:t>
            </a:r>
            <a:endParaRPr sz="700" b="1">
              <a:solidFill>
                <a:srgbClr val="6B6FD8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56" name="TextBox 155"/>
          <p:cNvSpPr>
            <a:spLocks noGrp="1"/>
          </p:cNvSpPr>
          <p:nvPr/>
        </p:nvSpPr>
        <p:spPr>
          <a:xfrm>
            <a:off x="8412480" y="2761488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050" b="1">
                <a:solidFill>
                  <a:srgbClr val="14383E"/>
                </a:solidFill>
                <a:latin typeface="Noto Sans CJK SC"/>
                <a:ea typeface="Noto Sans CJK SC"/>
                <a:cs typeface="Noto Sans CJK SC"/>
              </a:rPr>
              <a:t>Chat Pipeline</a:t>
            </a:r>
            <a:endParaRPr sz="1050" b="1">
              <a:solidFill>
                <a:srgbClr val="14383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57" name="TextBox 156"/>
          <p:cNvSpPr>
            <a:spLocks noGrp="1"/>
          </p:cNvSpPr>
          <p:nvPr/>
        </p:nvSpPr>
        <p:spPr>
          <a:xfrm>
            <a:off x="7772400" y="3072384"/>
            <a:ext cx="340156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740" b="0">
                <a:solidFill>
                  <a:srgbClr val="44585C"/>
                </a:solidFill>
                <a:latin typeface="Noto Sans CJK SC"/>
                <a:ea typeface="Noto Sans CJK SC"/>
                <a:cs typeface="Noto Sans CJK SC"/>
              </a:rPr>
              <a:t>实时事件触发；快速路径、会话归属、发送前检查。</a:t>
            </a:r>
            <a:endParaRPr sz="740" b="0">
              <a:solidFill>
                <a:srgbClr val="6B8185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58" name="TextBox 157"/>
          <p:cNvSpPr>
            <a:spLocks noGrp="1"/>
          </p:cNvSpPr>
          <p:nvPr/>
        </p:nvSpPr>
        <p:spPr>
          <a:xfrm>
            <a:off x="7772400" y="3264408"/>
            <a:ext cx="340156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740" b="1">
                <a:solidFill>
                  <a:srgbClr val="4A4EB0"/>
                </a:solidFill>
                <a:latin typeface="Noto Sans CJK SC"/>
                <a:ea typeface="Noto Sans CJK SC"/>
                <a:cs typeface="Noto Sans CJK SC"/>
              </a:rPr>
              <a:t>实时 · 低时延</a:t>
            </a:r>
            <a:endParaRPr sz="740" b="1">
              <a:solidFill>
                <a:srgbClr val="6B6FD8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59" name="Connector 158"/>
          <p:cNvSpPr>
            <a:spLocks noGrp="1"/>
          </p:cNvSpPr>
          <p:nvPr/>
        </p:nvSpPr>
        <p:spPr>
          <a:xfrm>
            <a:off x="7360920" y="4059936"/>
            <a:ext cx="274320" cy="0"/>
          </a:xfrm>
          <a:prstGeom prst="line">
            <a:avLst/>
          </a:prstGeom>
          <a:ln w="30480">
            <a:solidFill>
              <a:srgbClr val="F28B3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p/>
        </p:txBody>
      </p:sp>
      <p:sp>
        <p:nvSpPr>
          <p:cNvPr id="160" name="TextBox 159"/>
          <p:cNvSpPr>
            <a:spLocks noGrp="1"/>
          </p:cNvSpPr>
          <p:nvPr/>
        </p:nvSpPr>
        <p:spPr>
          <a:xfrm>
            <a:off x="7379208" y="3867912"/>
            <a:ext cx="512064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650" b="1">
                <a:solidFill>
                  <a:srgbClr val="9A5210"/>
                </a:solidFill>
                <a:latin typeface="Noto Sans CJK SC"/>
                <a:ea typeface="Noto Sans CJK SC"/>
                <a:cs typeface="Noto Sans CJK SC"/>
              </a:rPr>
              <a:t>通话型</a:t>
            </a:r>
            <a:endParaRPr sz="650" b="1">
              <a:solidFill>
                <a:srgbClr val="F28B36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61" name="Rounded Rectangle 160"/>
          <p:cNvSpPr>
            <a:spLocks noGrp="1"/>
          </p:cNvSpPr>
          <p:nvPr/>
        </p:nvSpPr>
        <p:spPr>
          <a:xfrm>
            <a:off x="7635240" y="3639312"/>
            <a:ext cx="3611880" cy="841248"/>
          </a:xfrm>
          <a:prstGeom prst="roundRect">
            <a:avLst>
              <a:gd name="adj" fmla="val 10000"/>
            </a:avLst>
          </a:prstGeom>
          <a:solidFill>
            <a:srgbClr val="FFF2E8"/>
          </a:solidFill>
          <a:ln w="21590">
            <a:solidFill>
              <a:srgbClr val="F28B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162" name="Oval 161"/>
          <p:cNvSpPr>
            <a:spLocks noGrp="1"/>
          </p:cNvSpPr>
          <p:nvPr/>
        </p:nvSpPr>
        <p:spPr>
          <a:xfrm>
            <a:off x="7726680" y="3712463"/>
            <a:ext cx="347472" cy="347472"/>
          </a:xfrm>
          <a:prstGeom prst="ellipse">
            <a:avLst/>
          </a:prstGeom>
          <a:solidFill>
            <a:srgbClr val="F28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pic>
        <p:nvPicPr>
          <p:cNvPr id="284" name="Picture 16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03123" y="3788907"/>
            <a:ext cx="194584" cy="194584"/>
          </a:xfrm>
          <a:prstGeom prst="rect">
            <a:avLst/>
          </a:prstGeom>
        </p:spPr>
      </p:pic>
      <p:sp>
        <p:nvSpPr>
          <p:cNvPr id="164" name="TextBox 163"/>
          <p:cNvSpPr>
            <a:spLocks noGrp="1"/>
          </p:cNvSpPr>
          <p:nvPr/>
        </p:nvSpPr>
        <p:spPr>
          <a:xfrm>
            <a:off x="8138160" y="3749039"/>
            <a:ext cx="2743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700" b="1">
                <a:solidFill>
                  <a:srgbClr val="9A5210"/>
                </a:solidFill>
                <a:latin typeface="Noto Sans CJK SC"/>
                <a:ea typeface="Noto Sans CJK SC"/>
                <a:cs typeface="Noto Sans CJK SC"/>
              </a:rPr>
              <a:t>03</a:t>
            </a:r>
            <a:endParaRPr sz="700" b="1">
              <a:solidFill>
                <a:srgbClr val="F28B36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65" name="TextBox 164"/>
          <p:cNvSpPr>
            <a:spLocks noGrp="1"/>
          </p:cNvSpPr>
          <p:nvPr/>
        </p:nvSpPr>
        <p:spPr>
          <a:xfrm>
            <a:off x="8412480" y="3730752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050" b="1">
                <a:solidFill>
                  <a:srgbClr val="14383E"/>
                </a:solidFill>
                <a:latin typeface="Noto Sans CJK SC"/>
                <a:ea typeface="Noto Sans CJK SC"/>
                <a:cs typeface="Noto Sans CJK SC"/>
              </a:rPr>
              <a:t>Voice Pipeline</a:t>
            </a:r>
            <a:endParaRPr sz="1050" b="1">
              <a:solidFill>
                <a:srgbClr val="14383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66" name="TextBox 165"/>
          <p:cNvSpPr>
            <a:spLocks noGrp="1"/>
          </p:cNvSpPr>
          <p:nvPr/>
        </p:nvSpPr>
        <p:spPr>
          <a:xfrm>
            <a:off x="7772400" y="4041648"/>
            <a:ext cx="340156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740" b="0">
                <a:solidFill>
                  <a:srgbClr val="44585C"/>
                </a:solidFill>
                <a:latin typeface="Noto Sans CJK SC"/>
                <a:ea typeface="Noto Sans CJK SC"/>
                <a:cs typeface="Noto Sans CJK SC"/>
              </a:rPr>
              <a:t>通话上下文触发；身份核验、短决策、明确转人工。语音平台：Cartesia。</a:t>
            </a:r>
            <a:endParaRPr sz="740" b="0">
              <a:solidFill>
                <a:srgbClr val="6B8185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67" name="TextBox 166"/>
          <p:cNvSpPr>
            <a:spLocks noGrp="1"/>
          </p:cNvSpPr>
          <p:nvPr/>
        </p:nvSpPr>
        <p:spPr>
          <a:xfrm>
            <a:off x="7772400" y="4233672"/>
            <a:ext cx="340156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740" b="1">
                <a:solidFill>
                  <a:srgbClr val="9A5210"/>
                </a:solidFill>
                <a:latin typeface="Noto Sans CJK SC"/>
                <a:ea typeface="Noto Sans CJK SC"/>
                <a:cs typeface="Noto Sans CJK SC"/>
              </a:rPr>
              <a:t>实时 · 强交接</a:t>
            </a:r>
            <a:endParaRPr sz="740" b="1">
              <a:solidFill>
                <a:srgbClr val="F28B36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68" name="Connector 167"/>
          <p:cNvSpPr>
            <a:spLocks noGrp="1"/>
          </p:cNvSpPr>
          <p:nvPr/>
        </p:nvSpPr>
        <p:spPr>
          <a:xfrm>
            <a:off x="8321040" y="4480560"/>
            <a:ext cx="0" cy="219456"/>
          </a:xfrm>
          <a:prstGeom prst="line">
            <a:avLst/>
          </a:prstGeom>
          <a:ln w="20320">
            <a:solidFill>
              <a:srgbClr val="F28B3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p/>
        </p:txBody>
      </p:sp>
      <p:sp>
        <p:nvSpPr>
          <p:cNvPr id="169" name="Connector 168"/>
          <p:cNvSpPr>
            <a:spLocks noGrp="1"/>
          </p:cNvSpPr>
          <p:nvPr/>
        </p:nvSpPr>
        <p:spPr>
          <a:xfrm flipH="1">
            <a:off x="5897880" y="4700016"/>
            <a:ext cx="2423160" cy="0"/>
          </a:xfrm>
          <a:prstGeom prst="line">
            <a:avLst/>
          </a:prstGeom>
          <a:ln w="20320">
            <a:solidFill>
              <a:srgbClr val="F28B3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p/>
        </p:txBody>
      </p:sp>
      <p:sp>
        <p:nvSpPr>
          <p:cNvPr id="170" name="Connector 169"/>
          <p:cNvSpPr>
            <a:spLocks noGrp="1"/>
          </p:cNvSpPr>
          <p:nvPr/>
        </p:nvSpPr>
        <p:spPr>
          <a:xfrm flipV="1">
            <a:off x="5897880" y="4096512"/>
            <a:ext cx="0" cy="603504"/>
          </a:xfrm>
          <a:prstGeom prst="line">
            <a:avLst/>
          </a:prstGeom>
          <a:ln w="20320">
            <a:solidFill>
              <a:srgbClr val="F28B36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p/>
        </p:txBody>
      </p:sp>
      <p:sp>
        <p:nvSpPr>
          <p:cNvPr id="171" name="TextBox 170"/>
          <p:cNvSpPr>
            <a:spLocks noGrp="1"/>
          </p:cNvSpPr>
          <p:nvPr/>
        </p:nvSpPr>
        <p:spPr>
          <a:xfrm>
            <a:off x="6035040" y="4517136"/>
            <a:ext cx="23774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660" b="1">
                <a:solidFill>
                  <a:srgbClr val="9A5210"/>
                </a:solidFill>
                <a:latin typeface="Noto Sans CJK SC"/>
                <a:ea typeface="Noto Sans CJK SC"/>
                <a:cs typeface="Noto Sans CJK SC"/>
              </a:rPr>
              <a:t>共用 Skill / Tool / Guard</a:t>
            </a:r>
            <a:endParaRPr sz="660" b="1">
              <a:solidFill>
                <a:srgbClr val="F28B36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72" name="Rounded Rectangle 171"/>
          <p:cNvSpPr>
            <a:spLocks noGrp="1"/>
          </p:cNvSpPr>
          <p:nvPr/>
        </p:nvSpPr>
        <p:spPr>
          <a:xfrm>
            <a:off x="731520" y="4956048"/>
            <a:ext cx="10515600" cy="731520"/>
          </a:xfrm>
          <a:prstGeom prst="roundRect">
            <a:avLst>
              <a:gd name="adj" fmla="val 6000"/>
            </a:avLst>
          </a:prstGeom>
          <a:solidFill>
            <a:srgbClr val="F7FBF9"/>
          </a:solidFill>
          <a:ln w="15240">
            <a:solidFill>
              <a:srgbClr val="C9D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173" name="TextBox 172"/>
          <p:cNvSpPr>
            <a:spLocks noGrp="1"/>
          </p:cNvSpPr>
          <p:nvPr/>
        </p:nvSpPr>
        <p:spPr>
          <a:xfrm>
            <a:off x="896112" y="5084064"/>
            <a:ext cx="9144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800" b="1" spc="100">
                <a:solidFill>
                  <a:srgbClr val="44585C"/>
                </a:solidFill>
                <a:latin typeface="Noto Sans CJK SC"/>
                <a:ea typeface="Noto Sans CJK SC"/>
                <a:cs typeface="Noto Sans CJK SC"/>
              </a:rPr>
              <a:t>共同底座</a:t>
            </a:r>
            <a:endParaRPr sz="800" b="1" spc="100">
              <a:solidFill>
                <a:srgbClr val="6B8185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74" name="TextBox 173"/>
          <p:cNvSpPr>
            <a:spLocks noGrp="1"/>
          </p:cNvSpPr>
          <p:nvPr/>
        </p:nvSpPr>
        <p:spPr>
          <a:xfrm>
            <a:off x="2011680" y="5084064"/>
            <a:ext cx="17373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800" b="1">
                <a:solidFill>
                  <a:srgbClr val="14383E"/>
                </a:solidFill>
                <a:latin typeface="Noto Sans CJK SC"/>
                <a:ea typeface="Noto Sans CJK SC"/>
                <a:cs typeface="Noto Sans CJK SC"/>
              </a:rPr>
              <a:t>Skill 契约</a:t>
            </a:r>
            <a:endParaRPr sz="800" b="1">
              <a:solidFill>
                <a:srgbClr val="14383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75" name="TextBox 174"/>
          <p:cNvSpPr>
            <a:spLocks noGrp="1"/>
          </p:cNvSpPr>
          <p:nvPr/>
        </p:nvSpPr>
        <p:spPr>
          <a:xfrm>
            <a:off x="3794760" y="5084064"/>
            <a:ext cx="17373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800" b="1">
                <a:solidFill>
                  <a:srgbClr val="14383E"/>
                </a:solidFill>
                <a:latin typeface="Noto Sans CJK SC"/>
                <a:ea typeface="Noto Sans CJK SC"/>
                <a:cs typeface="Noto Sans CJK SC"/>
              </a:rPr>
              <a:t>统一能力出口</a:t>
            </a:r>
            <a:endParaRPr sz="800" b="1">
              <a:solidFill>
                <a:srgbClr val="14383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76" name="TextBox 175"/>
          <p:cNvSpPr>
            <a:spLocks noGrp="1"/>
          </p:cNvSpPr>
          <p:nvPr/>
        </p:nvSpPr>
        <p:spPr>
          <a:xfrm>
            <a:off x="5577840" y="5084064"/>
            <a:ext cx="17373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800" b="1">
                <a:solidFill>
                  <a:srgbClr val="14383E"/>
                </a:solidFill>
                <a:latin typeface="Noto Sans CJK SC"/>
                <a:ea typeface="Noto Sans CJK SC"/>
                <a:cs typeface="Noto Sans CJK SC"/>
              </a:rPr>
              <a:t>Tool / Guard</a:t>
            </a:r>
            <a:endParaRPr sz="800" b="1">
              <a:solidFill>
                <a:srgbClr val="14383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77" name="TextBox 176"/>
          <p:cNvSpPr>
            <a:spLocks noGrp="1"/>
          </p:cNvSpPr>
          <p:nvPr/>
        </p:nvSpPr>
        <p:spPr>
          <a:xfrm>
            <a:off x="7360920" y="5084064"/>
            <a:ext cx="17373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800" b="1">
                <a:solidFill>
                  <a:srgbClr val="14383E"/>
                </a:solidFill>
                <a:latin typeface="Noto Sans CJK SC"/>
                <a:ea typeface="Noto Sans CJK SC"/>
                <a:cs typeface="Noto Sans CJK SC"/>
              </a:rPr>
              <a:t>状态 / 幂等</a:t>
            </a:r>
            <a:endParaRPr sz="800" b="1">
              <a:solidFill>
                <a:srgbClr val="14383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78" name="TextBox 177"/>
          <p:cNvSpPr>
            <a:spLocks noGrp="1"/>
          </p:cNvSpPr>
          <p:nvPr/>
        </p:nvSpPr>
        <p:spPr>
          <a:xfrm>
            <a:off x="9144000" y="5084064"/>
            <a:ext cx="17373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800" b="1">
                <a:solidFill>
                  <a:srgbClr val="14383E"/>
                </a:solidFill>
                <a:latin typeface="Noto Sans CJK SC"/>
                <a:ea typeface="Noto Sans CJK SC"/>
                <a:cs typeface="Noto Sans CJK SC"/>
              </a:rPr>
              <a:t>Trace / 评测</a:t>
            </a:r>
            <a:endParaRPr sz="800" b="1">
              <a:solidFill>
                <a:srgbClr val="14383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79" name="TextBox 178"/>
          <p:cNvSpPr>
            <a:spLocks noGrp="1"/>
          </p:cNvSpPr>
          <p:nvPr/>
        </p:nvSpPr>
        <p:spPr>
          <a:xfrm>
            <a:off x="896112" y="5358384"/>
            <a:ext cx="1018641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750" b="0">
                <a:solidFill>
                  <a:srgbClr val="44585C"/>
                </a:solidFill>
                <a:latin typeface="Noto Sans CJK SC"/>
                <a:ea typeface="Noto Sans CJK SC"/>
                <a:cs typeface="Noto Sans CJK SC"/>
              </a:rPr>
              <a:t>共享 Skill、工具和治理，不共享 Pipeline、Pending 状态或发送路径。</a:t>
            </a:r>
            <a:endParaRPr sz="750" b="0">
              <a:solidFill>
                <a:srgbClr val="6B8185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80" name="TextBox 179"/>
          <p:cNvSpPr>
            <a:spLocks noGrp="1"/>
          </p:cNvSpPr>
          <p:nvPr/>
        </p:nvSpPr>
        <p:spPr>
          <a:xfrm>
            <a:off x="731520" y="5852160"/>
            <a:ext cx="10515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720" b="0">
                <a:solidFill>
                  <a:srgbClr val="44585C"/>
                </a:solidFill>
                <a:latin typeface="Noto Sans CJK SC"/>
                <a:ea typeface="Noto Sans CJK SC"/>
                <a:cs typeface="Noto Sans CJK SC"/>
              </a:rPr>
              <a:t>Email 的批处理规则不进入实时会话；Chat、Voice 也不走邮件审核发送链路。</a:t>
            </a:r>
            <a:endParaRPr sz="720" b="0">
              <a:solidFill>
                <a:srgbClr val="6B8185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89" name="圆角矩形 188"/>
          <p:cNvSpPr>
            <a:spLocks noGrp="1"/>
          </p:cNvSpPr>
          <p:nvPr/>
        </p:nvSpPr>
        <p:spPr>
          <a:xfrm>
            <a:off x="6565583" y="127635"/>
            <a:ext cx="4937760" cy="365760"/>
          </a:xfrm>
          <a:prstGeom prst="roundRect">
            <a:avLst>
              <a:gd name="adj" fmla="val 20833"/>
            </a:avLst>
          </a:prstGeom>
          <a:solidFill>
            <a:srgbClr val="F7FBF9"/>
          </a:solidFill>
          <a:ln w="12668">
            <a:solidFill>
              <a:srgbClr val="F7FBF9"/>
            </a:solidFill>
            <a:prstDash val="solid"/>
          </a:ln>
        </p:spPr>
        <p:txBody>
          <a:bodyPr/>
          <a:p/>
        </p:txBody>
      </p:sp>
      <p:sp>
        <p:nvSpPr>
          <p:cNvPr id="190" name="圆角矩形 189"/>
          <p:cNvSpPr>
            <a:spLocks noGrp="1"/>
          </p:cNvSpPr>
          <p:nvPr/>
        </p:nvSpPr>
        <p:spPr>
          <a:xfrm>
            <a:off x="6657023" y="164783"/>
            <a:ext cx="1154430" cy="264795"/>
          </a:xfrm>
          <a:prstGeom prst="roundRect">
            <a:avLst>
              <a:gd name="adj" fmla="val 28777"/>
            </a:avLst>
          </a:prstGeom>
          <a:solidFill>
            <a:srgbClr val="007574"/>
          </a:solidFill>
          <a:ln w="12668">
            <a:solidFill>
              <a:srgbClr val="007574"/>
            </a:solidFill>
            <a:prstDash val="solid"/>
          </a:ln>
        </p:spPr>
        <p:txBody>
          <a:bodyPr/>
          <a:p/>
        </p:txBody>
      </p:sp>
      <p:sp>
        <p:nvSpPr>
          <p:cNvPr id="191" name="矩形 190"/>
          <p:cNvSpPr>
            <a:spLocks noGrp="1"/>
          </p:cNvSpPr>
          <p:nvPr/>
        </p:nvSpPr>
        <p:spPr>
          <a:xfrm>
            <a:off x="6657023" y="187643"/>
            <a:ext cx="1154430" cy="182880"/>
          </a:xfrm>
          <a:prstGeom prst="rect">
            <a:avLst/>
          </a:prstGeom>
        </p:spPr>
        <p:txBody>
          <a:bodyPr anchor="ctr"/>
          <a:lstStyle/>
          <a:p>
            <a:pPr algn="ctr">
              <a:defRPr sz="660" b="1">
                <a:solidFill>
                  <a:srgbClr val="FFFFFF"/>
                </a:solidFill>
              </a:defRPr>
            </a:pPr>
            <a:r>
              <a:t>理解</a:t>
            </a:r>
          </a:p>
        </p:txBody>
      </p:sp>
      <p:sp>
        <p:nvSpPr>
          <p:cNvPr id="192" name="圆角矩形 191"/>
          <p:cNvSpPr>
            <a:spLocks noGrp="1"/>
          </p:cNvSpPr>
          <p:nvPr/>
        </p:nvSpPr>
        <p:spPr>
          <a:xfrm>
            <a:off x="7857173" y="164783"/>
            <a:ext cx="1154430" cy="264795"/>
          </a:xfrm>
          <a:prstGeom prst="roundRect">
            <a:avLst>
              <a:gd name="adj" fmla="val 28777"/>
            </a:avLst>
          </a:prstGeom>
          <a:solidFill>
            <a:srgbClr val="007574"/>
          </a:solidFill>
          <a:ln w="12668">
            <a:solidFill>
              <a:srgbClr val="007574"/>
            </a:solidFill>
            <a:prstDash val="solid"/>
          </a:ln>
        </p:spPr>
        <p:txBody>
          <a:bodyPr/>
          <a:p/>
        </p:txBody>
      </p:sp>
      <p:sp>
        <p:nvSpPr>
          <p:cNvPr id="193" name="矩形 192"/>
          <p:cNvSpPr>
            <a:spLocks noGrp="1"/>
          </p:cNvSpPr>
          <p:nvPr/>
        </p:nvSpPr>
        <p:spPr>
          <a:xfrm>
            <a:off x="7857173" y="187643"/>
            <a:ext cx="1154430" cy="182880"/>
          </a:xfrm>
          <a:prstGeom prst="rect">
            <a:avLst/>
          </a:prstGeom>
        </p:spPr>
        <p:txBody>
          <a:bodyPr anchor="ctr"/>
          <a:lstStyle/>
          <a:p>
            <a:pPr algn="ctr">
              <a:defRPr sz="660" b="1">
                <a:solidFill>
                  <a:srgbClr val="FFFFFF"/>
                </a:solidFill>
              </a:defRPr>
            </a:pPr>
            <a:r>
              <a:t>查询</a:t>
            </a:r>
          </a:p>
        </p:txBody>
      </p:sp>
      <p:sp>
        <p:nvSpPr>
          <p:cNvPr id="194" name="圆角矩形 193"/>
          <p:cNvSpPr>
            <a:spLocks noGrp="1"/>
          </p:cNvSpPr>
          <p:nvPr/>
        </p:nvSpPr>
        <p:spPr>
          <a:xfrm>
            <a:off x="9057323" y="164783"/>
            <a:ext cx="1154430" cy="264795"/>
          </a:xfrm>
          <a:prstGeom prst="roundRect">
            <a:avLst>
              <a:gd name="adj" fmla="val 28777"/>
            </a:avLst>
          </a:prstGeom>
          <a:solidFill>
            <a:srgbClr val="007574"/>
          </a:solidFill>
          <a:ln w="12668">
            <a:solidFill>
              <a:srgbClr val="007574"/>
            </a:solidFill>
            <a:prstDash val="solid"/>
          </a:ln>
        </p:spPr>
        <p:txBody>
          <a:bodyPr/>
          <a:p/>
        </p:txBody>
      </p:sp>
      <p:sp>
        <p:nvSpPr>
          <p:cNvPr id="195" name="矩形 194"/>
          <p:cNvSpPr>
            <a:spLocks noGrp="1"/>
          </p:cNvSpPr>
          <p:nvPr/>
        </p:nvSpPr>
        <p:spPr>
          <a:xfrm>
            <a:off x="9057323" y="187643"/>
            <a:ext cx="1154430" cy="182880"/>
          </a:xfrm>
          <a:prstGeom prst="rect">
            <a:avLst/>
          </a:prstGeom>
        </p:spPr>
        <p:txBody>
          <a:bodyPr anchor="ctr"/>
          <a:lstStyle/>
          <a:p>
            <a:pPr algn="ctr">
              <a:defRPr sz="660" b="1">
                <a:solidFill>
                  <a:srgbClr val="FFFFFF"/>
                </a:solidFill>
              </a:defRPr>
            </a:pPr>
            <a:r>
              <a:t>决策</a:t>
            </a:r>
          </a:p>
        </p:txBody>
      </p:sp>
      <p:sp>
        <p:nvSpPr>
          <p:cNvPr id="196" name="圆角矩形 195"/>
          <p:cNvSpPr>
            <a:spLocks noGrp="1"/>
          </p:cNvSpPr>
          <p:nvPr/>
        </p:nvSpPr>
        <p:spPr>
          <a:xfrm>
            <a:off x="10257473" y="164783"/>
            <a:ext cx="1154430" cy="264795"/>
          </a:xfrm>
          <a:prstGeom prst="roundRect">
            <a:avLst>
              <a:gd name="adj" fmla="val 28777"/>
            </a:avLst>
          </a:prstGeom>
          <a:solidFill>
            <a:srgbClr val="007574"/>
          </a:solidFill>
          <a:ln w="12668">
            <a:solidFill>
              <a:srgbClr val="007574"/>
            </a:solidFill>
            <a:prstDash val="solid"/>
          </a:ln>
        </p:spPr>
        <p:txBody>
          <a:bodyPr/>
          <a:p/>
        </p:txBody>
      </p:sp>
      <p:sp>
        <p:nvSpPr>
          <p:cNvPr id="197" name="矩形 196"/>
          <p:cNvSpPr>
            <a:spLocks noGrp="1"/>
          </p:cNvSpPr>
          <p:nvPr/>
        </p:nvSpPr>
        <p:spPr>
          <a:xfrm>
            <a:off x="10257473" y="187643"/>
            <a:ext cx="1154430" cy="182880"/>
          </a:xfrm>
          <a:prstGeom prst="rect">
            <a:avLst/>
          </a:prstGeom>
        </p:spPr>
        <p:txBody>
          <a:bodyPr anchor="ctr"/>
          <a:lstStyle/>
          <a:p>
            <a:pPr algn="ctr">
              <a:defRPr sz="660" b="1">
                <a:solidFill>
                  <a:srgbClr val="FFFFFF"/>
                </a:solidFill>
              </a:defRPr>
            </a:pPr>
            <a:r>
              <a:t>执行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>
            <a:spLocks noGrp="1"/>
          </p:cNvSpPr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" name="Rectangle 2"/>
          <p:cNvSpPr>
            <a:spLocks noGrp="1"/>
          </p:cNvSpPr>
          <p:nvPr/>
        </p:nvSpPr>
        <p:spPr>
          <a:xfrm>
            <a:off x="0" y="0"/>
            <a:ext cx="41148" cy="6858000"/>
          </a:xfrm>
          <a:prstGeom prst="rect">
            <a:avLst/>
          </a:prstGeom>
          <a:solidFill>
            <a:srgbClr val="0A8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4" name="Oval 3"/>
          <p:cNvSpPr>
            <a:spLocks noGrp="1"/>
          </p:cNvSpPr>
          <p:nvPr/>
        </p:nvSpPr>
        <p:spPr>
          <a:xfrm>
            <a:off x="658368" y="384048"/>
            <a:ext cx="73152" cy="73152"/>
          </a:xfrm>
          <a:prstGeom prst="ellipse">
            <a:avLst/>
          </a:prstGeom>
          <a:solidFill>
            <a:srgbClr val="0A8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5" name="Rectangle 4"/>
          <p:cNvSpPr>
            <a:spLocks noGrp="1"/>
          </p:cNvSpPr>
          <p:nvPr/>
        </p:nvSpPr>
        <p:spPr>
          <a:xfrm>
            <a:off x="768096" y="420624"/>
            <a:ext cx="411480" cy="16459"/>
          </a:xfrm>
          <a:prstGeom prst="rect">
            <a:avLst/>
          </a:prstGeom>
          <a:solidFill>
            <a:srgbClr val="0A8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6" name="TextBox 5"/>
          <p:cNvSpPr>
            <a:spLocks noGrp="1"/>
          </p:cNvSpPr>
          <p:nvPr/>
        </p:nvSpPr>
        <p:spPr>
          <a:xfrm>
            <a:off x="1225296" y="256032"/>
            <a:ext cx="41148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050" b="1">
                <a:solidFill>
                  <a:srgbClr val="076B50"/>
                </a:solidFill>
                <a:latin typeface="Noto Sans CJK SC"/>
                <a:ea typeface="Noto Sans CJK SC"/>
                <a:cs typeface="Noto Sans CJK SC"/>
              </a:rPr>
              <a:t>CHAPTER 3 · 系统蓝图</a:t>
            </a:r>
            <a:endParaRPr sz="1050" b="1">
              <a:solidFill>
                <a:srgbClr val="6B6FD8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" name="TextBox 6"/>
          <p:cNvSpPr>
            <a:spLocks noGrp="1"/>
          </p:cNvSpPr>
          <p:nvPr/>
        </p:nvSpPr>
        <p:spPr>
          <a:xfrm>
            <a:off x="658368" y="694944"/>
            <a:ext cx="10652760" cy="47548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</a:pPr>
            <a:r>
              <a:rPr sz="2720" b="1" i="0">
                <a:solidFill>
                  <a:srgbClr val="14383E"/>
                </a:solidFill>
                <a:latin typeface="Noto Sans CJK SC"/>
                <a:ea typeface="Noto Sans CJK SC"/>
                <a:cs typeface="Noto Sans CJK SC"/>
              </a:rPr>
              <a:t>数据同步、调度与性能保障</a:t>
            </a:r>
            <a:endParaRPr sz="2720" b="1" i="0">
              <a:solidFill>
                <a:srgbClr val="14383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8" name="TextBox 7"/>
          <p:cNvSpPr>
            <a:spLocks noGrp="1"/>
          </p:cNvSpPr>
          <p:nvPr/>
        </p:nvSpPr>
        <p:spPr>
          <a:xfrm>
            <a:off x="658368" y="1170432"/>
            <a:ext cx="10561320" cy="31089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</a:pPr>
            <a:r>
              <a:rPr sz="1170" b="0" i="0">
                <a:solidFill>
                  <a:srgbClr val="44585C"/>
                </a:solidFill>
                <a:latin typeface="Noto Sans CJK SC"/>
                <a:ea typeface="Noto Sans CJK SC"/>
                <a:cs typeface="Noto Sans CJK SC"/>
              </a:rPr>
              <a:t>实时入口、定时任务、事实存储和运行保护一起撑住黑五、春节等峰值。</a:t>
            </a:r>
            <a:endParaRPr sz="1170" b="0" i="0">
              <a:solidFill>
                <a:srgbClr val="6B8185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86" name="Rectangle 85"/>
          <p:cNvSpPr>
            <a:spLocks noGrp="1"/>
          </p:cNvSpPr>
          <p:nvPr/>
        </p:nvSpPr>
        <p:spPr>
          <a:xfrm>
            <a:off x="0" y="0"/>
            <a:ext cx="41148" cy="6858000"/>
          </a:xfrm>
          <a:prstGeom prst="rect">
            <a:avLst/>
          </a:prstGeom>
          <a:solidFill>
            <a:srgbClr val="0A8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98" name="Rounded Rectangle 97"/>
          <p:cNvSpPr>
            <a:spLocks noGrp="1"/>
          </p:cNvSpPr>
          <p:nvPr/>
        </p:nvSpPr>
        <p:spPr>
          <a:xfrm>
            <a:off x="713232" y="1591056"/>
            <a:ext cx="2596896" cy="3291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100" name="Oval 99"/>
          <p:cNvSpPr>
            <a:spLocks noGrp="1"/>
          </p:cNvSpPr>
          <p:nvPr/>
        </p:nvSpPr>
        <p:spPr>
          <a:xfrm>
            <a:off x="850392" y="1728216"/>
            <a:ext cx="310896" cy="310896"/>
          </a:xfrm>
          <a:prstGeom prst="ellipse">
            <a:avLst/>
          </a:prstGeom>
          <a:solidFill>
            <a:srgbClr val="1F63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>
              <a:buNone/>
            </a:pPr>
            <a:r>
              <a:rPr sz="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01</a:t>
            </a:r>
            <a:endParaRPr sz="80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01" name="TextBox 100"/>
          <p:cNvSpPr>
            <a:spLocks noGrp="1"/>
          </p:cNvSpPr>
          <p:nvPr/>
        </p:nvSpPr>
        <p:spPr>
          <a:xfrm>
            <a:off x="1243584" y="1773936"/>
            <a:ext cx="17373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150" b="1">
                <a:solidFill>
                  <a:srgbClr val="14383E"/>
                </a:solidFill>
                <a:latin typeface="Noto Sans CJK SC"/>
                <a:ea typeface="Noto Sans CJK SC"/>
                <a:cs typeface="Noto Sans CJK SC"/>
              </a:rPr>
              <a:t>实时入口</a:t>
            </a:r>
            <a:endParaRPr sz="1150" b="1">
              <a:solidFill>
                <a:srgbClr val="14383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02" name="TextBox 101"/>
          <p:cNvSpPr>
            <a:spLocks noGrp="1"/>
          </p:cNvSpPr>
          <p:nvPr/>
        </p:nvSpPr>
        <p:spPr>
          <a:xfrm>
            <a:off x="877824" y="2121408"/>
            <a:ext cx="226771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740" b="1">
                <a:solidFill>
                  <a:srgbClr val="1B5FC4"/>
                </a:solidFill>
                <a:latin typeface="Noto Sans CJK SC"/>
                <a:ea typeface="Noto Sans CJK SC"/>
                <a:cs typeface="Noto Sans CJK SC"/>
              </a:rPr>
              <a:t>Webhook / 消息流</a:t>
            </a:r>
            <a:endParaRPr sz="740" b="1">
              <a:solidFill>
                <a:srgbClr val="1B5FC4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03" name="TextBox 102"/>
          <p:cNvSpPr>
            <a:spLocks noGrp="1"/>
          </p:cNvSpPr>
          <p:nvPr/>
        </p:nvSpPr>
        <p:spPr>
          <a:xfrm>
            <a:off x="877824" y="2377440"/>
            <a:ext cx="230428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650" b="0">
                <a:solidFill>
                  <a:srgbClr val="44585C"/>
                </a:solidFill>
                <a:latin typeface="Courier New" panose="02070409020205090404"/>
                <a:ea typeface="Courier New" panose="02070409020205090404"/>
                <a:cs typeface="Courier New" panose="02070409020205090404"/>
              </a:rPr>
              <a:t>· chat 会话事件</a:t>
            </a:r>
            <a:endParaRPr sz="650" b="0">
              <a:solidFill>
                <a:srgbClr val="44585C"/>
              </a:solidFill>
              <a:latin typeface="Courier New" panose="02070409020205090404"/>
              <a:ea typeface="Courier New" panose="02070409020205090404"/>
              <a:cs typeface="Courier New" panose="02070409020205090404"/>
            </a:endParaRPr>
          </a:p>
        </p:txBody>
      </p:sp>
      <p:sp>
        <p:nvSpPr>
          <p:cNvPr id="104" name="TextBox 103"/>
          <p:cNvSpPr>
            <a:spLocks noGrp="1"/>
          </p:cNvSpPr>
          <p:nvPr/>
        </p:nvSpPr>
        <p:spPr>
          <a:xfrm>
            <a:off x="877824" y="2651760"/>
            <a:ext cx="230428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650" b="0">
                <a:solidFill>
                  <a:srgbClr val="44585C"/>
                </a:solidFill>
                <a:latin typeface="Courier New" panose="02070409020205090404"/>
                <a:ea typeface="Courier New" panose="02070409020205090404"/>
                <a:cs typeface="Courier New" panose="02070409020205090404"/>
              </a:rPr>
              <a:t>· email 新评论事件</a:t>
            </a:r>
            <a:endParaRPr sz="650" b="0">
              <a:solidFill>
                <a:srgbClr val="44585C"/>
              </a:solidFill>
              <a:latin typeface="Courier New" panose="02070409020205090404"/>
              <a:ea typeface="Courier New" panose="02070409020205090404"/>
              <a:cs typeface="Courier New" panose="02070409020205090404"/>
            </a:endParaRPr>
          </a:p>
        </p:txBody>
      </p:sp>
      <p:sp>
        <p:nvSpPr>
          <p:cNvPr id="105" name="TextBox 104"/>
          <p:cNvSpPr>
            <a:spLocks noGrp="1"/>
          </p:cNvSpPr>
          <p:nvPr/>
        </p:nvSpPr>
        <p:spPr>
          <a:xfrm>
            <a:off x="877824" y="2926080"/>
            <a:ext cx="230428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650" b="0">
                <a:solidFill>
                  <a:srgbClr val="44585C"/>
                </a:solidFill>
                <a:latin typeface="Courier New" panose="02070409020205090404"/>
                <a:ea typeface="Courier New" panose="02070409020205090404"/>
                <a:cs typeface="Courier New" panose="02070409020205090404"/>
              </a:rPr>
              <a:t>· 来源与 topic 过滤</a:t>
            </a:r>
            <a:endParaRPr sz="650" b="0">
              <a:solidFill>
                <a:srgbClr val="44585C"/>
              </a:solidFill>
              <a:latin typeface="Courier New" panose="02070409020205090404"/>
              <a:ea typeface="Courier New" panose="02070409020205090404"/>
              <a:cs typeface="Courier New" panose="02070409020205090404"/>
            </a:endParaRPr>
          </a:p>
        </p:txBody>
      </p:sp>
      <p:sp>
        <p:nvSpPr>
          <p:cNvPr id="106" name="TextBox 105"/>
          <p:cNvSpPr>
            <a:spLocks noGrp="1"/>
          </p:cNvSpPr>
          <p:nvPr/>
        </p:nvSpPr>
        <p:spPr>
          <a:xfrm>
            <a:off x="877824" y="3200400"/>
            <a:ext cx="230428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650" b="0">
                <a:solidFill>
                  <a:srgbClr val="44585C"/>
                </a:solidFill>
                <a:latin typeface="Courier New" panose="02070409020205090404"/>
                <a:ea typeface="Courier New" panose="02070409020205090404"/>
                <a:cs typeface="Courier New" panose="02070409020205090404"/>
              </a:rPr>
              <a:t>· 低时延进入对应 Pipeline</a:t>
            </a:r>
            <a:endParaRPr sz="650" b="0">
              <a:solidFill>
                <a:srgbClr val="44585C"/>
              </a:solidFill>
              <a:latin typeface="Courier New" panose="02070409020205090404"/>
              <a:ea typeface="Courier New" panose="02070409020205090404"/>
              <a:cs typeface="Courier New" panose="02070409020205090404"/>
            </a:endParaRPr>
          </a:p>
        </p:txBody>
      </p:sp>
      <p:sp>
        <p:nvSpPr>
          <p:cNvPr id="107" name="Rounded Rectangle 106"/>
          <p:cNvSpPr>
            <a:spLocks noGrp="1"/>
          </p:cNvSpPr>
          <p:nvPr/>
        </p:nvSpPr>
        <p:spPr>
          <a:xfrm>
            <a:off x="841248" y="4425696"/>
            <a:ext cx="2340864" cy="365760"/>
          </a:xfrm>
          <a:prstGeom prst="roundRect">
            <a:avLst>
              <a:gd name="adj" fmla="val 14000"/>
            </a:avLst>
          </a:prstGeom>
          <a:solidFill>
            <a:srgbClr val="EA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108" name="TextBox 107"/>
          <p:cNvSpPr>
            <a:spLocks noGrp="1"/>
          </p:cNvSpPr>
          <p:nvPr/>
        </p:nvSpPr>
        <p:spPr>
          <a:xfrm>
            <a:off x="932688" y="4498848"/>
            <a:ext cx="2176272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640" b="1">
                <a:solidFill>
                  <a:srgbClr val="1B5FC4"/>
                </a:solidFill>
                <a:latin typeface="Noto Sans CJK SC"/>
                <a:ea typeface="Noto Sans CJK SC"/>
                <a:cs typeface="Noto Sans CJK SC"/>
              </a:rPr>
              <a:t>对象：实时增量　目标：低延迟且不重复处理</a:t>
            </a:r>
            <a:endParaRPr sz="640" b="1">
              <a:solidFill>
                <a:srgbClr val="1B5FC4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09" name="Rounded Rectangle 108"/>
          <p:cNvSpPr>
            <a:spLocks noGrp="1"/>
          </p:cNvSpPr>
          <p:nvPr/>
        </p:nvSpPr>
        <p:spPr>
          <a:xfrm>
            <a:off x="3383280" y="1591056"/>
            <a:ext cx="2596896" cy="3291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00A7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111" name="Oval 110"/>
          <p:cNvSpPr>
            <a:spLocks noGrp="1"/>
          </p:cNvSpPr>
          <p:nvPr/>
        </p:nvSpPr>
        <p:spPr>
          <a:xfrm>
            <a:off x="3520440" y="1728216"/>
            <a:ext cx="310896" cy="310896"/>
          </a:xfrm>
          <a:prstGeom prst="ellipse">
            <a:avLst/>
          </a:prstGeom>
          <a:solidFill>
            <a:srgbClr val="007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>
              <a:buNone/>
            </a:pPr>
            <a:r>
              <a:rPr sz="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02</a:t>
            </a:r>
            <a:endParaRPr sz="80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12" name="TextBox 111"/>
          <p:cNvSpPr>
            <a:spLocks noGrp="1"/>
          </p:cNvSpPr>
          <p:nvPr/>
        </p:nvSpPr>
        <p:spPr>
          <a:xfrm>
            <a:off x="3913632" y="1773936"/>
            <a:ext cx="17373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150" b="1">
                <a:solidFill>
                  <a:srgbClr val="14383E"/>
                </a:solidFill>
                <a:latin typeface="Noto Sans CJK SC"/>
                <a:ea typeface="Noto Sans CJK SC"/>
                <a:cs typeface="Noto Sans CJK SC"/>
              </a:rPr>
              <a:t>批量与调度</a:t>
            </a:r>
            <a:endParaRPr sz="1150" b="1">
              <a:solidFill>
                <a:srgbClr val="14383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13" name="TextBox 112"/>
          <p:cNvSpPr>
            <a:spLocks noGrp="1"/>
          </p:cNvSpPr>
          <p:nvPr/>
        </p:nvSpPr>
        <p:spPr>
          <a:xfrm>
            <a:off x="3547872" y="2121408"/>
            <a:ext cx="226771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740" b="1">
                <a:solidFill>
                  <a:srgbClr val="00706F"/>
                </a:solidFill>
                <a:latin typeface="Noto Sans CJK SC"/>
                <a:ea typeface="Noto Sans CJK SC"/>
                <a:cs typeface="Noto Sans CJK SC"/>
              </a:rPr>
              <a:t>定时任务 / 扫描任务</a:t>
            </a:r>
            <a:endParaRPr sz="740" b="1">
              <a:solidFill>
                <a:srgbClr val="00706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14" name="TextBox 113"/>
          <p:cNvSpPr>
            <a:spLocks noGrp="1"/>
          </p:cNvSpPr>
          <p:nvPr/>
        </p:nvSpPr>
        <p:spPr>
          <a:xfrm>
            <a:off x="3547872" y="2377440"/>
            <a:ext cx="230428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650" b="0">
                <a:solidFill>
                  <a:srgbClr val="44585C"/>
                </a:solidFill>
                <a:latin typeface="Noto Sans CJK SC"/>
                <a:ea typeface="Noto Sans CJK SC"/>
                <a:cs typeface="Noto Sans CJK SC"/>
              </a:rPr>
              <a:t>· 历史工单同步</a:t>
            </a:r>
            <a:endParaRPr sz="650" b="0">
              <a:solidFill>
                <a:srgbClr val="44585C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15" name="TextBox 114"/>
          <p:cNvSpPr>
            <a:spLocks noGrp="1"/>
          </p:cNvSpPr>
          <p:nvPr/>
        </p:nvSpPr>
        <p:spPr>
          <a:xfrm>
            <a:off x="3547872" y="2651760"/>
            <a:ext cx="230428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650" b="0">
                <a:solidFill>
                  <a:srgbClr val="44585C"/>
                </a:solidFill>
                <a:latin typeface="Noto Sans CJK SC"/>
                <a:ea typeface="Noto Sans CJK SC"/>
                <a:cs typeface="Noto Sans CJK SC"/>
              </a:rPr>
              <a:t>· 待处理与超时扫描</a:t>
            </a:r>
            <a:endParaRPr sz="650" b="0">
              <a:solidFill>
                <a:srgbClr val="44585C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16" name="TextBox 115"/>
          <p:cNvSpPr>
            <a:spLocks noGrp="1"/>
          </p:cNvSpPr>
          <p:nvPr/>
        </p:nvSpPr>
        <p:spPr>
          <a:xfrm>
            <a:off x="3547872" y="2926080"/>
            <a:ext cx="230428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650" b="0">
                <a:solidFill>
                  <a:srgbClr val="44585C"/>
                </a:solidFill>
                <a:latin typeface="Courier New" panose="02070409020205090404"/>
                <a:ea typeface="Courier New" panose="02070409020205090404"/>
                <a:cs typeface="Courier New" panose="02070409020205090404"/>
              </a:rPr>
              <a:t>· 知识刷新与报表生成</a:t>
            </a:r>
            <a:endParaRPr sz="650" b="0">
              <a:solidFill>
                <a:srgbClr val="44585C"/>
              </a:solidFill>
              <a:latin typeface="Courier New" panose="02070409020205090404"/>
              <a:ea typeface="Courier New" panose="02070409020205090404"/>
              <a:cs typeface="Courier New" panose="02070409020205090404"/>
            </a:endParaRPr>
          </a:p>
        </p:txBody>
      </p:sp>
      <p:sp>
        <p:nvSpPr>
          <p:cNvPr id="117" name="TextBox 116"/>
          <p:cNvSpPr>
            <a:spLocks noGrp="1"/>
          </p:cNvSpPr>
          <p:nvPr/>
        </p:nvSpPr>
        <p:spPr>
          <a:xfrm>
            <a:off x="3547872" y="3200400"/>
            <a:ext cx="230428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650" b="0">
                <a:solidFill>
                  <a:srgbClr val="44585C"/>
                </a:solidFill>
                <a:latin typeface="Courier New" panose="02070409020205090404"/>
                <a:ea typeface="Courier New" panose="02070409020205090404"/>
                <a:cs typeface="Courier New" panose="02070409020205090404"/>
              </a:rPr>
              <a:t>· 支持 dry-run 与断点续跑</a:t>
            </a:r>
            <a:endParaRPr sz="650" b="0">
              <a:solidFill>
                <a:srgbClr val="44585C"/>
              </a:solidFill>
              <a:latin typeface="Courier New" panose="02070409020205090404"/>
              <a:ea typeface="Courier New" panose="02070409020205090404"/>
              <a:cs typeface="Courier New" panose="02070409020205090404"/>
            </a:endParaRPr>
          </a:p>
        </p:txBody>
      </p:sp>
      <p:sp>
        <p:nvSpPr>
          <p:cNvPr id="118" name="Rounded Rectangle 117"/>
          <p:cNvSpPr>
            <a:spLocks noGrp="1"/>
          </p:cNvSpPr>
          <p:nvPr/>
        </p:nvSpPr>
        <p:spPr>
          <a:xfrm>
            <a:off x="3511296" y="4425696"/>
            <a:ext cx="2340864" cy="365760"/>
          </a:xfrm>
          <a:prstGeom prst="roundRect">
            <a:avLst>
              <a:gd name="adj" fmla="val 14000"/>
            </a:avLst>
          </a:prstGeom>
          <a:solidFill>
            <a:srgbClr val="E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119" name="TextBox 118"/>
          <p:cNvSpPr>
            <a:spLocks noGrp="1"/>
          </p:cNvSpPr>
          <p:nvPr/>
        </p:nvSpPr>
        <p:spPr>
          <a:xfrm>
            <a:off x="3602736" y="4498848"/>
            <a:ext cx="2176272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640" b="1">
                <a:solidFill>
                  <a:srgbClr val="00706F"/>
                </a:solidFill>
                <a:latin typeface="Noto Sans CJK SC"/>
                <a:ea typeface="Noto Sans CJK SC"/>
                <a:cs typeface="Noto Sans CJK SC"/>
              </a:rPr>
              <a:t>对象：积压与周期任务　目标：可重放、可限流</a:t>
            </a:r>
            <a:endParaRPr sz="640" b="1">
              <a:solidFill>
                <a:srgbClr val="00706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20" name="Rounded Rectangle 119"/>
          <p:cNvSpPr>
            <a:spLocks noGrp="1"/>
          </p:cNvSpPr>
          <p:nvPr/>
        </p:nvSpPr>
        <p:spPr>
          <a:xfrm>
            <a:off x="6053328" y="1591056"/>
            <a:ext cx="2596896" cy="3291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6B6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122" name="Oval 121"/>
          <p:cNvSpPr>
            <a:spLocks noGrp="1"/>
          </p:cNvSpPr>
          <p:nvPr/>
        </p:nvSpPr>
        <p:spPr>
          <a:xfrm>
            <a:off x="6190488" y="1728216"/>
            <a:ext cx="310896" cy="310896"/>
          </a:xfrm>
          <a:prstGeom prst="ellipse">
            <a:avLst/>
          </a:prstGeom>
          <a:solidFill>
            <a:srgbClr val="535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>
              <a:buNone/>
            </a:pPr>
            <a:r>
              <a:rPr sz="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03</a:t>
            </a:r>
            <a:endParaRPr sz="80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23" name="TextBox 122"/>
          <p:cNvSpPr>
            <a:spLocks noGrp="1"/>
          </p:cNvSpPr>
          <p:nvPr/>
        </p:nvSpPr>
        <p:spPr>
          <a:xfrm>
            <a:off x="6583680" y="1773936"/>
            <a:ext cx="17373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150" b="1">
                <a:solidFill>
                  <a:srgbClr val="14383E"/>
                </a:solidFill>
                <a:latin typeface="Noto Sans CJK SC"/>
                <a:ea typeface="Noto Sans CJK SC"/>
                <a:cs typeface="Noto Sans CJK SC"/>
              </a:rPr>
              <a:t>事实与证据</a:t>
            </a:r>
            <a:endParaRPr sz="1150" b="1">
              <a:solidFill>
                <a:srgbClr val="14383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24" name="TextBox 123"/>
          <p:cNvSpPr>
            <a:spLocks noGrp="1"/>
          </p:cNvSpPr>
          <p:nvPr/>
        </p:nvSpPr>
        <p:spPr>
          <a:xfrm>
            <a:off x="6217920" y="2121408"/>
            <a:ext cx="226771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740" b="1">
                <a:solidFill>
                  <a:srgbClr val="4A4EB0"/>
                </a:solidFill>
                <a:latin typeface="Noto Sans CJK SC"/>
                <a:ea typeface="Noto Sans CJK SC"/>
                <a:cs typeface="Noto Sans CJK SC"/>
              </a:rPr>
              <a:t>统一数据落点</a:t>
            </a:r>
            <a:endParaRPr sz="740" b="1">
              <a:solidFill>
                <a:srgbClr val="4A4EB0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25" name="TextBox 124"/>
          <p:cNvSpPr>
            <a:spLocks noGrp="1"/>
          </p:cNvSpPr>
          <p:nvPr/>
        </p:nvSpPr>
        <p:spPr>
          <a:xfrm>
            <a:off x="6217920" y="2377440"/>
            <a:ext cx="230428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650" b="0">
                <a:solidFill>
                  <a:srgbClr val="44585C"/>
                </a:solidFill>
                <a:latin typeface="Noto Sans CJK SC"/>
                <a:ea typeface="Noto Sans CJK SC"/>
                <a:cs typeface="Noto Sans CJK SC"/>
              </a:rPr>
              <a:t>· 工单与评论快照</a:t>
            </a:r>
            <a:endParaRPr sz="650" b="0">
              <a:solidFill>
                <a:srgbClr val="44585C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26" name="TextBox 125"/>
          <p:cNvSpPr>
            <a:spLocks noGrp="1"/>
          </p:cNvSpPr>
          <p:nvPr/>
        </p:nvSpPr>
        <p:spPr>
          <a:xfrm>
            <a:off x="6217920" y="2651760"/>
            <a:ext cx="230428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650" b="0">
                <a:solidFill>
                  <a:srgbClr val="44585C"/>
                </a:solidFill>
                <a:latin typeface="Noto Sans CJK SC"/>
                <a:ea typeface="Noto Sans CJK SC"/>
                <a:cs typeface="Noto Sans CJK SC"/>
              </a:rPr>
              <a:t>· 回复状态与发送结果</a:t>
            </a:r>
            <a:endParaRPr sz="650" b="0">
              <a:solidFill>
                <a:srgbClr val="44585C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27" name="TextBox 126"/>
          <p:cNvSpPr>
            <a:spLocks noGrp="1"/>
          </p:cNvSpPr>
          <p:nvPr/>
        </p:nvSpPr>
        <p:spPr>
          <a:xfrm>
            <a:off x="6217920" y="2926080"/>
            <a:ext cx="230428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650" b="0">
                <a:solidFill>
                  <a:srgbClr val="44585C"/>
                </a:solidFill>
                <a:latin typeface="Noto Sans CJK SC"/>
                <a:ea typeface="Noto Sans CJK SC"/>
                <a:cs typeface="Noto Sans CJK SC"/>
              </a:rPr>
              <a:t>· Trace 与业务审计记录</a:t>
            </a:r>
            <a:endParaRPr sz="650" b="0">
              <a:solidFill>
                <a:srgbClr val="44585C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28" name="TextBox 127"/>
          <p:cNvSpPr>
            <a:spLocks noGrp="1"/>
          </p:cNvSpPr>
          <p:nvPr/>
        </p:nvSpPr>
        <p:spPr>
          <a:xfrm>
            <a:off x="6217920" y="3200400"/>
            <a:ext cx="230428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650" b="0">
                <a:solidFill>
                  <a:srgbClr val="44585C"/>
                </a:solidFill>
                <a:latin typeface="Noto Sans CJK SC"/>
                <a:ea typeface="Noto Sans CJK SC"/>
                <a:cs typeface="Noto Sans CJK SC"/>
              </a:rPr>
              <a:t>· 缓存、幂等与认领状态</a:t>
            </a:r>
            <a:endParaRPr sz="650" b="0">
              <a:solidFill>
                <a:srgbClr val="44585C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29" name="Rounded Rectangle 128"/>
          <p:cNvSpPr>
            <a:spLocks noGrp="1"/>
          </p:cNvSpPr>
          <p:nvPr/>
        </p:nvSpPr>
        <p:spPr>
          <a:xfrm>
            <a:off x="6181344" y="4425696"/>
            <a:ext cx="2340864" cy="365760"/>
          </a:xfrm>
          <a:prstGeom prst="roundRect">
            <a:avLst>
              <a:gd name="adj" fmla="val 14000"/>
            </a:avLst>
          </a:prstGeom>
          <a:solidFill>
            <a:srgbClr val="EE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130" name="TextBox 129"/>
          <p:cNvSpPr>
            <a:spLocks noGrp="1"/>
          </p:cNvSpPr>
          <p:nvPr/>
        </p:nvSpPr>
        <p:spPr>
          <a:xfrm>
            <a:off x="6272784" y="4498848"/>
            <a:ext cx="2176272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640" b="1">
                <a:solidFill>
                  <a:srgbClr val="4A4EB0"/>
                </a:solidFill>
                <a:latin typeface="Noto Sans CJK SC"/>
                <a:ea typeface="Noto Sans CJK SC"/>
                <a:cs typeface="Noto Sans CJK SC"/>
              </a:rPr>
              <a:t>对象：同一张票的一致事实　目标：可复现、可算账</a:t>
            </a:r>
            <a:endParaRPr sz="640" b="1">
              <a:solidFill>
                <a:srgbClr val="4A4EB0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31" name="Rounded Rectangle 130"/>
          <p:cNvSpPr>
            <a:spLocks noGrp="1"/>
          </p:cNvSpPr>
          <p:nvPr/>
        </p:nvSpPr>
        <p:spPr>
          <a:xfrm>
            <a:off x="8723376" y="1591056"/>
            <a:ext cx="2596896" cy="3291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F28B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133" name="Oval 132"/>
          <p:cNvSpPr>
            <a:spLocks noGrp="1"/>
          </p:cNvSpPr>
          <p:nvPr/>
        </p:nvSpPr>
        <p:spPr>
          <a:xfrm>
            <a:off x="8860536" y="1728216"/>
            <a:ext cx="310896" cy="310896"/>
          </a:xfrm>
          <a:prstGeom prst="ellipse">
            <a:avLst/>
          </a:prstGeom>
          <a:solidFill>
            <a:srgbClr val="BC6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>
              <a:buNone/>
            </a:pPr>
            <a:r>
              <a:rPr sz="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04</a:t>
            </a:r>
            <a:endParaRPr sz="80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34" name="TextBox 133"/>
          <p:cNvSpPr>
            <a:spLocks noGrp="1"/>
          </p:cNvSpPr>
          <p:nvPr/>
        </p:nvSpPr>
        <p:spPr>
          <a:xfrm>
            <a:off x="9253728" y="1773936"/>
            <a:ext cx="17373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150" b="1">
                <a:solidFill>
                  <a:srgbClr val="14383E"/>
                </a:solidFill>
                <a:latin typeface="Noto Sans CJK SC"/>
                <a:ea typeface="Noto Sans CJK SC"/>
                <a:cs typeface="Noto Sans CJK SC"/>
              </a:rPr>
              <a:t>韧性与性能</a:t>
            </a:r>
            <a:endParaRPr sz="1150" b="1">
              <a:solidFill>
                <a:srgbClr val="14383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35" name="TextBox 134"/>
          <p:cNvSpPr>
            <a:spLocks noGrp="1"/>
          </p:cNvSpPr>
          <p:nvPr/>
        </p:nvSpPr>
        <p:spPr>
          <a:xfrm>
            <a:off x="8887967" y="2121408"/>
            <a:ext cx="226771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740" b="1">
                <a:solidFill>
                  <a:srgbClr val="9A5210"/>
                </a:solidFill>
                <a:latin typeface="Noto Sans CJK SC"/>
                <a:ea typeface="Noto Sans CJK SC"/>
                <a:cs typeface="Noto Sans CJK SC"/>
              </a:rPr>
              <a:t>有界并发与运行保护</a:t>
            </a:r>
            <a:endParaRPr sz="740" b="1">
              <a:solidFill>
                <a:srgbClr val="9A5210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36" name="TextBox 135"/>
          <p:cNvSpPr>
            <a:spLocks noGrp="1"/>
          </p:cNvSpPr>
          <p:nvPr/>
        </p:nvSpPr>
        <p:spPr>
          <a:xfrm>
            <a:off x="8887967" y="2377440"/>
            <a:ext cx="230428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650" b="0">
                <a:solidFill>
                  <a:srgbClr val="44585C"/>
                </a:solidFill>
                <a:latin typeface="Noto Sans CJK SC"/>
                <a:ea typeface="Noto Sans CJK SC"/>
                <a:cs typeface="Noto Sans CJK SC"/>
              </a:rPr>
              <a:t>· 分队列与确定性前置过滤</a:t>
            </a:r>
            <a:endParaRPr sz="650" b="0">
              <a:solidFill>
                <a:srgbClr val="44585C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37" name="TextBox 136"/>
          <p:cNvSpPr>
            <a:spLocks noGrp="1"/>
          </p:cNvSpPr>
          <p:nvPr/>
        </p:nvSpPr>
        <p:spPr>
          <a:xfrm>
            <a:off x="8887967" y="2651760"/>
            <a:ext cx="230428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650" b="0">
                <a:solidFill>
                  <a:srgbClr val="44585C"/>
                </a:solidFill>
                <a:latin typeface="Noto Sans CJK SC"/>
                <a:ea typeface="Noto Sans CJK SC"/>
                <a:cs typeface="Noto Sans CJK SC"/>
              </a:rPr>
              <a:t>· 分布式锁、配额与速率限制</a:t>
            </a:r>
            <a:endParaRPr sz="650" b="0">
              <a:solidFill>
                <a:srgbClr val="44585C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38" name="TextBox 137"/>
          <p:cNvSpPr>
            <a:spLocks noGrp="1"/>
          </p:cNvSpPr>
          <p:nvPr/>
        </p:nvSpPr>
        <p:spPr>
          <a:xfrm>
            <a:off x="8887967" y="2926080"/>
            <a:ext cx="230428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650" b="0">
                <a:solidFill>
                  <a:srgbClr val="44585C"/>
                </a:solidFill>
                <a:latin typeface="Noto Sans CJK SC"/>
                <a:ea typeface="Noto Sans CJK SC"/>
                <a:cs typeface="Noto Sans CJK SC"/>
              </a:rPr>
              <a:t>· 退避重试与单票超时预算</a:t>
            </a:r>
            <a:endParaRPr sz="650" b="0">
              <a:solidFill>
                <a:srgbClr val="44585C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39" name="TextBox 138"/>
          <p:cNvSpPr>
            <a:spLocks noGrp="1"/>
          </p:cNvSpPr>
          <p:nvPr/>
        </p:nvSpPr>
        <p:spPr>
          <a:xfrm>
            <a:off x="8887967" y="3200400"/>
            <a:ext cx="230428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650" b="0">
                <a:solidFill>
                  <a:srgbClr val="44585C"/>
                </a:solidFill>
                <a:latin typeface="Noto Sans CJK SC"/>
                <a:ea typeface="Noto Sans CJK SC"/>
                <a:cs typeface="Noto Sans CJK SC"/>
              </a:rPr>
              <a:t>· 异常票隔离与分级告警</a:t>
            </a:r>
            <a:endParaRPr sz="650" b="0">
              <a:solidFill>
                <a:srgbClr val="44585C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40" name="Rounded Rectangle 139"/>
          <p:cNvSpPr>
            <a:spLocks noGrp="1"/>
          </p:cNvSpPr>
          <p:nvPr/>
        </p:nvSpPr>
        <p:spPr>
          <a:xfrm>
            <a:off x="8851392" y="4425696"/>
            <a:ext cx="2340864" cy="365760"/>
          </a:xfrm>
          <a:prstGeom prst="roundRect">
            <a:avLst>
              <a:gd name="adj" fmla="val 14000"/>
            </a:avLst>
          </a:prstGeom>
          <a:solidFill>
            <a:srgbClr val="FF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141" name="TextBox 140"/>
          <p:cNvSpPr>
            <a:spLocks noGrp="1"/>
          </p:cNvSpPr>
          <p:nvPr/>
        </p:nvSpPr>
        <p:spPr>
          <a:xfrm>
            <a:off x="8942832" y="4498848"/>
            <a:ext cx="2176272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640" b="1">
                <a:solidFill>
                  <a:srgbClr val="9A5210"/>
                </a:solidFill>
                <a:latin typeface="Noto Sans CJK SC"/>
                <a:ea typeface="Noto Sans CJK SC"/>
                <a:cs typeface="Noto Sans CJK SC"/>
              </a:rPr>
              <a:t>对象：峰值与故障　目标：稳定吞吐而非无限并发</a:t>
            </a:r>
            <a:endParaRPr sz="640" b="1">
              <a:solidFill>
                <a:srgbClr val="9A5210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42" name="Rounded Rectangle 141"/>
          <p:cNvSpPr>
            <a:spLocks noGrp="1"/>
          </p:cNvSpPr>
          <p:nvPr/>
        </p:nvSpPr>
        <p:spPr>
          <a:xfrm>
            <a:off x="713232" y="5047488"/>
            <a:ext cx="10533888" cy="658368"/>
          </a:xfrm>
          <a:prstGeom prst="roundRect">
            <a:avLst>
              <a:gd name="adj" fmla="val 5000"/>
            </a:avLst>
          </a:prstGeom>
          <a:solidFill>
            <a:srgbClr val="153D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143" name="TextBox 142"/>
          <p:cNvSpPr>
            <a:spLocks noGrp="1"/>
          </p:cNvSpPr>
          <p:nvPr/>
        </p:nvSpPr>
        <p:spPr>
          <a:xfrm>
            <a:off x="877824" y="5138928"/>
            <a:ext cx="21945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680" b="1">
                <a:solidFill>
                  <a:srgbClr val="7FD8C0"/>
                </a:solidFill>
                <a:latin typeface="Noto Sans CJK SC"/>
                <a:ea typeface="Noto Sans CJK SC"/>
                <a:cs typeface="Noto Sans CJK SC"/>
              </a:rPr>
              <a:t>旺季运行策略</a:t>
            </a:r>
            <a:endParaRPr sz="680" b="1">
              <a:solidFill>
                <a:srgbClr val="7FD8C0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44" name="TextBox 143"/>
          <p:cNvSpPr>
            <a:spLocks noGrp="1"/>
          </p:cNvSpPr>
          <p:nvPr/>
        </p:nvSpPr>
        <p:spPr>
          <a:xfrm>
            <a:off x="3291840" y="5138928"/>
            <a:ext cx="7315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740" b="1">
                <a:solidFill>
                  <a:srgbClr val="F2C879"/>
                </a:solidFill>
                <a:latin typeface="Noto Sans CJK SC"/>
                <a:ea typeface="Noto Sans CJK SC"/>
                <a:cs typeface="Noto Sans CJK SC"/>
              </a:rPr>
              <a:t>容量</a:t>
            </a:r>
            <a:endParaRPr sz="740" b="1">
              <a:solidFill>
                <a:srgbClr val="F2C879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45" name="TextBox 144"/>
          <p:cNvSpPr>
            <a:spLocks noGrp="1"/>
          </p:cNvSpPr>
          <p:nvPr/>
        </p:nvSpPr>
        <p:spPr>
          <a:xfrm>
            <a:off x="3931920" y="5148072"/>
            <a:ext cx="19202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660" b="0">
                <a:solidFill>
                  <a:srgbClr val="E4F1EE"/>
                </a:solidFill>
                <a:latin typeface="Noto Sans CJK SC"/>
                <a:ea typeface="Noto Sans CJK SC"/>
                <a:cs typeface="Noto Sans CJK SC"/>
              </a:rPr>
              <a:t>分队列 + 有界并发 + 缓存复用</a:t>
            </a:r>
            <a:endParaRPr sz="660" b="0">
              <a:solidFill>
                <a:srgbClr val="E4F1E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46" name="TextBox 145"/>
          <p:cNvSpPr>
            <a:spLocks noGrp="1"/>
          </p:cNvSpPr>
          <p:nvPr/>
        </p:nvSpPr>
        <p:spPr>
          <a:xfrm>
            <a:off x="5943600" y="5138928"/>
            <a:ext cx="7315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740" b="1">
                <a:solidFill>
                  <a:srgbClr val="F2C879"/>
                </a:solidFill>
                <a:latin typeface="Noto Sans CJK SC"/>
                <a:ea typeface="Noto Sans CJK SC"/>
                <a:cs typeface="Noto Sans CJK SC"/>
              </a:rPr>
              <a:t>发布</a:t>
            </a:r>
            <a:endParaRPr sz="740" b="1">
              <a:solidFill>
                <a:srgbClr val="F2C879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47" name="TextBox 146"/>
          <p:cNvSpPr>
            <a:spLocks noGrp="1"/>
          </p:cNvSpPr>
          <p:nvPr/>
        </p:nvSpPr>
        <p:spPr>
          <a:xfrm>
            <a:off x="6583680" y="5148072"/>
            <a:ext cx="19202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660" b="0">
                <a:solidFill>
                  <a:srgbClr val="E4F1EE"/>
                </a:solidFill>
                <a:latin typeface="Noto Sans CJK SC"/>
                <a:ea typeface="Noto Sans CJK SC"/>
                <a:cs typeface="Noto Sans CJK SC"/>
              </a:rPr>
              <a:t>代码审核 + 回归 Gate + 可回滚</a:t>
            </a:r>
            <a:endParaRPr sz="660" b="0">
              <a:solidFill>
                <a:srgbClr val="E4F1E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48" name="TextBox 147"/>
          <p:cNvSpPr>
            <a:spLocks noGrp="1"/>
          </p:cNvSpPr>
          <p:nvPr/>
        </p:nvSpPr>
        <p:spPr>
          <a:xfrm>
            <a:off x="8595360" y="5138928"/>
            <a:ext cx="7315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740" b="1">
                <a:solidFill>
                  <a:srgbClr val="E4F1EE"/>
                </a:solidFill>
                <a:latin typeface="Noto Sans CJK SC"/>
                <a:ea typeface="Noto Sans CJK SC"/>
                <a:cs typeface="Noto Sans CJK SC"/>
              </a:rPr>
              <a:t>故障</a:t>
            </a:r>
            <a:endParaRPr sz="740" b="1">
              <a:solidFill>
                <a:srgbClr val="E4F1E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49" name="TextBox 148"/>
          <p:cNvSpPr>
            <a:spLocks noGrp="1"/>
          </p:cNvSpPr>
          <p:nvPr/>
        </p:nvSpPr>
        <p:spPr>
          <a:xfrm>
            <a:off x="9235440" y="5148072"/>
            <a:ext cx="19202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660" b="0">
                <a:solidFill>
                  <a:srgbClr val="E4F1EE"/>
                </a:solidFill>
                <a:latin typeface="Noto Sans CJK SC"/>
                <a:ea typeface="Noto Sans CJK SC"/>
                <a:cs typeface="Noto Sans CJK SC"/>
              </a:rPr>
              <a:t>限流退避 + 异常隔离 + 分级告警</a:t>
            </a:r>
            <a:endParaRPr sz="660" b="0">
              <a:solidFill>
                <a:srgbClr val="E4F1E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50" name="TextBox 149"/>
          <p:cNvSpPr>
            <a:spLocks noGrp="1"/>
          </p:cNvSpPr>
          <p:nvPr/>
        </p:nvSpPr>
        <p:spPr>
          <a:xfrm>
            <a:off x="877824" y="5431536"/>
            <a:ext cx="1020470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660" b="0">
                <a:solidFill>
                  <a:srgbClr val="B8DED6"/>
                </a:solidFill>
                <a:latin typeface="Noto Sans CJK SC"/>
                <a:ea typeface="Noto Sans CJK SC"/>
                <a:cs typeface="Noto Sans CJK SC"/>
              </a:rPr>
              <a:t>黑五、春节等峰值先依靠队列隔离、确定性过滤和缓存复用，再在单票可追溯前提下提高并发。</a:t>
            </a:r>
            <a:endParaRPr sz="660" b="0">
              <a:solidFill>
                <a:srgbClr val="B8DED6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51" name="Rounded Rectangle 150"/>
          <p:cNvSpPr>
            <a:spLocks noGrp="1"/>
          </p:cNvSpPr>
          <p:nvPr/>
        </p:nvSpPr>
        <p:spPr>
          <a:xfrm>
            <a:off x="713232" y="5815584"/>
            <a:ext cx="10533888" cy="310896"/>
          </a:xfrm>
          <a:prstGeom prst="roundRect">
            <a:avLst>
              <a:gd name="adj" fmla="val 28000"/>
            </a:avLst>
          </a:prstGeom>
          <a:solidFill>
            <a:srgbClr val="F7FBF9"/>
          </a:solidFill>
          <a:ln w="13970">
            <a:solidFill>
              <a:srgbClr val="C9D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152" name="TextBox 151"/>
          <p:cNvSpPr>
            <a:spLocks noGrp="1"/>
          </p:cNvSpPr>
          <p:nvPr/>
        </p:nvSpPr>
        <p:spPr>
          <a:xfrm>
            <a:off x="896112" y="5879592"/>
            <a:ext cx="1016812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740" b="0">
                <a:solidFill>
                  <a:srgbClr val="14383E"/>
                </a:solidFill>
                <a:latin typeface="Noto Sans CJK SC"/>
                <a:ea typeface="Noto Sans CJK SC"/>
                <a:cs typeface="Noto Sans CJK SC"/>
              </a:rPr>
              <a:t>提吞吐的前提是单票记录不能丢：幂等、顺序、审计和人工接管都要保留。</a:t>
            </a:r>
            <a:endParaRPr sz="740" b="0">
              <a:solidFill>
                <a:srgbClr val="14383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53" name="圆角矩形 152"/>
          <p:cNvSpPr>
            <a:spLocks noGrp="1"/>
          </p:cNvSpPr>
          <p:nvPr/>
        </p:nvSpPr>
        <p:spPr>
          <a:xfrm>
            <a:off x="6565583" y="127635"/>
            <a:ext cx="4937760" cy="365760"/>
          </a:xfrm>
          <a:prstGeom prst="roundRect">
            <a:avLst>
              <a:gd name="adj" fmla="val 20833"/>
            </a:avLst>
          </a:prstGeom>
          <a:solidFill>
            <a:srgbClr val="F7FBF9"/>
          </a:solidFill>
          <a:ln w="12668">
            <a:solidFill>
              <a:srgbClr val="F7FBF9"/>
            </a:solidFill>
            <a:prstDash val="solid"/>
          </a:ln>
        </p:spPr>
        <p:txBody>
          <a:bodyPr/>
          <a:p/>
        </p:txBody>
      </p:sp>
      <p:sp>
        <p:nvSpPr>
          <p:cNvPr id="154" name="圆角矩形 153"/>
          <p:cNvSpPr>
            <a:spLocks noGrp="1"/>
          </p:cNvSpPr>
          <p:nvPr/>
        </p:nvSpPr>
        <p:spPr>
          <a:xfrm>
            <a:off x="6657023" y="164783"/>
            <a:ext cx="1154430" cy="264795"/>
          </a:xfrm>
          <a:prstGeom prst="roundRect">
            <a:avLst>
              <a:gd name="adj" fmla="val 28777"/>
            </a:avLst>
          </a:prstGeom>
          <a:solidFill>
            <a:srgbClr val="007574"/>
          </a:solidFill>
          <a:ln w="12668">
            <a:solidFill>
              <a:srgbClr val="007574"/>
            </a:solidFill>
            <a:prstDash val="solid"/>
          </a:ln>
        </p:spPr>
        <p:txBody>
          <a:bodyPr/>
          <a:p/>
        </p:txBody>
      </p:sp>
      <p:sp>
        <p:nvSpPr>
          <p:cNvPr id="155" name="矩形 154"/>
          <p:cNvSpPr>
            <a:spLocks noGrp="1"/>
          </p:cNvSpPr>
          <p:nvPr/>
        </p:nvSpPr>
        <p:spPr>
          <a:xfrm>
            <a:off x="6657023" y="187643"/>
            <a:ext cx="1154430" cy="182880"/>
          </a:xfrm>
          <a:prstGeom prst="rect">
            <a:avLst/>
          </a:prstGeom>
        </p:spPr>
        <p:txBody>
          <a:bodyPr anchor="ctr"/>
          <a:lstStyle/>
          <a:p>
            <a:pPr algn="ctr">
              <a:defRPr sz="660" b="1">
                <a:solidFill>
                  <a:srgbClr val="FFFFFF"/>
                </a:solidFill>
              </a:defRPr>
            </a:pPr>
            <a:r>
              <a:t>理解</a:t>
            </a:r>
          </a:p>
        </p:txBody>
      </p:sp>
      <p:sp>
        <p:nvSpPr>
          <p:cNvPr id="156" name="圆角矩形 155"/>
          <p:cNvSpPr>
            <a:spLocks noGrp="1"/>
          </p:cNvSpPr>
          <p:nvPr/>
        </p:nvSpPr>
        <p:spPr>
          <a:xfrm>
            <a:off x="7857173" y="164783"/>
            <a:ext cx="1154430" cy="264795"/>
          </a:xfrm>
          <a:prstGeom prst="roundRect">
            <a:avLst>
              <a:gd name="adj" fmla="val 28777"/>
            </a:avLst>
          </a:prstGeom>
          <a:solidFill>
            <a:srgbClr val="007574"/>
          </a:solidFill>
          <a:ln w="12668">
            <a:solidFill>
              <a:srgbClr val="007574"/>
            </a:solidFill>
            <a:prstDash val="solid"/>
          </a:ln>
        </p:spPr>
        <p:txBody>
          <a:bodyPr/>
          <a:p/>
        </p:txBody>
      </p:sp>
      <p:sp>
        <p:nvSpPr>
          <p:cNvPr id="157" name="矩形 156"/>
          <p:cNvSpPr>
            <a:spLocks noGrp="1"/>
          </p:cNvSpPr>
          <p:nvPr/>
        </p:nvSpPr>
        <p:spPr>
          <a:xfrm>
            <a:off x="7857173" y="187643"/>
            <a:ext cx="1154430" cy="182880"/>
          </a:xfrm>
          <a:prstGeom prst="rect">
            <a:avLst/>
          </a:prstGeom>
        </p:spPr>
        <p:txBody>
          <a:bodyPr anchor="ctr"/>
          <a:lstStyle/>
          <a:p>
            <a:pPr algn="ctr">
              <a:defRPr sz="660" b="1">
                <a:solidFill>
                  <a:srgbClr val="FFFFFF"/>
                </a:solidFill>
              </a:defRPr>
            </a:pPr>
            <a:r>
              <a:t>查询</a:t>
            </a:r>
          </a:p>
        </p:txBody>
      </p:sp>
      <p:sp>
        <p:nvSpPr>
          <p:cNvPr id="158" name="圆角矩形 157"/>
          <p:cNvSpPr>
            <a:spLocks noGrp="1"/>
          </p:cNvSpPr>
          <p:nvPr/>
        </p:nvSpPr>
        <p:spPr>
          <a:xfrm>
            <a:off x="9057323" y="164783"/>
            <a:ext cx="1154430" cy="264795"/>
          </a:xfrm>
          <a:prstGeom prst="roundRect">
            <a:avLst>
              <a:gd name="adj" fmla="val 28777"/>
            </a:avLst>
          </a:prstGeom>
          <a:solidFill>
            <a:srgbClr val="007574"/>
          </a:solidFill>
          <a:ln w="12668">
            <a:solidFill>
              <a:srgbClr val="007574"/>
            </a:solidFill>
            <a:prstDash val="solid"/>
          </a:ln>
        </p:spPr>
        <p:txBody>
          <a:bodyPr/>
          <a:p/>
        </p:txBody>
      </p:sp>
      <p:sp>
        <p:nvSpPr>
          <p:cNvPr id="159" name="矩形 158"/>
          <p:cNvSpPr>
            <a:spLocks noGrp="1"/>
          </p:cNvSpPr>
          <p:nvPr/>
        </p:nvSpPr>
        <p:spPr>
          <a:xfrm>
            <a:off x="9057323" y="187643"/>
            <a:ext cx="1154430" cy="182880"/>
          </a:xfrm>
          <a:prstGeom prst="rect">
            <a:avLst/>
          </a:prstGeom>
        </p:spPr>
        <p:txBody>
          <a:bodyPr anchor="ctr"/>
          <a:lstStyle/>
          <a:p>
            <a:pPr algn="ctr">
              <a:defRPr sz="660" b="1">
                <a:solidFill>
                  <a:srgbClr val="FFFFFF"/>
                </a:solidFill>
              </a:defRPr>
            </a:pPr>
            <a:r>
              <a:t>决策</a:t>
            </a:r>
          </a:p>
        </p:txBody>
      </p:sp>
      <p:sp>
        <p:nvSpPr>
          <p:cNvPr id="160" name="圆角矩形 159"/>
          <p:cNvSpPr>
            <a:spLocks noGrp="1"/>
          </p:cNvSpPr>
          <p:nvPr/>
        </p:nvSpPr>
        <p:spPr>
          <a:xfrm>
            <a:off x="10257473" y="164783"/>
            <a:ext cx="1154430" cy="264795"/>
          </a:xfrm>
          <a:prstGeom prst="roundRect">
            <a:avLst>
              <a:gd name="adj" fmla="val 28777"/>
            </a:avLst>
          </a:prstGeom>
          <a:solidFill>
            <a:srgbClr val="007574"/>
          </a:solidFill>
          <a:ln w="12668">
            <a:solidFill>
              <a:srgbClr val="007574"/>
            </a:solidFill>
            <a:prstDash val="solid"/>
          </a:ln>
        </p:spPr>
        <p:txBody>
          <a:bodyPr/>
          <a:p/>
        </p:txBody>
      </p:sp>
      <p:sp>
        <p:nvSpPr>
          <p:cNvPr id="161" name="矩形 160"/>
          <p:cNvSpPr>
            <a:spLocks noGrp="1"/>
          </p:cNvSpPr>
          <p:nvPr/>
        </p:nvSpPr>
        <p:spPr>
          <a:xfrm>
            <a:off x="10257473" y="187643"/>
            <a:ext cx="1154430" cy="182880"/>
          </a:xfrm>
          <a:prstGeom prst="rect">
            <a:avLst/>
          </a:prstGeom>
        </p:spPr>
        <p:txBody>
          <a:bodyPr anchor="ctr"/>
          <a:lstStyle/>
          <a:p>
            <a:pPr algn="ctr">
              <a:defRPr sz="660" b="1">
                <a:solidFill>
                  <a:srgbClr val="FFFFFF"/>
                </a:solidFill>
              </a:defRPr>
            </a:pPr>
            <a:r>
              <a:t>执行</a:t>
            </a:r>
          </a:p>
        </p:txBody>
      </p:sp>
      <p:sp>
        <p:nvSpPr>
          <p:cNvPr id="162" name="Rectangle 8"/>
          <p:cNvSpPr>
            <a:spLocks noGrp="1"/>
          </p:cNvSpPr>
          <p:nvPr/>
        </p:nvSpPr>
        <p:spPr>
          <a:xfrm>
            <a:off x="658368" y="6501384"/>
            <a:ext cx="10835640" cy="10972"/>
          </a:xfrm>
          <a:prstGeom prst="rect">
            <a:avLst/>
          </a:prstGeom>
          <a:solidFill>
            <a:srgbClr val="C9DC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63" name="TextBox 9"/>
          <p:cNvSpPr>
            <a:spLocks noGrp="1"/>
          </p:cNvSpPr>
          <p:nvPr/>
        </p:nvSpPr>
        <p:spPr>
          <a:xfrm>
            <a:off x="658368" y="6547104"/>
            <a:ext cx="237744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780" b="1" i="0">
                <a:solidFill>
                  <a:srgbClr val="5C7276"/>
                </a:solidFill>
                <a:latin typeface="Noto Sans CJK SC"/>
                <a:ea typeface="Noto Sans CJK SC"/>
                <a:cs typeface="Noto Sans CJK SC"/>
              </a:rPr>
              <a:t>CUSTOMER SERVICE AI AGENT</a:t>
            </a:r>
            <a:endParaRPr sz="780" b="1" i="0">
              <a:solidFill>
                <a:srgbClr val="98ACA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64" name="TextBox 10"/>
          <p:cNvSpPr>
            <a:spLocks noGrp="1"/>
          </p:cNvSpPr>
          <p:nvPr/>
        </p:nvSpPr>
        <p:spPr>
          <a:xfrm>
            <a:off x="10680192" y="6519672"/>
            <a:ext cx="82296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buNone/>
            </a:pPr>
            <a:r>
              <a:rPr sz="880" b="1">
                <a:solidFill>
                  <a:srgbClr val="076B50"/>
                </a:solidFill>
                <a:latin typeface="Noto Sans CJK SC"/>
                <a:ea typeface="Noto Sans CJK SC"/>
                <a:cs typeface="Noto Sans CJK SC"/>
              </a:rPr>
              <a:t>23</a:t>
            </a:r>
            <a:endParaRPr sz="880" b="1">
              <a:solidFill>
                <a:srgbClr val="6B6FD8"/>
              </a:solidFill>
              <a:latin typeface="Noto Sans CJK SC"/>
              <a:ea typeface="Noto Sans CJK SC"/>
              <a:cs typeface="Noto Sans CJK SC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>
            <a:spLocks noGrp="1"/>
          </p:cNvSpPr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" name="Rectangle 2"/>
          <p:cNvSpPr>
            <a:spLocks noGrp="1"/>
          </p:cNvSpPr>
          <p:nvPr/>
        </p:nvSpPr>
        <p:spPr>
          <a:xfrm>
            <a:off x="0" y="0"/>
            <a:ext cx="41148" cy="6858000"/>
          </a:xfrm>
          <a:prstGeom prst="rect">
            <a:avLst/>
          </a:prstGeom>
          <a:solidFill>
            <a:srgbClr val="0A8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4" name="Oval 3"/>
          <p:cNvSpPr>
            <a:spLocks noGrp="1"/>
          </p:cNvSpPr>
          <p:nvPr/>
        </p:nvSpPr>
        <p:spPr>
          <a:xfrm>
            <a:off x="658368" y="384048"/>
            <a:ext cx="73152" cy="73152"/>
          </a:xfrm>
          <a:prstGeom prst="ellipse">
            <a:avLst/>
          </a:prstGeom>
          <a:solidFill>
            <a:srgbClr val="0A8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5" name="Rectangle 4"/>
          <p:cNvSpPr>
            <a:spLocks noGrp="1"/>
          </p:cNvSpPr>
          <p:nvPr/>
        </p:nvSpPr>
        <p:spPr>
          <a:xfrm>
            <a:off x="768096" y="420624"/>
            <a:ext cx="411480" cy="16459"/>
          </a:xfrm>
          <a:prstGeom prst="rect">
            <a:avLst/>
          </a:prstGeom>
          <a:solidFill>
            <a:srgbClr val="0A8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6" name="TextBox 5"/>
          <p:cNvSpPr>
            <a:spLocks noGrp="1"/>
          </p:cNvSpPr>
          <p:nvPr/>
        </p:nvSpPr>
        <p:spPr>
          <a:xfrm>
            <a:off x="1225296" y="256032"/>
            <a:ext cx="41148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1050" b="1">
                <a:solidFill>
                  <a:srgbClr val="076B50"/>
                </a:solidFill>
                <a:latin typeface="Noto Sans CJK SC"/>
                <a:ea typeface="Noto Sans CJK SC"/>
                <a:cs typeface="Noto Sans CJK SC"/>
              </a:rPr>
              <a:t>CHAPTER 3 · 系统蓝图</a:t>
            </a:r>
            <a:endParaRPr sz="1050" b="1">
              <a:solidFill>
                <a:srgbClr val="2F80ED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" name="TextBox 6"/>
          <p:cNvSpPr>
            <a:spLocks noGrp="1"/>
          </p:cNvSpPr>
          <p:nvPr/>
        </p:nvSpPr>
        <p:spPr>
          <a:xfrm>
            <a:off x="658368" y="694944"/>
            <a:ext cx="10652760" cy="47548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</a:pPr>
            <a:r>
              <a:rPr sz="2720" b="1">
                <a:solidFill>
                  <a:srgbClr val="14383E"/>
                </a:solidFill>
                <a:latin typeface="Noto Sans CJK SC"/>
                <a:ea typeface="Noto Sans CJK SC"/>
                <a:cs typeface="Noto Sans CJK SC"/>
              </a:rPr>
              <a:t>一个客服场景的完整组成</a:t>
            </a:r>
            <a:endParaRPr sz="2720" b="1">
              <a:solidFill>
                <a:srgbClr val="14383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8" name="TextBox 7"/>
          <p:cNvSpPr>
            <a:spLocks noGrp="1"/>
          </p:cNvSpPr>
          <p:nvPr/>
        </p:nvSpPr>
        <p:spPr>
          <a:xfrm>
            <a:off x="658368" y="1170432"/>
            <a:ext cx="10561320" cy="31089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</a:pPr>
            <a:r>
              <a:rPr sz="1170" b="0">
                <a:solidFill>
                  <a:srgbClr val="44585C"/>
                </a:solidFill>
                <a:latin typeface="Noto Sans CJK SC"/>
                <a:ea typeface="Noto Sans CJK SC"/>
                <a:cs typeface="Noto Sans CJK SC"/>
              </a:rPr>
              <a:t>业务边界、运行时事实、可调用能力和质量记录要一起更新，少一块都容易上线后失控。</a:t>
            </a:r>
            <a:endParaRPr sz="1170" b="0">
              <a:solidFill>
                <a:srgbClr val="6B8185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9" name="Rectangle 18"/>
          <p:cNvSpPr>
            <a:spLocks noGrp="1"/>
          </p:cNvSpPr>
          <p:nvPr/>
        </p:nvSpPr>
        <p:spPr>
          <a:xfrm>
            <a:off x="658368" y="6501384"/>
            <a:ext cx="10835640" cy="10972"/>
          </a:xfrm>
          <a:prstGeom prst="rect">
            <a:avLst/>
          </a:prstGeom>
          <a:solidFill>
            <a:srgbClr val="C9DC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0" name="TextBox 19"/>
          <p:cNvSpPr>
            <a:spLocks noGrp="1"/>
          </p:cNvSpPr>
          <p:nvPr/>
        </p:nvSpPr>
        <p:spPr>
          <a:xfrm>
            <a:off x="658368" y="6547104"/>
            <a:ext cx="237744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780" b="1">
                <a:solidFill>
                  <a:srgbClr val="5C7276"/>
                </a:solidFill>
                <a:latin typeface="Noto Sans CJK SC"/>
                <a:ea typeface="Noto Sans CJK SC"/>
                <a:cs typeface="Noto Sans CJK SC"/>
              </a:rPr>
              <a:t>CUSTOMER SERVICE AI AGENT</a:t>
            </a:r>
            <a:endParaRPr sz="780" b="1">
              <a:solidFill>
                <a:srgbClr val="98ACA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1" name="TextBox 20"/>
          <p:cNvSpPr>
            <a:spLocks noGrp="1"/>
          </p:cNvSpPr>
          <p:nvPr/>
        </p:nvSpPr>
        <p:spPr>
          <a:xfrm>
            <a:off x="10680192" y="6519672"/>
            <a:ext cx="82296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buNone/>
            </a:pPr>
            <a:r>
              <a:rPr sz="880" b="1">
                <a:solidFill>
                  <a:srgbClr val="076B50"/>
                </a:solidFill>
                <a:latin typeface="Noto Sans CJK SC"/>
                <a:ea typeface="Noto Sans CJK SC"/>
                <a:cs typeface="Noto Sans CJK SC"/>
              </a:rPr>
              <a:t>24</a:t>
            </a:r>
            <a:endParaRPr sz="880" b="1">
              <a:solidFill>
                <a:srgbClr val="2F80ED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2" name="Rounded Rectangle 21"/>
          <p:cNvSpPr>
            <a:spLocks noGrp="1"/>
          </p:cNvSpPr>
          <p:nvPr/>
        </p:nvSpPr>
        <p:spPr>
          <a:xfrm>
            <a:off x="745236" y="1760219"/>
            <a:ext cx="2542032" cy="4315968"/>
          </a:xfrm>
          <a:prstGeom prst="roundRect">
            <a:avLst/>
          </a:prstGeom>
          <a:solidFill>
            <a:srgbClr val="E3E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3" name="Rounded Rectangle 22"/>
          <p:cNvSpPr>
            <a:spLocks noGrp="1"/>
          </p:cNvSpPr>
          <p:nvPr/>
        </p:nvSpPr>
        <p:spPr>
          <a:xfrm>
            <a:off x="713232" y="1719072"/>
            <a:ext cx="2542032" cy="4315968"/>
          </a:xfrm>
          <a:prstGeom prst="roundRect">
            <a:avLst/>
          </a:prstGeom>
          <a:solidFill>
            <a:srgbClr val="E8F6F0"/>
          </a:solidFill>
          <a:ln w="12700">
            <a:solidFill>
              <a:srgbClr val="0A8F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5" name="Oval 24"/>
          <p:cNvSpPr>
            <a:spLocks noGrp="1"/>
          </p:cNvSpPr>
          <p:nvPr/>
        </p:nvSpPr>
        <p:spPr>
          <a:xfrm>
            <a:off x="914400" y="1965960"/>
            <a:ext cx="347472" cy="347472"/>
          </a:xfrm>
          <a:prstGeom prst="ellipse">
            <a:avLst/>
          </a:prstGeom>
          <a:solidFill>
            <a:srgbClr val="07714F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6" name="TextBox 25"/>
          <p:cNvSpPr>
            <a:spLocks noGrp="1"/>
          </p:cNvSpPr>
          <p:nvPr/>
        </p:nvSpPr>
        <p:spPr>
          <a:xfrm>
            <a:off x="914400" y="1968703"/>
            <a:ext cx="347472" cy="34198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01</a:t>
            </a:r>
            <a:endParaRPr sz="80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7" name="TextBox 26"/>
          <p:cNvSpPr>
            <a:spLocks noGrp="1"/>
          </p:cNvSpPr>
          <p:nvPr/>
        </p:nvSpPr>
        <p:spPr>
          <a:xfrm>
            <a:off x="1389888" y="1920240"/>
            <a:ext cx="1572768" cy="27432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</a:pPr>
            <a:r>
              <a:rPr sz="1240" b="1">
                <a:solidFill>
                  <a:srgbClr val="14383E"/>
                </a:solidFill>
                <a:latin typeface="Noto Sans CJK SC"/>
                <a:ea typeface="Noto Sans CJK SC"/>
                <a:cs typeface="Noto Sans CJK SC"/>
              </a:rPr>
              <a:t>场景定义</a:t>
            </a:r>
            <a:endParaRPr sz="1240" b="1">
              <a:solidFill>
                <a:srgbClr val="14383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8" name="TextBox 27"/>
          <p:cNvSpPr>
            <a:spLocks noGrp="1"/>
          </p:cNvSpPr>
          <p:nvPr/>
        </p:nvSpPr>
        <p:spPr>
          <a:xfrm>
            <a:off x="914400" y="2423160"/>
            <a:ext cx="2139696" cy="47548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buNone/>
            </a:pPr>
            <a:r>
              <a:rPr sz="740" b="0">
                <a:solidFill>
                  <a:srgbClr val="44585C"/>
                </a:solidFill>
                <a:latin typeface="Noto Sans CJK SC"/>
                <a:ea typeface="Noto Sans CJK SC"/>
                <a:cs typeface="Noto Sans CJK SC"/>
              </a:rPr>
              <a:t>把业务目标、风险等级和处理方式写在一起</a:t>
            </a:r>
            <a:endParaRPr sz="740" b="0">
              <a:solidFill>
                <a:srgbClr val="6B8185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9" name="Rectangle 28"/>
          <p:cNvSpPr>
            <a:spLocks noGrp="1"/>
          </p:cNvSpPr>
          <p:nvPr/>
        </p:nvSpPr>
        <p:spPr>
          <a:xfrm>
            <a:off x="914400" y="2999232"/>
            <a:ext cx="2139696" cy="10972"/>
          </a:xfrm>
          <a:prstGeom prst="rect">
            <a:avLst/>
          </a:prstGeom>
          <a:solidFill>
            <a:srgbClr val="0A8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0" name="Rounded Rectangle 29"/>
          <p:cNvSpPr>
            <a:spLocks noGrp="1"/>
          </p:cNvSpPr>
          <p:nvPr/>
        </p:nvSpPr>
        <p:spPr>
          <a:xfrm>
            <a:off x="914400" y="3246120"/>
            <a:ext cx="2139696" cy="5943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0A8F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1" name="TextBox 30"/>
          <p:cNvSpPr>
            <a:spLocks noGrp="1"/>
          </p:cNvSpPr>
          <p:nvPr/>
        </p:nvSpPr>
        <p:spPr>
          <a:xfrm>
            <a:off x="1069848" y="3355848"/>
            <a:ext cx="658368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730" b="1">
                <a:solidFill>
                  <a:srgbClr val="076B50"/>
                </a:solidFill>
                <a:latin typeface="Noto Sans CJK SC"/>
                <a:ea typeface="Noto Sans CJK SC"/>
                <a:cs typeface="Noto Sans CJK SC"/>
              </a:rPr>
              <a:t>业务目标</a:t>
            </a:r>
            <a:endParaRPr sz="730" b="1">
              <a:solidFill>
                <a:srgbClr val="0A8F6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2" name="TextBox 31"/>
          <p:cNvSpPr>
            <a:spLocks noGrp="1"/>
          </p:cNvSpPr>
          <p:nvPr/>
        </p:nvSpPr>
        <p:spPr>
          <a:xfrm>
            <a:off x="1700784" y="3328415"/>
            <a:ext cx="1188720" cy="25603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</a:pPr>
            <a:r>
              <a:rPr sz="680" b="0">
                <a:solidFill>
                  <a:srgbClr val="14383E"/>
                </a:solidFill>
                <a:latin typeface="Noto Sans CJK SC"/>
                <a:ea typeface="Noto Sans CJK SC"/>
                <a:cs typeface="Noto Sans CJK SC"/>
              </a:rPr>
              <a:t>修改收货地址</a:t>
            </a:r>
            <a:endParaRPr sz="680" b="0">
              <a:solidFill>
                <a:srgbClr val="14383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3" name="Rounded Rectangle 32"/>
          <p:cNvSpPr>
            <a:spLocks noGrp="1"/>
          </p:cNvSpPr>
          <p:nvPr/>
        </p:nvSpPr>
        <p:spPr>
          <a:xfrm>
            <a:off x="914400" y="4005072"/>
            <a:ext cx="2139696" cy="5943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0A8F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4" name="TextBox 33"/>
          <p:cNvSpPr>
            <a:spLocks noGrp="1"/>
          </p:cNvSpPr>
          <p:nvPr/>
        </p:nvSpPr>
        <p:spPr>
          <a:xfrm>
            <a:off x="1069848" y="4114800"/>
            <a:ext cx="658368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730" b="1">
                <a:solidFill>
                  <a:srgbClr val="076B50"/>
                </a:solidFill>
                <a:latin typeface="Noto Sans CJK SC"/>
                <a:ea typeface="Noto Sans CJK SC"/>
                <a:cs typeface="Noto Sans CJK SC"/>
              </a:rPr>
              <a:t>风险等级</a:t>
            </a:r>
            <a:endParaRPr sz="730" b="1">
              <a:solidFill>
                <a:srgbClr val="0A8F6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5" name="TextBox 34"/>
          <p:cNvSpPr>
            <a:spLocks noGrp="1"/>
          </p:cNvSpPr>
          <p:nvPr/>
        </p:nvSpPr>
        <p:spPr>
          <a:xfrm>
            <a:off x="1700784" y="4087368"/>
            <a:ext cx="1188720" cy="25603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</a:pPr>
            <a:r>
              <a:rPr sz="680" b="0">
                <a:solidFill>
                  <a:srgbClr val="14383E"/>
                </a:solidFill>
                <a:latin typeface="Noto Sans CJK SC"/>
                <a:ea typeface="Noto Sans CJK SC"/>
                <a:cs typeface="Noto Sans CJK SC"/>
              </a:rPr>
              <a:t>中风险</a:t>
            </a:r>
            <a:endParaRPr sz="680" b="0">
              <a:solidFill>
                <a:srgbClr val="14383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6" name="Rounded Rectangle 35"/>
          <p:cNvSpPr>
            <a:spLocks noGrp="1"/>
          </p:cNvSpPr>
          <p:nvPr/>
        </p:nvSpPr>
        <p:spPr>
          <a:xfrm>
            <a:off x="914400" y="4764024"/>
            <a:ext cx="2139696" cy="5943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0A8F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7" name="TextBox 36"/>
          <p:cNvSpPr>
            <a:spLocks noGrp="1"/>
          </p:cNvSpPr>
          <p:nvPr/>
        </p:nvSpPr>
        <p:spPr>
          <a:xfrm>
            <a:off x="1069848" y="4873752"/>
            <a:ext cx="658368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730" b="1">
                <a:solidFill>
                  <a:srgbClr val="076B50"/>
                </a:solidFill>
                <a:latin typeface="Noto Sans CJK SC"/>
                <a:ea typeface="Noto Sans CJK SC"/>
                <a:cs typeface="Noto Sans CJK SC"/>
              </a:rPr>
              <a:t>处理方式</a:t>
            </a:r>
            <a:endParaRPr sz="730" b="1">
              <a:solidFill>
                <a:srgbClr val="0A8F6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8" name="TextBox 37"/>
          <p:cNvSpPr>
            <a:spLocks noGrp="1"/>
          </p:cNvSpPr>
          <p:nvPr/>
        </p:nvSpPr>
        <p:spPr>
          <a:xfrm>
            <a:off x="1700784" y="4846320"/>
            <a:ext cx="1188720" cy="25603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</a:pPr>
            <a:r>
              <a:rPr sz="680" b="0">
                <a:solidFill>
                  <a:srgbClr val="14383E"/>
                </a:solidFill>
                <a:latin typeface="Noto Sans CJK SC"/>
                <a:ea typeface="Noto Sans CJK SC"/>
                <a:cs typeface="Noto Sans CJK SC"/>
              </a:rPr>
              <a:t>客户确认后执行</a:t>
            </a:r>
            <a:endParaRPr sz="680" b="0">
              <a:solidFill>
                <a:srgbClr val="14383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9" name="Right Arrow 38"/>
          <p:cNvSpPr>
            <a:spLocks noGrp="1"/>
          </p:cNvSpPr>
          <p:nvPr/>
        </p:nvSpPr>
        <p:spPr>
          <a:xfrm>
            <a:off x="3300984" y="3547872"/>
            <a:ext cx="164592" cy="310896"/>
          </a:xfrm>
          <a:prstGeom prst="rightArrow">
            <a:avLst/>
          </a:prstGeom>
          <a:solidFill>
            <a:srgbClr val="0A8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40" name="Rounded Rectangle 39"/>
          <p:cNvSpPr>
            <a:spLocks noGrp="1"/>
          </p:cNvSpPr>
          <p:nvPr/>
        </p:nvSpPr>
        <p:spPr>
          <a:xfrm>
            <a:off x="3534156" y="1760219"/>
            <a:ext cx="2542032" cy="4315968"/>
          </a:xfrm>
          <a:prstGeom prst="roundRect">
            <a:avLst/>
          </a:prstGeom>
          <a:solidFill>
            <a:srgbClr val="E3E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41" name="Rounded Rectangle 40"/>
          <p:cNvSpPr>
            <a:spLocks noGrp="1"/>
          </p:cNvSpPr>
          <p:nvPr/>
        </p:nvSpPr>
        <p:spPr>
          <a:xfrm>
            <a:off x="3502152" y="1719072"/>
            <a:ext cx="2542032" cy="4315968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43" name="Oval 42"/>
          <p:cNvSpPr>
            <a:spLocks noGrp="1"/>
          </p:cNvSpPr>
          <p:nvPr/>
        </p:nvSpPr>
        <p:spPr>
          <a:xfrm>
            <a:off x="3703320" y="1965960"/>
            <a:ext cx="347472" cy="347472"/>
          </a:xfrm>
          <a:prstGeom prst="ellipse">
            <a:avLst/>
          </a:prstGeom>
          <a:solidFill>
            <a:srgbClr val="1F63C4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44" name="TextBox 43"/>
          <p:cNvSpPr>
            <a:spLocks noGrp="1"/>
          </p:cNvSpPr>
          <p:nvPr/>
        </p:nvSpPr>
        <p:spPr>
          <a:xfrm>
            <a:off x="3703320" y="1968703"/>
            <a:ext cx="347472" cy="34198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02</a:t>
            </a:r>
            <a:endParaRPr sz="80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5" name="TextBox 44"/>
          <p:cNvSpPr>
            <a:spLocks noGrp="1"/>
          </p:cNvSpPr>
          <p:nvPr/>
        </p:nvSpPr>
        <p:spPr>
          <a:xfrm>
            <a:off x="4178808" y="1920240"/>
            <a:ext cx="1572768" cy="27432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</a:pPr>
            <a:r>
              <a:rPr sz="1240" b="1">
                <a:solidFill>
                  <a:srgbClr val="14383E"/>
                </a:solidFill>
                <a:latin typeface="Noto Sans CJK SC"/>
                <a:ea typeface="Noto Sans CJK SC"/>
                <a:cs typeface="Noto Sans CJK SC"/>
              </a:rPr>
              <a:t>上下文资源</a:t>
            </a:r>
            <a:endParaRPr sz="1240" b="1">
              <a:solidFill>
                <a:srgbClr val="14383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6" name="TextBox 45"/>
          <p:cNvSpPr>
            <a:spLocks noGrp="1"/>
          </p:cNvSpPr>
          <p:nvPr/>
        </p:nvSpPr>
        <p:spPr>
          <a:xfrm>
            <a:off x="3703320" y="2423160"/>
            <a:ext cx="2139696" cy="47548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buNone/>
            </a:pPr>
            <a:r>
              <a:rPr sz="740" b="0">
                <a:solidFill>
                  <a:srgbClr val="44585C"/>
                </a:solidFill>
                <a:latin typeface="Noto Sans CJK SC"/>
                <a:ea typeface="Noto Sans CJK SC"/>
                <a:cs typeface="Noto Sans CJK SC"/>
              </a:rPr>
              <a:t>列清模型运行时必须拿到的事实和规则</a:t>
            </a:r>
            <a:endParaRPr sz="740" b="0">
              <a:solidFill>
                <a:srgbClr val="6B8185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7" name="Rectangle 46"/>
          <p:cNvSpPr>
            <a:spLocks noGrp="1"/>
          </p:cNvSpPr>
          <p:nvPr/>
        </p:nvSpPr>
        <p:spPr>
          <a:xfrm>
            <a:off x="3703320" y="2999232"/>
            <a:ext cx="2139696" cy="10972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48" name="Rounded Rectangle 47"/>
          <p:cNvSpPr>
            <a:spLocks noGrp="1"/>
          </p:cNvSpPr>
          <p:nvPr/>
        </p:nvSpPr>
        <p:spPr>
          <a:xfrm>
            <a:off x="3703320" y="3246120"/>
            <a:ext cx="2139696" cy="5943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49" name="TextBox 48"/>
          <p:cNvSpPr>
            <a:spLocks noGrp="1"/>
          </p:cNvSpPr>
          <p:nvPr/>
        </p:nvSpPr>
        <p:spPr>
          <a:xfrm>
            <a:off x="3858768" y="3355848"/>
            <a:ext cx="658368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730" b="1">
                <a:solidFill>
                  <a:srgbClr val="1B5FC4"/>
                </a:solidFill>
                <a:latin typeface="Noto Sans CJK SC"/>
                <a:ea typeface="Noto Sans CJK SC"/>
                <a:cs typeface="Noto Sans CJK SC"/>
              </a:rPr>
              <a:t>实时状态</a:t>
            </a:r>
            <a:endParaRPr sz="730" b="1">
              <a:solidFill>
                <a:srgbClr val="2F80ED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0" name="TextBox 49"/>
          <p:cNvSpPr>
            <a:spLocks noGrp="1"/>
          </p:cNvSpPr>
          <p:nvPr/>
        </p:nvSpPr>
        <p:spPr>
          <a:xfrm>
            <a:off x="4489704" y="3328415"/>
            <a:ext cx="1188720" cy="25603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</a:pPr>
            <a:r>
              <a:rPr sz="680" b="0">
                <a:solidFill>
                  <a:srgbClr val="14383E"/>
                </a:solidFill>
                <a:latin typeface="Noto Sans CJK SC"/>
                <a:ea typeface="Noto Sans CJK SC"/>
                <a:cs typeface="Noto Sans CJK SC"/>
              </a:rPr>
              <a:t>订单 / 履约</a:t>
            </a:r>
            <a:endParaRPr sz="680" b="0">
              <a:solidFill>
                <a:srgbClr val="14383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1" name="Rounded Rectangle 50"/>
          <p:cNvSpPr>
            <a:spLocks noGrp="1"/>
          </p:cNvSpPr>
          <p:nvPr/>
        </p:nvSpPr>
        <p:spPr>
          <a:xfrm>
            <a:off x="3703320" y="4005072"/>
            <a:ext cx="2139696" cy="5943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52" name="TextBox 51"/>
          <p:cNvSpPr>
            <a:spLocks noGrp="1"/>
          </p:cNvSpPr>
          <p:nvPr/>
        </p:nvSpPr>
        <p:spPr>
          <a:xfrm>
            <a:off x="3858768" y="4114800"/>
            <a:ext cx="658368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730" b="1">
                <a:solidFill>
                  <a:srgbClr val="1B5FC4"/>
                </a:solidFill>
                <a:latin typeface="Noto Sans CJK SC"/>
                <a:ea typeface="Noto Sans CJK SC"/>
                <a:cs typeface="Noto Sans CJK SC"/>
              </a:rPr>
              <a:t>规则依据</a:t>
            </a:r>
            <a:endParaRPr sz="730" b="1">
              <a:solidFill>
                <a:srgbClr val="2F80ED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3" name="TextBox 52"/>
          <p:cNvSpPr>
            <a:spLocks noGrp="1"/>
          </p:cNvSpPr>
          <p:nvPr/>
        </p:nvSpPr>
        <p:spPr>
          <a:xfrm>
            <a:off x="4489704" y="4087368"/>
            <a:ext cx="1188720" cy="25603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</a:pPr>
            <a:r>
              <a:rPr sz="680" b="0">
                <a:solidFill>
                  <a:srgbClr val="14383E"/>
                </a:solidFill>
                <a:latin typeface="Noto Sans CJK SC"/>
                <a:ea typeface="Noto Sans CJK SC"/>
                <a:cs typeface="Noto Sans CJK SC"/>
              </a:rPr>
              <a:t>地址与配送限制</a:t>
            </a:r>
            <a:endParaRPr sz="680" b="0">
              <a:solidFill>
                <a:srgbClr val="14383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4" name="Rounded Rectangle 53"/>
          <p:cNvSpPr>
            <a:spLocks noGrp="1"/>
          </p:cNvSpPr>
          <p:nvPr/>
        </p:nvSpPr>
        <p:spPr>
          <a:xfrm>
            <a:off x="3703320" y="4764024"/>
            <a:ext cx="2139696" cy="5943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55" name="TextBox 54"/>
          <p:cNvSpPr>
            <a:spLocks noGrp="1"/>
          </p:cNvSpPr>
          <p:nvPr/>
        </p:nvSpPr>
        <p:spPr>
          <a:xfrm>
            <a:off x="3858768" y="4873752"/>
            <a:ext cx="658368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730" b="1">
                <a:solidFill>
                  <a:srgbClr val="1B5FC4"/>
                </a:solidFill>
                <a:latin typeface="Noto Sans CJK SC"/>
                <a:ea typeface="Noto Sans CJK SC"/>
                <a:cs typeface="Noto Sans CJK SC"/>
              </a:rPr>
              <a:t>确认信息</a:t>
            </a:r>
            <a:endParaRPr sz="730" b="1">
              <a:solidFill>
                <a:srgbClr val="2F80ED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6" name="TextBox 55"/>
          <p:cNvSpPr>
            <a:spLocks noGrp="1"/>
          </p:cNvSpPr>
          <p:nvPr/>
        </p:nvSpPr>
        <p:spPr>
          <a:xfrm>
            <a:off x="4489704" y="4846320"/>
            <a:ext cx="1188720" cy="25603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</a:pPr>
            <a:r>
              <a:rPr sz="680" b="0">
                <a:solidFill>
                  <a:srgbClr val="14383E"/>
                </a:solidFill>
                <a:latin typeface="Noto Sans CJK SC"/>
                <a:ea typeface="Noto Sans CJK SC"/>
                <a:cs typeface="Noto Sans CJK SC"/>
              </a:rPr>
              <a:t>客户确认的新地址</a:t>
            </a:r>
            <a:endParaRPr sz="680" b="0">
              <a:solidFill>
                <a:srgbClr val="14383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7" name="Right Arrow 56"/>
          <p:cNvSpPr>
            <a:spLocks noGrp="1"/>
          </p:cNvSpPr>
          <p:nvPr/>
        </p:nvSpPr>
        <p:spPr>
          <a:xfrm>
            <a:off x="6089904" y="3547872"/>
            <a:ext cx="164592" cy="310896"/>
          </a:xfrm>
          <a:prstGeom prst="rightArrow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58" name="Rounded Rectangle 57"/>
          <p:cNvSpPr>
            <a:spLocks noGrp="1"/>
          </p:cNvSpPr>
          <p:nvPr/>
        </p:nvSpPr>
        <p:spPr>
          <a:xfrm>
            <a:off x="6323076" y="1760219"/>
            <a:ext cx="2542032" cy="4315968"/>
          </a:xfrm>
          <a:prstGeom prst="roundRect">
            <a:avLst/>
          </a:prstGeom>
          <a:solidFill>
            <a:srgbClr val="E3E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59" name="Rounded Rectangle 58"/>
          <p:cNvSpPr>
            <a:spLocks noGrp="1"/>
          </p:cNvSpPr>
          <p:nvPr/>
        </p:nvSpPr>
        <p:spPr>
          <a:xfrm>
            <a:off x="6291072" y="1719072"/>
            <a:ext cx="2542032" cy="4315968"/>
          </a:xfrm>
          <a:prstGeom prst="roundRect">
            <a:avLst/>
          </a:prstGeom>
          <a:solidFill>
            <a:srgbClr val="E6F7F6"/>
          </a:solidFill>
          <a:ln w="12700">
            <a:solidFill>
              <a:srgbClr val="00A7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61" name="Oval 60"/>
          <p:cNvSpPr>
            <a:spLocks noGrp="1"/>
          </p:cNvSpPr>
          <p:nvPr/>
        </p:nvSpPr>
        <p:spPr>
          <a:xfrm>
            <a:off x="6492240" y="1965960"/>
            <a:ext cx="347472" cy="347472"/>
          </a:xfrm>
          <a:prstGeom prst="ellipse">
            <a:avLst/>
          </a:prstGeom>
          <a:solidFill>
            <a:srgbClr val="007574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62" name="TextBox 61"/>
          <p:cNvSpPr>
            <a:spLocks noGrp="1"/>
          </p:cNvSpPr>
          <p:nvPr/>
        </p:nvSpPr>
        <p:spPr>
          <a:xfrm>
            <a:off x="6492240" y="1968703"/>
            <a:ext cx="347472" cy="34198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03</a:t>
            </a:r>
            <a:endParaRPr sz="80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3" name="TextBox 62"/>
          <p:cNvSpPr>
            <a:spLocks noGrp="1"/>
          </p:cNvSpPr>
          <p:nvPr/>
        </p:nvSpPr>
        <p:spPr>
          <a:xfrm>
            <a:off x="6967728" y="1920240"/>
            <a:ext cx="1572768" cy="27432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</a:pPr>
            <a:r>
              <a:rPr sz="1240" b="1">
                <a:solidFill>
                  <a:srgbClr val="14383E"/>
                </a:solidFill>
                <a:latin typeface="Noto Sans CJK SC"/>
                <a:ea typeface="Noto Sans CJK SC"/>
                <a:cs typeface="Noto Sans CJK SC"/>
              </a:rPr>
              <a:t>业务能力</a:t>
            </a:r>
            <a:endParaRPr sz="1240" b="1">
              <a:solidFill>
                <a:srgbClr val="14383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4" name="TextBox 63"/>
          <p:cNvSpPr>
            <a:spLocks noGrp="1"/>
          </p:cNvSpPr>
          <p:nvPr/>
        </p:nvSpPr>
        <p:spPr>
          <a:xfrm>
            <a:off x="6492240" y="2423160"/>
            <a:ext cx="2139696" cy="47548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buNone/>
            </a:pPr>
            <a:r>
              <a:rPr sz="740" b="0">
                <a:solidFill>
                  <a:srgbClr val="44585C"/>
                </a:solidFill>
                <a:latin typeface="Noto Sans CJK SC"/>
                <a:ea typeface="Noto Sans CJK SC"/>
                <a:cs typeface="Noto Sans CJK SC"/>
              </a:rPr>
              <a:t>说明系统怎么做、能调用哪些接口</a:t>
            </a:r>
            <a:endParaRPr sz="740" b="0">
              <a:solidFill>
                <a:srgbClr val="6B8185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5" name="Rectangle 64"/>
          <p:cNvSpPr>
            <a:spLocks noGrp="1"/>
          </p:cNvSpPr>
          <p:nvPr/>
        </p:nvSpPr>
        <p:spPr>
          <a:xfrm>
            <a:off x="6492240" y="2999232"/>
            <a:ext cx="2139696" cy="10972"/>
          </a:xfrm>
          <a:prstGeom prst="rect">
            <a:avLst/>
          </a:prstGeom>
          <a:solidFill>
            <a:srgbClr val="00A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66" name="Rounded Rectangle 65"/>
          <p:cNvSpPr>
            <a:spLocks noGrp="1"/>
          </p:cNvSpPr>
          <p:nvPr/>
        </p:nvSpPr>
        <p:spPr>
          <a:xfrm>
            <a:off x="6492240" y="3246120"/>
            <a:ext cx="2139696" cy="5943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00A7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67" name="TextBox 66"/>
          <p:cNvSpPr>
            <a:spLocks noGrp="1"/>
          </p:cNvSpPr>
          <p:nvPr/>
        </p:nvSpPr>
        <p:spPr>
          <a:xfrm>
            <a:off x="6647688" y="3355848"/>
            <a:ext cx="658368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730" b="1">
                <a:solidFill>
                  <a:srgbClr val="00706F"/>
                </a:solidFill>
                <a:latin typeface="Noto Sans CJK SC"/>
                <a:ea typeface="Noto Sans CJK SC"/>
                <a:cs typeface="Noto Sans CJK SC"/>
              </a:rPr>
              <a:t>Skill</a:t>
            </a:r>
            <a:endParaRPr sz="730" b="1">
              <a:solidFill>
                <a:srgbClr val="00A7A7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8" name="TextBox 67"/>
          <p:cNvSpPr>
            <a:spLocks noGrp="1"/>
          </p:cNvSpPr>
          <p:nvPr/>
        </p:nvSpPr>
        <p:spPr>
          <a:xfrm>
            <a:off x="7278624" y="3328415"/>
            <a:ext cx="1188720" cy="25603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</a:pPr>
            <a:r>
              <a:rPr sz="680" b="0">
                <a:solidFill>
                  <a:srgbClr val="14383E"/>
                </a:solidFill>
                <a:latin typeface="Noto Sans CJK SC"/>
                <a:ea typeface="Noto Sans CJK SC"/>
                <a:cs typeface="Noto Sans CJK SC"/>
              </a:rPr>
              <a:t>修改地址能力</a:t>
            </a:r>
            <a:endParaRPr sz="680" b="0">
              <a:solidFill>
                <a:srgbClr val="14383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9" name="Rounded Rectangle 68"/>
          <p:cNvSpPr>
            <a:spLocks noGrp="1"/>
          </p:cNvSpPr>
          <p:nvPr/>
        </p:nvSpPr>
        <p:spPr>
          <a:xfrm>
            <a:off x="6492240" y="4005072"/>
            <a:ext cx="2139696" cy="5943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00A7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70" name="TextBox 69"/>
          <p:cNvSpPr>
            <a:spLocks noGrp="1"/>
          </p:cNvSpPr>
          <p:nvPr/>
        </p:nvSpPr>
        <p:spPr>
          <a:xfrm>
            <a:off x="6647688" y="4114800"/>
            <a:ext cx="658368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730" b="1">
                <a:solidFill>
                  <a:srgbClr val="00706F"/>
                </a:solidFill>
                <a:latin typeface="Noto Sans CJK SC"/>
                <a:ea typeface="Noto Sans CJK SC"/>
                <a:cs typeface="Noto Sans CJK SC"/>
              </a:rPr>
              <a:t>流程步骤</a:t>
            </a:r>
            <a:endParaRPr sz="730" b="1">
              <a:solidFill>
                <a:srgbClr val="00A7A7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1" name="TextBox 70"/>
          <p:cNvSpPr>
            <a:spLocks noGrp="1"/>
          </p:cNvSpPr>
          <p:nvPr/>
        </p:nvSpPr>
        <p:spPr>
          <a:xfrm>
            <a:off x="7278624" y="4087368"/>
            <a:ext cx="1188720" cy="25603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</a:pPr>
            <a:r>
              <a:rPr sz="680" b="0">
                <a:solidFill>
                  <a:srgbClr val="14383E"/>
                </a:solidFill>
                <a:latin typeface="Noto Sans CJK SC"/>
                <a:ea typeface="Noto Sans CJK SC"/>
                <a:cs typeface="Noto Sans CJK SC"/>
              </a:rPr>
              <a:t>skill.md 内：查询→校验→确认→修改</a:t>
            </a:r>
            <a:endParaRPr sz="680" b="0">
              <a:solidFill>
                <a:srgbClr val="14383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2" name="Rounded Rectangle 71"/>
          <p:cNvSpPr>
            <a:spLocks noGrp="1"/>
          </p:cNvSpPr>
          <p:nvPr/>
        </p:nvSpPr>
        <p:spPr>
          <a:xfrm>
            <a:off x="6492240" y="4764024"/>
            <a:ext cx="2139696" cy="5943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00A7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73" name="TextBox 72"/>
          <p:cNvSpPr>
            <a:spLocks noGrp="1"/>
          </p:cNvSpPr>
          <p:nvPr/>
        </p:nvSpPr>
        <p:spPr>
          <a:xfrm>
            <a:off x="6647688" y="4873752"/>
            <a:ext cx="658368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730" b="1">
                <a:solidFill>
                  <a:srgbClr val="00706F"/>
                </a:solidFill>
                <a:latin typeface="Noto Sans CJK SC"/>
                <a:ea typeface="Noto Sans CJK SC"/>
                <a:cs typeface="Noto Sans CJK SC"/>
              </a:rPr>
              <a:t>能力接口</a:t>
            </a:r>
            <a:endParaRPr sz="730" b="1">
              <a:solidFill>
                <a:srgbClr val="00A7A7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4" name="TextBox 73"/>
          <p:cNvSpPr>
            <a:spLocks noGrp="1"/>
          </p:cNvSpPr>
          <p:nvPr/>
        </p:nvSpPr>
        <p:spPr>
          <a:xfrm>
            <a:off x="7278624" y="4846320"/>
            <a:ext cx="1188720" cy="25603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</a:pPr>
            <a:r>
              <a:rPr sz="680" b="0">
                <a:solidFill>
                  <a:srgbClr val="14383E"/>
                </a:solidFill>
                <a:latin typeface="Noto Sans CJK SC"/>
                <a:ea typeface="Noto Sans CJK SC"/>
                <a:cs typeface="Noto Sans CJK SC"/>
              </a:rPr>
              <a:t>查询订单 / 修改地址 / 回写</a:t>
            </a:r>
            <a:endParaRPr sz="680" b="0">
              <a:solidFill>
                <a:srgbClr val="14383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5" name="Right Arrow 74"/>
          <p:cNvSpPr>
            <a:spLocks noGrp="1"/>
          </p:cNvSpPr>
          <p:nvPr/>
        </p:nvSpPr>
        <p:spPr>
          <a:xfrm>
            <a:off x="8878824" y="3547872"/>
            <a:ext cx="164592" cy="310896"/>
          </a:xfrm>
          <a:prstGeom prst="rightArrow">
            <a:avLst/>
          </a:prstGeom>
          <a:solidFill>
            <a:srgbClr val="00A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76" name="Rounded Rectangle 75"/>
          <p:cNvSpPr>
            <a:spLocks noGrp="1"/>
          </p:cNvSpPr>
          <p:nvPr/>
        </p:nvSpPr>
        <p:spPr>
          <a:xfrm>
            <a:off x="9111995" y="1760219"/>
            <a:ext cx="2542032" cy="4315968"/>
          </a:xfrm>
          <a:prstGeom prst="roundRect">
            <a:avLst/>
          </a:prstGeom>
          <a:solidFill>
            <a:srgbClr val="E3E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77" name="Rounded Rectangle 76"/>
          <p:cNvSpPr>
            <a:spLocks noGrp="1"/>
          </p:cNvSpPr>
          <p:nvPr/>
        </p:nvSpPr>
        <p:spPr>
          <a:xfrm>
            <a:off x="9079991" y="1719072"/>
            <a:ext cx="2542032" cy="4315968"/>
          </a:xfrm>
          <a:prstGeom prst="roundRect">
            <a:avLst/>
          </a:prstGeom>
          <a:solidFill>
            <a:srgbClr val="EFEEFF"/>
          </a:solidFill>
          <a:ln w="12700">
            <a:solidFill>
              <a:srgbClr val="6B6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79" name="Oval 78"/>
          <p:cNvSpPr>
            <a:spLocks noGrp="1"/>
          </p:cNvSpPr>
          <p:nvPr/>
        </p:nvSpPr>
        <p:spPr>
          <a:xfrm>
            <a:off x="9281159" y="1965960"/>
            <a:ext cx="347472" cy="347472"/>
          </a:xfrm>
          <a:prstGeom prst="ellipse">
            <a:avLst/>
          </a:prstGeom>
          <a:solidFill>
            <a:srgbClr val="5356BE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80" name="TextBox 79"/>
          <p:cNvSpPr>
            <a:spLocks noGrp="1"/>
          </p:cNvSpPr>
          <p:nvPr/>
        </p:nvSpPr>
        <p:spPr>
          <a:xfrm>
            <a:off x="9281159" y="1968703"/>
            <a:ext cx="347472" cy="34198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04</a:t>
            </a:r>
            <a:endParaRPr sz="80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81" name="TextBox 80"/>
          <p:cNvSpPr>
            <a:spLocks noGrp="1"/>
          </p:cNvSpPr>
          <p:nvPr/>
        </p:nvSpPr>
        <p:spPr>
          <a:xfrm>
            <a:off x="9756647" y="1920240"/>
            <a:ext cx="1572768" cy="27432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</a:pPr>
            <a:r>
              <a:rPr sz="1240" b="1">
                <a:solidFill>
                  <a:srgbClr val="14383E"/>
                </a:solidFill>
                <a:latin typeface="Noto Sans CJK SC"/>
                <a:ea typeface="Noto Sans CJK SC"/>
                <a:cs typeface="Noto Sans CJK SC"/>
              </a:rPr>
              <a:t>质量运营</a:t>
            </a:r>
            <a:endParaRPr sz="1240" b="1">
              <a:solidFill>
                <a:srgbClr val="14383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82" name="TextBox 81"/>
          <p:cNvSpPr>
            <a:spLocks noGrp="1"/>
          </p:cNvSpPr>
          <p:nvPr/>
        </p:nvSpPr>
        <p:spPr>
          <a:xfrm>
            <a:off x="9281159" y="2423160"/>
            <a:ext cx="2139696" cy="47548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buNone/>
            </a:pPr>
            <a:r>
              <a:rPr sz="740" b="0">
                <a:solidFill>
                  <a:srgbClr val="44585C"/>
                </a:solidFill>
                <a:latin typeface="Noto Sans CJK SC"/>
                <a:ea typeface="Noto Sans CJK SC"/>
                <a:cs typeface="Noto Sans CJK SC"/>
              </a:rPr>
              <a:t>把结果、问题和回归验证接起来</a:t>
            </a:r>
            <a:endParaRPr sz="740" b="0">
              <a:solidFill>
                <a:srgbClr val="6B8185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83" name="Rectangle 82"/>
          <p:cNvSpPr>
            <a:spLocks noGrp="1"/>
          </p:cNvSpPr>
          <p:nvPr/>
        </p:nvSpPr>
        <p:spPr>
          <a:xfrm>
            <a:off x="9281159" y="2999232"/>
            <a:ext cx="2139696" cy="10972"/>
          </a:xfrm>
          <a:prstGeom prst="rect">
            <a:avLst/>
          </a:prstGeom>
          <a:solidFill>
            <a:srgbClr val="6B6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84" name="Rounded Rectangle 83"/>
          <p:cNvSpPr>
            <a:spLocks noGrp="1"/>
          </p:cNvSpPr>
          <p:nvPr/>
        </p:nvSpPr>
        <p:spPr>
          <a:xfrm>
            <a:off x="9281159" y="3246120"/>
            <a:ext cx="2139696" cy="5943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6B6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85" name="TextBox 84"/>
          <p:cNvSpPr>
            <a:spLocks noGrp="1"/>
          </p:cNvSpPr>
          <p:nvPr/>
        </p:nvSpPr>
        <p:spPr>
          <a:xfrm>
            <a:off x="9436607" y="3355848"/>
            <a:ext cx="658368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730" b="1">
                <a:solidFill>
                  <a:srgbClr val="4A4EB0"/>
                </a:solidFill>
                <a:latin typeface="Noto Sans CJK SC"/>
                <a:ea typeface="Noto Sans CJK SC"/>
                <a:cs typeface="Noto Sans CJK SC"/>
              </a:rPr>
              <a:t>运行记录</a:t>
            </a:r>
            <a:endParaRPr sz="730" b="1">
              <a:solidFill>
                <a:srgbClr val="6B6FD8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86" name="TextBox 85"/>
          <p:cNvSpPr>
            <a:spLocks noGrp="1"/>
          </p:cNvSpPr>
          <p:nvPr/>
        </p:nvSpPr>
        <p:spPr>
          <a:xfrm>
            <a:off x="10067543" y="3328415"/>
            <a:ext cx="1188720" cy="25603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</a:pPr>
            <a:r>
              <a:rPr sz="680" b="0">
                <a:solidFill>
                  <a:srgbClr val="14383E"/>
                </a:solidFill>
                <a:latin typeface="Noto Sans CJK SC"/>
                <a:ea typeface="Noto Sans CJK SC"/>
                <a:cs typeface="Noto Sans CJK SC"/>
              </a:rPr>
              <a:t>Trace 与审计</a:t>
            </a:r>
            <a:endParaRPr sz="680" b="0">
              <a:solidFill>
                <a:srgbClr val="14383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87" name="Rounded Rectangle 86"/>
          <p:cNvSpPr>
            <a:spLocks noGrp="1"/>
          </p:cNvSpPr>
          <p:nvPr/>
        </p:nvSpPr>
        <p:spPr>
          <a:xfrm>
            <a:off x="9281159" y="4005072"/>
            <a:ext cx="2139696" cy="5943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6B6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88" name="TextBox 87"/>
          <p:cNvSpPr>
            <a:spLocks noGrp="1"/>
          </p:cNvSpPr>
          <p:nvPr/>
        </p:nvSpPr>
        <p:spPr>
          <a:xfrm>
            <a:off x="9436607" y="4114800"/>
            <a:ext cx="658368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730" b="1">
                <a:solidFill>
                  <a:srgbClr val="4A4EB0"/>
                </a:solidFill>
                <a:latin typeface="Noto Sans CJK SC"/>
                <a:ea typeface="Noto Sans CJK SC"/>
                <a:cs typeface="Noto Sans CJK SC"/>
              </a:rPr>
              <a:t>问题归因</a:t>
            </a:r>
            <a:endParaRPr sz="730" b="1">
              <a:solidFill>
                <a:srgbClr val="6B6FD8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89" name="TextBox 88"/>
          <p:cNvSpPr>
            <a:spLocks noGrp="1"/>
          </p:cNvSpPr>
          <p:nvPr/>
        </p:nvSpPr>
        <p:spPr>
          <a:xfrm>
            <a:off x="10067543" y="4087368"/>
            <a:ext cx="1188720" cy="25603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</a:pPr>
            <a:r>
              <a:rPr sz="680" b="0">
                <a:solidFill>
                  <a:srgbClr val="14383E"/>
                </a:solidFill>
                <a:latin typeface="Noto Sans CJK SC"/>
                <a:ea typeface="Noto Sans CJK SC"/>
                <a:cs typeface="Noto Sans CJK SC"/>
              </a:rPr>
              <a:t>失败原因与人工反馈</a:t>
            </a:r>
            <a:endParaRPr sz="680" b="0">
              <a:solidFill>
                <a:srgbClr val="14383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90" name="Rounded Rectangle 89"/>
          <p:cNvSpPr>
            <a:spLocks noGrp="1"/>
          </p:cNvSpPr>
          <p:nvPr/>
        </p:nvSpPr>
        <p:spPr>
          <a:xfrm>
            <a:off x="9281159" y="4764024"/>
            <a:ext cx="2139696" cy="5943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6B6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91" name="TextBox 90"/>
          <p:cNvSpPr>
            <a:spLocks noGrp="1"/>
          </p:cNvSpPr>
          <p:nvPr/>
        </p:nvSpPr>
        <p:spPr>
          <a:xfrm>
            <a:off x="9436607" y="4873752"/>
            <a:ext cx="658368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730" b="1">
                <a:solidFill>
                  <a:srgbClr val="4A4EB0"/>
                </a:solidFill>
                <a:latin typeface="Noto Sans CJK SC"/>
                <a:ea typeface="Noto Sans CJK SC"/>
                <a:cs typeface="Noto Sans CJK SC"/>
              </a:rPr>
              <a:t>验证材料</a:t>
            </a:r>
            <a:endParaRPr sz="730" b="1">
              <a:solidFill>
                <a:srgbClr val="6B6FD8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92" name="TextBox 91"/>
          <p:cNvSpPr>
            <a:spLocks noGrp="1"/>
          </p:cNvSpPr>
          <p:nvPr/>
        </p:nvSpPr>
        <p:spPr>
          <a:xfrm>
            <a:off x="10067543" y="4846320"/>
            <a:ext cx="1188720" cy="25603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</a:pPr>
            <a:r>
              <a:rPr sz="680" b="0">
                <a:solidFill>
                  <a:srgbClr val="14383E"/>
                </a:solidFill>
                <a:latin typeface="Noto Sans CJK SC"/>
                <a:ea typeface="Noto Sans CJK SC"/>
                <a:cs typeface="Noto Sans CJK SC"/>
              </a:rPr>
              <a:t>回归用例与运营指标</a:t>
            </a:r>
            <a:endParaRPr sz="680" b="0">
              <a:solidFill>
                <a:srgbClr val="14383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93" name="Rounded Rectangle 92"/>
          <p:cNvSpPr>
            <a:spLocks noGrp="1"/>
          </p:cNvSpPr>
          <p:nvPr/>
        </p:nvSpPr>
        <p:spPr>
          <a:xfrm>
            <a:off x="877824" y="6190488"/>
            <a:ext cx="10168128" cy="274320"/>
          </a:xfrm>
          <a:prstGeom prst="roundRect">
            <a:avLst/>
          </a:prstGeom>
          <a:solidFill>
            <a:srgbClr val="F0F4F3"/>
          </a:solidFill>
          <a:ln w="10160">
            <a:solidFill>
              <a:srgbClr val="C9D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94" name="TextBox 93"/>
          <p:cNvSpPr>
            <a:spLocks noGrp="1"/>
          </p:cNvSpPr>
          <p:nvPr/>
        </p:nvSpPr>
        <p:spPr>
          <a:xfrm>
            <a:off x="1024128" y="6245352"/>
            <a:ext cx="9875520" cy="16459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</a:pPr>
            <a:r>
              <a:rPr sz="740" b="1">
                <a:solidFill>
                  <a:srgbClr val="14383E"/>
                </a:solidFill>
                <a:latin typeface="Noto Sans CJK SC"/>
                <a:ea typeface="Noto Sans CJK SC"/>
                <a:cs typeface="Noto Sans CJK SC"/>
              </a:rPr>
              <a:t>线上出问题后，改边界、上下文或流程，补回归用例，再重新发布观察。</a:t>
            </a:r>
            <a:endParaRPr sz="740" b="1">
              <a:solidFill>
                <a:srgbClr val="14383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95" name="圆角矩形 94"/>
          <p:cNvSpPr>
            <a:spLocks noGrp="1"/>
          </p:cNvSpPr>
          <p:nvPr/>
        </p:nvSpPr>
        <p:spPr>
          <a:xfrm>
            <a:off x="6565583" y="127635"/>
            <a:ext cx="4937760" cy="365760"/>
          </a:xfrm>
          <a:prstGeom prst="roundRect">
            <a:avLst>
              <a:gd name="adj" fmla="val 20833"/>
            </a:avLst>
          </a:prstGeom>
          <a:solidFill>
            <a:srgbClr val="F7FBF9"/>
          </a:solidFill>
          <a:ln w="12668">
            <a:solidFill>
              <a:srgbClr val="F7FBF9"/>
            </a:solidFill>
            <a:prstDash val="solid"/>
          </a:ln>
        </p:spPr>
        <p:txBody>
          <a:bodyPr/>
          <a:p/>
        </p:txBody>
      </p:sp>
      <p:sp>
        <p:nvSpPr>
          <p:cNvPr id="96" name="圆角矩形 95"/>
          <p:cNvSpPr>
            <a:spLocks noGrp="1"/>
          </p:cNvSpPr>
          <p:nvPr/>
        </p:nvSpPr>
        <p:spPr>
          <a:xfrm>
            <a:off x="6657023" y="164783"/>
            <a:ext cx="1154430" cy="264795"/>
          </a:xfrm>
          <a:prstGeom prst="roundRect">
            <a:avLst>
              <a:gd name="adj" fmla="val 28777"/>
            </a:avLst>
          </a:prstGeom>
          <a:solidFill>
            <a:srgbClr val="007574"/>
          </a:solidFill>
          <a:ln w="12668">
            <a:solidFill>
              <a:srgbClr val="007574"/>
            </a:solidFill>
            <a:prstDash val="solid"/>
          </a:ln>
        </p:spPr>
        <p:txBody>
          <a:bodyPr/>
          <a:p/>
        </p:txBody>
      </p:sp>
      <p:sp>
        <p:nvSpPr>
          <p:cNvPr id="97" name="矩形 96"/>
          <p:cNvSpPr>
            <a:spLocks noGrp="1"/>
          </p:cNvSpPr>
          <p:nvPr/>
        </p:nvSpPr>
        <p:spPr>
          <a:xfrm>
            <a:off x="6657023" y="187643"/>
            <a:ext cx="1154430" cy="182880"/>
          </a:xfrm>
          <a:prstGeom prst="rect">
            <a:avLst/>
          </a:prstGeom>
        </p:spPr>
        <p:txBody>
          <a:bodyPr anchor="ctr"/>
          <a:lstStyle/>
          <a:p>
            <a:pPr algn="ctr">
              <a:defRPr sz="660" b="1">
                <a:solidFill>
                  <a:srgbClr val="FFFFFF"/>
                </a:solidFill>
              </a:defRPr>
            </a:pPr>
            <a:r>
              <a:t>理解</a:t>
            </a:r>
          </a:p>
        </p:txBody>
      </p:sp>
      <p:sp>
        <p:nvSpPr>
          <p:cNvPr id="98" name="圆角矩形 97"/>
          <p:cNvSpPr>
            <a:spLocks noGrp="1"/>
          </p:cNvSpPr>
          <p:nvPr/>
        </p:nvSpPr>
        <p:spPr>
          <a:xfrm>
            <a:off x="7857173" y="164783"/>
            <a:ext cx="1154430" cy="264795"/>
          </a:xfrm>
          <a:prstGeom prst="roundRect">
            <a:avLst>
              <a:gd name="adj" fmla="val 28777"/>
            </a:avLst>
          </a:prstGeom>
          <a:solidFill>
            <a:srgbClr val="007574"/>
          </a:solidFill>
          <a:ln w="12668">
            <a:solidFill>
              <a:srgbClr val="007574"/>
            </a:solidFill>
            <a:prstDash val="solid"/>
          </a:ln>
        </p:spPr>
        <p:txBody>
          <a:bodyPr/>
          <a:p/>
        </p:txBody>
      </p:sp>
      <p:sp>
        <p:nvSpPr>
          <p:cNvPr id="99" name="矩形 98"/>
          <p:cNvSpPr>
            <a:spLocks noGrp="1"/>
          </p:cNvSpPr>
          <p:nvPr/>
        </p:nvSpPr>
        <p:spPr>
          <a:xfrm>
            <a:off x="7857173" y="187643"/>
            <a:ext cx="1154430" cy="182880"/>
          </a:xfrm>
          <a:prstGeom prst="rect">
            <a:avLst/>
          </a:prstGeom>
        </p:spPr>
        <p:txBody>
          <a:bodyPr anchor="ctr"/>
          <a:lstStyle/>
          <a:p>
            <a:pPr algn="ctr">
              <a:defRPr sz="660" b="1">
                <a:solidFill>
                  <a:srgbClr val="FFFFFF"/>
                </a:solidFill>
              </a:defRPr>
            </a:pPr>
            <a:r>
              <a:t>查询</a:t>
            </a:r>
          </a:p>
        </p:txBody>
      </p:sp>
      <p:sp>
        <p:nvSpPr>
          <p:cNvPr id="100" name="圆角矩形 99"/>
          <p:cNvSpPr>
            <a:spLocks noGrp="1"/>
          </p:cNvSpPr>
          <p:nvPr/>
        </p:nvSpPr>
        <p:spPr>
          <a:xfrm>
            <a:off x="9057323" y="164783"/>
            <a:ext cx="1154430" cy="264795"/>
          </a:xfrm>
          <a:prstGeom prst="roundRect">
            <a:avLst>
              <a:gd name="adj" fmla="val 28777"/>
            </a:avLst>
          </a:prstGeom>
          <a:solidFill>
            <a:srgbClr val="007574"/>
          </a:solidFill>
          <a:ln w="12668">
            <a:solidFill>
              <a:srgbClr val="007574"/>
            </a:solidFill>
            <a:prstDash val="solid"/>
          </a:ln>
        </p:spPr>
        <p:txBody>
          <a:bodyPr/>
          <a:p/>
        </p:txBody>
      </p:sp>
      <p:sp>
        <p:nvSpPr>
          <p:cNvPr id="101" name="矩形 100"/>
          <p:cNvSpPr>
            <a:spLocks noGrp="1"/>
          </p:cNvSpPr>
          <p:nvPr/>
        </p:nvSpPr>
        <p:spPr>
          <a:xfrm>
            <a:off x="9057323" y="187643"/>
            <a:ext cx="1154430" cy="182880"/>
          </a:xfrm>
          <a:prstGeom prst="rect">
            <a:avLst/>
          </a:prstGeom>
        </p:spPr>
        <p:txBody>
          <a:bodyPr anchor="ctr"/>
          <a:lstStyle/>
          <a:p>
            <a:pPr algn="ctr">
              <a:defRPr sz="660" b="1">
                <a:solidFill>
                  <a:srgbClr val="FFFFFF"/>
                </a:solidFill>
              </a:defRPr>
            </a:pPr>
            <a:r>
              <a:t>决策</a:t>
            </a:r>
          </a:p>
        </p:txBody>
      </p:sp>
      <p:sp>
        <p:nvSpPr>
          <p:cNvPr id="102" name="圆角矩形 101"/>
          <p:cNvSpPr>
            <a:spLocks noGrp="1"/>
          </p:cNvSpPr>
          <p:nvPr/>
        </p:nvSpPr>
        <p:spPr>
          <a:xfrm>
            <a:off x="10257473" y="164783"/>
            <a:ext cx="1154430" cy="264795"/>
          </a:xfrm>
          <a:prstGeom prst="roundRect">
            <a:avLst>
              <a:gd name="adj" fmla="val 28777"/>
            </a:avLst>
          </a:prstGeom>
          <a:solidFill>
            <a:srgbClr val="007574"/>
          </a:solidFill>
          <a:ln w="12668">
            <a:solidFill>
              <a:srgbClr val="007574"/>
            </a:solidFill>
            <a:prstDash val="solid"/>
          </a:ln>
        </p:spPr>
        <p:txBody>
          <a:bodyPr/>
          <a:p/>
        </p:txBody>
      </p:sp>
      <p:sp>
        <p:nvSpPr>
          <p:cNvPr id="103" name="矩形 102"/>
          <p:cNvSpPr>
            <a:spLocks noGrp="1"/>
          </p:cNvSpPr>
          <p:nvPr/>
        </p:nvSpPr>
        <p:spPr>
          <a:xfrm>
            <a:off x="10257473" y="187643"/>
            <a:ext cx="1154430" cy="182880"/>
          </a:xfrm>
          <a:prstGeom prst="rect">
            <a:avLst/>
          </a:prstGeom>
        </p:spPr>
        <p:txBody>
          <a:bodyPr anchor="ctr"/>
          <a:lstStyle/>
          <a:p>
            <a:pPr algn="ctr">
              <a:defRPr sz="660" b="1">
                <a:solidFill>
                  <a:srgbClr val="FFFFFF"/>
                </a:solidFill>
              </a:defRPr>
            </a:pPr>
            <a:r>
              <a:t>执行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hape 0"/>
          <p:cNvSpPr>
            <a:spLocks noGrp="1"/>
          </p:cNvSpPr>
          <p:nvPr/>
        </p:nvSpPr>
        <p:spPr>
          <a:xfrm>
            <a:off x="16459" y="16459"/>
            <a:ext cx="38405" cy="6825082"/>
          </a:xfrm>
          <a:prstGeom prst="rect">
            <a:avLst/>
          </a:prstGeom>
          <a:solidFill>
            <a:srgbClr val="0A8F6A"/>
          </a:solidFill>
          <a:ln w="12700">
            <a:solidFill>
              <a:srgbClr val="12B07D"/>
            </a:solidFill>
            <a:prstDash val="solid"/>
          </a:ln>
        </p:spPr>
        <p:txBody>
          <a:bodyPr/>
          <a:lstStyle/>
          <a:p/>
        </p:txBody>
      </p:sp>
      <p:sp>
        <p:nvSpPr>
          <p:cNvPr id="4" name="Shape 2"/>
          <p:cNvSpPr>
            <a:spLocks noGrp="1"/>
          </p:cNvSpPr>
          <p:nvPr/>
        </p:nvSpPr>
        <p:spPr>
          <a:xfrm>
            <a:off x="10104120" y="73152"/>
            <a:ext cx="1874520" cy="1353312"/>
          </a:xfrm>
          <a:prstGeom prst="ellipse">
            <a:avLst/>
          </a:prstGeom>
          <a:solidFill>
            <a:srgbClr val="E8F7F1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/>
        </p:txBody>
      </p:sp>
      <p:sp>
        <p:nvSpPr>
          <p:cNvPr id="5" name="Shape 3"/>
          <p:cNvSpPr>
            <a:spLocks noGrp="1"/>
          </p:cNvSpPr>
          <p:nvPr/>
        </p:nvSpPr>
        <p:spPr>
          <a:xfrm>
            <a:off x="91440" y="5596128"/>
            <a:ext cx="1719072" cy="1051560"/>
          </a:xfrm>
          <a:prstGeom prst="ellipse">
            <a:avLst/>
          </a:prstGeom>
          <a:solidFill>
            <a:srgbClr val="FFF2E8">
              <a:alpha val="68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/>
        </p:txBody>
      </p:sp>
      <p:sp>
        <p:nvSpPr>
          <p:cNvPr id="6" name="Shape 4"/>
          <p:cNvSpPr>
            <a:spLocks noGrp="1"/>
          </p:cNvSpPr>
          <p:nvPr/>
        </p:nvSpPr>
        <p:spPr>
          <a:xfrm>
            <a:off x="658368" y="393192"/>
            <a:ext cx="68580" cy="68580"/>
          </a:xfrm>
          <a:prstGeom prst="ellipse">
            <a:avLst/>
          </a:prstGeom>
          <a:solidFill>
            <a:srgbClr val="0A8F6A"/>
          </a:solidFill>
          <a:ln w="12700">
            <a:solidFill>
              <a:srgbClr val="12B07D"/>
            </a:solidFill>
            <a:prstDash val="solid"/>
          </a:ln>
        </p:spPr>
        <p:txBody>
          <a:bodyPr/>
          <a:lstStyle/>
          <a:p/>
        </p:txBody>
      </p:sp>
      <p:sp>
        <p:nvSpPr>
          <p:cNvPr id="7" name="Shape 5"/>
          <p:cNvSpPr>
            <a:spLocks noGrp="1"/>
          </p:cNvSpPr>
          <p:nvPr/>
        </p:nvSpPr>
        <p:spPr>
          <a:xfrm>
            <a:off x="768096" y="427939"/>
            <a:ext cx="411480" cy="0"/>
          </a:xfrm>
          <a:prstGeom prst="line">
            <a:avLst/>
          </a:prstGeom>
          <a:noFill/>
          <a:ln w="15875">
            <a:solidFill>
              <a:srgbClr val="0A8F6A"/>
            </a:solidFill>
            <a:prstDash val="solid"/>
          </a:ln>
        </p:spPr>
        <p:txBody>
          <a:bodyPr/>
          <a:lstStyle/>
          <a:p/>
        </p:txBody>
      </p:sp>
      <p:sp>
        <p:nvSpPr>
          <p:cNvPr id="8" name="Text 6"/>
          <p:cNvSpPr>
            <a:spLocks noGrp="1"/>
          </p:cNvSpPr>
          <p:nvPr/>
        </p:nvSpPr>
        <p:spPr>
          <a:xfrm>
            <a:off x="1234440" y="265176"/>
            <a:ext cx="2331720" cy="31089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r>
              <a:rPr sz="1050" b="1">
                <a:solidFill>
                  <a:srgbClr val="076B50"/>
                </a:solidFill>
                <a:latin typeface="Noto Sans CJK SC"/>
                <a:ea typeface="Noto Sans CJK SC"/>
                <a:cs typeface="Noto Sans CJK SC"/>
              </a:rPr>
              <a:t>CHAPTER 3 · 系统蓝图</a:t>
            </a:r>
            <a:endParaRPr sz="1050" b="1">
              <a:solidFill>
                <a:srgbClr val="2F80ED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9" name="Shape 7"/>
          <p:cNvSpPr>
            <a:spLocks noGrp="1"/>
          </p:cNvSpPr>
          <p:nvPr/>
        </p:nvSpPr>
        <p:spPr>
          <a:xfrm>
            <a:off x="9829800" y="301752"/>
            <a:ext cx="68580" cy="68580"/>
          </a:xfrm>
          <a:prstGeom prst="ellipse">
            <a:avLst/>
          </a:prstGeom>
          <a:solidFill>
            <a:srgbClr val="C7DAD6"/>
          </a:solidFill>
          <a:ln w="12700">
            <a:solidFill>
              <a:srgbClr val="C7DAD6"/>
            </a:solidFill>
            <a:prstDash val="solid"/>
          </a:ln>
        </p:spPr>
        <p:txBody>
          <a:bodyPr/>
          <a:lstStyle/>
          <a:p/>
        </p:txBody>
      </p:sp>
      <p:sp>
        <p:nvSpPr>
          <p:cNvPr id="10" name="Shape 8"/>
          <p:cNvSpPr>
            <a:spLocks noGrp="1"/>
          </p:cNvSpPr>
          <p:nvPr/>
        </p:nvSpPr>
        <p:spPr>
          <a:xfrm>
            <a:off x="10040112" y="301752"/>
            <a:ext cx="68580" cy="68580"/>
          </a:xfrm>
          <a:prstGeom prst="ellipse">
            <a:avLst/>
          </a:prstGeom>
          <a:solidFill>
            <a:srgbClr val="C7DAD6"/>
          </a:solidFill>
          <a:ln w="12700">
            <a:solidFill>
              <a:srgbClr val="C7DAD6"/>
            </a:solidFill>
            <a:prstDash val="solid"/>
          </a:ln>
        </p:spPr>
        <p:txBody>
          <a:bodyPr/>
          <a:lstStyle/>
          <a:p/>
        </p:txBody>
      </p:sp>
      <p:sp>
        <p:nvSpPr>
          <p:cNvPr id="11" name="Shape 9"/>
          <p:cNvSpPr>
            <a:spLocks noGrp="1"/>
          </p:cNvSpPr>
          <p:nvPr/>
        </p:nvSpPr>
        <p:spPr>
          <a:xfrm>
            <a:off x="10250424" y="301752"/>
            <a:ext cx="68580" cy="68580"/>
          </a:xfrm>
          <a:prstGeom prst="ellipse">
            <a:avLst/>
          </a:prstGeom>
          <a:solidFill>
            <a:srgbClr val="C7DAD6"/>
          </a:solidFill>
          <a:ln w="12700">
            <a:solidFill>
              <a:srgbClr val="C7DAD6"/>
            </a:solidFill>
            <a:prstDash val="solid"/>
          </a:ln>
        </p:spPr>
        <p:txBody>
          <a:bodyPr/>
          <a:lstStyle/>
          <a:p/>
        </p:txBody>
      </p:sp>
      <p:sp>
        <p:nvSpPr>
          <p:cNvPr id="12" name="Shape 10"/>
          <p:cNvSpPr>
            <a:spLocks noGrp="1"/>
          </p:cNvSpPr>
          <p:nvPr/>
        </p:nvSpPr>
        <p:spPr>
          <a:xfrm>
            <a:off x="10460736" y="301752"/>
            <a:ext cx="68580" cy="68580"/>
          </a:xfrm>
          <a:prstGeom prst="ellipse">
            <a:avLst/>
          </a:prstGeom>
          <a:solidFill>
            <a:srgbClr val="12B07D"/>
          </a:solidFill>
          <a:ln w="12700">
            <a:solidFill>
              <a:srgbClr val="12B07D"/>
            </a:solidFill>
            <a:prstDash val="solid"/>
          </a:ln>
        </p:spPr>
        <p:txBody>
          <a:bodyPr/>
          <a:lstStyle/>
          <a:p/>
        </p:txBody>
      </p:sp>
      <p:sp>
        <p:nvSpPr>
          <p:cNvPr id="13" name="Shape 11"/>
          <p:cNvSpPr>
            <a:spLocks noGrp="1"/>
          </p:cNvSpPr>
          <p:nvPr/>
        </p:nvSpPr>
        <p:spPr>
          <a:xfrm>
            <a:off x="10671048" y="301752"/>
            <a:ext cx="68580" cy="68580"/>
          </a:xfrm>
          <a:prstGeom prst="ellipse">
            <a:avLst/>
          </a:prstGeom>
          <a:solidFill>
            <a:srgbClr val="C7DAD6"/>
          </a:solidFill>
          <a:ln w="12700">
            <a:solidFill>
              <a:srgbClr val="C7DAD6"/>
            </a:solidFill>
            <a:prstDash val="solid"/>
          </a:ln>
        </p:spPr>
        <p:txBody>
          <a:bodyPr/>
          <a:lstStyle/>
          <a:p/>
        </p:txBody>
      </p:sp>
      <p:sp>
        <p:nvSpPr>
          <p:cNvPr id="14" name="Shape 12"/>
          <p:cNvSpPr>
            <a:spLocks noGrp="1"/>
          </p:cNvSpPr>
          <p:nvPr/>
        </p:nvSpPr>
        <p:spPr>
          <a:xfrm>
            <a:off x="10881360" y="301752"/>
            <a:ext cx="68580" cy="68580"/>
          </a:xfrm>
          <a:prstGeom prst="ellipse">
            <a:avLst/>
          </a:prstGeom>
          <a:solidFill>
            <a:srgbClr val="C7DAD6"/>
          </a:solidFill>
          <a:ln w="12700">
            <a:solidFill>
              <a:srgbClr val="C7DAD6"/>
            </a:solidFill>
            <a:prstDash val="solid"/>
          </a:ln>
        </p:spPr>
        <p:txBody>
          <a:bodyPr/>
          <a:lstStyle/>
          <a:p/>
        </p:txBody>
      </p:sp>
      <p:sp>
        <p:nvSpPr>
          <p:cNvPr id="15" name="Shape 13"/>
          <p:cNvSpPr>
            <a:spLocks noGrp="1"/>
          </p:cNvSpPr>
          <p:nvPr/>
        </p:nvSpPr>
        <p:spPr>
          <a:xfrm>
            <a:off x="11091672" y="301752"/>
            <a:ext cx="68580" cy="68580"/>
          </a:xfrm>
          <a:prstGeom prst="ellipse">
            <a:avLst/>
          </a:prstGeom>
          <a:solidFill>
            <a:srgbClr val="C7DAD6"/>
          </a:solidFill>
          <a:ln w="12700">
            <a:solidFill>
              <a:srgbClr val="C7DAD6"/>
            </a:solidFill>
            <a:prstDash val="solid"/>
          </a:ln>
        </p:spPr>
        <p:txBody>
          <a:bodyPr/>
          <a:lstStyle/>
          <a:p/>
        </p:txBody>
      </p:sp>
      <p:sp>
        <p:nvSpPr>
          <p:cNvPr id="16" name="Shape 14"/>
          <p:cNvSpPr>
            <a:spLocks noGrp="1"/>
          </p:cNvSpPr>
          <p:nvPr/>
        </p:nvSpPr>
        <p:spPr>
          <a:xfrm>
            <a:off x="11301984" y="301752"/>
            <a:ext cx="68580" cy="68580"/>
          </a:xfrm>
          <a:prstGeom prst="ellipse">
            <a:avLst/>
          </a:prstGeom>
          <a:solidFill>
            <a:srgbClr val="C7DAD6"/>
          </a:solidFill>
          <a:ln w="12700">
            <a:solidFill>
              <a:srgbClr val="C7DAD6"/>
            </a:solidFill>
            <a:prstDash val="solid"/>
          </a:ln>
        </p:spPr>
        <p:txBody>
          <a:bodyPr/>
          <a:lstStyle/>
          <a:p/>
        </p:txBody>
      </p:sp>
      <p:sp>
        <p:nvSpPr>
          <p:cNvPr id="17" name="Text 15"/>
          <p:cNvSpPr>
            <a:spLocks noGrp="1"/>
          </p:cNvSpPr>
          <p:nvPr/>
        </p:nvSpPr>
        <p:spPr>
          <a:xfrm>
            <a:off x="658368" y="713232"/>
            <a:ext cx="10652760" cy="49377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2550" b="1">
                <a:solidFill>
                  <a:srgbClr val="14383E"/>
                </a:solidFill>
                <a:latin typeface="Noto Sans CJK SC"/>
                <a:ea typeface="Noto Sans CJK SC"/>
                <a:cs typeface="Noto Sans CJK SC"/>
              </a:rPr>
              <a:t>LLM 选型与降级链路</a:t>
            </a:r>
            <a:endParaRPr sz="2550"/>
          </a:p>
        </p:txBody>
      </p:sp>
      <p:sp>
        <p:nvSpPr>
          <p:cNvPr id="18" name="Text 16"/>
          <p:cNvSpPr>
            <a:spLocks noGrp="1"/>
          </p:cNvSpPr>
          <p:nvPr/>
        </p:nvSpPr>
        <p:spPr>
          <a:xfrm>
            <a:off x="658368" y="1197864"/>
            <a:ext cx="10469880" cy="29260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r>
              <a:rPr sz="1170">
                <a:solidFill>
                  <a:srgbClr val="44585C"/>
                </a:solidFill>
                <a:latin typeface="Noto Sans CJK SC"/>
                <a:ea typeface="Noto Sans CJK SC"/>
                <a:cs typeface="Noto Sans CJK SC"/>
              </a:rPr>
              <a:t>接入协议收口后，主模型和备用通道都通过配置切换，降级原因留在审计记录里。</a:t>
            </a:r>
            <a:endParaRPr sz="1170">
              <a:solidFill>
                <a:srgbClr val="6B8185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9" name="Shape 17"/>
          <p:cNvSpPr>
            <a:spLocks noGrp="1"/>
          </p:cNvSpPr>
          <p:nvPr/>
        </p:nvSpPr>
        <p:spPr>
          <a:xfrm>
            <a:off x="658368" y="6510528"/>
            <a:ext cx="10835640" cy="0"/>
          </a:xfrm>
          <a:prstGeom prst="line">
            <a:avLst/>
          </a:prstGeom>
          <a:noFill/>
          <a:ln w="11430">
            <a:solidFill>
              <a:srgbClr val="D7E7E3"/>
            </a:solidFill>
            <a:prstDash val="solid"/>
          </a:ln>
        </p:spPr>
        <p:txBody>
          <a:bodyPr/>
          <a:lstStyle/>
          <a:p/>
        </p:txBody>
      </p:sp>
      <p:sp>
        <p:nvSpPr>
          <p:cNvPr id="20" name="Text 18"/>
          <p:cNvSpPr>
            <a:spLocks noGrp="1"/>
          </p:cNvSpPr>
          <p:nvPr/>
        </p:nvSpPr>
        <p:spPr>
          <a:xfrm>
            <a:off x="658368" y="6556248"/>
            <a:ext cx="2103120" cy="16459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750" b="1" spc="40">
                <a:solidFill>
                  <a:srgbClr val="5C7276"/>
                </a:solidFill>
                <a:latin typeface="Noto Sans CJK SC"/>
                <a:ea typeface="Noto Sans CJK SC"/>
                <a:cs typeface="Noto Sans CJK SC"/>
              </a:rPr>
              <a:t>CUSTOMER SERVICE AI AGENT</a:t>
            </a:r>
            <a:endParaRPr sz="750"/>
          </a:p>
        </p:txBody>
      </p:sp>
      <p:sp>
        <p:nvSpPr>
          <p:cNvPr id="21" name="Text 19"/>
          <p:cNvSpPr>
            <a:spLocks noGrp="1"/>
          </p:cNvSpPr>
          <p:nvPr/>
        </p:nvSpPr>
        <p:spPr>
          <a:xfrm>
            <a:off x="10698480" y="6519672"/>
            <a:ext cx="749808" cy="21945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</a:pPr>
            <a:r>
              <a:rPr sz="880" b="1">
                <a:solidFill>
                  <a:srgbClr val="076B50"/>
                </a:solidFill>
                <a:latin typeface="Noto Sans CJK SC"/>
                <a:ea typeface="Noto Sans CJK SC"/>
                <a:cs typeface="Noto Sans CJK SC"/>
              </a:rPr>
              <a:t>25</a:t>
            </a:r>
            <a:endParaRPr sz="880" b="1">
              <a:solidFill>
                <a:srgbClr val="2F80ED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2" name="Shape 20"/>
          <p:cNvSpPr>
            <a:spLocks noGrp="1"/>
          </p:cNvSpPr>
          <p:nvPr/>
        </p:nvSpPr>
        <p:spPr>
          <a:xfrm>
            <a:off x="841248" y="1737360"/>
            <a:ext cx="2788920" cy="4242816"/>
          </a:xfrm>
          <a:prstGeom prst="roundRect">
            <a:avLst>
              <a:gd name="adj" fmla="val 5246"/>
            </a:avLst>
          </a:prstGeom>
          <a:solidFill>
            <a:srgbClr val="EAF3FF"/>
          </a:solidFill>
          <a:ln w="12700">
            <a:solidFill>
              <a:srgbClr val="2F80ED"/>
            </a:solidFill>
            <a:prstDash val="solid"/>
          </a:ln>
          <a:effectLst>
            <a:outerShdw blurRad="27940" dist="50800" dir="2700000" algn="bl" rotWithShape="0">
              <a:srgbClr val="436264">
                <a:alpha val="12000"/>
              </a:srgbClr>
            </a:outerShdw>
          </a:effectLst>
        </p:spPr>
        <p:txBody>
          <a:bodyPr/>
          <a:lstStyle/>
          <a:p/>
        </p:txBody>
      </p:sp>
      <p:sp>
        <p:nvSpPr>
          <p:cNvPr id="24" name="Shape 22"/>
          <p:cNvSpPr>
            <a:spLocks noGrp="1"/>
          </p:cNvSpPr>
          <p:nvPr/>
        </p:nvSpPr>
        <p:spPr>
          <a:xfrm>
            <a:off x="1911096" y="2011680"/>
            <a:ext cx="640080" cy="640080"/>
          </a:xfrm>
          <a:prstGeom prst="ellipse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  <p:txBody>
          <a:bodyPr/>
          <a:lstStyle/>
          <a:p/>
        </p:txBody>
      </p:sp>
      <p:pic>
        <p:nvPicPr>
          <p:cNvPr id="136" name="Image 0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096719" y="2197303"/>
            <a:ext cx="268834" cy="268834"/>
          </a:xfrm>
          <a:prstGeom prst="rect">
            <a:avLst/>
          </a:prstGeom>
        </p:spPr>
      </p:pic>
      <p:sp>
        <p:nvSpPr>
          <p:cNvPr id="26" name="Text 23"/>
          <p:cNvSpPr>
            <a:spLocks noGrp="1"/>
          </p:cNvSpPr>
          <p:nvPr/>
        </p:nvSpPr>
        <p:spPr>
          <a:xfrm>
            <a:off x="987552" y="2871216"/>
            <a:ext cx="2496312" cy="27432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sz="1420" b="1">
                <a:solidFill>
                  <a:srgbClr val="14383E"/>
                </a:solidFill>
                <a:latin typeface="Noto Sans CJK SC"/>
                <a:ea typeface="Noto Sans CJK SC"/>
                <a:cs typeface="Noto Sans CJK SC"/>
              </a:rPr>
              <a:t>统一接入</a:t>
            </a:r>
            <a:endParaRPr sz="1420"/>
          </a:p>
        </p:txBody>
      </p:sp>
      <p:sp>
        <p:nvSpPr>
          <p:cNvPr id="27" name="Text 24"/>
          <p:cNvSpPr>
            <a:spLocks noGrp="1"/>
          </p:cNvSpPr>
          <p:nvPr/>
        </p:nvSpPr>
        <p:spPr>
          <a:xfrm>
            <a:off x="1024128" y="3355848"/>
            <a:ext cx="658368" cy="20116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800" b="1">
                <a:solidFill>
                  <a:srgbClr val="1B5FC4"/>
                </a:solidFill>
                <a:latin typeface="Noto Sans CJK SC"/>
                <a:ea typeface="Noto Sans CJK SC"/>
                <a:cs typeface="Noto Sans CJK SC"/>
              </a:rPr>
              <a:t>网关</a:t>
            </a:r>
            <a:endParaRPr sz="800"/>
          </a:p>
        </p:txBody>
      </p:sp>
      <p:sp>
        <p:nvSpPr>
          <p:cNvPr id="28" name="Text 25"/>
          <p:cNvSpPr>
            <a:spLocks noGrp="1"/>
          </p:cNvSpPr>
          <p:nvPr/>
        </p:nvSpPr>
        <p:spPr>
          <a:xfrm>
            <a:off x="1700784" y="3355848"/>
            <a:ext cx="1700784" cy="329184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870" b="1">
                <a:solidFill>
                  <a:srgbClr val="14383E"/>
                </a:solidFill>
                <a:latin typeface="Noto Sans CJK SC"/>
                <a:ea typeface="Noto Sans CJK SC"/>
                <a:cs typeface="Noto Sans CJK SC"/>
              </a:rPr>
              <a:t>通用模型协议收口</a:t>
            </a:r>
            <a:endParaRPr sz="870"/>
          </a:p>
        </p:txBody>
      </p:sp>
      <p:sp>
        <p:nvSpPr>
          <p:cNvPr id="29" name="Shape 26"/>
          <p:cNvSpPr>
            <a:spLocks noGrp="1"/>
          </p:cNvSpPr>
          <p:nvPr/>
        </p:nvSpPr>
        <p:spPr>
          <a:xfrm>
            <a:off x="1024128" y="3776472"/>
            <a:ext cx="2377440" cy="0"/>
          </a:xfrm>
          <a:prstGeom prst="line">
            <a:avLst/>
          </a:prstGeom>
          <a:noFill/>
          <a:ln w="10160">
            <a:solidFill>
              <a:srgbClr val="D8E6E3"/>
            </a:solidFill>
            <a:prstDash val="solid"/>
          </a:ln>
        </p:spPr>
        <p:txBody>
          <a:bodyPr/>
          <a:lstStyle/>
          <a:p/>
        </p:txBody>
      </p:sp>
      <p:sp>
        <p:nvSpPr>
          <p:cNvPr id="30" name="Text 27"/>
          <p:cNvSpPr>
            <a:spLocks noGrp="1"/>
          </p:cNvSpPr>
          <p:nvPr/>
        </p:nvSpPr>
        <p:spPr>
          <a:xfrm>
            <a:off x="1024128" y="3959352"/>
            <a:ext cx="658368" cy="20116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800" b="1">
                <a:solidFill>
                  <a:srgbClr val="1B5FC4"/>
                </a:solidFill>
                <a:latin typeface="Noto Sans CJK SC"/>
                <a:ea typeface="Noto Sans CJK SC"/>
                <a:cs typeface="Noto Sans CJK SC"/>
              </a:rPr>
              <a:t>主力模型</a:t>
            </a:r>
            <a:endParaRPr sz="800"/>
          </a:p>
        </p:txBody>
      </p:sp>
      <p:sp>
        <p:nvSpPr>
          <p:cNvPr id="31" name="Text 28"/>
          <p:cNvSpPr>
            <a:spLocks noGrp="1"/>
          </p:cNvSpPr>
          <p:nvPr/>
        </p:nvSpPr>
        <p:spPr>
          <a:xfrm>
            <a:off x="1700784" y="3959352"/>
            <a:ext cx="1700784" cy="329184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870" b="1">
                <a:solidFill>
                  <a:srgbClr val="14383E"/>
                </a:solidFill>
                <a:latin typeface="Noto Sans CJK SC"/>
                <a:ea typeface="Noto Sans CJK SC"/>
                <a:cs typeface="Noto Sans CJK SC"/>
              </a:rPr>
              <a:t>主力通用模型</a:t>
            </a:r>
            <a:endParaRPr sz="870"/>
          </a:p>
        </p:txBody>
      </p:sp>
      <p:sp>
        <p:nvSpPr>
          <p:cNvPr id="32" name="Shape 29"/>
          <p:cNvSpPr>
            <a:spLocks noGrp="1"/>
          </p:cNvSpPr>
          <p:nvPr/>
        </p:nvSpPr>
        <p:spPr>
          <a:xfrm>
            <a:off x="1024128" y="4379976"/>
            <a:ext cx="2377440" cy="0"/>
          </a:xfrm>
          <a:prstGeom prst="line">
            <a:avLst/>
          </a:prstGeom>
          <a:noFill/>
          <a:ln w="10160">
            <a:solidFill>
              <a:srgbClr val="D8E6E3"/>
            </a:solidFill>
            <a:prstDash val="solid"/>
          </a:ln>
        </p:spPr>
        <p:txBody>
          <a:bodyPr/>
          <a:lstStyle/>
          <a:p/>
        </p:txBody>
      </p:sp>
      <p:sp>
        <p:nvSpPr>
          <p:cNvPr id="33" name="Text 30"/>
          <p:cNvSpPr>
            <a:spLocks noGrp="1"/>
          </p:cNvSpPr>
          <p:nvPr/>
        </p:nvSpPr>
        <p:spPr>
          <a:xfrm>
            <a:off x="1024128" y="4562856"/>
            <a:ext cx="658368" cy="20116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800" b="1">
                <a:solidFill>
                  <a:srgbClr val="1B5FC4"/>
                </a:solidFill>
                <a:latin typeface="Noto Sans CJK SC"/>
                <a:ea typeface="Noto Sans CJK SC"/>
                <a:cs typeface="Noto Sans CJK SC"/>
              </a:rPr>
              <a:t>输出方式</a:t>
            </a:r>
            <a:endParaRPr sz="800"/>
          </a:p>
        </p:txBody>
      </p:sp>
      <p:sp>
        <p:nvSpPr>
          <p:cNvPr id="34" name="Text 31"/>
          <p:cNvSpPr>
            <a:spLocks noGrp="1"/>
          </p:cNvSpPr>
          <p:nvPr/>
        </p:nvSpPr>
        <p:spPr>
          <a:xfrm>
            <a:off x="1700784" y="4562856"/>
            <a:ext cx="1700784" cy="329184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870" b="1">
                <a:solidFill>
                  <a:srgbClr val="14383E"/>
                </a:solidFill>
                <a:latin typeface="Noto Sans CJK SC"/>
                <a:ea typeface="Noto Sans CJK SC"/>
                <a:cs typeface="Noto Sans CJK SC"/>
              </a:rPr>
              <a:t>低温 + 类型化解析</a:t>
            </a:r>
            <a:endParaRPr sz="870"/>
          </a:p>
        </p:txBody>
      </p:sp>
      <p:sp>
        <p:nvSpPr>
          <p:cNvPr id="35" name="Shape 32"/>
          <p:cNvSpPr>
            <a:spLocks noGrp="1"/>
          </p:cNvSpPr>
          <p:nvPr/>
        </p:nvSpPr>
        <p:spPr>
          <a:xfrm>
            <a:off x="1024128" y="4983480"/>
            <a:ext cx="2377440" cy="0"/>
          </a:xfrm>
          <a:prstGeom prst="line">
            <a:avLst/>
          </a:prstGeom>
          <a:noFill/>
          <a:ln w="10160">
            <a:solidFill>
              <a:srgbClr val="D8E6E3"/>
            </a:solidFill>
            <a:prstDash val="solid"/>
          </a:ln>
        </p:spPr>
        <p:txBody>
          <a:bodyPr/>
          <a:lstStyle/>
          <a:p/>
        </p:txBody>
      </p:sp>
      <p:sp>
        <p:nvSpPr>
          <p:cNvPr id="36" name="Text 33"/>
          <p:cNvSpPr>
            <a:spLocks noGrp="1"/>
          </p:cNvSpPr>
          <p:nvPr/>
        </p:nvSpPr>
        <p:spPr>
          <a:xfrm>
            <a:off x="1024128" y="5166360"/>
            <a:ext cx="658368" cy="20116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800" b="1">
                <a:solidFill>
                  <a:srgbClr val="1B5FC4"/>
                </a:solidFill>
                <a:latin typeface="Noto Sans CJK SC"/>
                <a:ea typeface="Noto Sans CJK SC"/>
                <a:cs typeface="Noto Sans CJK SC"/>
              </a:rPr>
              <a:t>业务代码</a:t>
            </a:r>
            <a:endParaRPr sz="800"/>
          </a:p>
        </p:txBody>
      </p:sp>
      <p:sp>
        <p:nvSpPr>
          <p:cNvPr id="37" name="Text 34"/>
          <p:cNvSpPr>
            <a:spLocks noGrp="1"/>
          </p:cNvSpPr>
          <p:nvPr/>
        </p:nvSpPr>
        <p:spPr>
          <a:xfrm>
            <a:off x="1700784" y="5166360"/>
            <a:ext cx="1700784" cy="329184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870" b="1">
                <a:solidFill>
                  <a:srgbClr val="14383E"/>
                </a:solidFill>
                <a:latin typeface="Noto Sans CJK SC"/>
                <a:ea typeface="Noto Sans CJK SC"/>
                <a:cs typeface="Noto Sans CJK SC"/>
              </a:rPr>
              <a:t>不感知供应商差异</a:t>
            </a:r>
            <a:endParaRPr sz="870"/>
          </a:p>
        </p:txBody>
      </p:sp>
      <p:sp>
        <p:nvSpPr>
          <p:cNvPr id="38" name="Shape 35"/>
          <p:cNvSpPr>
            <a:spLocks noGrp="1"/>
          </p:cNvSpPr>
          <p:nvPr/>
        </p:nvSpPr>
        <p:spPr>
          <a:xfrm>
            <a:off x="3950208" y="1737360"/>
            <a:ext cx="2788920" cy="4242816"/>
          </a:xfrm>
          <a:prstGeom prst="roundRect">
            <a:avLst>
              <a:gd name="adj" fmla="val 5246"/>
            </a:avLst>
          </a:prstGeom>
          <a:solidFill>
            <a:srgbClr val="E8F7F1"/>
          </a:solidFill>
          <a:ln w="12700">
            <a:solidFill>
              <a:srgbClr val="0A8F6A"/>
            </a:solidFill>
            <a:prstDash val="solid"/>
          </a:ln>
          <a:effectLst>
            <a:outerShdw blurRad="27940" dist="50800" dir="2700000" algn="bl" rotWithShape="0">
              <a:srgbClr val="436264">
                <a:alpha val="12000"/>
              </a:srgbClr>
            </a:outerShdw>
          </a:effectLst>
        </p:spPr>
        <p:txBody>
          <a:bodyPr/>
          <a:lstStyle/>
          <a:p/>
        </p:txBody>
      </p:sp>
      <p:sp>
        <p:nvSpPr>
          <p:cNvPr id="40" name="Shape 37"/>
          <p:cNvSpPr>
            <a:spLocks noGrp="1"/>
          </p:cNvSpPr>
          <p:nvPr/>
        </p:nvSpPr>
        <p:spPr>
          <a:xfrm>
            <a:off x="5020056" y="2011680"/>
            <a:ext cx="640080" cy="640080"/>
          </a:xfrm>
          <a:prstGeom prst="ellipse">
            <a:avLst/>
          </a:prstGeom>
          <a:solidFill>
            <a:srgbClr val="0A8F6A"/>
          </a:solidFill>
          <a:ln w="12700">
            <a:solidFill>
              <a:srgbClr val="0A8F6A"/>
            </a:solidFill>
            <a:prstDash val="solid"/>
          </a:ln>
        </p:spPr>
        <p:txBody>
          <a:bodyPr/>
          <a:lstStyle/>
          <a:p/>
        </p:txBody>
      </p:sp>
      <p:pic>
        <p:nvPicPr>
          <p:cNvPr id="151" name="Image 1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05679" y="2197303"/>
            <a:ext cx="268834" cy="268834"/>
          </a:xfrm>
          <a:prstGeom prst="rect">
            <a:avLst/>
          </a:prstGeom>
        </p:spPr>
      </p:pic>
      <p:sp>
        <p:nvSpPr>
          <p:cNvPr id="42" name="Text 38"/>
          <p:cNvSpPr>
            <a:spLocks noGrp="1"/>
          </p:cNvSpPr>
          <p:nvPr/>
        </p:nvSpPr>
        <p:spPr>
          <a:xfrm>
            <a:off x="4096512" y="2871216"/>
            <a:ext cx="2496312" cy="27432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sz="1420" b="1">
                <a:solidFill>
                  <a:srgbClr val="14383E"/>
                </a:solidFill>
                <a:latin typeface="Noto Sans CJK SC"/>
                <a:ea typeface="Noto Sans CJK SC"/>
                <a:cs typeface="Noto Sans CJK SC"/>
              </a:rPr>
              <a:t>三级降级</a:t>
            </a:r>
            <a:endParaRPr sz="1420"/>
          </a:p>
        </p:txBody>
      </p:sp>
      <p:sp>
        <p:nvSpPr>
          <p:cNvPr id="43" name="Text 39"/>
          <p:cNvSpPr>
            <a:spLocks noGrp="1"/>
          </p:cNvSpPr>
          <p:nvPr/>
        </p:nvSpPr>
        <p:spPr>
          <a:xfrm>
            <a:off x="4133088" y="3355848"/>
            <a:ext cx="658368" cy="20116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800" b="1">
                <a:solidFill>
                  <a:srgbClr val="076B50"/>
                </a:solidFill>
                <a:latin typeface="Noto Sans CJK SC"/>
                <a:ea typeface="Noto Sans CJK SC"/>
                <a:cs typeface="Noto Sans CJK SC"/>
              </a:rPr>
              <a:t>一级</a:t>
            </a:r>
            <a:endParaRPr sz="800"/>
          </a:p>
        </p:txBody>
      </p:sp>
      <p:sp>
        <p:nvSpPr>
          <p:cNvPr id="44" name="Text 40"/>
          <p:cNvSpPr>
            <a:spLocks noGrp="1"/>
          </p:cNvSpPr>
          <p:nvPr/>
        </p:nvSpPr>
        <p:spPr>
          <a:xfrm>
            <a:off x="4809744" y="3355848"/>
            <a:ext cx="1700784" cy="329184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870" b="1">
                <a:solidFill>
                  <a:srgbClr val="14383E"/>
                </a:solidFill>
                <a:latin typeface="Noto Sans CJK SC"/>
                <a:ea typeface="Noto Sans CJK SC"/>
                <a:cs typeface="Noto Sans CJK SC"/>
              </a:rPr>
              <a:t>主通道</a:t>
            </a:r>
            <a:endParaRPr sz="870"/>
          </a:p>
        </p:txBody>
      </p:sp>
      <p:sp>
        <p:nvSpPr>
          <p:cNvPr id="45" name="Shape 41"/>
          <p:cNvSpPr>
            <a:spLocks noGrp="1"/>
          </p:cNvSpPr>
          <p:nvPr/>
        </p:nvSpPr>
        <p:spPr>
          <a:xfrm>
            <a:off x="4133088" y="3776472"/>
            <a:ext cx="2377440" cy="0"/>
          </a:xfrm>
          <a:prstGeom prst="line">
            <a:avLst/>
          </a:prstGeom>
          <a:noFill/>
          <a:ln w="10160">
            <a:solidFill>
              <a:srgbClr val="D8E6E3"/>
            </a:solidFill>
            <a:prstDash val="solid"/>
          </a:ln>
        </p:spPr>
        <p:txBody>
          <a:bodyPr/>
          <a:lstStyle/>
          <a:p/>
        </p:txBody>
      </p:sp>
      <p:sp>
        <p:nvSpPr>
          <p:cNvPr id="46" name="Text 42"/>
          <p:cNvSpPr>
            <a:spLocks noGrp="1"/>
          </p:cNvSpPr>
          <p:nvPr/>
        </p:nvSpPr>
        <p:spPr>
          <a:xfrm>
            <a:off x="4133088" y="3959352"/>
            <a:ext cx="658368" cy="20116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800" b="1">
                <a:solidFill>
                  <a:srgbClr val="076B50"/>
                </a:solidFill>
                <a:latin typeface="Noto Sans CJK SC"/>
                <a:ea typeface="Noto Sans CJK SC"/>
                <a:cs typeface="Noto Sans CJK SC"/>
              </a:rPr>
              <a:t>二级</a:t>
            </a:r>
            <a:endParaRPr sz="800"/>
          </a:p>
        </p:txBody>
      </p:sp>
      <p:sp>
        <p:nvSpPr>
          <p:cNvPr id="47" name="Text 43"/>
          <p:cNvSpPr>
            <a:spLocks noGrp="1"/>
          </p:cNvSpPr>
          <p:nvPr/>
        </p:nvSpPr>
        <p:spPr>
          <a:xfrm>
            <a:off x="4809744" y="3959352"/>
            <a:ext cx="1700784" cy="329184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870" b="1">
                <a:solidFill>
                  <a:srgbClr val="14383E"/>
                </a:solidFill>
                <a:latin typeface="Noto Sans CJK SC"/>
                <a:ea typeface="Noto Sans CJK SC"/>
                <a:cs typeface="Noto Sans CJK SC"/>
              </a:rPr>
              <a:t>备用通道一</a:t>
            </a:r>
            <a:endParaRPr sz="870"/>
          </a:p>
        </p:txBody>
      </p:sp>
      <p:sp>
        <p:nvSpPr>
          <p:cNvPr id="48" name="Shape 44"/>
          <p:cNvSpPr>
            <a:spLocks noGrp="1"/>
          </p:cNvSpPr>
          <p:nvPr/>
        </p:nvSpPr>
        <p:spPr>
          <a:xfrm>
            <a:off x="4133088" y="4379976"/>
            <a:ext cx="2377440" cy="0"/>
          </a:xfrm>
          <a:prstGeom prst="line">
            <a:avLst/>
          </a:prstGeom>
          <a:noFill/>
          <a:ln w="10160">
            <a:solidFill>
              <a:srgbClr val="D8E6E3"/>
            </a:solidFill>
            <a:prstDash val="solid"/>
          </a:ln>
        </p:spPr>
        <p:txBody>
          <a:bodyPr/>
          <a:lstStyle/>
          <a:p/>
        </p:txBody>
      </p:sp>
      <p:sp>
        <p:nvSpPr>
          <p:cNvPr id="49" name="Text 45"/>
          <p:cNvSpPr>
            <a:spLocks noGrp="1"/>
          </p:cNvSpPr>
          <p:nvPr/>
        </p:nvSpPr>
        <p:spPr>
          <a:xfrm>
            <a:off x="4133088" y="4562856"/>
            <a:ext cx="658368" cy="20116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800" b="1">
                <a:solidFill>
                  <a:srgbClr val="076B50"/>
                </a:solidFill>
                <a:latin typeface="Noto Sans CJK SC"/>
                <a:ea typeface="Noto Sans CJK SC"/>
                <a:cs typeface="Noto Sans CJK SC"/>
              </a:rPr>
              <a:t>三级</a:t>
            </a:r>
            <a:endParaRPr sz="800"/>
          </a:p>
        </p:txBody>
      </p:sp>
      <p:sp>
        <p:nvSpPr>
          <p:cNvPr id="50" name="Text 46"/>
          <p:cNvSpPr>
            <a:spLocks noGrp="1"/>
          </p:cNvSpPr>
          <p:nvPr/>
        </p:nvSpPr>
        <p:spPr>
          <a:xfrm>
            <a:off x="4809744" y="4562856"/>
            <a:ext cx="1700784" cy="329184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870" b="1">
                <a:solidFill>
                  <a:srgbClr val="14383E"/>
                </a:solidFill>
                <a:latin typeface="Noto Sans CJK SC"/>
                <a:ea typeface="Noto Sans CJK SC"/>
                <a:cs typeface="Noto Sans CJK SC"/>
              </a:rPr>
              <a:t>备用通道二</a:t>
            </a:r>
            <a:endParaRPr sz="870"/>
          </a:p>
        </p:txBody>
      </p:sp>
      <p:sp>
        <p:nvSpPr>
          <p:cNvPr id="51" name="Shape 47"/>
          <p:cNvSpPr>
            <a:spLocks noGrp="1"/>
          </p:cNvSpPr>
          <p:nvPr/>
        </p:nvSpPr>
        <p:spPr>
          <a:xfrm>
            <a:off x="4133088" y="4983480"/>
            <a:ext cx="2377440" cy="0"/>
          </a:xfrm>
          <a:prstGeom prst="line">
            <a:avLst/>
          </a:prstGeom>
          <a:noFill/>
          <a:ln w="10160">
            <a:solidFill>
              <a:srgbClr val="D8E6E3"/>
            </a:solidFill>
            <a:prstDash val="solid"/>
          </a:ln>
        </p:spPr>
        <p:txBody>
          <a:bodyPr/>
          <a:lstStyle/>
          <a:p/>
        </p:txBody>
      </p:sp>
      <p:sp>
        <p:nvSpPr>
          <p:cNvPr id="52" name="Text 48"/>
          <p:cNvSpPr>
            <a:spLocks noGrp="1"/>
          </p:cNvSpPr>
          <p:nvPr/>
        </p:nvSpPr>
        <p:spPr>
          <a:xfrm>
            <a:off x="4133088" y="5166360"/>
            <a:ext cx="658368" cy="20116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800" b="1">
                <a:solidFill>
                  <a:srgbClr val="076B50"/>
                </a:solidFill>
                <a:latin typeface="Noto Sans CJK SC"/>
                <a:ea typeface="Noto Sans CJK SC"/>
                <a:cs typeface="Noto Sans CJK SC"/>
              </a:rPr>
              <a:t>审计记录</a:t>
            </a:r>
            <a:endParaRPr sz="800"/>
          </a:p>
        </p:txBody>
      </p:sp>
      <p:sp>
        <p:nvSpPr>
          <p:cNvPr id="53" name="Text 49"/>
          <p:cNvSpPr>
            <a:spLocks noGrp="1"/>
          </p:cNvSpPr>
          <p:nvPr/>
        </p:nvSpPr>
        <p:spPr>
          <a:xfrm>
            <a:off x="4809744" y="5166360"/>
            <a:ext cx="1700784" cy="329184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870" b="1">
                <a:solidFill>
                  <a:srgbClr val="14383E"/>
                </a:solidFill>
                <a:latin typeface="Noto Sans CJK SC"/>
                <a:ea typeface="Noto Sans CJK SC"/>
                <a:cs typeface="Noto Sans CJK SC"/>
              </a:rPr>
              <a:t>降级原因写入审计记录</a:t>
            </a:r>
            <a:endParaRPr sz="870"/>
          </a:p>
        </p:txBody>
      </p:sp>
      <p:sp>
        <p:nvSpPr>
          <p:cNvPr id="54" name="Shape 50"/>
          <p:cNvSpPr>
            <a:spLocks noGrp="1"/>
          </p:cNvSpPr>
          <p:nvPr/>
        </p:nvSpPr>
        <p:spPr>
          <a:xfrm>
            <a:off x="7059168" y="1737360"/>
            <a:ext cx="2788920" cy="4242816"/>
          </a:xfrm>
          <a:prstGeom prst="roundRect">
            <a:avLst>
              <a:gd name="adj" fmla="val 5246"/>
            </a:avLst>
          </a:prstGeom>
          <a:solidFill>
            <a:srgbClr val="FFF2E8"/>
          </a:solidFill>
          <a:ln w="12700">
            <a:solidFill>
              <a:srgbClr val="F28B36"/>
            </a:solidFill>
            <a:prstDash val="solid"/>
          </a:ln>
          <a:effectLst>
            <a:outerShdw blurRad="27940" dist="50800" dir="2700000" algn="bl" rotWithShape="0">
              <a:srgbClr val="436264">
                <a:alpha val="12000"/>
              </a:srgbClr>
            </a:outerShdw>
          </a:effectLst>
        </p:spPr>
        <p:txBody>
          <a:bodyPr/>
          <a:lstStyle/>
          <a:p/>
        </p:txBody>
      </p:sp>
      <p:sp>
        <p:nvSpPr>
          <p:cNvPr id="56" name="Shape 52"/>
          <p:cNvSpPr>
            <a:spLocks noGrp="1"/>
          </p:cNvSpPr>
          <p:nvPr/>
        </p:nvSpPr>
        <p:spPr>
          <a:xfrm>
            <a:off x="8129016" y="2011680"/>
            <a:ext cx="640080" cy="640080"/>
          </a:xfrm>
          <a:prstGeom prst="ellipse">
            <a:avLst/>
          </a:prstGeom>
          <a:solidFill>
            <a:srgbClr val="F28B36"/>
          </a:solidFill>
          <a:ln w="12700">
            <a:solidFill>
              <a:srgbClr val="F28B36"/>
            </a:solidFill>
            <a:prstDash val="solid"/>
          </a:ln>
        </p:spPr>
        <p:txBody>
          <a:bodyPr/>
          <a:lstStyle/>
          <a:p/>
        </p:txBody>
      </p:sp>
      <p:pic>
        <p:nvPicPr>
          <p:cNvPr id="166" name="Image 2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314639" y="2197303"/>
            <a:ext cx="268834" cy="268834"/>
          </a:xfrm>
          <a:prstGeom prst="rect">
            <a:avLst/>
          </a:prstGeom>
        </p:spPr>
      </p:pic>
      <p:sp>
        <p:nvSpPr>
          <p:cNvPr id="58" name="Text 53"/>
          <p:cNvSpPr>
            <a:spLocks noGrp="1"/>
          </p:cNvSpPr>
          <p:nvPr/>
        </p:nvSpPr>
        <p:spPr>
          <a:xfrm>
            <a:off x="7205472" y="2871216"/>
            <a:ext cx="2496312" cy="27432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sz="1420" b="1">
                <a:solidFill>
                  <a:srgbClr val="14383E"/>
                </a:solidFill>
                <a:latin typeface="Noto Sans CJK SC"/>
                <a:ea typeface="Noto Sans CJK SC"/>
                <a:cs typeface="Noto Sans CJK SC"/>
              </a:rPr>
              <a:t>当前边界</a:t>
            </a:r>
            <a:endParaRPr sz="1420"/>
          </a:p>
        </p:txBody>
      </p:sp>
      <p:sp>
        <p:nvSpPr>
          <p:cNvPr id="59" name="Text 54"/>
          <p:cNvSpPr>
            <a:spLocks noGrp="1"/>
          </p:cNvSpPr>
          <p:nvPr/>
        </p:nvSpPr>
        <p:spPr>
          <a:xfrm>
            <a:off x="7242048" y="3355848"/>
            <a:ext cx="658368" cy="20116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800" b="1">
                <a:solidFill>
                  <a:srgbClr val="9A5210"/>
                </a:solidFill>
                <a:latin typeface="Noto Sans CJK SC"/>
                <a:ea typeface="Noto Sans CJK SC"/>
                <a:cs typeface="Noto Sans CJK SC"/>
              </a:rPr>
              <a:t>现状</a:t>
            </a:r>
            <a:endParaRPr sz="800"/>
          </a:p>
        </p:txBody>
      </p:sp>
      <p:sp>
        <p:nvSpPr>
          <p:cNvPr id="60" name="Text 55"/>
          <p:cNvSpPr>
            <a:spLocks noGrp="1"/>
          </p:cNvSpPr>
          <p:nvPr/>
        </p:nvSpPr>
        <p:spPr>
          <a:xfrm>
            <a:off x="7918704" y="3355848"/>
            <a:ext cx="1700784" cy="329184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870" b="1">
                <a:solidFill>
                  <a:srgbClr val="14383E"/>
                </a:solidFill>
                <a:latin typeface="Noto Sans CJK SC"/>
                <a:ea typeface="Noto Sans CJK SC"/>
                <a:cs typeface="Noto Sans CJK SC"/>
              </a:rPr>
              <a:t>没有自训模型、没有微调</a:t>
            </a:r>
            <a:endParaRPr sz="870"/>
          </a:p>
        </p:txBody>
      </p:sp>
      <p:sp>
        <p:nvSpPr>
          <p:cNvPr id="61" name="Shape 56"/>
          <p:cNvSpPr>
            <a:spLocks noGrp="1"/>
          </p:cNvSpPr>
          <p:nvPr/>
        </p:nvSpPr>
        <p:spPr>
          <a:xfrm>
            <a:off x="7242048" y="3776472"/>
            <a:ext cx="2377440" cy="0"/>
          </a:xfrm>
          <a:prstGeom prst="line">
            <a:avLst/>
          </a:prstGeom>
          <a:noFill/>
          <a:ln w="10160">
            <a:solidFill>
              <a:srgbClr val="D8E6E3"/>
            </a:solidFill>
            <a:prstDash val="solid"/>
          </a:ln>
        </p:spPr>
        <p:txBody>
          <a:bodyPr/>
          <a:lstStyle/>
          <a:p/>
        </p:txBody>
      </p:sp>
      <p:sp>
        <p:nvSpPr>
          <p:cNvPr id="62" name="Text 57"/>
          <p:cNvSpPr>
            <a:spLocks noGrp="1"/>
          </p:cNvSpPr>
          <p:nvPr/>
        </p:nvSpPr>
        <p:spPr>
          <a:xfrm>
            <a:off x="7242048" y="3959352"/>
            <a:ext cx="658368" cy="20116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800" b="1">
                <a:solidFill>
                  <a:srgbClr val="9A5210"/>
                </a:solidFill>
                <a:latin typeface="Noto Sans CJK SC"/>
                <a:ea typeface="Noto Sans CJK SC"/>
                <a:cs typeface="Noto Sans CJK SC"/>
              </a:rPr>
              <a:t>现状依据</a:t>
            </a:r>
            <a:endParaRPr sz="800"/>
          </a:p>
        </p:txBody>
      </p:sp>
      <p:sp>
        <p:nvSpPr>
          <p:cNvPr id="63" name="Text 58"/>
          <p:cNvSpPr>
            <a:spLocks noGrp="1"/>
          </p:cNvSpPr>
          <p:nvPr/>
        </p:nvSpPr>
        <p:spPr>
          <a:xfrm>
            <a:off x="7918704" y="3959352"/>
            <a:ext cx="1700784" cy="329184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870" b="1">
                <a:solidFill>
                  <a:srgbClr val="14383E"/>
                </a:solidFill>
                <a:latin typeface="Noto Sans CJK SC"/>
                <a:ea typeface="Noto Sans CJK SC"/>
                <a:cs typeface="Noto Sans CJK SC"/>
              </a:rPr>
              <a:t>prompt + 检索 + 契约已覆盖需求</a:t>
            </a:r>
            <a:endParaRPr sz="870"/>
          </a:p>
        </p:txBody>
      </p:sp>
      <p:sp>
        <p:nvSpPr>
          <p:cNvPr id="64" name="Shape 59"/>
          <p:cNvSpPr>
            <a:spLocks noGrp="1"/>
          </p:cNvSpPr>
          <p:nvPr/>
        </p:nvSpPr>
        <p:spPr>
          <a:xfrm>
            <a:off x="7242048" y="4379976"/>
            <a:ext cx="2377440" cy="0"/>
          </a:xfrm>
          <a:prstGeom prst="line">
            <a:avLst/>
          </a:prstGeom>
          <a:noFill/>
          <a:ln w="10160">
            <a:solidFill>
              <a:srgbClr val="D8E6E3"/>
            </a:solidFill>
            <a:prstDash val="solid"/>
          </a:ln>
        </p:spPr>
        <p:txBody>
          <a:bodyPr/>
          <a:lstStyle/>
          <a:p/>
        </p:txBody>
      </p:sp>
      <p:sp>
        <p:nvSpPr>
          <p:cNvPr id="65" name="Text 60"/>
          <p:cNvSpPr>
            <a:spLocks noGrp="1"/>
          </p:cNvSpPr>
          <p:nvPr/>
        </p:nvSpPr>
        <p:spPr>
          <a:xfrm>
            <a:off x="7242048" y="4562856"/>
            <a:ext cx="658368" cy="20116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800" b="1">
                <a:solidFill>
                  <a:srgbClr val="9A5210"/>
                </a:solidFill>
                <a:latin typeface="Noto Sans CJK SC"/>
                <a:ea typeface="Noto Sans CJK SC"/>
                <a:cs typeface="Noto Sans CJK SC"/>
              </a:rPr>
              <a:t>何时升级</a:t>
            </a:r>
            <a:endParaRPr sz="800"/>
          </a:p>
        </p:txBody>
      </p:sp>
      <p:sp>
        <p:nvSpPr>
          <p:cNvPr id="66" name="Text 61"/>
          <p:cNvSpPr>
            <a:spLocks noGrp="1"/>
          </p:cNvSpPr>
          <p:nvPr/>
        </p:nvSpPr>
        <p:spPr>
          <a:xfrm>
            <a:off x="7918704" y="4562856"/>
            <a:ext cx="1700784" cy="329184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870" b="1">
                <a:solidFill>
                  <a:srgbClr val="14383E"/>
                </a:solidFill>
                <a:latin typeface="Noto Sans CJK SC"/>
                <a:ea typeface="Noto Sans CJK SC"/>
                <a:cs typeface="Noto Sans CJK SC"/>
              </a:rPr>
              <a:t>成本曲线与解析失败率</a:t>
            </a:r>
            <a:endParaRPr sz="870"/>
          </a:p>
        </p:txBody>
      </p:sp>
      <p:sp>
        <p:nvSpPr>
          <p:cNvPr id="67" name="Shape 62"/>
          <p:cNvSpPr>
            <a:spLocks noGrp="1"/>
          </p:cNvSpPr>
          <p:nvPr/>
        </p:nvSpPr>
        <p:spPr>
          <a:xfrm>
            <a:off x="7242048" y="4983480"/>
            <a:ext cx="2377440" cy="0"/>
          </a:xfrm>
          <a:prstGeom prst="line">
            <a:avLst/>
          </a:prstGeom>
          <a:noFill/>
          <a:ln w="10160">
            <a:solidFill>
              <a:srgbClr val="D8E6E3"/>
            </a:solidFill>
            <a:prstDash val="solid"/>
          </a:ln>
        </p:spPr>
        <p:txBody>
          <a:bodyPr/>
          <a:lstStyle/>
          <a:p/>
        </p:txBody>
      </p:sp>
      <p:sp>
        <p:nvSpPr>
          <p:cNvPr id="68" name="Text 63"/>
          <p:cNvSpPr>
            <a:spLocks noGrp="1"/>
          </p:cNvSpPr>
          <p:nvPr/>
        </p:nvSpPr>
        <p:spPr>
          <a:xfrm>
            <a:off x="7242048" y="5166360"/>
            <a:ext cx="658368" cy="20116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800" b="1">
                <a:solidFill>
                  <a:srgbClr val="9A5210"/>
                </a:solidFill>
                <a:latin typeface="Noto Sans CJK SC"/>
                <a:ea typeface="Noto Sans CJK SC"/>
                <a:cs typeface="Noto Sans CJK SC"/>
              </a:rPr>
              <a:t>前提</a:t>
            </a:r>
            <a:endParaRPr sz="800"/>
          </a:p>
        </p:txBody>
      </p:sp>
      <p:sp>
        <p:nvSpPr>
          <p:cNvPr id="69" name="Text 64"/>
          <p:cNvSpPr>
            <a:spLocks noGrp="1"/>
          </p:cNvSpPr>
          <p:nvPr/>
        </p:nvSpPr>
        <p:spPr>
          <a:xfrm>
            <a:off x="7918704" y="5166360"/>
            <a:ext cx="1700784" cy="329184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870" b="1">
                <a:solidFill>
                  <a:srgbClr val="14383E"/>
                </a:solidFill>
                <a:latin typeface="Noto Sans CJK SC"/>
                <a:ea typeface="Noto Sans CJK SC"/>
                <a:cs typeface="Noto Sans CJK SC"/>
              </a:rPr>
              <a:t>评测集就位后再评估模型分层</a:t>
            </a:r>
            <a:endParaRPr sz="870"/>
          </a:p>
        </p:txBody>
      </p:sp>
      <p:sp>
        <p:nvSpPr>
          <p:cNvPr id="70" name="Shape 65"/>
          <p:cNvSpPr>
            <a:spLocks noGrp="1"/>
          </p:cNvSpPr>
          <p:nvPr/>
        </p:nvSpPr>
        <p:spPr>
          <a:xfrm>
            <a:off x="10168128" y="1737360"/>
            <a:ext cx="1225296" cy="4242816"/>
          </a:xfrm>
          <a:prstGeom prst="roundRect">
            <a:avLst>
              <a:gd name="adj" fmla="val 11940"/>
            </a:avLst>
          </a:prstGeom>
          <a:solidFill>
            <a:srgbClr val="FFFFFF"/>
          </a:solidFill>
          <a:ln w="12700">
            <a:solidFill>
              <a:srgbClr val="6B6FD8"/>
            </a:solidFill>
            <a:prstDash val="solid"/>
          </a:ln>
          <a:effectLst>
            <a:outerShdw blurRad="27940" dist="50800" dir="2700000" algn="bl" rotWithShape="0">
              <a:srgbClr val="436264">
                <a:alpha val="12000"/>
              </a:srgbClr>
            </a:outerShdw>
          </a:effectLst>
        </p:spPr>
        <p:txBody>
          <a:bodyPr/>
          <a:lstStyle/>
          <a:p/>
        </p:txBody>
      </p:sp>
      <p:sp>
        <p:nvSpPr>
          <p:cNvPr id="71" name="Text 66"/>
          <p:cNvSpPr>
            <a:spLocks noGrp="1"/>
          </p:cNvSpPr>
          <p:nvPr/>
        </p:nvSpPr>
        <p:spPr>
          <a:xfrm>
            <a:off x="10433304" y="1993392"/>
            <a:ext cx="694944" cy="27432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sz="1020" b="1">
                <a:solidFill>
                  <a:srgbClr val="4A4EB0"/>
                </a:solidFill>
                <a:latin typeface="Noto Sans CJK SC"/>
                <a:ea typeface="Noto Sans CJK SC"/>
                <a:cs typeface="Noto Sans CJK SC"/>
              </a:rPr>
              <a:t>要点</a:t>
            </a:r>
            <a:endParaRPr sz="1020"/>
          </a:p>
        </p:txBody>
      </p:sp>
      <p:sp>
        <p:nvSpPr>
          <p:cNvPr id="72" name="Shape 67"/>
          <p:cNvSpPr>
            <a:spLocks noGrp="1"/>
          </p:cNvSpPr>
          <p:nvPr/>
        </p:nvSpPr>
        <p:spPr>
          <a:xfrm>
            <a:off x="10488168" y="2523744"/>
            <a:ext cx="329184" cy="329184"/>
          </a:xfrm>
          <a:prstGeom prst="ellipse">
            <a:avLst/>
          </a:prstGeom>
          <a:solidFill>
            <a:srgbClr val="6B6FD8"/>
          </a:solidFill>
          <a:ln w="12700">
            <a:solidFill>
              <a:srgbClr val="6B6FD8"/>
            </a:solidFill>
            <a:prstDash val="solid"/>
          </a:ln>
        </p:spPr>
        <p:txBody>
          <a:bodyPr/>
          <a:lstStyle/>
          <a:p/>
        </p:txBody>
      </p:sp>
      <p:pic>
        <p:nvPicPr>
          <p:cNvPr id="182" name="Image 3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583631" y="2619207"/>
            <a:ext cx="138257" cy="138257"/>
          </a:xfrm>
          <a:prstGeom prst="rect">
            <a:avLst/>
          </a:prstGeom>
        </p:spPr>
      </p:pic>
      <p:sp>
        <p:nvSpPr>
          <p:cNvPr id="74" name="Text 68"/>
          <p:cNvSpPr>
            <a:spLocks noGrp="1"/>
          </p:cNvSpPr>
          <p:nvPr/>
        </p:nvSpPr>
        <p:spPr>
          <a:xfrm>
            <a:off x="10296144" y="2898648"/>
            <a:ext cx="969264" cy="21945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sz="810" b="1">
                <a:solidFill>
                  <a:srgbClr val="14383E"/>
                </a:solidFill>
                <a:latin typeface="Noto Sans CJK SC"/>
                <a:ea typeface="Noto Sans CJK SC"/>
                <a:cs typeface="Noto Sans CJK SC"/>
              </a:rPr>
              <a:t>模型可配置</a:t>
            </a:r>
            <a:endParaRPr sz="810"/>
          </a:p>
        </p:txBody>
      </p:sp>
      <p:sp>
        <p:nvSpPr>
          <p:cNvPr id="75" name="Shape 69"/>
          <p:cNvSpPr>
            <a:spLocks noGrp="1"/>
          </p:cNvSpPr>
          <p:nvPr/>
        </p:nvSpPr>
        <p:spPr>
          <a:xfrm>
            <a:off x="10488168" y="3182112"/>
            <a:ext cx="329184" cy="329184"/>
          </a:xfrm>
          <a:prstGeom prst="ellipse">
            <a:avLst/>
          </a:prstGeom>
          <a:solidFill>
            <a:srgbClr val="6B6FD8"/>
          </a:solidFill>
          <a:ln w="12700">
            <a:solidFill>
              <a:srgbClr val="6B6FD8"/>
            </a:solidFill>
            <a:prstDash val="solid"/>
          </a:ln>
        </p:spPr>
        <p:txBody>
          <a:bodyPr/>
          <a:lstStyle/>
          <a:p/>
        </p:txBody>
      </p:sp>
      <p:pic>
        <p:nvPicPr>
          <p:cNvPr id="185" name="Image 4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583631" y="3277575"/>
            <a:ext cx="138257" cy="138257"/>
          </a:xfrm>
          <a:prstGeom prst="rect">
            <a:avLst/>
          </a:prstGeom>
        </p:spPr>
      </p:pic>
      <p:sp>
        <p:nvSpPr>
          <p:cNvPr id="77" name="Text 70"/>
          <p:cNvSpPr>
            <a:spLocks noGrp="1"/>
          </p:cNvSpPr>
          <p:nvPr/>
        </p:nvSpPr>
        <p:spPr>
          <a:xfrm>
            <a:off x="10296144" y="3557016"/>
            <a:ext cx="969264" cy="21945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sz="810" b="1">
                <a:solidFill>
                  <a:srgbClr val="14383E"/>
                </a:solidFill>
                <a:latin typeface="Noto Sans CJK SC"/>
                <a:ea typeface="Noto Sans CJK SC"/>
                <a:cs typeface="Noto Sans CJK SC"/>
              </a:rPr>
              <a:t>协议统一</a:t>
            </a:r>
            <a:endParaRPr sz="810"/>
          </a:p>
        </p:txBody>
      </p:sp>
      <p:sp>
        <p:nvSpPr>
          <p:cNvPr id="78" name="Shape 71"/>
          <p:cNvSpPr>
            <a:spLocks noGrp="1"/>
          </p:cNvSpPr>
          <p:nvPr/>
        </p:nvSpPr>
        <p:spPr>
          <a:xfrm>
            <a:off x="10488168" y="3840480"/>
            <a:ext cx="329184" cy="329184"/>
          </a:xfrm>
          <a:prstGeom prst="ellipse">
            <a:avLst/>
          </a:prstGeom>
          <a:solidFill>
            <a:srgbClr val="6B6FD8"/>
          </a:solidFill>
          <a:ln w="12700">
            <a:solidFill>
              <a:srgbClr val="6B6FD8"/>
            </a:solidFill>
            <a:prstDash val="solid"/>
          </a:ln>
        </p:spPr>
        <p:txBody>
          <a:bodyPr/>
          <a:lstStyle/>
          <a:p/>
        </p:txBody>
      </p:sp>
      <p:pic>
        <p:nvPicPr>
          <p:cNvPr id="188" name="Image 5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583631" y="3935943"/>
            <a:ext cx="138257" cy="138257"/>
          </a:xfrm>
          <a:prstGeom prst="rect">
            <a:avLst/>
          </a:prstGeom>
        </p:spPr>
      </p:pic>
      <p:sp>
        <p:nvSpPr>
          <p:cNvPr id="80" name="Text 72"/>
          <p:cNvSpPr>
            <a:spLocks noGrp="1"/>
          </p:cNvSpPr>
          <p:nvPr/>
        </p:nvSpPr>
        <p:spPr>
          <a:xfrm>
            <a:off x="10296144" y="4215384"/>
            <a:ext cx="969264" cy="21945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sz="810" b="1">
                <a:solidFill>
                  <a:srgbClr val="14383E"/>
                </a:solidFill>
                <a:latin typeface="Noto Sans CJK SC"/>
                <a:ea typeface="Noto Sans CJK SC"/>
                <a:cs typeface="Noto Sans CJK SC"/>
              </a:rPr>
              <a:t>降级可审计</a:t>
            </a:r>
            <a:endParaRPr sz="810"/>
          </a:p>
        </p:txBody>
      </p:sp>
      <p:sp>
        <p:nvSpPr>
          <p:cNvPr id="81" name="Shape 73"/>
          <p:cNvSpPr>
            <a:spLocks noGrp="1"/>
          </p:cNvSpPr>
          <p:nvPr/>
        </p:nvSpPr>
        <p:spPr>
          <a:xfrm>
            <a:off x="10488168" y="4498848"/>
            <a:ext cx="329184" cy="329184"/>
          </a:xfrm>
          <a:prstGeom prst="ellipse">
            <a:avLst/>
          </a:prstGeom>
          <a:solidFill>
            <a:srgbClr val="6B6FD8"/>
          </a:solidFill>
          <a:ln w="12700">
            <a:solidFill>
              <a:srgbClr val="6B6FD8"/>
            </a:solidFill>
            <a:prstDash val="solid"/>
          </a:ln>
        </p:spPr>
        <p:txBody>
          <a:bodyPr/>
          <a:lstStyle/>
          <a:p/>
        </p:txBody>
      </p:sp>
      <p:pic>
        <p:nvPicPr>
          <p:cNvPr id="191" name="Image 6"/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0583631" y="4594311"/>
            <a:ext cx="138257" cy="138257"/>
          </a:xfrm>
          <a:prstGeom prst="rect">
            <a:avLst/>
          </a:prstGeom>
        </p:spPr>
      </p:pic>
      <p:sp>
        <p:nvSpPr>
          <p:cNvPr id="83" name="Text 74"/>
          <p:cNvSpPr>
            <a:spLocks noGrp="1"/>
          </p:cNvSpPr>
          <p:nvPr/>
        </p:nvSpPr>
        <p:spPr>
          <a:xfrm>
            <a:off x="10296144" y="4873752"/>
            <a:ext cx="969264" cy="21945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sz="810" b="1">
                <a:solidFill>
                  <a:srgbClr val="14383E"/>
                </a:solidFill>
                <a:latin typeface="Noto Sans CJK SC"/>
                <a:ea typeface="Noto Sans CJK SC"/>
                <a:cs typeface="Noto Sans CJK SC"/>
              </a:rPr>
              <a:t>切换不改代码</a:t>
            </a:r>
            <a:endParaRPr sz="810"/>
          </a:p>
        </p:txBody>
      </p:sp>
      <p:sp>
        <p:nvSpPr>
          <p:cNvPr id="84" name="Shape 75"/>
          <p:cNvSpPr>
            <a:spLocks noGrp="1"/>
          </p:cNvSpPr>
          <p:nvPr/>
        </p:nvSpPr>
        <p:spPr>
          <a:xfrm>
            <a:off x="2962656" y="6126480"/>
            <a:ext cx="6217920" cy="292608"/>
          </a:xfrm>
          <a:prstGeom prst="roundRect">
            <a:avLst>
              <a:gd name="adj" fmla="val 31250"/>
            </a:avLst>
          </a:prstGeom>
          <a:solidFill>
            <a:srgbClr val="EEF0FF"/>
          </a:solidFill>
          <a:ln w="12700">
            <a:solidFill>
              <a:srgbClr val="6B6FD8"/>
            </a:solidFill>
            <a:prstDash val="solid"/>
          </a:ln>
        </p:spPr>
        <p:txBody>
          <a:bodyPr/>
          <a:lstStyle/>
          <a:p/>
        </p:txBody>
      </p:sp>
      <p:sp>
        <p:nvSpPr>
          <p:cNvPr id="85" name="Text 76"/>
          <p:cNvSpPr>
            <a:spLocks noGrp="1"/>
          </p:cNvSpPr>
          <p:nvPr/>
        </p:nvSpPr>
        <p:spPr>
          <a:xfrm>
            <a:off x="2962656" y="6126480"/>
            <a:ext cx="6217920" cy="29260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sz="870" b="1">
                <a:solidFill>
                  <a:srgbClr val="4A4EB0"/>
                </a:solidFill>
                <a:latin typeface="Noto Sans CJK SC"/>
                <a:ea typeface="Noto Sans CJK SC"/>
                <a:cs typeface="Noto Sans CJK SC"/>
              </a:rPr>
              <a:t>模型选择通过配置管理；更换模型不需要修改业务代码。</a:t>
            </a:r>
            <a:endParaRPr sz="870"/>
          </a:p>
        </p:txBody>
      </p:sp>
      <p:sp>
        <p:nvSpPr>
          <p:cNvPr id="86" name="Rectangle 85"/>
          <p:cNvSpPr>
            <a:spLocks noGrp="1"/>
          </p:cNvSpPr>
          <p:nvPr/>
        </p:nvSpPr>
        <p:spPr>
          <a:xfrm>
            <a:off x="0" y="0"/>
            <a:ext cx="41148" cy="6858000"/>
          </a:xfrm>
          <a:prstGeom prst="rect">
            <a:avLst/>
          </a:prstGeom>
          <a:solidFill>
            <a:srgbClr val="0A8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05" name="圆角矩形 104"/>
          <p:cNvSpPr>
            <a:spLocks noGrp="1"/>
          </p:cNvSpPr>
          <p:nvPr/>
        </p:nvSpPr>
        <p:spPr>
          <a:xfrm>
            <a:off x="6565583" y="127635"/>
            <a:ext cx="4937760" cy="365760"/>
          </a:xfrm>
          <a:prstGeom prst="roundRect">
            <a:avLst>
              <a:gd name="adj" fmla="val 20833"/>
            </a:avLst>
          </a:prstGeom>
          <a:solidFill>
            <a:srgbClr val="F7FBF9"/>
          </a:solidFill>
          <a:ln w="12668">
            <a:solidFill>
              <a:srgbClr val="F7FBF9"/>
            </a:solidFill>
            <a:prstDash val="solid"/>
          </a:ln>
        </p:spPr>
        <p:txBody>
          <a:bodyPr/>
          <a:p/>
        </p:txBody>
      </p:sp>
      <p:sp>
        <p:nvSpPr>
          <p:cNvPr id="106" name="圆角矩形 105"/>
          <p:cNvSpPr>
            <a:spLocks noGrp="1"/>
          </p:cNvSpPr>
          <p:nvPr/>
        </p:nvSpPr>
        <p:spPr>
          <a:xfrm>
            <a:off x="6657023" y="164783"/>
            <a:ext cx="1154430" cy="264795"/>
          </a:xfrm>
          <a:prstGeom prst="roundRect">
            <a:avLst>
              <a:gd name="adj" fmla="val 28777"/>
            </a:avLst>
          </a:prstGeom>
          <a:solidFill>
            <a:srgbClr val="007574"/>
          </a:solidFill>
          <a:ln w="12668">
            <a:solidFill>
              <a:srgbClr val="007574"/>
            </a:solidFill>
            <a:prstDash val="solid"/>
          </a:ln>
        </p:spPr>
        <p:txBody>
          <a:bodyPr/>
          <a:p/>
        </p:txBody>
      </p:sp>
      <p:sp>
        <p:nvSpPr>
          <p:cNvPr id="107" name="矩形 106"/>
          <p:cNvSpPr>
            <a:spLocks noGrp="1"/>
          </p:cNvSpPr>
          <p:nvPr/>
        </p:nvSpPr>
        <p:spPr>
          <a:xfrm>
            <a:off x="6657023" y="187643"/>
            <a:ext cx="1154430" cy="182880"/>
          </a:xfrm>
          <a:prstGeom prst="rect">
            <a:avLst/>
          </a:prstGeom>
        </p:spPr>
        <p:txBody>
          <a:bodyPr anchor="ctr"/>
          <a:lstStyle/>
          <a:p>
            <a:pPr algn="ctr">
              <a:defRPr sz="660" b="1">
                <a:solidFill>
                  <a:srgbClr val="FFFFFF"/>
                </a:solidFill>
              </a:defRPr>
            </a:pPr>
            <a:r>
              <a:t>理解</a:t>
            </a:r>
          </a:p>
        </p:txBody>
      </p:sp>
      <p:sp>
        <p:nvSpPr>
          <p:cNvPr id="108" name="圆角矩形 107"/>
          <p:cNvSpPr>
            <a:spLocks noGrp="1"/>
          </p:cNvSpPr>
          <p:nvPr/>
        </p:nvSpPr>
        <p:spPr>
          <a:xfrm>
            <a:off x="7857173" y="164783"/>
            <a:ext cx="1154430" cy="264795"/>
          </a:xfrm>
          <a:prstGeom prst="roundRect">
            <a:avLst>
              <a:gd name="adj" fmla="val 28777"/>
            </a:avLst>
          </a:prstGeom>
          <a:solidFill>
            <a:srgbClr val="007574"/>
          </a:solidFill>
          <a:ln w="12668">
            <a:solidFill>
              <a:srgbClr val="007574"/>
            </a:solidFill>
            <a:prstDash val="solid"/>
          </a:ln>
        </p:spPr>
        <p:txBody>
          <a:bodyPr/>
          <a:p/>
        </p:txBody>
      </p:sp>
      <p:sp>
        <p:nvSpPr>
          <p:cNvPr id="109" name="矩形 108"/>
          <p:cNvSpPr>
            <a:spLocks noGrp="1"/>
          </p:cNvSpPr>
          <p:nvPr/>
        </p:nvSpPr>
        <p:spPr>
          <a:xfrm>
            <a:off x="7857173" y="187643"/>
            <a:ext cx="1154430" cy="182880"/>
          </a:xfrm>
          <a:prstGeom prst="rect">
            <a:avLst/>
          </a:prstGeom>
        </p:spPr>
        <p:txBody>
          <a:bodyPr anchor="ctr"/>
          <a:lstStyle/>
          <a:p>
            <a:pPr algn="ctr">
              <a:defRPr sz="660" b="1">
                <a:solidFill>
                  <a:srgbClr val="FFFFFF"/>
                </a:solidFill>
              </a:defRPr>
            </a:pPr>
            <a:r>
              <a:t>查询</a:t>
            </a:r>
          </a:p>
        </p:txBody>
      </p:sp>
      <p:sp>
        <p:nvSpPr>
          <p:cNvPr id="110" name="圆角矩形 109"/>
          <p:cNvSpPr>
            <a:spLocks noGrp="1"/>
          </p:cNvSpPr>
          <p:nvPr/>
        </p:nvSpPr>
        <p:spPr>
          <a:xfrm>
            <a:off x="9057323" y="164783"/>
            <a:ext cx="1154430" cy="264795"/>
          </a:xfrm>
          <a:prstGeom prst="roundRect">
            <a:avLst>
              <a:gd name="adj" fmla="val 28777"/>
            </a:avLst>
          </a:prstGeom>
          <a:solidFill>
            <a:srgbClr val="007574"/>
          </a:solidFill>
          <a:ln w="12668">
            <a:solidFill>
              <a:srgbClr val="007574"/>
            </a:solidFill>
            <a:prstDash val="solid"/>
          </a:ln>
        </p:spPr>
        <p:txBody>
          <a:bodyPr/>
          <a:p/>
        </p:txBody>
      </p:sp>
      <p:sp>
        <p:nvSpPr>
          <p:cNvPr id="111" name="矩形 110"/>
          <p:cNvSpPr>
            <a:spLocks noGrp="1"/>
          </p:cNvSpPr>
          <p:nvPr/>
        </p:nvSpPr>
        <p:spPr>
          <a:xfrm>
            <a:off x="9057323" y="187643"/>
            <a:ext cx="1154430" cy="182880"/>
          </a:xfrm>
          <a:prstGeom prst="rect">
            <a:avLst/>
          </a:prstGeom>
        </p:spPr>
        <p:txBody>
          <a:bodyPr anchor="ctr"/>
          <a:lstStyle/>
          <a:p>
            <a:pPr algn="ctr">
              <a:defRPr sz="660" b="1">
                <a:solidFill>
                  <a:srgbClr val="FFFFFF"/>
                </a:solidFill>
              </a:defRPr>
            </a:pPr>
            <a:r>
              <a:t>决策</a:t>
            </a:r>
          </a:p>
        </p:txBody>
      </p:sp>
      <p:sp>
        <p:nvSpPr>
          <p:cNvPr id="112" name="圆角矩形 111"/>
          <p:cNvSpPr>
            <a:spLocks noGrp="1"/>
          </p:cNvSpPr>
          <p:nvPr/>
        </p:nvSpPr>
        <p:spPr>
          <a:xfrm>
            <a:off x="10257473" y="164783"/>
            <a:ext cx="1154430" cy="264795"/>
          </a:xfrm>
          <a:prstGeom prst="roundRect">
            <a:avLst>
              <a:gd name="adj" fmla="val 28777"/>
            </a:avLst>
          </a:prstGeom>
          <a:solidFill>
            <a:srgbClr val="007574"/>
          </a:solidFill>
          <a:ln w="12668">
            <a:solidFill>
              <a:srgbClr val="007574"/>
            </a:solidFill>
            <a:prstDash val="solid"/>
          </a:ln>
        </p:spPr>
        <p:txBody>
          <a:bodyPr/>
          <a:p/>
        </p:txBody>
      </p:sp>
      <p:sp>
        <p:nvSpPr>
          <p:cNvPr id="113" name="矩形 112"/>
          <p:cNvSpPr>
            <a:spLocks noGrp="1"/>
          </p:cNvSpPr>
          <p:nvPr/>
        </p:nvSpPr>
        <p:spPr>
          <a:xfrm>
            <a:off x="10257473" y="187643"/>
            <a:ext cx="1154430" cy="182880"/>
          </a:xfrm>
          <a:prstGeom prst="rect">
            <a:avLst/>
          </a:prstGeom>
        </p:spPr>
        <p:txBody>
          <a:bodyPr anchor="ctr"/>
          <a:lstStyle/>
          <a:p>
            <a:pPr algn="ctr">
              <a:defRPr sz="660" b="1">
                <a:solidFill>
                  <a:srgbClr val="FFFFFF"/>
                </a:solidFill>
              </a:defRPr>
            </a:pPr>
            <a:r>
              <a:t>执行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hape 0"/>
          <p:cNvSpPr>
            <a:spLocks noGrp="1"/>
          </p:cNvSpPr>
          <p:nvPr/>
        </p:nvSpPr>
        <p:spPr>
          <a:xfrm>
            <a:off x="16459" y="16459"/>
            <a:ext cx="38405" cy="6825082"/>
          </a:xfrm>
          <a:prstGeom prst="rect">
            <a:avLst/>
          </a:prstGeom>
          <a:solidFill>
            <a:srgbClr val="0A8F6A"/>
          </a:solidFill>
          <a:ln w="12700">
            <a:solidFill>
              <a:srgbClr val="12B07D"/>
            </a:solidFill>
            <a:prstDash val="solid"/>
          </a:ln>
        </p:spPr>
        <p:txBody>
          <a:bodyPr/>
          <a:lstStyle/>
          <a:p/>
        </p:txBody>
      </p:sp>
      <p:sp>
        <p:nvSpPr>
          <p:cNvPr id="4" name="Shape 2"/>
          <p:cNvSpPr>
            <a:spLocks noGrp="1"/>
          </p:cNvSpPr>
          <p:nvPr/>
        </p:nvSpPr>
        <p:spPr>
          <a:xfrm>
            <a:off x="10104120" y="73152"/>
            <a:ext cx="1874520" cy="1353312"/>
          </a:xfrm>
          <a:prstGeom prst="ellipse">
            <a:avLst/>
          </a:prstGeom>
          <a:solidFill>
            <a:srgbClr val="E8F7F1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/>
        </p:txBody>
      </p:sp>
      <p:sp>
        <p:nvSpPr>
          <p:cNvPr id="5" name="Shape 3"/>
          <p:cNvSpPr>
            <a:spLocks noGrp="1"/>
          </p:cNvSpPr>
          <p:nvPr/>
        </p:nvSpPr>
        <p:spPr>
          <a:xfrm>
            <a:off x="91440" y="5596128"/>
            <a:ext cx="1719072" cy="1051560"/>
          </a:xfrm>
          <a:prstGeom prst="ellipse">
            <a:avLst/>
          </a:prstGeom>
          <a:solidFill>
            <a:srgbClr val="FFF2E8">
              <a:alpha val="68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/>
        </p:txBody>
      </p:sp>
      <p:sp>
        <p:nvSpPr>
          <p:cNvPr id="6" name="Shape 4"/>
          <p:cNvSpPr>
            <a:spLocks noGrp="1"/>
          </p:cNvSpPr>
          <p:nvPr/>
        </p:nvSpPr>
        <p:spPr>
          <a:xfrm>
            <a:off x="658368" y="393192"/>
            <a:ext cx="68580" cy="68580"/>
          </a:xfrm>
          <a:prstGeom prst="ellipse">
            <a:avLst/>
          </a:prstGeom>
          <a:solidFill>
            <a:srgbClr val="0A8F6A"/>
          </a:solidFill>
          <a:ln w="12700">
            <a:solidFill>
              <a:srgbClr val="12B07D"/>
            </a:solidFill>
            <a:prstDash val="solid"/>
          </a:ln>
        </p:spPr>
        <p:txBody>
          <a:bodyPr/>
          <a:lstStyle/>
          <a:p/>
        </p:txBody>
      </p:sp>
      <p:sp>
        <p:nvSpPr>
          <p:cNvPr id="7" name="Shape 5"/>
          <p:cNvSpPr>
            <a:spLocks noGrp="1"/>
          </p:cNvSpPr>
          <p:nvPr/>
        </p:nvSpPr>
        <p:spPr>
          <a:xfrm>
            <a:off x="768096" y="427939"/>
            <a:ext cx="411480" cy="0"/>
          </a:xfrm>
          <a:prstGeom prst="line">
            <a:avLst/>
          </a:prstGeom>
          <a:noFill/>
          <a:ln w="15875">
            <a:solidFill>
              <a:srgbClr val="0A8F6A"/>
            </a:solidFill>
            <a:prstDash val="solid"/>
          </a:ln>
        </p:spPr>
        <p:txBody>
          <a:bodyPr/>
          <a:lstStyle/>
          <a:p/>
        </p:txBody>
      </p:sp>
      <p:sp>
        <p:nvSpPr>
          <p:cNvPr id="8" name="Text 6"/>
          <p:cNvSpPr>
            <a:spLocks noGrp="1"/>
          </p:cNvSpPr>
          <p:nvPr/>
        </p:nvSpPr>
        <p:spPr>
          <a:xfrm>
            <a:off x="1234440" y="265176"/>
            <a:ext cx="2331720" cy="31089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r>
              <a:rPr sz="1050" b="1">
                <a:solidFill>
                  <a:srgbClr val="076B50"/>
                </a:solidFill>
                <a:latin typeface="Noto Sans CJK SC"/>
                <a:ea typeface="Noto Sans CJK SC"/>
                <a:cs typeface="Noto Sans CJK SC"/>
              </a:rPr>
              <a:t>CHAPTER 4 · 上下文与知识</a:t>
            </a:r>
            <a:endParaRPr sz="1050" b="1">
              <a:solidFill>
                <a:srgbClr val="0A8F6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9" name="Shape 7"/>
          <p:cNvSpPr>
            <a:spLocks noGrp="1"/>
          </p:cNvSpPr>
          <p:nvPr/>
        </p:nvSpPr>
        <p:spPr>
          <a:xfrm>
            <a:off x="9829800" y="301752"/>
            <a:ext cx="68580" cy="68580"/>
          </a:xfrm>
          <a:prstGeom prst="ellipse">
            <a:avLst/>
          </a:prstGeom>
          <a:solidFill>
            <a:srgbClr val="C7DAD6"/>
          </a:solidFill>
          <a:ln w="12700">
            <a:solidFill>
              <a:srgbClr val="C7DAD6"/>
            </a:solidFill>
            <a:prstDash val="solid"/>
          </a:ln>
        </p:spPr>
        <p:txBody>
          <a:bodyPr/>
          <a:lstStyle/>
          <a:p/>
        </p:txBody>
      </p:sp>
      <p:sp>
        <p:nvSpPr>
          <p:cNvPr id="10" name="Shape 8"/>
          <p:cNvSpPr>
            <a:spLocks noGrp="1"/>
          </p:cNvSpPr>
          <p:nvPr/>
        </p:nvSpPr>
        <p:spPr>
          <a:xfrm>
            <a:off x="10040112" y="301752"/>
            <a:ext cx="68580" cy="68580"/>
          </a:xfrm>
          <a:prstGeom prst="ellipse">
            <a:avLst/>
          </a:prstGeom>
          <a:solidFill>
            <a:srgbClr val="C7DAD6"/>
          </a:solidFill>
          <a:ln w="12700">
            <a:solidFill>
              <a:srgbClr val="C7DAD6"/>
            </a:solidFill>
            <a:prstDash val="solid"/>
          </a:ln>
        </p:spPr>
        <p:txBody>
          <a:bodyPr/>
          <a:lstStyle/>
          <a:p/>
        </p:txBody>
      </p:sp>
      <p:sp>
        <p:nvSpPr>
          <p:cNvPr id="11" name="Shape 9"/>
          <p:cNvSpPr>
            <a:spLocks noGrp="1"/>
          </p:cNvSpPr>
          <p:nvPr/>
        </p:nvSpPr>
        <p:spPr>
          <a:xfrm>
            <a:off x="10250424" y="301752"/>
            <a:ext cx="68580" cy="68580"/>
          </a:xfrm>
          <a:prstGeom prst="ellipse">
            <a:avLst/>
          </a:prstGeom>
          <a:solidFill>
            <a:srgbClr val="C7DAD6"/>
          </a:solidFill>
          <a:ln w="12700">
            <a:solidFill>
              <a:srgbClr val="C7DAD6"/>
            </a:solidFill>
            <a:prstDash val="solid"/>
          </a:ln>
        </p:spPr>
        <p:txBody>
          <a:bodyPr/>
          <a:lstStyle/>
          <a:p/>
        </p:txBody>
      </p:sp>
      <p:sp>
        <p:nvSpPr>
          <p:cNvPr id="12" name="Shape 10"/>
          <p:cNvSpPr>
            <a:spLocks noGrp="1"/>
          </p:cNvSpPr>
          <p:nvPr/>
        </p:nvSpPr>
        <p:spPr>
          <a:xfrm>
            <a:off x="10460736" y="301752"/>
            <a:ext cx="68580" cy="68580"/>
          </a:xfrm>
          <a:prstGeom prst="ellipse">
            <a:avLst/>
          </a:prstGeom>
          <a:solidFill>
            <a:srgbClr val="12B07D"/>
          </a:solidFill>
          <a:ln w="12700">
            <a:solidFill>
              <a:srgbClr val="12B07D"/>
            </a:solidFill>
            <a:prstDash val="solid"/>
          </a:ln>
        </p:spPr>
        <p:txBody>
          <a:bodyPr/>
          <a:lstStyle/>
          <a:p/>
        </p:txBody>
      </p:sp>
      <p:sp>
        <p:nvSpPr>
          <p:cNvPr id="13" name="Shape 11"/>
          <p:cNvSpPr>
            <a:spLocks noGrp="1"/>
          </p:cNvSpPr>
          <p:nvPr/>
        </p:nvSpPr>
        <p:spPr>
          <a:xfrm>
            <a:off x="10671048" y="301752"/>
            <a:ext cx="68580" cy="68580"/>
          </a:xfrm>
          <a:prstGeom prst="ellipse">
            <a:avLst/>
          </a:prstGeom>
          <a:solidFill>
            <a:srgbClr val="C7DAD6"/>
          </a:solidFill>
          <a:ln w="12700">
            <a:solidFill>
              <a:srgbClr val="C7DAD6"/>
            </a:solidFill>
            <a:prstDash val="solid"/>
          </a:ln>
        </p:spPr>
        <p:txBody>
          <a:bodyPr/>
          <a:lstStyle/>
          <a:p/>
        </p:txBody>
      </p:sp>
      <p:sp>
        <p:nvSpPr>
          <p:cNvPr id="14" name="Shape 12"/>
          <p:cNvSpPr>
            <a:spLocks noGrp="1"/>
          </p:cNvSpPr>
          <p:nvPr/>
        </p:nvSpPr>
        <p:spPr>
          <a:xfrm>
            <a:off x="10881360" y="301752"/>
            <a:ext cx="68580" cy="68580"/>
          </a:xfrm>
          <a:prstGeom prst="ellipse">
            <a:avLst/>
          </a:prstGeom>
          <a:solidFill>
            <a:srgbClr val="C7DAD6"/>
          </a:solidFill>
          <a:ln w="12700">
            <a:solidFill>
              <a:srgbClr val="C7DAD6"/>
            </a:solidFill>
            <a:prstDash val="solid"/>
          </a:ln>
        </p:spPr>
        <p:txBody>
          <a:bodyPr/>
          <a:lstStyle/>
          <a:p/>
        </p:txBody>
      </p:sp>
      <p:sp>
        <p:nvSpPr>
          <p:cNvPr id="15" name="Shape 13"/>
          <p:cNvSpPr>
            <a:spLocks noGrp="1"/>
          </p:cNvSpPr>
          <p:nvPr/>
        </p:nvSpPr>
        <p:spPr>
          <a:xfrm>
            <a:off x="11091672" y="301752"/>
            <a:ext cx="68580" cy="68580"/>
          </a:xfrm>
          <a:prstGeom prst="ellipse">
            <a:avLst/>
          </a:prstGeom>
          <a:solidFill>
            <a:srgbClr val="C7DAD6"/>
          </a:solidFill>
          <a:ln w="12700">
            <a:solidFill>
              <a:srgbClr val="C7DAD6"/>
            </a:solidFill>
            <a:prstDash val="solid"/>
          </a:ln>
        </p:spPr>
        <p:txBody>
          <a:bodyPr/>
          <a:lstStyle/>
          <a:p/>
        </p:txBody>
      </p:sp>
      <p:sp>
        <p:nvSpPr>
          <p:cNvPr id="16" name="Shape 14"/>
          <p:cNvSpPr>
            <a:spLocks noGrp="1"/>
          </p:cNvSpPr>
          <p:nvPr/>
        </p:nvSpPr>
        <p:spPr>
          <a:xfrm>
            <a:off x="11301984" y="301752"/>
            <a:ext cx="68580" cy="68580"/>
          </a:xfrm>
          <a:prstGeom prst="ellipse">
            <a:avLst/>
          </a:prstGeom>
          <a:solidFill>
            <a:srgbClr val="C7DAD6"/>
          </a:solidFill>
          <a:ln w="12700">
            <a:solidFill>
              <a:srgbClr val="C7DAD6"/>
            </a:solidFill>
            <a:prstDash val="solid"/>
          </a:ln>
        </p:spPr>
        <p:txBody>
          <a:bodyPr/>
          <a:lstStyle/>
          <a:p/>
        </p:txBody>
      </p:sp>
      <p:sp>
        <p:nvSpPr>
          <p:cNvPr id="17" name="Text 15"/>
          <p:cNvSpPr>
            <a:spLocks noGrp="1"/>
          </p:cNvSpPr>
          <p:nvPr/>
        </p:nvSpPr>
        <p:spPr>
          <a:xfrm>
            <a:off x="658368" y="713232"/>
            <a:ext cx="10652760" cy="49377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2550" b="1">
                <a:solidFill>
                  <a:srgbClr val="14383E"/>
                </a:solidFill>
                <a:latin typeface="Noto Sans CJK SC"/>
                <a:ea typeface="Noto Sans CJK SC"/>
                <a:cs typeface="Noto Sans CJK SC"/>
              </a:rPr>
              <a:t>第四章 · 上下文与知识</a:t>
            </a:r>
            <a:endParaRPr sz="2550"/>
          </a:p>
        </p:txBody>
      </p:sp>
      <p:sp>
        <p:nvSpPr>
          <p:cNvPr id="18" name="Text 16"/>
          <p:cNvSpPr>
            <a:spLocks noGrp="1"/>
          </p:cNvSpPr>
          <p:nvPr/>
        </p:nvSpPr>
        <p:spPr>
          <a:xfrm>
            <a:off x="658368" y="1197864"/>
            <a:ext cx="10469880" cy="29260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r>
              <a:rPr sz="1170">
                <a:solidFill>
                  <a:srgbClr val="44585C"/>
                </a:solidFill>
                <a:latin typeface="Noto Sans CJK SC"/>
                <a:ea typeface="Noto Sans CJK SC"/>
                <a:cs typeface="Noto Sans CJK SC"/>
              </a:rPr>
              <a:t>这一块回答：模型看到什么事实，这些事实从哪来。共 10 页，约 28 分钟。</a:t>
            </a:r>
            <a:endParaRPr sz="1170">
              <a:solidFill>
                <a:srgbClr val="6B8185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9" name="Shape 17"/>
          <p:cNvSpPr>
            <a:spLocks noGrp="1"/>
          </p:cNvSpPr>
          <p:nvPr/>
        </p:nvSpPr>
        <p:spPr>
          <a:xfrm>
            <a:off x="658368" y="6510528"/>
            <a:ext cx="10835640" cy="0"/>
          </a:xfrm>
          <a:prstGeom prst="line">
            <a:avLst/>
          </a:prstGeom>
          <a:noFill/>
          <a:ln w="11430">
            <a:solidFill>
              <a:srgbClr val="D7E7E3"/>
            </a:solidFill>
            <a:prstDash val="solid"/>
          </a:ln>
        </p:spPr>
        <p:txBody>
          <a:bodyPr/>
          <a:lstStyle/>
          <a:p/>
        </p:txBody>
      </p:sp>
      <p:sp>
        <p:nvSpPr>
          <p:cNvPr id="20" name="Text 18"/>
          <p:cNvSpPr>
            <a:spLocks noGrp="1"/>
          </p:cNvSpPr>
          <p:nvPr/>
        </p:nvSpPr>
        <p:spPr>
          <a:xfrm>
            <a:off x="658368" y="6556248"/>
            <a:ext cx="2103120" cy="16459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750" b="1" spc="40">
                <a:solidFill>
                  <a:srgbClr val="5C7276"/>
                </a:solidFill>
                <a:latin typeface="Noto Sans CJK SC"/>
                <a:ea typeface="Noto Sans CJK SC"/>
                <a:cs typeface="Noto Sans CJK SC"/>
              </a:rPr>
              <a:t>CUSTOMER SERVICE AI AGENT</a:t>
            </a:r>
            <a:endParaRPr sz="750"/>
          </a:p>
        </p:txBody>
      </p:sp>
      <p:sp>
        <p:nvSpPr>
          <p:cNvPr id="63" name="Rectangle 62"/>
          <p:cNvSpPr>
            <a:spLocks noGrp="1"/>
          </p:cNvSpPr>
          <p:nvPr/>
        </p:nvSpPr>
        <p:spPr>
          <a:xfrm>
            <a:off x="0" y="0"/>
            <a:ext cx="41148" cy="6858000"/>
          </a:xfrm>
          <a:prstGeom prst="rect">
            <a:avLst/>
          </a:prstGeom>
          <a:solidFill>
            <a:srgbClr val="0A8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64" name="圆角矩形 63"/>
          <p:cNvSpPr>
            <a:spLocks noGrp="1"/>
          </p:cNvSpPr>
          <p:nvPr/>
        </p:nvSpPr>
        <p:spPr>
          <a:xfrm>
            <a:off x="657225" y="2362200"/>
            <a:ext cx="10877550" cy="2419350"/>
          </a:xfrm>
          <a:prstGeom prst="roundRect">
            <a:avLst>
              <a:gd name="adj" fmla="val 3150"/>
            </a:avLst>
          </a:prstGeom>
          <a:solidFill>
            <a:srgbClr val="E6F7F6"/>
          </a:solidFill>
          <a:ln w="12668">
            <a:solidFill>
              <a:srgbClr val="00A7A7"/>
            </a:solidFill>
            <a:prstDash val="solid"/>
          </a:ln>
        </p:spPr>
        <p:txBody>
          <a:bodyPr/>
          <a:p/>
        </p:txBody>
      </p:sp>
      <p:sp>
        <p:nvSpPr>
          <p:cNvPr id="65" name="圆角矩形 64"/>
          <p:cNvSpPr>
            <a:spLocks noGrp="1"/>
          </p:cNvSpPr>
          <p:nvPr/>
        </p:nvSpPr>
        <p:spPr>
          <a:xfrm>
            <a:off x="947738" y="2628900"/>
            <a:ext cx="1628775" cy="87630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668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67" name="矩形 66"/>
          <p:cNvSpPr>
            <a:spLocks noGrp="1"/>
          </p:cNvSpPr>
          <p:nvPr/>
        </p:nvSpPr>
        <p:spPr>
          <a:xfrm>
            <a:off x="1042988" y="2743200"/>
            <a:ext cx="1438275" cy="647700"/>
          </a:xfrm>
          <a:prstGeom prst="rect">
            <a:avLst/>
          </a:prstGeom>
        </p:spPr>
        <p:txBody>
          <a:bodyPr anchor="ctr"/>
          <a:lstStyle/>
          <a:p>
            <a:pPr algn="ctr">
              <a:defRPr sz="740" b="0">
                <a:solidFill>
                  <a:srgbClr val="14383E"/>
                </a:solidFill>
              </a:defRPr>
            </a:pPr>
            <a:r>
              <a:t>上下文设计总览</a:t>
            </a:r>
          </a:p>
        </p:txBody>
      </p:sp>
      <p:sp>
        <p:nvSpPr>
          <p:cNvPr id="68" name="圆角矩形 67"/>
          <p:cNvSpPr>
            <a:spLocks noGrp="1"/>
          </p:cNvSpPr>
          <p:nvPr/>
        </p:nvSpPr>
        <p:spPr>
          <a:xfrm>
            <a:off x="2681288" y="2628900"/>
            <a:ext cx="1628775" cy="87630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668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70" name="矩形 69"/>
          <p:cNvSpPr>
            <a:spLocks noGrp="1"/>
          </p:cNvSpPr>
          <p:nvPr/>
        </p:nvSpPr>
        <p:spPr>
          <a:xfrm>
            <a:off x="2776538" y="2743200"/>
            <a:ext cx="1438275" cy="647700"/>
          </a:xfrm>
          <a:prstGeom prst="rect">
            <a:avLst/>
          </a:prstGeom>
        </p:spPr>
        <p:txBody>
          <a:bodyPr anchor="ctr"/>
          <a:lstStyle/>
          <a:p>
            <a:pPr algn="ctr">
              <a:defRPr sz="740" b="0">
                <a:solidFill>
                  <a:srgbClr val="14383E"/>
                </a:solidFill>
              </a:defRPr>
            </a:pPr>
            <a:r>
              <a:t>知识资产与可信等级</a:t>
            </a:r>
          </a:p>
        </p:txBody>
      </p:sp>
      <p:sp>
        <p:nvSpPr>
          <p:cNvPr id="71" name="圆角矩形 70"/>
          <p:cNvSpPr>
            <a:spLocks noGrp="1"/>
          </p:cNvSpPr>
          <p:nvPr/>
        </p:nvSpPr>
        <p:spPr>
          <a:xfrm>
            <a:off x="4414838" y="2628900"/>
            <a:ext cx="1628775" cy="87630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668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73" name="矩形 72"/>
          <p:cNvSpPr>
            <a:spLocks noGrp="1"/>
          </p:cNvSpPr>
          <p:nvPr/>
        </p:nvSpPr>
        <p:spPr>
          <a:xfrm>
            <a:off x="4510088" y="2743200"/>
            <a:ext cx="1438275" cy="647700"/>
          </a:xfrm>
          <a:prstGeom prst="rect">
            <a:avLst/>
          </a:prstGeom>
        </p:spPr>
        <p:txBody>
          <a:bodyPr anchor="ctr"/>
          <a:lstStyle/>
          <a:p>
            <a:pPr algn="ctr">
              <a:defRPr sz="740" b="0">
                <a:solidFill>
                  <a:srgbClr val="14383E"/>
                </a:solidFill>
              </a:defRPr>
            </a:pPr>
            <a:r>
              <a:t>知识供给方式</a:t>
            </a:r>
          </a:p>
        </p:txBody>
      </p:sp>
      <p:sp>
        <p:nvSpPr>
          <p:cNvPr id="74" name="圆角矩形 73"/>
          <p:cNvSpPr>
            <a:spLocks noGrp="1"/>
          </p:cNvSpPr>
          <p:nvPr/>
        </p:nvSpPr>
        <p:spPr>
          <a:xfrm>
            <a:off x="6148388" y="2628900"/>
            <a:ext cx="1628775" cy="87630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668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76" name="矩形 75"/>
          <p:cNvSpPr>
            <a:spLocks noGrp="1"/>
          </p:cNvSpPr>
          <p:nvPr/>
        </p:nvSpPr>
        <p:spPr>
          <a:xfrm>
            <a:off x="6243638" y="2743200"/>
            <a:ext cx="1438275" cy="647700"/>
          </a:xfrm>
          <a:prstGeom prst="rect">
            <a:avLst/>
          </a:prstGeom>
        </p:spPr>
        <p:txBody>
          <a:bodyPr anchor="ctr"/>
          <a:lstStyle/>
          <a:p>
            <a:pPr algn="ctr">
              <a:defRPr sz="740" b="0">
                <a:solidFill>
                  <a:srgbClr val="14383E"/>
                </a:solidFill>
              </a:defRPr>
            </a:pPr>
            <a:r>
              <a:t>RAG 在上下文链路中的位置</a:t>
            </a:r>
          </a:p>
        </p:txBody>
      </p:sp>
      <p:sp>
        <p:nvSpPr>
          <p:cNvPr id="77" name="圆角矩形 76"/>
          <p:cNvSpPr>
            <a:spLocks noGrp="1"/>
          </p:cNvSpPr>
          <p:nvPr/>
        </p:nvSpPr>
        <p:spPr>
          <a:xfrm>
            <a:off x="7881938" y="2628900"/>
            <a:ext cx="1628775" cy="87630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668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79" name="矩形 78"/>
          <p:cNvSpPr>
            <a:spLocks noGrp="1"/>
          </p:cNvSpPr>
          <p:nvPr/>
        </p:nvSpPr>
        <p:spPr>
          <a:xfrm>
            <a:off x="7977188" y="2743200"/>
            <a:ext cx="1438275" cy="647700"/>
          </a:xfrm>
          <a:prstGeom prst="rect">
            <a:avLst/>
          </a:prstGeom>
        </p:spPr>
        <p:txBody>
          <a:bodyPr anchor="ctr"/>
          <a:lstStyle/>
          <a:p>
            <a:pPr algn="ctr">
              <a:defRPr sz="740" b="0">
                <a:solidFill>
                  <a:srgbClr val="14383E"/>
                </a:solidFill>
              </a:defRPr>
            </a:pPr>
            <a:r>
              <a:t>知识发布链路：</a:t>
            </a:r>
            <a:br/>
            <a:r>
              <a:t>版本、切换与失效</a:t>
            </a:r>
          </a:p>
        </p:txBody>
      </p:sp>
      <p:sp>
        <p:nvSpPr>
          <p:cNvPr id="80" name="圆角矩形 79"/>
          <p:cNvSpPr>
            <a:spLocks noGrp="1"/>
          </p:cNvSpPr>
          <p:nvPr/>
        </p:nvSpPr>
        <p:spPr>
          <a:xfrm>
            <a:off x="9615488" y="2628900"/>
            <a:ext cx="1628775" cy="87630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668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82" name="矩形 81"/>
          <p:cNvSpPr>
            <a:spLocks noGrp="1"/>
          </p:cNvSpPr>
          <p:nvPr/>
        </p:nvSpPr>
        <p:spPr>
          <a:xfrm>
            <a:off x="9710738" y="2743200"/>
            <a:ext cx="1438275" cy="647700"/>
          </a:xfrm>
          <a:prstGeom prst="rect">
            <a:avLst/>
          </a:prstGeom>
        </p:spPr>
        <p:txBody>
          <a:bodyPr anchor="ctr"/>
          <a:lstStyle/>
          <a:p>
            <a:pPr algn="ctr">
              <a:defRPr sz="740" b="0">
                <a:solidFill>
                  <a:srgbClr val="14383E"/>
                </a:solidFill>
              </a:defRPr>
            </a:pPr>
            <a:r>
              <a:t>附件先变成事实，再进入 Agent 上下文</a:t>
            </a:r>
          </a:p>
        </p:txBody>
      </p:sp>
      <p:sp>
        <p:nvSpPr>
          <p:cNvPr id="83" name="圆角矩形 82"/>
          <p:cNvSpPr>
            <a:spLocks noGrp="1"/>
          </p:cNvSpPr>
          <p:nvPr/>
        </p:nvSpPr>
        <p:spPr>
          <a:xfrm>
            <a:off x="2679192" y="3639312"/>
            <a:ext cx="1628775" cy="87630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668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85" name="矩形 84"/>
          <p:cNvSpPr>
            <a:spLocks noGrp="1"/>
          </p:cNvSpPr>
          <p:nvPr/>
        </p:nvSpPr>
        <p:spPr>
          <a:xfrm>
            <a:off x="2775204" y="3749039"/>
            <a:ext cx="1438275" cy="647700"/>
          </a:xfrm>
          <a:prstGeom prst="rect">
            <a:avLst/>
          </a:prstGeom>
        </p:spPr>
        <p:txBody>
          <a:bodyPr anchor="ctr"/>
          <a:lstStyle/>
          <a:p>
            <a:pPr algn="ctr">
              <a:defRPr sz="740" b="0">
                <a:solidFill>
                  <a:srgbClr val="14383E"/>
                </a:solidFill>
              </a:defRPr>
            </a:pPr>
            <a:r>
              <a:t>Context 组装与 Prompt 请求</a:t>
            </a:r>
          </a:p>
        </p:txBody>
      </p:sp>
      <p:sp>
        <p:nvSpPr>
          <p:cNvPr id="86" name="圆角矩形 85"/>
          <p:cNvSpPr>
            <a:spLocks noGrp="1"/>
          </p:cNvSpPr>
          <p:nvPr/>
        </p:nvSpPr>
        <p:spPr>
          <a:xfrm>
            <a:off x="4416552" y="3639312"/>
            <a:ext cx="1628775" cy="87630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668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88" name="矩形 87"/>
          <p:cNvSpPr>
            <a:spLocks noGrp="1"/>
          </p:cNvSpPr>
          <p:nvPr/>
        </p:nvSpPr>
        <p:spPr>
          <a:xfrm>
            <a:off x="4512564" y="3749039"/>
            <a:ext cx="1438275" cy="647700"/>
          </a:xfrm>
          <a:prstGeom prst="rect">
            <a:avLst/>
          </a:prstGeom>
        </p:spPr>
        <p:txBody>
          <a:bodyPr anchor="ctr"/>
          <a:lstStyle/>
          <a:p>
            <a:pPr algn="ctr">
              <a:defRPr sz="740" b="0">
                <a:solidFill>
                  <a:srgbClr val="14383E"/>
                </a:solidFill>
              </a:defRPr>
            </a:pPr>
            <a:r>
              <a:t>Prompt 设计：稳定前缀 + 变动后缀</a:t>
            </a:r>
          </a:p>
        </p:txBody>
      </p:sp>
      <p:sp>
        <p:nvSpPr>
          <p:cNvPr id="89" name="圆角矩形 88"/>
          <p:cNvSpPr>
            <a:spLocks noGrp="1"/>
          </p:cNvSpPr>
          <p:nvPr/>
        </p:nvSpPr>
        <p:spPr>
          <a:xfrm>
            <a:off x="6144768" y="3639312"/>
            <a:ext cx="1628775" cy="87630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668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91" name="矩形 90"/>
          <p:cNvSpPr>
            <a:spLocks noGrp="1"/>
          </p:cNvSpPr>
          <p:nvPr/>
        </p:nvSpPr>
        <p:spPr>
          <a:xfrm>
            <a:off x="6240780" y="3749039"/>
            <a:ext cx="1438275" cy="647700"/>
          </a:xfrm>
          <a:prstGeom prst="rect">
            <a:avLst/>
          </a:prstGeom>
        </p:spPr>
        <p:txBody>
          <a:bodyPr anchor="ctr"/>
          <a:lstStyle/>
          <a:p>
            <a:pPr algn="ctr">
              <a:defRPr sz="740" b="0">
                <a:solidFill>
                  <a:srgbClr val="14383E"/>
                </a:solidFill>
              </a:defRPr>
            </a:pPr>
            <a:r>
              <a:t>路由治理：正例、负例与 Badcase 回流</a:t>
            </a:r>
          </a:p>
        </p:txBody>
      </p:sp>
      <p:sp>
        <p:nvSpPr>
          <p:cNvPr id="92" name="圆角矩形 91"/>
          <p:cNvSpPr>
            <a:spLocks noGrp="1"/>
          </p:cNvSpPr>
          <p:nvPr/>
        </p:nvSpPr>
        <p:spPr>
          <a:xfrm>
            <a:off x="7882127" y="3639312"/>
            <a:ext cx="1628775" cy="87630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668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94" name="矩形 93"/>
          <p:cNvSpPr>
            <a:spLocks noGrp="1"/>
          </p:cNvSpPr>
          <p:nvPr/>
        </p:nvSpPr>
        <p:spPr>
          <a:xfrm>
            <a:off x="7978140" y="3749039"/>
            <a:ext cx="1438275" cy="647700"/>
          </a:xfrm>
          <a:prstGeom prst="rect">
            <a:avLst/>
          </a:prstGeom>
        </p:spPr>
        <p:txBody>
          <a:bodyPr anchor="ctr"/>
          <a:lstStyle/>
          <a:p>
            <a:pPr algn="ctr">
              <a:defRPr sz="740" b="0">
                <a:solidFill>
                  <a:srgbClr val="14383E"/>
                </a:solidFill>
              </a:defRPr>
            </a:pPr>
            <a:r>
              <a:t>Badcase 回流：把线上路由错误固化为负例</a:t>
            </a:r>
          </a:p>
        </p:txBody>
      </p:sp>
      <p:sp>
        <p:nvSpPr>
          <p:cNvPr id="98" name="圆角矩形 97"/>
          <p:cNvSpPr>
            <a:spLocks noGrp="1"/>
          </p:cNvSpPr>
          <p:nvPr/>
        </p:nvSpPr>
        <p:spPr>
          <a:xfrm>
            <a:off x="657225" y="5486400"/>
            <a:ext cx="10877550" cy="609600"/>
          </a:xfrm>
          <a:prstGeom prst="roundRect">
            <a:avLst>
              <a:gd name="adj" fmla="val 12500"/>
            </a:avLst>
          </a:prstGeom>
          <a:solidFill>
            <a:srgbClr val="F7FBF9"/>
          </a:solidFill>
          <a:ln w="12668">
            <a:solidFill>
              <a:srgbClr val="BFD9D4"/>
            </a:solidFill>
            <a:prstDash val="solid"/>
          </a:ln>
        </p:spPr>
        <p:txBody>
          <a:bodyPr/>
          <a:p/>
        </p:txBody>
      </p:sp>
      <p:sp>
        <p:nvSpPr>
          <p:cNvPr id="99" name="矩形 98"/>
          <p:cNvSpPr>
            <a:spLocks noGrp="1"/>
          </p:cNvSpPr>
          <p:nvPr/>
        </p:nvSpPr>
        <p:spPr>
          <a:xfrm>
            <a:off x="876300" y="5562600"/>
            <a:ext cx="1238250" cy="190500"/>
          </a:xfrm>
          <a:prstGeom prst="rect">
            <a:avLst/>
          </a:prstGeom>
        </p:spPr>
        <p:txBody>
          <a:bodyPr anchor="ctr"/>
          <a:lstStyle/>
          <a:p>
            <a:pPr algn="l">
              <a:defRPr sz="720" b="1">
                <a:solidFill>
                  <a:srgbClr val="00A7A7"/>
                </a:solidFill>
              </a:defRPr>
            </a:pPr>
            <a:r>
              <a:t>这一章</a:t>
            </a:r>
          </a:p>
        </p:txBody>
      </p:sp>
      <p:sp>
        <p:nvSpPr>
          <p:cNvPr id="100" name="矩形 99"/>
          <p:cNvSpPr>
            <a:spLocks noGrp="1"/>
          </p:cNvSpPr>
          <p:nvPr/>
        </p:nvSpPr>
        <p:spPr>
          <a:xfrm>
            <a:off x="876300" y="5753100"/>
            <a:ext cx="1238250" cy="190500"/>
          </a:xfrm>
          <a:prstGeom prst="rect">
            <a:avLst/>
          </a:prstGeom>
        </p:spPr>
        <p:txBody>
          <a:bodyPr anchor="ctr"/>
          <a:lstStyle/>
          <a:p>
            <a:pPr algn="l">
              <a:defRPr sz="720" b="1">
                <a:solidFill>
                  <a:srgbClr val="00A7A7"/>
                </a:solidFill>
              </a:defRPr>
            </a:pPr>
            <a:r>
              <a:t>服务哪一步</a:t>
            </a:r>
          </a:p>
        </p:txBody>
      </p:sp>
      <p:sp>
        <p:nvSpPr>
          <p:cNvPr id="101" name="矩形 100"/>
          <p:cNvSpPr>
            <a:spLocks noGrp="1"/>
          </p:cNvSpPr>
          <p:nvPr/>
        </p:nvSpPr>
        <p:spPr>
          <a:xfrm>
            <a:off x="2247900" y="5619750"/>
            <a:ext cx="9525" cy="342900"/>
          </a:xfrm>
          <a:prstGeom prst="rect">
            <a:avLst/>
          </a:prstGeom>
          <a:solidFill>
            <a:srgbClr val="C7DAD6"/>
          </a:solidFill>
          <a:ln w="12668">
            <a:solidFill>
              <a:srgbClr val="C7DAD6"/>
            </a:solidFill>
            <a:prstDash val="solid"/>
          </a:ln>
        </p:spPr>
        <p:txBody>
          <a:bodyPr/>
          <a:p/>
        </p:txBody>
      </p:sp>
      <p:sp>
        <p:nvSpPr>
          <p:cNvPr id="102" name="矩形 101"/>
          <p:cNvSpPr>
            <a:spLocks noGrp="1"/>
          </p:cNvSpPr>
          <p:nvPr/>
        </p:nvSpPr>
        <p:spPr>
          <a:xfrm>
            <a:off x="2438400" y="5562600"/>
            <a:ext cx="6286500" cy="381000"/>
          </a:xfrm>
          <a:prstGeom prst="rect">
            <a:avLst/>
          </a:prstGeom>
        </p:spPr>
        <p:txBody>
          <a:bodyPr anchor="ctr"/>
          <a:lstStyle/>
          <a:p>
            <a:pPr algn="l">
              <a:defRPr sz="840" b="1">
                <a:solidFill>
                  <a:srgbClr val="14383E"/>
                </a:solidFill>
              </a:defRPr>
            </a:pPr>
            <a:r>
              <a:t>服务「理解」：模型看到什么事实，路由怎么判断客户要办什么。</a:t>
            </a:r>
          </a:p>
        </p:txBody>
      </p:sp>
      <p:sp>
        <p:nvSpPr>
          <p:cNvPr id="103" name="圆角矩形 102"/>
          <p:cNvSpPr>
            <a:spLocks noGrp="1"/>
          </p:cNvSpPr>
          <p:nvPr/>
        </p:nvSpPr>
        <p:spPr>
          <a:xfrm>
            <a:off x="9067800" y="5581650"/>
            <a:ext cx="514350" cy="209550"/>
          </a:xfrm>
          <a:prstGeom prst="roundRect">
            <a:avLst>
              <a:gd name="adj" fmla="val 36364"/>
            </a:avLst>
          </a:prstGeom>
          <a:solidFill>
            <a:srgbClr val="00A7A7"/>
          </a:solidFill>
          <a:ln w="12668">
            <a:solidFill>
              <a:srgbClr val="00A7A7"/>
            </a:solidFill>
            <a:prstDash val="solid"/>
          </a:ln>
        </p:spPr>
        <p:txBody>
          <a:bodyPr/>
          <a:p/>
        </p:txBody>
      </p:sp>
      <p:sp>
        <p:nvSpPr>
          <p:cNvPr id="104" name="矩形 103"/>
          <p:cNvSpPr>
            <a:spLocks noGrp="1"/>
          </p:cNvSpPr>
          <p:nvPr/>
        </p:nvSpPr>
        <p:spPr>
          <a:xfrm>
            <a:off x="9067800" y="5581650"/>
            <a:ext cx="514350" cy="209550"/>
          </a:xfrm>
          <a:prstGeom prst="rect">
            <a:avLst/>
          </a:prstGeom>
        </p:spPr>
        <p:txBody>
          <a:bodyPr anchor="ctr"/>
          <a:lstStyle/>
          <a:p>
            <a:pPr algn="ctr">
              <a:defRPr sz="680" b="1">
                <a:solidFill>
                  <a:srgbClr val="FFFFFF"/>
                </a:solidFill>
              </a:defRPr>
            </a:pPr>
            <a:r>
              <a:t>理解</a:t>
            </a:r>
          </a:p>
        </p:txBody>
      </p:sp>
      <p:sp>
        <p:nvSpPr>
          <p:cNvPr id="105" name="圆角矩形 104"/>
          <p:cNvSpPr>
            <a:spLocks noGrp="1"/>
          </p:cNvSpPr>
          <p:nvPr/>
        </p:nvSpPr>
        <p:spPr>
          <a:xfrm>
            <a:off x="9658350" y="5581650"/>
            <a:ext cx="514350" cy="209550"/>
          </a:xfrm>
          <a:prstGeom prst="roundRect">
            <a:avLst>
              <a:gd name="adj" fmla="val 36364"/>
            </a:avLst>
          </a:prstGeom>
          <a:solidFill>
            <a:srgbClr val="FFFFFF"/>
          </a:solidFill>
          <a:ln w="12668">
            <a:solidFill>
              <a:srgbClr val="C7DAD6"/>
            </a:solidFill>
            <a:prstDash val="solid"/>
          </a:ln>
        </p:spPr>
        <p:txBody>
          <a:bodyPr/>
          <a:p/>
        </p:txBody>
      </p:sp>
      <p:sp>
        <p:nvSpPr>
          <p:cNvPr id="106" name="矩形 105"/>
          <p:cNvSpPr>
            <a:spLocks noGrp="1"/>
          </p:cNvSpPr>
          <p:nvPr/>
        </p:nvSpPr>
        <p:spPr>
          <a:xfrm>
            <a:off x="9658350" y="5581650"/>
            <a:ext cx="514350" cy="209550"/>
          </a:xfrm>
          <a:prstGeom prst="rect">
            <a:avLst/>
          </a:prstGeom>
        </p:spPr>
        <p:txBody>
          <a:bodyPr anchor="ctr"/>
          <a:lstStyle/>
          <a:p>
            <a:pPr algn="ctr">
              <a:defRPr sz="680" b="0">
                <a:solidFill>
                  <a:srgbClr val="44585C"/>
                </a:solidFill>
              </a:defRPr>
            </a:pPr>
            <a:r>
              <a:t>查询</a:t>
            </a:r>
          </a:p>
        </p:txBody>
      </p:sp>
      <p:sp>
        <p:nvSpPr>
          <p:cNvPr id="107" name="圆角矩形 106"/>
          <p:cNvSpPr>
            <a:spLocks noGrp="1"/>
          </p:cNvSpPr>
          <p:nvPr/>
        </p:nvSpPr>
        <p:spPr>
          <a:xfrm>
            <a:off x="10248900" y="5581650"/>
            <a:ext cx="514350" cy="209550"/>
          </a:xfrm>
          <a:prstGeom prst="roundRect">
            <a:avLst>
              <a:gd name="adj" fmla="val 36364"/>
            </a:avLst>
          </a:prstGeom>
          <a:solidFill>
            <a:srgbClr val="FFFFFF"/>
          </a:solidFill>
          <a:ln w="12668">
            <a:solidFill>
              <a:srgbClr val="C7DAD6"/>
            </a:solidFill>
            <a:prstDash val="solid"/>
          </a:ln>
        </p:spPr>
        <p:txBody>
          <a:bodyPr/>
          <a:p/>
        </p:txBody>
      </p:sp>
      <p:sp>
        <p:nvSpPr>
          <p:cNvPr id="108" name="矩形 107"/>
          <p:cNvSpPr>
            <a:spLocks noGrp="1"/>
          </p:cNvSpPr>
          <p:nvPr/>
        </p:nvSpPr>
        <p:spPr>
          <a:xfrm>
            <a:off x="10248900" y="5581650"/>
            <a:ext cx="514350" cy="209550"/>
          </a:xfrm>
          <a:prstGeom prst="rect">
            <a:avLst/>
          </a:prstGeom>
        </p:spPr>
        <p:txBody>
          <a:bodyPr anchor="ctr"/>
          <a:lstStyle/>
          <a:p>
            <a:pPr algn="ctr">
              <a:defRPr sz="680" b="0">
                <a:solidFill>
                  <a:srgbClr val="44585C"/>
                </a:solidFill>
              </a:defRPr>
            </a:pPr>
            <a:r>
              <a:t>决策</a:t>
            </a:r>
          </a:p>
        </p:txBody>
      </p:sp>
      <p:sp>
        <p:nvSpPr>
          <p:cNvPr id="109" name="圆角矩形 108"/>
          <p:cNvSpPr>
            <a:spLocks noGrp="1"/>
          </p:cNvSpPr>
          <p:nvPr/>
        </p:nvSpPr>
        <p:spPr>
          <a:xfrm>
            <a:off x="10839450" y="5581650"/>
            <a:ext cx="514350" cy="209550"/>
          </a:xfrm>
          <a:prstGeom prst="roundRect">
            <a:avLst>
              <a:gd name="adj" fmla="val 36364"/>
            </a:avLst>
          </a:prstGeom>
          <a:solidFill>
            <a:srgbClr val="FFFFFF"/>
          </a:solidFill>
          <a:ln w="12668">
            <a:solidFill>
              <a:srgbClr val="C7DAD6"/>
            </a:solidFill>
            <a:prstDash val="solid"/>
          </a:ln>
        </p:spPr>
        <p:txBody>
          <a:bodyPr/>
          <a:p/>
        </p:txBody>
      </p:sp>
      <p:sp>
        <p:nvSpPr>
          <p:cNvPr id="110" name="矩形 109"/>
          <p:cNvSpPr>
            <a:spLocks noGrp="1"/>
          </p:cNvSpPr>
          <p:nvPr/>
        </p:nvSpPr>
        <p:spPr>
          <a:xfrm>
            <a:off x="10839450" y="5581650"/>
            <a:ext cx="514350" cy="209550"/>
          </a:xfrm>
          <a:prstGeom prst="rect">
            <a:avLst/>
          </a:prstGeom>
        </p:spPr>
        <p:txBody>
          <a:bodyPr anchor="ctr"/>
          <a:lstStyle/>
          <a:p>
            <a:pPr algn="ctr">
              <a:defRPr sz="680" b="0">
                <a:solidFill>
                  <a:srgbClr val="44585C"/>
                </a:solidFill>
              </a:defRPr>
            </a:pPr>
            <a:r>
              <a:t>执行</a:t>
            </a:r>
          </a:p>
        </p:txBody>
      </p:sp>
      <p:sp>
        <p:nvSpPr>
          <p:cNvPr id="111" name="矩形 110"/>
          <p:cNvSpPr>
            <a:spLocks noGrp="1"/>
          </p:cNvSpPr>
          <p:nvPr/>
        </p:nvSpPr>
        <p:spPr>
          <a:xfrm>
            <a:off x="657225" y="6172200"/>
            <a:ext cx="10877550" cy="190500"/>
          </a:xfrm>
          <a:prstGeom prst="rect">
            <a:avLst/>
          </a:prstGeom>
        </p:spPr>
        <p:txBody>
          <a:bodyPr anchor="ctr"/>
          <a:lstStyle/>
          <a:p>
            <a:pPr algn="l">
              <a:defRPr sz="720" b="0">
                <a:solidFill>
                  <a:srgbClr val="44585C"/>
                </a:solidFill>
              </a:defRPr>
            </a:pPr>
            <a:r>
              <a:t>本章讲完进入第五章 · 能力与编排。</a:t>
            </a:r>
          </a:p>
        </p:txBody>
      </p:sp>
      <p:sp>
        <p:nvSpPr>
          <p:cNvPr id="112" name="圆角矩形 111"/>
          <p:cNvSpPr>
            <a:spLocks noGrp="1"/>
          </p:cNvSpPr>
          <p:nvPr/>
        </p:nvSpPr>
        <p:spPr>
          <a:xfrm>
            <a:off x="6565583" y="127635"/>
            <a:ext cx="4937760" cy="365760"/>
          </a:xfrm>
          <a:prstGeom prst="roundRect">
            <a:avLst>
              <a:gd name="adj" fmla="val 20833"/>
            </a:avLst>
          </a:prstGeom>
          <a:solidFill>
            <a:srgbClr val="F7FBF9"/>
          </a:solidFill>
          <a:ln w="12668">
            <a:solidFill>
              <a:srgbClr val="F7FBF9"/>
            </a:solidFill>
            <a:prstDash val="solid"/>
          </a:ln>
        </p:spPr>
        <p:txBody>
          <a:bodyPr/>
          <a:p/>
        </p:txBody>
      </p:sp>
      <p:sp>
        <p:nvSpPr>
          <p:cNvPr id="113" name="圆角矩形 112"/>
          <p:cNvSpPr>
            <a:spLocks noGrp="1"/>
          </p:cNvSpPr>
          <p:nvPr/>
        </p:nvSpPr>
        <p:spPr>
          <a:xfrm>
            <a:off x="6657023" y="164783"/>
            <a:ext cx="1154430" cy="264795"/>
          </a:xfrm>
          <a:prstGeom prst="roundRect">
            <a:avLst>
              <a:gd name="adj" fmla="val 28777"/>
            </a:avLst>
          </a:prstGeom>
          <a:solidFill>
            <a:srgbClr val="007574"/>
          </a:solidFill>
          <a:ln w="12668">
            <a:solidFill>
              <a:srgbClr val="007574"/>
            </a:solidFill>
            <a:prstDash val="solid"/>
          </a:ln>
        </p:spPr>
        <p:txBody>
          <a:bodyPr/>
          <a:p/>
        </p:txBody>
      </p:sp>
      <p:sp>
        <p:nvSpPr>
          <p:cNvPr id="114" name="矩形 113"/>
          <p:cNvSpPr>
            <a:spLocks noGrp="1"/>
          </p:cNvSpPr>
          <p:nvPr/>
        </p:nvSpPr>
        <p:spPr>
          <a:xfrm>
            <a:off x="6657023" y="187643"/>
            <a:ext cx="1154430" cy="182880"/>
          </a:xfrm>
          <a:prstGeom prst="rect">
            <a:avLst/>
          </a:prstGeom>
        </p:spPr>
        <p:txBody>
          <a:bodyPr anchor="ctr"/>
          <a:lstStyle/>
          <a:p>
            <a:pPr algn="ctr">
              <a:defRPr sz="660" b="1">
                <a:solidFill>
                  <a:srgbClr val="FFFFFF"/>
                </a:solidFill>
              </a:defRPr>
            </a:pPr>
            <a:r>
              <a:t>理解</a:t>
            </a:r>
          </a:p>
        </p:txBody>
      </p:sp>
      <p:sp>
        <p:nvSpPr>
          <p:cNvPr id="115" name="圆角矩形 114"/>
          <p:cNvSpPr>
            <a:spLocks noGrp="1"/>
          </p:cNvSpPr>
          <p:nvPr/>
        </p:nvSpPr>
        <p:spPr>
          <a:xfrm>
            <a:off x="7857173" y="164783"/>
            <a:ext cx="1154430" cy="264795"/>
          </a:xfrm>
          <a:prstGeom prst="roundRect">
            <a:avLst>
              <a:gd name="adj" fmla="val 28777"/>
            </a:avLst>
          </a:prstGeom>
          <a:solidFill>
            <a:srgbClr val="FFFFFF"/>
          </a:solidFill>
          <a:ln w="12668">
            <a:solidFill>
              <a:srgbClr val="C9DCD7"/>
            </a:solidFill>
            <a:prstDash val="solid"/>
          </a:ln>
        </p:spPr>
        <p:txBody>
          <a:bodyPr/>
          <a:p/>
        </p:txBody>
      </p:sp>
      <p:sp>
        <p:nvSpPr>
          <p:cNvPr id="116" name="矩形 115"/>
          <p:cNvSpPr>
            <a:spLocks noGrp="1"/>
          </p:cNvSpPr>
          <p:nvPr/>
        </p:nvSpPr>
        <p:spPr>
          <a:xfrm>
            <a:off x="7857173" y="187643"/>
            <a:ext cx="1154430" cy="182880"/>
          </a:xfrm>
          <a:prstGeom prst="rect">
            <a:avLst/>
          </a:prstGeom>
        </p:spPr>
        <p:txBody>
          <a:bodyPr anchor="ctr"/>
          <a:lstStyle/>
          <a:p>
            <a:pPr algn="ctr">
              <a:defRPr sz="650" b="0">
                <a:solidFill>
                  <a:srgbClr val="44585C"/>
                </a:solidFill>
              </a:defRPr>
            </a:pPr>
            <a:r>
              <a:t>查询</a:t>
            </a:r>
          </a:p>
        </p:txBody>
      </p:sp>
      <p:sp>
        <p:nvSpPr>
          <p:cNvPr id="117" name="圆角矩形 116"/>
          <p:cNvSpPr>
            <a:spLocks noGrp="1"/>
          </p:cNvSpPr>
          <p:nvPr/>
        </p:nvSpPr>
        <p:spPr>
          <a:xfrm>
            <a:off x="9057323" y="164783"/>
            <a:ext cx="1154430" cy="264795"/>
          </a:xfrm>
          <a:prstGeom prst="roundRect">
            <a:avLst>
              <a:gd name="adj" fmla="val 28777"/>
            </a:avLst>
          </a:prstGeom>
          <a:solidFill>
            <a:srgbClr val="FFFFFF"/>
          </a:solidFill>
          <a:ln w="12668">
            <a:solidFill>
              <a:srgbClr val="C9DCD7"/>
            </a:solidFill>
            <a:prstDash val="solid"/>
          </a:ln>
        </p:spPr>
        <p:txBody>
          <a:bodyPr/>
          <a:p/>
        </p:txBody>
      </p:sp>
      <p:sp>
        <p:nvSpPr>
          <p:cNvPr id="118" name="矩形 117"/>
          <p:cNvSpPr>
            <a:spLocks noGrp="1"/>
          </p:cNvSpPr>
          <p:nvPr/>
        </p:nvSpPr>
        <p:spPr>
          <a:xfrm>
            <a:off x="9057323" y="187643"/>
            <a:ext cx="1154430" cy="182880"/>
          </a:xfrm>
          <a:prstGeom prst="rect">
            <a:avLst/>
          </a:prstGeom>
        </p:spPr>
        <p:txBody>
          <a:bodyPr anchor="ctr"/>
          <a:lstStyle/>
          <a:p>
            <a:pPr algn="ctr">
              <a:defRPr sz="650" b="0">
                <a:solidFill>
                  <a:srgbClr val="44585C"/>
                </a:solidFill>
              </a:defRPr>
            </a:pPr>
            <a:r>
              <a:t>决策</a:t>
            </a:r>
          </a:p>
        </p:txBody>
      </p:sp>
      <p:sp>
        <p:nvSpPr>
          <p:cNvPr id="119" name="圆角矩形 118"/>
          <p:cNvSpPr>
            <a:spLocks noGrp="1"/>
          </p:cNvSpPr>
          <p:nvPr/>
        </p:nvSpPr>
        <p:spPr>
          <a:xfrm>
            <a:off x="10257473" y="164783"/>
            <a:ext cx="1154430" cy="264795"/>
          </a:xfrm>
          <a:prstGeom prst="roundRect">
            <a:avLst>
              <a:gd name="adj" fmla="val 28777"/>
            </a:avLst>
          </a:prstGeom>
          <a:solidFill>
            <a:srgbClr val="FFFFFF"/>
          </a:solidFill>
          <a:ln w="12668">
            <a:solidFill>
              <a:srgbClr val="C9DCD7"/>
            </a:solidFill>
            <a:prstDash val="solid"/>
          </a:ln>
        </p:spPr>
        <p:txBody>
          <a:bodyPr/>
          <a:p/>
        </p:txBody>
      </p:sp>
      <p:sp>
        <p:nvSpPr>
          <p:cNvPr id="120" name="矩形 119"/>
          <p:cNvSpPr>
            <a:spLocks noGrp="1"/>
          </p:cNvSpPr>
          <p:nvPr/>
        </p:nvSpPr>
        <p:spPr>
          <a:xfrm>
            <a:off x="10257473" y="187643"/>
            <a:ext cx="1154430" cy="182880"/>
          </a:xfrm>
          <a:prstGeom prst="rect">
            <a:avLst/>
          </a:prstGeom>
        </p:spPr>
        <p:txBody>
          <a:bodyPr anchor="ctr"/>
          <a:lstStyle/>
          <a:p>
            <a:pPr algn="ctr">
              <a:defRPr sz="650" b="0">
                <a:solidFill>
                  <a:srgbClr val="44585C"/>
                </a:solidFill>
              </a:defRPr>
            </a:pPr>
            <a:r>
              <a:t>执行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>
            <a:spLocks noGrp="1"/>
          </p:cNvSpPr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" name="Rectangle 2"/>
          <p:cNvSpPr>
            <a:spLocks noGrp="1"/>
          </p:cNvSpPr>
          <p:nvPr/>
        </p:nvSpPr>
        <p:spPr>
          <a:xfrm>
            <a:off x="0" y="0"/>
            <a:ext cx="41148" cy="6858000"/>
          </a:xfrm>
          <a:prstGeom prst="rect">
            <a:avLst/>
          </a:prstGeom>
          <a:solidFill>
            <a:srgbClr val="0A8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4" name="Oval 3"/>
          <p:cNvSpPr>
            <a:spLocks noGrp="1"/>
          </p:cNvSpPr>
          <p:nvPr/>
        </p:nvSpPr>
        <p:spPr>
          <a:xfrm>
            <a:off x="658368" y="384048"/>
            <a:ext cx="73152" cy="73152"/>
          </a:xfrm>
          <a:prstGeom prst="ellipse">
            <a:avLst/>
          </a:prstGeom>
          <a:solidFill>
            <a:srgbClr val="0A8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5" name="Rectangle 4"/>
          <p:cNvSpPr>
            <a:spLocks noGrp="1"/>
          </p:cNvSpPr>
          <p:nvPr/>
        </p:nvSpPr>
        <p:spPr>
          <a:xfrm>
            <a:off x="768096" y="420624"/>
            <a:ext cx="411480" cy="16459"/>
          </a:xfrm>
          <a:prstGeom prst="rect">
            <a:avLst/>
          </a:prstGeom>
          <a:solidFill>
            <a:srgbClr val="0A8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6" name="TextBox 5"/>
          <p:cNvSpPr>
            <a:spLocks noGrp="1"/>
          </p:cNvSpPr>
          <p:nvPr/>
        </p:nvSpPr>
        <p:spPr>
          <a:xfrm>
            <a:off x="1225296" y="256032"/>
            <a:ext cx="41148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050" b="1">
                <a:solidFill>
                  <a:srgbClr val="076B50"/>
                </a:solidFill>
                <a:latin typeface="Noto Sans CJK SC"/>
                <a:ea typeface="Noto Sans CJK SC"/>
                <a:cs typeface="Noto Sans CJK SC"/>
              </a:rPr>
              <a:t>CHAPTER 4 · 上下文与知识</a:t>
            </a:r>
            <a:endParaRPr sz="1050" b="1">
              <a:solidFill>
                <a:srgbClr val="00A7A7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" name="TextBox 6"/>
          <p:cNvSpPr>
            <a:spLocks noGrp="1"/>
          </p:cNvSpPr>
          <p:nvPr/>
        </p:nvSpPr>
        <p:spPr>
          <a:xfrm>
            <a:off x="658368" y="694944"/>
            <a:ext cx="10652760" cy="47548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</a:pPr>
            <a:r>
              <a:rPr sz="2720" b="1" i="0">
                <a:solidFill>
                  <a:srgbClr val="14383E"/>
                </a:solidFill>
                <a:latin typeface="Noto Sans CJK SC"/>
                <a:ea typeface="Noto Sans CJK SC"/>
                <a:cs typeface="Noto Sans CJK SC"/>
              </a:rPr>
              <a:t>上下文设计总览</a:t>
            </a:r>
            <a:endParaRPr sz="2720" b="1" i="0">
              <a:solidFill>
                <a:srgbClr val="14383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8" name="TextBox 7"/>
          <p:cNvSpPr>
            <a:spLocks noGrp="1"/>
          </p:cNvSpPr>
          <p:nvPr/>
        </p:nvSpPr>
        <p:spPr>
          <a:xfrm>
            <a:off x="658368" y="1170432"/>
            <a:ext cx="10561320" cy="31089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</a:pPr>
            <a:r>
              <a:rPr sz="1170" b="0" i="0">
                <a:solidFill>
                  <a:srgbClr val="44585C"/>
                </a:solidFill>
                <a:latin typeface="Noto Sans CJK SC"/>
                <a:ea typeface="Noto Sans CJK SC"/>
                <a:cs typeface="Noto Sans CJK SC"/>
              </a:rPr>
              <a:t>只拿当前任务需要的事实，压缩长内容，并隔离无关历史和无权限信息；RAG 只是其中一个来源。</a:t>
            </a:r>
            <a:endParaRPr sz="1170" b="0" i="0">
              <a:solidFill>
                <a:srgbClr val="6B8185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9" name="Rectangle 8"/>
          <p:cNvSpPr>
            <a:spLocks noGrp="1"/>
          </p:cNvSpPr>
          <p:nvPr/>
        </p:nvSpPr>
        <p:spPr>
          <a:xfrm>
            <a:off x="658368" y="6501384"/>
            <a:ext cx="10835640" cy="10972"/>
          </a:xfrm>
          <a:prstGeom prst="rect">
            <a:avLst/>
          </a:prstGeom>
          <a:solidFill>
            <a:srgbClr val="C9DC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0" name="TextBox 9"/>
          <p:cNvSpPr>
            <a:spLocks noGrp="1"/>
          </p:cNvSpPr>
          <p:nvPr/>
        </p:nvSpPr>
        <p:spPr>
          <a:xfrm>
            <a:off x="658368" y="6547104"/>
            <a:ext cx="237744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780" b="1" i="0">
                <a:solidFill>
                  <a:srgbClr val="5C7276"/>
                </a:solidFill>
                <a:latin typeface="Noto Sans CJK SC"/>
                <a:ea typeface="Noto Sans CJK SC"/>
                <a:cs typeface="Noto Sans CJK SC"/>
              </a:rPr>
              <a:t>CUSTOMER SERVICE AI AGENT</a:t>
            </a:r>
            <a:endParaRPr sz="780" b="1" i="0">
              <a:solidFill>
                <a:srgbClr val="98ACA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1" name="TextBox 10"/>
          <p:cNvSpPr>
            <a:spLocks noGrp="1"/>
          </p:cNvSpPr>
          <p:nvPr/>
        </p:nvSpPr>
        <p:spPr>
          <a:xfrm>
            <a:off x="10680192" y="6519672"/>
            <a:ext cx="82296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buNone/>
            </a:pPr>
            <a:r>
              <a:rPr sz="880" b="1">
                <a:solidFill>
                  <a:srgbClr val="076B50"/>
                </a:solidFill>
                <a:latin typeface="Noto Sans CJK SC"/>
                <a:ea typeface="Noto Sans CJK SC"/>
                <a:cs typeface="Noto Sans CJK SC"/>
              </a:rPr>
              <a:t>27</a:t>
            </a:r>
            <a:endParaRPr sz="880" b="1">
              <a:solidFill>
                <a:srgbClr val="00A7A7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2" name="Rounded Rectangle 11"/>
          <p:cNvSpPr>
            <a:spLocks noGrp="1"/>
          </p:cNvSpPr>
          <p:nvPr/>
        </p:nvSpPr>
        <p:spPr>
          <a:xfrm>
            <a:off x="690372" y="1723644"/>
            <a:ext cx="2743200" cy="4407408"/>
          </a:xfrm>
          <a:prstGeom prst="roundRect">
            <a:avLst/>
          </a:prstGeom>
          <a:solidFill>
            <a:srgbClr val="E3E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3" name="Rounded Rectangle 12"/>
          <p:cNvSpPr>
            <a:spLocks noGrp="1"/>
          </p:cNvSpPr>
          <p:nvPr/>
        </p:nvSpPr>
        <p:spPr>
          <a:xfrm>
            <a:off x="658368" y="1682496"/>
            <a:ext cx="2743200" cy="44074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5" name="TextBox 14"/>
          <p:cNvSpPr>
            <a:spLocks noGrp="1"/>
          </p:cNvSpPr>
          <p:nvPr/>
        </p:nvSpPr>
        <p:spPr>
          <a:xfrm>
            <a:off x="914400" y="1883664"/>
            <a:ext cx="98755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300" b="1" i="0">
                <a:solidFill>
                  <a:srgbClr val="14383E"/>
                </a:solidFill>
                <a:latin typeface="Noto Sans CJK SC"/>
                <a:ea typeface="Noto Sans CJK SC"/>
                <a:cs typeface="Noto Sans CJK SC"/>
              </a:rPr>
              <a:t>信息来源</a:t>
            </a:r>
            <a:endParaRPr sz="1300" b="1" i="0">
              <a:solidFill>
                <a:srgbClr val="14383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6" name="Rounded Rectangle 15"/>
          <p:cNvSpPr>
            <a:spLocks noGrp="1"/>
          </p:cNvSpPr>
          <p:nvPr/>
        </p:nvSpPr>
        <p:spPr>
          <a:xfrm>
            <a:off x="914400" y="2359152"/>
            <a:ext cx="2212848" cy="365760"/>
          </a:xfrm>
          <a:prstGeom prst="roundRect">
            <a:avLst/>
          </a:prstGeom>
          <a:solidFill>
            <a:srgbClr val="EAF2FF"/>
          </a:solidFill>
          <a:ln w="10160"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7" name="Oval 16"/>
          <p:cNvSpPr>
            <a:spLocks noGrp="1"/>
          </p:cNvSpPr>
          <p:nvPr/>
        </p:nvSpPr>
        <p:spPr>
          <a:xfrm>
            <a:off x="1078992" y="2450592"/>
            <a:ext cx="182880" cy="182880"/>
          </a:xfrm>
          <a:prstGeom prst="ellipse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8" name="TextBox 17"/>
          <p:cNvSpPr>
            <a:spLocks noGrp="1"/>
          </p:cNvSpPr>
          <p:nvPr/>
        </p:nvSpPr>
        <p:spPr>
          <a:xfrm>
            <a:off x="1389888" y="2432304"/>
            <a:ext cx="1508760" cy="20116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</a:pPr>
            <a:r>
              <a:rPr sz="790" b="1" i="0">
                <a:solidFill>
                  <a:srgbClr val="14383E"/>
                </a:solidFill>
                <a:latin typeface="Noto Sans CJK SC"/>
                <a:ea typeface="Noto Sans CJK SC"/>
                <a:cs typeface="Noto Sans CJK SC"/>
              </a:rPr>
              <a:t>客户诉求与会话</a:t>
            </a:r>
            <a:endParaRPr sz="790" b="1" i="0">
              <a:solidFill>
                <a:srgbClr val="14383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9" name="Rounded Rectangle 18"/>
          <p:cNvSpPr>
            <a:spLocks noGrp="1"/>
          </p:cNvSpPr>
          <p:nvPr/>
        </p:nvSpPr>
        <p:spPr>
          <a:xfrm>
            <a:off x="914400" y="2889504"/>
            <a:ext cx="2212848" cy="365760"/>
          </a:xfrm>
          <a:prstGeom prst="roundRect">
            <a:avLst/>
          </a:prstGeom>
          <a:solidFill>
            <a:srgbClr val="E6F7F6"/>
          </a:solidFill>
          <a:ln w="10160">
            <a:solidFill>
              <a:srgbClr val="00A7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0" name="Oval 19"/>
          <p:cNvSpPr>
            <a:spLocks noGrp="1"/>
          </p:cNvSpPr>
          <p:nvPr/>
        </p:nvSpPr>
        <p:spPr>
          <a:xfrm>
            <a:off x="1078992" y="2980944"/>
            <a:ext cx="182880" cy="182880"/>
          </a:xfrm>
          <a:prstGeom prst="ellipse">
            <a:avLst/>
          </a:prstGeom>
          <a:solidFill>
            <a:srgbClr val="00A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1" name="TextBox 20"/>
          <p:cNvSpPr>
            <a:spLocks noGrp="1"/>
          </p:cNvSpPr>
          <p:nvPr/>
        </p:nvSpPr>
        <p:spPr>
          <a:xfrm>
            <a:off x="1389888" y="2962656"/>
            <a:ext cx="1508760" cy="20116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</a:pPr>
            <a:r>
              <a:rPr sz="790" b="1" i="0">
                <a:solidFill>
                  <a:srgbClr val="14383E"/>
                </a:solidFill>
                <a:latin typeface="Noto Sans CJK SC"/>
                <a:ea typeface="Noto Sans CJK SC"/>
                <a:cs typeface="Noto Sans CJK SC"/>
              </a:rPr>
              <a:t>订单 / 履约 / 退款状态</a:t>
            </a:r>
            <a:endParaRPr sz="790" b="1" i="0">
              <a:solidFill>
                <a:srgbClr val="14383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2" name="Rounded Rectangle 21"/>
          <p:cNvSpPr>
            <a:spLocks noGrp="1"/>
          </p:cNvSpPr>
          <p:nvPr/>
        </p:nvSpPr>
        <p:spPr>
          <a:xfrm>
            <a:off x="914400" y="3419856"/>
            <a:ext cx="2212848" cy="365760"/>
          </a:xfrm>
          <a:prstGeom prst="roundRect">
            <a:avLst/>
          </a:prstGeom>
          <a:solidFill>
            <a:srgbClr val="E8F6F0"/>
          </a:solidFill>
          <a:ln w="10160">
            <a:solidFill>
              <a:srgbClr val="0A8F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3" name="Oval 22"/>
          <p:cNvSpPr>
            <a:spLocks noGrp="1"/>
          </p:cNvSpPr>
          <p:nvPr/>
        </p:nvSpPr>
        <p:spPr>
          <a:xfrm>
            <a:off x="1078992" y="3511296"/>
            <a:ext cx="182880" cy="182880"/>
          </a:xfrm>
          <a:prstGeom prst="ellipse">
            <a:avLst/>
          </a:prstGeom>
          <a:solidFill>
            <a:srgbClr val="0A8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4" name="TextBox 23"/>
          <p:cNvSpPr>
            <a:spLocks noGrp="1"/>
          </p:cNvSpPr>
          <p:nvPr/>
        </p:nvSpPr>
        <p:spPr>
          <a:xfrm>
            <a:off x="1389888" y="3493008"/>
            <a:ext cx="1508760" cy="20116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</a:pPr>
            <a:r>
              <a:rPr sz="790" b="1" i="0">
                <a:solidFill>
                  <a:srgbClr val="14383E"/>
                </a:solidFill>
                <a:latin typeface="Noto Sans CJK SC"/>
                <a:ea typeface="Noto Sans CJK SC"/>
                <a:cs typeface="Noto Sans CJK SC"/>
              </a:rPr>
              <a:t>知识与业务规则</a:t>
            </a:r>
            <a:endParaRPr sz="790" b="1" i="0">
              <a:solidFill>
                <a:srgbClr val="14383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5" name="Rounded Rectangle 24"/>
          <p:cNvSpPr>
            <a:spLocks noGrp="1"/>
          </p:cNvSpPr>
          <p:nvPr/>
        </p:nvSpPr>
        <p:spPr>
          <a:xfrm>
            <a:off x="914400" y="3950208"/>
            <a:ext cx="2212848" cy="365760"/>
          </a:xfrm>
          <a:prstGeom prst="roundRect">
            <a:avLst/>
          </a:prstGeom>
          <a:solidFill>
            <a:srgbClr val="EFEEFF"/>
          </a:solidFill>
          <a:ln w="10160">
            <a:solidFill>
              <a:srgbClr val="6B6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6" name="Oval 25"/>
          <p:cNvSpPr>
            <a:spLocks noGrp="1"/>
          </p:cNvSpPr>
          <p:nvPr/>
        </p:nvSpPr>
        <p:spPr>
          <a:xfrm>
            <a:off x="1078992" y="4041648"/>
            <a:ext cx="182880" cy="182880"/>
          </a:xfrm>
          <a:prstGeom prst="ellipse">
            <a:avLst/>
          </a:prstGeom>
          <a:solidFill>
            <a:srgbClr val="6B6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7" name="TextBox 26"/>
          <p:cNvSpPr>
            <a:spLocks noGrp="1"/>
          </p:cNvSpPr>
          <p:nvPr/>
        </p:nvSpPr>
        <p:spPr>
          <a:xfrm>
            <a:off x="1389888" y="4023360"/>
            <a:ext cx="1508760" cy="20116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</a:pPr>
            <a:r>
              <a:rPr sz="790" b="1" i="0">
                <a:solidFill>
                  <a:srgbClr val="14383E"/>
                </a:solidFill>
                <a:latin typeface="Noto Sans CJK SC"/>
                <a:ea typeface="Noto Sans CJK SC"/>
                <a:cs typeface="Noto Sans CJK SC"/>
              </a:rPr>
              <a:t>RAG 检索证据</a:t>
            </a:r>
            <a:endParaRPr sz="790" b="1" i="0">
              <a:solidFill>
                <a:srgbClr val="14383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8" name="Rounded Rectangle 27"/>
          <p:cNvSpPr>
            <a:spLocks noGrp="1"/>
          </p:cNvSpPr>
          <p:nvPr/>
        </p:nvSpPr>
        <p:spPr>
          <a:xfrm>
            <a:off x="914400" y="4480560"/>
            <a:ext cx="2212848" cy="365760"/>
          </a:xfrm>
          <a:prstGeom prst="roundRect">
            <a:avLst/>
          </a:prstGeom>
          <a:solidFill>
            <a:srgbClr val="FFF0E4"/>
          </a:solidFill>
          <a:ln w="10160">
            <a:solidFill>
              <a:srgbClr val="F28B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9" name="Oval 28"/>
          <p:cNvSpPr>
            <a:spLocks noGrp="1"/>
          </p:cNvSpPr>
          <p:nvPr/>
        </p:nvSpPr>
        <p:spPr>
          <a:xfrm>
            <a:off x="1078992" y="4572000"/>
            <a:ext cx="182880" cy="182880"/>
          </a:xfrm>
          <a:prstGeom prst="ellipse">
            <a:avLst/>
          </a:prstGeom>
          <a:solidFill>
            <a:srgbClr val="F28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0" name="TextBox 29"/>
          <p:cNvSpPr>
            <a:spLocks noGrp="1"/>
          </p:cNvSpPr>
          <p:nvPr/>
        </p:nvSpPr>
        <p:spPr>
          <a:xfrm>
            <a:off x="1389888" y="4553712"/>
            <a:ext cx="1508760" cy="20116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</a:pPr>
            <a:r>
              <a:rPr sz="790" b="1" i="0">
                <a:solidFill>
                  <a:srgbClr val="14383E"/>
                </a:solidFill>
                <a:latin typeface="Noto Sans CJK SC"/>
                <a:ea typeface="Noto Sans CJK SC"/>
                <a:cs typeface="Noto Sans CJK SC"/>
              </a:rPr>
              <a:t>客户确认与人工审核</a:t>
            </a:r>
            <a:endParaRPr sz="790" b="1" i="0">
              <a:solidFill>
                <a:srgbClr val="14383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1" name="Rounded Rectangle 30"/>
          <p:cNvSpPr>
            <a:spLocks noGrp="1"/>
          </p:cNvSpPr>
          <p:nvPr/>
        </p:nvSpPr>
        <p:spPr>
          <a:xfrm>
            <a:off x="914400" y="5010912"/>
            <a:ext cx="2212848" cy="365760"/>
          </a:xfrm>
          <a:prstGeom prst="roundRect">
            <a:avLst/>
          </a:prstGeom>
          <a:solidFill>
            <a:srgbClr val="FDECE9"/>
          </a:solidFill>
          <a:ln w="10160">
            <a:solidFill>
              <a:srgbClr val="E257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2" name="Oval 31"/>
          <p:cNvSpPr>
            <a:spLocks noGrp="1"/>
          </p:cNvSpPr>
          <p:nvPr/>
        </p:nvSpPr>
        <p:spPr>
          <a:xfrm>
            <a:off x="1078992" y="5102352"/>
            <a:ext cx="182880" cy="182880"/>
          </a:xfrm>
          <a:prstGeom prst="ellipse">
            <a:avLst/>
          </a:prstGeom>
          <a:solidFill>
            <a:srgbClr val="E257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3" name="TextBox 32"/>
          <p:cNvSpPr>
            <a:spLocks noGrp="1"/>
          </p:cNvSpPr>
          <p:nvPr/>
        </p:nvSpPr>
        <p:spPr>
          <a:xfrm>
            <a:off x="1389888" y="5084064"/>
            <a:ext cx="1508760" cy="20116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</a:pPr>
            <a:r>
              <a:rPr sz="790" b="1" i="0">
                <a:solidFill>
                  <a:srgbClr val="14383E"/>
                </a:solidFill>
                <a:latin typeface="Noto Sans CJK SC"/>
                <a:ea typeface="Noto Sans CJK SC"/>
                <a:cs typeface="Noto Sans CJK SC"/>
              </a:rPr>
              <a:t>权限与风险状态</a:t>
            </a:r>
            <a:endParaRPr sz="790" b="1" i="0">
              <a:solidFill>
                <a:srgbClr val="14383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4" name="Right Arrow 33"/>
          <p:cNvSpPr>
            <a:spLocks noGrp="1"/>
          </p:cNvSpPr>
          <p:nvPr/>
        </p:nvSpPr>
        <p:spPr>
          <a:xfrm>
            <a:off x="3584448" y="3474720"/>
            <a:ext cx="438912" cy="566928"/>
          </a:xfrm>
          <a:prstGeom prst="rightArrow">
            <a:avLst/>
          </a:prstGeom>
          <a:solidFill>
            <a:srgbClr val="00A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5" name="Rounded Rectangle 34"/>
          <p:cNvSpPr>
            <a:spLocks noGrp="1"/>
          </p:cNvSpPr>
          <p:nvPr/>
        </p:nvSpPr>
        <p:spPr>
          <a:xfrm>
            <a:off x="4201668" y="1723644"/>
            <a:ext cx="3035808" cy="4407408"/>
          </a:xfrm>
          <a:prstGeom prst="roundRect">
            <a:avLst/>
          </a:prstGeom>
          <a:solidFill>
            <a:srgbClr val="E3E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6" name="Rounded Rectangle 35"/>
          <p:cNvSpPr>
            <a:spLocks noGrp="1"/>
          </p:cNvSpPr>
          <p:nvPr/>
        </p:nvSpPr>
        <p:spPr>
          <a:xfrm>
            <a:off x="4169663" y="1682496"/>
            <a:ext cx="3035808" cy="44074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A7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8" name="TextBox 37"/>
          <p:cNvSpPr>
            <a:spLocks noGrp="1"/>
          </p:cNvSpPr>
          <p:nvPr/>
        </p:nvSpPr>
        <p:spPr>
          <a:xfrm>
            <a:off x="4462272" y="1883664"/>
            <a:ext cx="129844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300" b="1" i="0">
                <a:solidFill>
                  <a:srgbClr val="14383E"/>
                </a:solidFill>
                <a:latin typeface="Noto Sans CJK SC"/>
                <a:ea typeface="Noto Sans CJK SC"/>
                <a:cs typeface="Noto Sans CJK SC"/>
              </a:rPr>
              <a:t>上下文处理</a:t>
            </a:r>
            <a:endParaRPr sz="1300" b="1" i="0">
              <a:solidFill>
                <a:srgbClr val="14383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9" name="Rounded Rectangle 38"/>
          <p:cNvSpPr>
            <a:spLocks noGrp="1"/>
          </p:cNvSpPr>
          <p:nvPr/>
        </p:nvSpPr>
        <p:spPr>
          <a:xfrm>
            <a:off x="4480560" y="2414016"/>
            <a:ext cx="2432304" cy="786384"/>
          </a:xfrm>
          <a:prstGeom prst="roundRect">
            <a:avLst/>
          </a:prstGeom>
          <a:solidFill>
            <a:srgbClr val="EAF2FF"/>
          </a:solidFill>
          <a:ln w="11430"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40" name="Rounded Rectangle 39"/>
          <p:cNvSpPr>
            <a:spLocks noGrp="1"/>
          </p:cNvSpPr>
          <p:nvPr/>
        </p:nvSpPr>
        <p:spPr>
          <a:xfrm>
            <a:off x="4663440" y="2542032"/>
            <a:ext cx="731520" cy="228600"/>
          </a:xfrm>
          <a:prstGeom prst="roundRect">
            <a:avLst/>
          </a:prstGeom>
          <a:solidFill>
            <a:srgbClr val="1F63C4"/>
          </a:solidFill>
          <a:ln w="10160">
            <a:solidFill>
              <a:srgbClr val="1F63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41" name="TextBox 40"/>
          <p:cNvSpPr>
            <a:spLocks noGrp="1"/>
          </p:cNvSpPr>
          <p:nvPr/>
        </p:nvSpPr>
        <p:spPr>
          <a:xfrm>
            <a:off x="4681727" y="2551176"/>
            <a:ext cx="694944" cy="21031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</a:pPr>
            <a:r>
              <a:rPr sz="680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SELECT</a:t>
            </a:r>
            <a:endParaRPr sz="680" b="1" i="0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2" name="TextBox 41"/>
          <p:cNvSpPr>
            <a:spLocks noGrp="1"/>
          </p:cNvSpPr>
          <p:nvPr/>
        </p:nvSpPr>
        <p:spPr>
          <a:xfrm>
            <a:off x="5504688" y="2505456"/>
            <a:ext cx="1225296" cy="23774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</a:pPr>
            <a:r>
              <a:rPr sz="780" b="1" i="0">
                <a:solidFill>
                  <a:srgbClr val="14383E"/>
                </a:solidFill>
                <a:latin typeface="Noto Sans CJK SC"/>
                <a:ea typeface="Noto Sans CJK SC"/>
                <a:cs typeface="Noto Sans CJK SC"/>
              </a:rPr>
              <a:t>只保留当前任务需要的信息</a:t>
            </a:r>
            <a:endParaRPr sz="780" b="1" i="0">
              <a:solidFill>
                <a:srgbClr val="14383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3" name="TextBox 42"/>
          <p:cNvSpPr>
            <a:spLocks noGrp="1"/>
          </p:cNvSpPr>
          <p:nvPr/>
        </p:nvSpPr>
        <p:spPr>
          <a:xfrm>
            <a:off x="4663440" y="2871216"/>
            <a:ext cx="2011680" cy="20116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</a:pPr>
            <a:r>
              <a:rPr sz="680" b="0" i="0">
                <a:solidFill>
                  <a:srgbClr val="44585C"/>
                </a:solidFill>
                <a:latin typeface="Noto Sans CJK SC"/>
                <a:ea typeface="Noto Sans CJK SC"/>
                <a:cs typeface="Noto Sans CJK SC"/>
              </a:rPr>
              <a:t>排除无关历史与其他场景规则</a:t>
            </a:r>
            <a:endParaRPr sz="680" b="0" i="0">
              <a:solidFill>
                <a:srgbClr val="6B8185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4" name="Rounded Rectangle 43"/>
          <p:cNvSpPr>
            <a:spLocks noGrp="1"/>
          </p:cNvSpPr>
          <p:nvPr/>
        </p:nvSpPr>
        <p:spPr>
          <a:xfrm>
            <a:off x="4480560" y="3401568"/>
            <a:ext cx="2432304" cy="786384"/>
          </a:xfrm>
          <a:prstGeom prst="roundRect">
            <a:avLst/>
          </a:prstGeom>
          <a:solidFill>
            <a:srgbClr val="E6F7F6"/>
          </a:solidFill>
          <a:ln w="11430">
            <a:solidFill>
              <a:srgbClr val="00A7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45" name="Rounded Rectangle 44"/>
          <p:cNvSpPr>
            <a:spLocks noGrp="1"/>
          </p:cNvSpPr>
          <p:nvPr/>
        </p:nvSpPr>
        <p:spPr>
          <a:xfrm>
            <a:off x="4663440" y="3529584"/>
            <a:ext cx="731520" cy="228600"/>
          </a:xfrm>
          <a:prstGeom prst="roundRect">
            <a:avLst/>
          </a:prstGeom>
          <a:solidFill>
            <a:srgbClr val="007574"/>
          </a:solidFill>
          <a:ln w="10160">
            <a:solidFill>
              <a:srgbClr val="0075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46" name="TextBox 45"/>
          <p:cNvSpPr>
            <a:spLocks noGrp="1"/>
          </p:cNvSpPr>
          <p:nvPr/>
        </p:nvSpPr>
        <p:spPr>
          <a:xfrm>
            <a:off x="4681727" y="3538728"/>
            <a:ext cx="694944" cy="21031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</a:pPr>
            <a:r>
              <a:rPr sz="680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COMPRESS</a:t>
            </a:r>
            <a:endParaRPr sz="680" b="1" i="0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7" name="TextBox 46"/>
          <p:cNvSpPr>
            <a:spLocks noGrp="1"/>
          </p:cNvSpPr>
          <p:nvPr/>
        </p:nvSpPr>
        <p:spPr>
          <a:xfrm>
            <a:off x="5504688" y="3493008"/>
            <a:ext cx="1225296" cy="23774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</a:pPr>
            <a:r>
              <a:rPr sz="780" b="1" i="0">
                <a:solidFill>
                  <a:srgbClr val="14383E"/>
                </a:solidFill>
                <a:latin typeface="Noto Sans CJK SC"/>
                <a:ea typeface="Noto Sans CJK SC"/>
                <a:cs typeface="Noto Sans CJK SC"/>
              </a:rPr>
              <a:t>摘要长会话、附件和检索结果</a:t>
            </a:r>
            <a:endParaRPr sz="780" b="1" i="0">
              <a:solidFill>
                <a:srgbClr val="14383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8" name="TextBox 47"/>
          <p:cNvSpPr>
            <a:spLocks noGrp="1"/>
          </p:cNvSpPr>
          <p:nvPr/>
        </p:nvSpPr>
        <p:spPr>
          <a:xfrm>
            <a:off x="4663440" y="3858768"/>
            <a:ext cx="2011680" cy="20116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</a:pPr>
            <a:r>
              <a:rPr sz="680" b="0" i="0">
                <a:solidFill>
                  <a:srgbClr val="44585C"/>
                </a:solidFill>
                <a:latin typeface="Noto Sans CJK SC"/>
                <a:ea typeface="Noto Sans CJK SC"/>
                <a:cs typeface="Noto Sans CJK SC"/>
              </a:rPr>
              <a:t>保留事实与出处</a:t>
            </a:r>
            <a:endParaRPr sz="680" b="0" i="0">
              <a:solidFill>
                <a:srgbClr val="6B8185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9" name="Rounded Rectangle 48"/>
          <p:cNvSpPr>
            <a:spLocks noGrp="1"/>
          </p:cNvSpPr>
          <p:nvPr/>
        </p:nvSpPr>
        <p:spPr>
          <a:xfrm>
            <a:off x="4480560" y="4389120"/>
            <a:ext cx="2432304" cy="786384"/>
          </a:xfrm>
          <a:prstGeom prst="roundRect">
            <a:avLst/>
          </a:prstGeom>
          <a:solidFill>
            <a:srgbClr val="EFEEFF"/>
          </a:solidFill>
          <a:ln w="11430">
            <a:solidFill>
              <a:srgbClr val="6B6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50" name="Rounded Rectangle 49"/>
          <p:cNvSpPr>
            <a:spLocks noGrp="1"/>
          </p:cNvSpPr>
          <p:nvPr/>
        </p:nvSpPr>
        <p:spPr>
          <a:xfrm>
            <a:off x="4663440" y="4517136"/>
            <a:ext cx="731520" cy="228600"/>
          </a:xfrm>
          <a:prstGeom prst="roundRect">
            <a:avLst/>
          </a:prstGeom>
          <a:solidFill>
            <a:srgbClr val="5356BE"/>
          </a:solidFill>
          <a:ln w="10160">
            <a:solidFill>
              <a:srgbClr val="535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51" name="TextBox 50"/>
          <p:cNvSpPr>
            <a:spLocks noGrp="1"/>
          </p:cNvSpPr>
          <p:nvPr/>
        </p:nvSpPr>
        <p:spPr>
          <a:xfrm>
            <a:off x="4681727" y="4526280"/>
            <a:ext cx="694944" cy="21031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</a:pPr>
            <a:r>
              <a:rPr sz="680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ISOLATE</a:t>
            </a:r>
            <a:endParaRPr sz="680" b="1" i="0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2" name="TextBox 51"/>
          <p:cNvSpPr>
            <a:spLocks noGrp="1"/>
          </p:cNvSpPr>
          <p:nvPr/>
        </p:nvSpPr>
        <p:spPr>
          <a:xfrm>
            <a:off x="5504688" y="4480560"/>
            <a:ext cx="1225296" cy="23774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</a:pPr>
            <a:r>
              <a:rPr sz="780" b="1" i="0">
                <a:solidFill>
                  <a:srgbClr val="14383E"/>
                </a:solidFill>
                <a:latin typeface="Noto Sans CJK SC"/>
                <a:ea typeface="Noto Sans CJK SC"/>
                <a:cs typeface="Noto Sans CJK SC"/>
              </a:rPr>
              <a:t>按场景、权限与 worker 隔离</a:t>
            </a:r>
            <a:endParaRPr sz="780" b="1" i="0">
              <a:solidFill>
                <a:srgbClr val="14383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3" name="TextBox 52"/>
          <p:cNvSpPr>
            <a:spLocks noGrp="1"/>
          </p:cNvSpPr>
          <p:nvPr/>
        </p:nvSpPr>
        <p:spPr>
          <a:xfrm>
            <a:off x="4663440" y="4846320"/>
            <a:ext cx="2011680" cy="20116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</a:pPr>
            <a:r>
              <a:rPr sz="680" b="0" i="0">
                <a:solidFill>
                  <a:srgbClr val="44585C"/>
                </a:solidFill>
                <a:latin typeface="Noto Sans CJK SC"/>
                <a:ea typeface="Noto Sans CJK SC"/>
                <a:cs typeface="Noto Sans CJK SC"/>
              </a:rPr>
              <a:t>避免串场与信息泄漏</a:t>
            </a:r>
            <a:endParaRPr sz="680" b="0" i="0">
              <a:solidFill>
                <a:srgbClr val="6B8185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4" name="Rounded Rectangle 53"/>
          <p:cNvSpPr>
            <a:spLocks noGrp="1"/>
          </p:cNvSpPr>
          <p:nvPr/>
        </p:nvSpPr>
        <p:spPr>
          <a:xfrm>
            <a:off x="4480560" y="5449824"/>
            <a:ext cx="2432304" cy="384048"/>
          </a:xfrm>
          <a:prstGeom prst="roundRect">
            <a:avLst/>
          </a:prstGeom>
          <a:solidFill>
            <a:srgbClr val="FDECE9"/>
          </a:solidFill>
          <a:ln w="10160">
            <a:solidFill>
              <a:srgbClr val="E257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55" name="TextBox 54"/>
          <p:cNvSpPr>
            <a:spLocks noGrp="1"/>
          </p:cNvSpPr>
          <p:nvPr/>
        </p:nvSpPr>
        <p:spPr>
          <a:xfrm>
            <a:off x="4553712" y="5541264"/>
            <a:ext cx="2286000" cy="18288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</a:pPr>
            <a:r>
              <a:rPr sz="680" b="1" i="0">
                <a:solidFill>
                  <a:srgbClr val="B8362C"/>
                </a:solidFill>
                <a:latin typeface="Noto Sans CJK SC"/>
                <a:ea typeface="Noto Sans CJK SC"/>
                <a:cs typeface="Noto Sans CJK SC"/>
              </a:rPr>
              <a:t>不进入：无关历史、未验证画像、无权限规则</a:t>
            </a:r>
            <a:endParaRPr sz="680" b="1" i="0">
              <a:solidFill>
                <a:srgbClr val="E2574C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6" name="Right Arrow 55"/>
          <p:cNvSpPr>
            <a:spLocks noGrp="1"/>
          </p:cNvSpPr>
          <p:nvPr/>
        </p:nvSpPr>
        <p:spPr>
          <a:xfrm>
            <a:off x="7370064" y="3474720"/>
            <a:ext cx="438912" cy="566928"/>
          </a:xfrm>
          <a:prstGeom prst="rightArrow">
            <a:avLst/>
          </a:prstGeom>
          <a:solidFill>
            <a:srgbClr val="00A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57" name="Rounded Rectangle 56"/>
          <p:cNvSpPr>
            <a:spLocks noGrp="1"/>
          </p:cNvSpPr>
          <p:nvPr/>
        </p:nvSpPr>
        <p:spPr>
          <a:xfrm>
            <a:off x="8005572" y="1723644"/>
            <a:ext cx="3529584" cy="4407408"/>
          </a:xfrm>
          <a:prstGeom prst="roundRect">
            <a:avLst/>
          </a:prstGeom>
          <a:solidFill>
            <a:srgbClr val="E3E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58" name="Rounded Rectangle 57"/>
          <p:cNvSpPr>
            <a:spLocks noGrp="1"/>
          </p:cNvSpPr>
          <p:nvPr/>
        </p:nvSpPr>
        <p:spPr>
          <a:xfrm>
            <a:off x="7973568" y="1682496"/>
            <a:ext cx="3529584" cy="44074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B6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60" name="TextBox 59"/>
          <p:cNvSpPr>
            <a:spLocks noGrp="1"/>
          </p:cNvSpPr>
          <p:nvPr/>
        </p:nvSpPr>
        <p:spPr>
          <a:xfrm>
            <a:off x="8266175" y="1883664"/>
            <a:ext cx="1408176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300" b="1" i="0">
                <a:solidFill>
                  <a:srgbClr val="14383E"/>
                </a:solidFill>
                <a:latin typeface="Noto Sans CJK SC"/>
                <a:ea typeface="Noto Sans CJK SC"/>
                <a:cs typeface="Noto Sans CJK SC"/>
              </a:rPr>
              <a:t>任务上下文包</a:t>
            </a:r>
            <a:endParaRPr sz="1300" b="1" i="0">
              <a:solidFill>
                <a:srgbClr val="14383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1" name="Rounded Rectangle 60"/>
          <p:cNvSpPr>
            <a:spLocks noGrp="1"/>
          </p:cNvSpPr>
          <p:nvPr/>
        </p:nvSpPr>
        <p:spPr>
          <a:xfrm>
            <a:off x="8266175" y="2359152"/>
            <a:ext cx="1956816" cy="292608"/>
          </a:xfrm>
          <a:prstGeom prst="roundRect">
            <a:avLst/>
          </a:prstGeom>
          <a:solidFill>
            <a:srgbClr val="EAF2FF"/>
          </a:solidFill>
          <a:ln w="8890"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62" name="TextBox 61"/>
          <p:cNvSpPr>
            <a:spLocks noGrp="1"/>
          </p:cNvSpPr>
          <p:nvPr/>
        </p:nvSpPr>
        <p:spPr>
          <a:xfrm>
            <a:off x="8266175" y="2423160"/>
            <a:ext cx="1956816" cy="1554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730" b="1" i="0">
                <a:solidFill>
                  <a:srgbClr val="1B5FC4"/>
                </a:solidFill>
                <a:latin typeface="Noto Sans CJK SC"/>
                <a:ea typeface="Noto Sans CJK SC"/>
                <a:cs typeface="Noto Sans CJK SC"/>
              </a:rPr>
              <a:t>当前诉求</a:t>
            </a:r>
            <a:endParaRPr sz="730" b="1" i="0">
              <a:solidFill>
                <a:srgbClr val="2F80ED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3" name="Rounded Rectangle 62"/>
          <p:cNvSpPr>
            <a:spLocks noGrp="1"/>
          </p:cNvSpPr>
          <p:nvPr/>
        </p:nvSpPr>
        <p:spPr>
          <a:xfrm>
            <a:off x="8266175" y="2788920"/>
            <a:ext cx="1956816" cy="292608"/>
          </a:xfrm>
          <a:prstGeom prst="roundRect">
            <a:avLst/>
          </a:prstGeom>
          <a:solidFill>
            <a:srgbClr val="E6F7F6"/>
          </a:solidFill>
          <a:ln w="8890">
            <a:solidFill>
              <a:srgbClr val="00A7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64" name="TextBox 63"/>
          <p:cNvSpPr>
            <a:spLocks noGrp="1"/>
          </p:cNvSpPr>
          <p:nvPr/>
        </p:nvSpPr>
        <p:spPr>
          <a:xfrm>
            <a:off x="8266175" y="2852927"/>
            <a:ext cx="1956816" cy="1554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730" b="1" i="0">
                <a:solidFill>
                  <a:srgbClr val="00706F"/>
                </a:solidFill>
                <a:latin typeface="Noto Sans CJK SC"/>
                <a:ea typeface="Noto Sans CJK SC"/>
                <a:cs typeface="Noto Sans CJK SC"/>
              </a:rPr>
              <a:t>会话摘要</a:t>
            </a:r>
            <a:endParaRPr sz="730" b="1" i="0">
              <a:solidFill>
                <a:srgbClr val="00A7A7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5" name="Rounded Rectangle 64"/>
          <p:cNvSpPr>
            <a:spLocks noGrp="1"/>
          </p:cNvSpPr>
          <p:nvPr/>
        </p:nvSpPr>
        <p:spPr>
          <a:xfrm>
            <a:off x="8266175" y="3218688"/>
            <a:ext cx="1956816" cy="292608"/>
          </a:xfrm>
          <a:prstGeom prst="roundRect">
            <a:avLst/>
          </a:prstGeom>
          <a:solidFill>
            <a:srgbClr val="E8F6F0"/>
          </a:solidFill>
          <a:ln w="8890">
            <a:solidFill>
              <a:srgbClr val="0A8F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66" name="TextBox 65"/>
          <p:cNvSpPr>
            <a:spLocks noGrp="1"/>
          </p:cNvSpPr>
          <p:nvPr/>
        </p:nvSpPr>
        <p:spPr>
          <a:xfrm>
            <a:off x="8266175" y="3282696"/>
            <a:ext cx="1956816" cy="1554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730" b="1" i="0">
                <a:solidFill>
                  <a:srgbClr val="076B50"/>
                </a:solidFill>
                <a:latin typeface="Noto Sans CJK SC"/>
                <a:ea typeface="Noto Sans CJK SC"/>
                <a:cs typeface="Noto Sans CJK SC"/>
              </a:rPr>
              <a:t>实时业务事实</a:t>
            </a:r>
            <a:endParaRPr sz="730" b="1" i="0">
              <a:solidFill>
                <a:srgbClr val="0A8F6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7" name="Rounded Rectangle 66"/>
          <p:cNvSpPr>
            <a:spLocks noGrp="1"/>
          </p:cNvSpPr>
          <p:nvPr/>
        </p:nvSpPr>
        <p:spPr>
          <a:xfrm>
            <a:off x="8266175" y="3648456"/>
            <a:ext cx="1956816" cy="292608"/>
          </a:xfrm>
          <a:prstGeom prst="roundRect">
            <a:avLst/>
          </a:prstGeom>
          <a:solidFill>
            <a:srgbClr val="EFEEFF"/>
          </a:solidFill>
          <a:ln w="8890">
            <a:solidFill>
              <a:srgbClr val="6B6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68" name="TextBox 67"/>
          <p:cNvSpPr>
            <a:spLocks noGrp="1"/>
          </p:cNvSpPr>
          <p:nvPr/>
        </p:nvSpPr>
        <p:spPr>
          <a:xfrm>
            <a:off x="8266175" y="3712464"/>
            <a:ext cx="1956816" cy="1554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730" b="1" i="0">
                <a:solidFill>
                  <a:srgbClr val="4A4EB0"/>
                </a:solidFill>
                <a:latin typeface="Noto Sans CJK SC"/>
                <a:ea typeface="Noto Sans CJK SC"/>
                <a:cs typeface="Noto Sans CJK SC"/>
              </a:rPr>
              <a:t>知识证据与出处</a:t>
            </a:r>
            <a:endParaRPr sz="730" b="1" i="0">
              <a:solidFill>
                <a:srgbClr val="6B6FD8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9" name="Rounded Rectangle 68"/>
          <p:cNvSpPr>
            <a:spLocks noGrp="1"/>
          </p:cNvSpPr>
          <p:nvPr/>
        </p:nvSpPr>
        <p:spPr>
          <a:xfrm>
            <a:off x="8266175" y="4078224"/>
            <a:ext cx="1956816" cy="292608"/>
          </a:xfrm>
          <a:prstGeom prst="roundRect">
            <a:avLst/>
          </a:prstGeom>
          <a:solidFill>
            <a:srgbClr val="FFF0E4"/>
          </a:solidFill>
          <a:ln w="8890">
            <a:solidFill>
              <a:srgbClr val="F28B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70" name="TextBox 69"/>
          <p:cNvSpPr>
            <a:spLocks noGrp="1"/>
          </p:cNvSpPr>
          <p:nvPr/>
        </p:nvSpPr>
        <p:spPr>
          <a:xfrm>
            <a:off x="8266175" y="4142232"/>
            <a:ext cx="1956816" cy="1554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730" b="1" i="0">
                <a:solidFill>
                  <a:srgbClr val="9A5210"/>
                </a:solidFill>
                <a:latin typeface="Noto Sans CJK SC"/>
                <a:ea typeface="Noto Sans CJK SC"/>
                <a:cs typeface="Noto Sans CJK SC"/>
              </a:rPr>
              <a:t>已确认信息</a:t>
            </a:r>
            <a:endParaRPr sz="730" b="1" i="0">
              <a:solidFill>
                <a:srgbClr val="F28B36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1" name="Rounded Rectangle 70"/>
          <p:cNvSpPr>
            <a:spLocks noGrp="1"/>
          </p:cNvSpPr>
          <p:nvPr/>
        </p:nvSpPr>
        <p:spPr>
          <a:xfrm>
            <a:off x="8266175" y="4507992"/>
            <a:ext cx="1956816" cy="292608"/>
          </a:xfrm>
          <a:prstGeom prst="roundRect">
            <a:avLst/>
          </a:prstGeom>
          <a:solidFill>
            <a:srgbClr val="FDECE9"/>
          </a:solidFill>
          <a:ln w="8890">
            <a:solidFill>
              <a:srgbClr val="E257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72" name="TextBox 71"/>
          <p:cNvSpPr>
            <a:spLocks noGrp="1"/>
          </p:cNvSpPr>
          <p:nvPr/>
        </p:nvSpPr>
        <p:spPr>
          <a:xfrm>
            <a:off x="8266175" y="4572000"/>
            <a:ext cx="1956816" cy="1554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730" b="1" i="0">
                <a:solidFill>
                  <a:srgbClr val="B8362C"/>
                </a:solidFill>
                <a:latin typeface="Noto Sans CJK SC"/>
                <a:ea typeface="Noto Sans CJK SC"/>
                <a:cs typeface="Noto Sans CJK SC"/>
              </a:rPr>
              <a:t>权限与风险</a:t>
            </a:r>
            <a:endParaRPr sz="730" b="1" i="0">
              <a:solidFill>
                <a:srgbClr val="E2574C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3" name="Rounded Rectangle 72"/>
          <p:cNvSpPr>
            <a:spLocks noGrp="1"/>
          </p:cNvSpPr>
          <p:nvPr/>
        </p:nvSpPr>
        <p:spPr>
          <a:xfrm>
            <a:off x="10460736" y="2359152"/>
            <a:ext cx="676656" cy="2468880"/>
          </a:xfrm>
          <a:prstGeom prst="roundRect">
            <a:avLst/>
          </a:prstGeom>
          <a:solidFill>
            <a:srgbClr val="F0F4F3"/>
          </a:solidFill>
          <a:ln w="10160">
            <a:solidFill>
              <a:srgbClr val="C9D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74" name="TextBox 73"/>
          <p:cNvSpPr>
            <a:spLocks noGrp="1"/>
          </p:cNvSpPr>
          <p:nvPr/>
        </p:nvSpPr>
        <p:spPr>
          <a:xfrm>
            <a:off x="10460736" y="2770632"/>
            <a:ext cx="676656" cy="164592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</a:pPr>
            <a:r>
              <a:rPr sz="730" b="1" i="0">
                <a:solidFill>
                  <a:srgbClr val="44585C"/>
                </a:solidFill>
                <a:latin typeface="Noto Sans CJK SC"/>
                <a:ea typeface="Noto Sans CJK SC"/>
                <a:cs typeface="Noto Sans CJK SC"/>
              </a:rPr>
              <a:t>按固定顺序
组装
可复现
可缓存
可评测</a:t>
            </a:r>
            <a:endParaRPr sz="730" b="1" i="0">
              <a:solidFill>
                <a:srgbClr val="6B8185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5" name="Down Arrow 74"/>
          <p:cNvSpPr>
            <a:spLocks noGrp="1"/>
          </p:cNvSpPr>
          <p:nvPr/>
        </p:nvSpPr>
        <p:spPr>
          <a:xfrm>
            <a:off x="9528048" y="5047488"/>
            <a:ext cx="310896" cy="292608"/>
          </a:xfrm>
          <a:prstGeom prst="downArrow">
            <a:avLst/>
          </a:prstGeom>
          <a:solidFill>
            <a:srgbClr val="6B6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76" name="Rounded Rectangle 75"/>
          <p:cNvSpPr>
            <a:spLocks noGrp="1"/>
          </p:cNvSpPr>
          <p:nvPr/>
        </p:nvSpPr>
        <p:spPr>
          <a:xfrm>
            <a:off x="8266175" y="5431536"/>
            <a:ext cx="2871216" cy="411480"/>
          </a:xfrm>
          <a:prstGeom prst="roundRect">
            <a:avLst/>
          </a:prstGeom>
          <a:solidFill>
            <a:srgbClr val="EFEEFF"/>
          </a:solidFill>
          <a:ln w="11430">
            <a:solidFill>
              <a:srgbClr val="6B6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77" name="TextBox 76"/>
          <p:cNvSpPr>
            <a:spLocks noGrp="1"/>
          </p:cNvSpPr>
          <p:nvPr/>
        </p:nvSpPr>
        <p:spPr>
          <a:xfrm>
            <a:off x="8266175" y="5532120"/>
            <a:ext cx="2871216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750" b="1" i="0">
                <a:solidFill>
                  <a:srgbClr val="4A4EB0"/>
                </a:solidFill>
                <a:latin typeface="Noto Sans CJK SC"/>
                <a:ea typeface="Noto Sans CJK SC"/>
                <a:cs typeface="Noto Sans CJK SC"/>
              </a:rPr>
              <a:t>固定指令 + 当前事实 + 输出格式</a:t>
            </a:r>
            <a:endParaRPr sz="750" b="1" i="0">
              <a:solidFill>
                <a:srgbClr val="6B6FD8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8" name="Rectangle 77"/>
          <p:cNvSpPr>
            <a:spLocks noGrp="1"/>
          </p:cNvSpPr>
          <p:nvPr/>
        </p:nvSpPr>
        <p:spPr>
          <a:xfrm>
            <a:off x="0" y="0"/>
            <a:ext cx="41148" cy="6858000"/>
          </a:xfrm>
          <a:prstGeom prst="rect">
            <a:avLst/>
          </a:prstGeom>
          <a:solidFill>
            <a:srgbClr val="0A8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79" name="圆角矩形 78"/>
          <p:cNvSpPr>
            <a:spLocks noGrp="1"/>
          </p:cNvSpPr>
          <p:nvPr/>
        </p:nvSpPr>
        <p:spPr>
          <a:xfrm>
            <a:off x="6565583" y="127635"/>
            <a:ext cx="4937760" cy="365760"/>
          </a:xfrm>
          <a:prstGeom prst="roundRect">
            <a:avLst>
              <a:gd name="adj" fmla="val 20833"/>
            </a:avLst>
          </a:prstGeom>
          <a:solidFill>
            <a:srgbClr val="F7FBF9"/>
          </a:solidFill>
          <a:ln w="12668">
            <a:solidFill>
              <a:srgbClr val="F7FBF9"/>
            </a:solidFill>
            <a:prstDash val="solid"/>
          </a:ln>
        </p:spPr>
        <p:txBody>
          <a:bodyPr/>
          <a:p/>
        </p:txBody>
      </p:sp>
      <p:sp>
        <p:nvSpPr>
          <p:cNvPr id="80" name="圆角矩形 79"/>
          <p:cNvSpPr>
            <a:spLocks noGrp="1"/>
          </p:cNvSpPr>
          <p:nvPr/>
        </p:nvSpPr>
        <p:spPr>
          <a:xfrm>
            <a:off x="6657023" y="164783"/>
            <a:ext cx="1154430" cy="264795"/>
          </a:xfrm>
          <a:prstGeom prst="roundRect">
            <a:avLst>
              <a:gd name="adj" fmla="val 28777"/>
            </a:avLst>
          </a:prstGeom>
          <a:solidFill>
            <a:srgbClr val="007574"/>
          </a:solidFill>
          <a:ln w="12668">
            <a:solidFill>
              <a:srgbClr val="007574"/>
            </a:solidFill>
            <a:prstDash val="solid"/>
          </a:ln>
        </p:spPr>
        <p:txBody>
          <a:bodyPr/>
          <a:p/>
        </p:txBody>
      </p:sp>
      <p:sp>
        <p:nvSpPr>
          <p:cNvPr id="81" name="矩形 80"/>
          <p:cNvSpPr>
            <a:spLocks noGrp="1"/>
          </p:cNvSpPr>
          <p:nvPr/>
        </p:nvSpPr>
        <p:spPr>
          <a:xfrm>
            <a:off x="6657023" y="187643"/>
            <a:ext cx="1154430" cy="182880"/>
          </a:xfrm>
          <a:prstGeom prst="rect">
            <a:avLst/>
          </a:prstGeom>
        </p:spPr>
        <p:txBody>
          <a:bodyPr anchor="ctr"/>
          <a:lstStyle/>
          <a:p>
            <a:pPr algn="ctr">
              <a:defRPr sz="660" b="1">
                <a:solidFill>
                  <a:srgbClr val="FFFFFF"/>
                </a:solidFill>
              </a:defRPr>
            </a:pPr>
            <a:r>
              <a:t>理解</a:t>
            </a:r>
          </a:p>
        </p:txBody>
      </p:sp>
      <p:sp>
        <p:nvSpPr>
          <p:cNvPr id="82" name="圆角矩形 81"/>
          <p:cNvSpPr>
            <a:spLocks noGrp="1"/>
          </p:cNvSpPr>
          <p:nvPr/>
        </p:nvSpPr>
        <p:spPr>
          <a:xfrm>
            <a:off x="7857173" y="164783"/>
            <a:ext cx="1154430" cy="264795"/>
          </a:xfrm>
          <a:prstGeom prst="roundRect">
            <a:avLst>
              <a:gd name="adj" fmla="val 28777"/>
            </a:avLst>
          </a:prstGeom>
          <a:solidFill>
            <a:srgbClr val="FFFFFF"/>
          </a:solidFill>
          <a:ln w="12668">
            <a:solidFill>
              <a:srgbClr val="C9DCD7"/>
            </a:solidFill>
            <a:prstDash val="solid"/>
          </a:ln>
        </p:spPr>
        <p:txBody>
          <a:bodyPr/>
          <a:p/>
        </p:txBody>
      </p:sp>
      <p:sp>
        <p:nvSpPr>
          <p:cNvPr id="83" name="矩形 82"/>
          <p:cNvSpPr>
            <a:spLocks noGrp="1"/>
          </p:cNvSpPr>
          <p:nvPr/>
        </p:nvSpPr>
        <p:spPr>
          <a:xfrm>
            <a:off x="7857173" y="187643"/>
            <a:ext cx="1154430" cy="182880"/>
          </a:xfrm>
          <a:prstGeom prst="rect">
            <a:avLst/>
          </a:prstGeom>
        </p:spPr>
        <p:txBody>
          <a:bodyPr anchor="ctr"/>
          <a:lstStyle/>
          <a:p>
            <a:pPr algn="ctr">
              <a:defRPr sz="650" b="0">
                <a:solidFill>
                  <a:srgbClr val="44585C"/>
                </a:solidFill>
              </a:defRPr>
            </a:pPr>
            <a:r>
              <a:t>查询</a:t>
            </a:r>
          </a:p>
        </p:txBody>
      </p:sp>
      <p:sp>
        <p:nvSpPr>
          <p:cNvPr id="84" name="圆角矩形 83"/>
          <p:cNvSpPr>
            <a:spLocks noGrp="1"/>
          </p:cNvSpPr>
          <p:nvPr/>
        </p:nvSpPr>
        <p:spPr>
          <a:xfrm>
            <a:off x="9057323" y="164783"/>
            <a:ext cx="1154430" cy="264795"/>
          </a:xfrm>
          <a:prstGeom prst="roundRect">
            <a:avLst>
              <a:gd name="adj" fmla="val 28777"/>
            </a:avLst>
          </a:prstGeom>
          <a:solidFill>
            <a:srgbClr val="FFFFFF"/>
          </a:solidFill>
          <a:ln w="12668">
            <a:solidFill>
              <a:srgbClr val="C9DCD7"/>
            </a:solidFill>
            <a:prstDash val="solid"/>
          </a:ln>
        </p:spPr>
        <p:txBody>
          <a:bodyPr/>
          <a:p/>
        </p:txBody>
      </p:sp>
      <p:sp>
        <p:nvSpPr>
          <p:cNvPr id="85" name="矩形 84"/>
          <p:cNvSpPr>
            <a:spLocks noGrp="1"/>
          </p:cNvSpPr>
          <p:nvPr/>
        </p:nvSpPr>
        <p:spPr>
          <a:xfrm>
            <a:off x="9057323" y="187643"/>
            <a:ext cx="1154430" cy="182880"/>
          </a:xfrm>
          <a:prstGeom prst="rect">
            <a:avLst/>
          </a:prstGeom>
        </p:spPr>
        <p:txBody>
          <a:bodyPr anchor="ctr"/>
          <a:lstStyle/>
          <a:p>
            <a:pPr algn="ctr">
              <a:defRPr sz="650" b="0">
                <a:solidFill>
                  <a:srgbClr val="44585C"/>
                </a:solidFill>
              </a:defRPr>
            </a:pPr>
            <a:r>
              <a:t>决策</a:t>
            </a:r>
          </a:p>
        </p:txBody>
      </p:sp>
      <p:sp>
        <p:nvSpPr>
          <p:cNvPr id="86" name="圆角矩形 85"/>
          <p:cNvSpPr>
            <a:spLocks noGrp="1"/>
          </p:cNvSpPr>
          <p:nvPr/>
        </p:nvSpPr>
        <p:spPr>
          <a:xfrm>
            <a:off x="10257473" y="164783"/>
            <a:ext cx="1154430" cy="264795"/>
          </a:xfrm>
          <a:prstGeom prst="roundRect">
            <a:avLst>
              <a:gd name="adj" fmla="val 28777"/>
            </a:avLst>
          </a:prstGeom>
          <a:solidFill>
            <a:srgbClr val="FFFFFF"/>
          </a:solidFill>
          <a:ln w="12668">
            <a:solidFill>
              <a:srgbClr val="C9DCD7"/>
            </a:solidFill>
            <a:prstDash val="solid"/>
          </a:ln>
        </p:spPr>
        <p:txBody>
          <a:bodyPr/>
          <a:p/>
        </p:txBody>
      </p:sp>
      <p:sp>
        <p:nvSpPr>
          <p:cNvPr id="87" name="矩形 86"/>
          <p:cNvSpPr>
            <a:spLocks noGrp="1"/>
          </p:cNvSpPr>
          <p:nvPr/>
        </p:nvSpPr>
        <p:spPr>
          <a:xfrm>
            <a:off x="10257473" y="187643"/>
            <a:ext cx="1154430" cy="182880"/>
          </a:xfrm>
          <a:prstGeom prst="rect">
            <a:avLst/>
          </a:prstGeom>
        </p:spPr>
        <p:txBody>
          <a:bodyPr anchor="ctr"/>
          <a:lstStyle/>
          <a:p>
            <a:pPr algn="ctr">
              <a:defRPr sz="650" b="0">
                <a:solidFill>
                  <a:srgbClr val="44585C"/>
                </a:solidFill>
              </a:defRPr>
            </a:pPr>
            <a:r>
              <a:t>执行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hape 0"/>
          <p:cNvSpPr>
            <a:spLocks noGrp="1"/>
          </p:cNvSpPr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A"/>
          </a:solidFill>
          <a:ln w="12700">
            <a:solidFill>
              <a:srgbClr val="F7FBFA"/>
            </a:solidFill>
            <a:prstDash val="solid"/>
          </a:ln>
        </p:spPr>
        <p:txBody>
          <a:bodyPr/>
          <a:lstStyle/>
          <a:p/>
        </p:txBody>
      </p:sp>
      <p:sp>
        <p:nvSpPr>
          <p:cNvPr id="3" name="Shape 1"/>
          <p:cNvSpPr>
            <a:spLocks noGrp="1"/>
          </p:cNvSpPr>
          <p:nvPr/>
        </p:nvSpPr>
        <p:spPr>
          <a:xfrm>
            <a:off x="0" y="0"/>
            <a:ext cx="50292" cy="6858000"/>
          </a:xfrm>
          <a:prstGeom prst="rect">
            <a:avLst/>
          </a:prstGeom>
          <a:solidFill>
            <a:srgbClr val="0A8F6A"/>
          </a:solidFill>
          <a:ln w="12700">
            <a:solidFill>
              <a:srgbClr val="07966F"/>
            </a:solidFill>
            <a:prstDash val="solid"/>
          </a:ln>
        </p:spPr>
        <p:txBody>
          <a:bodyPr/>
          <a:lstStyle/>
          <a:p/>
        </p:txBody>
      </p:sp>
      <p:sp>
        <p:nvSpPr>
          <p:cNvPr id="4" name="Shape 2"/>
          <p:cNvSpPr>
            <a:spLocks noGrp="1"/>
          </p:cNvSpPr>
          <p:nvPr/>
        </p:nvSpPr>
        <p:spPr>
          <a:xfrm>
            <a:off x="10716768" y="45720"/>
            <a:ext cx="1170432" cy="658368"/>
          </a:xfrm>
          <a:prstGeom prst="ellipse">
            <a:avLst/>
          </a:prstGeom>
          <a:solidFill>
            <a:srgbClr val="E8F4F1"/>
          </a:solidFill>
          <a:ln w="12700">
            <a:solidFill>
              <a:srgbClr val="E8F4F1"/>
            </a:solidFill>
            <a:prstDash val="solid"/>
          </a:ln>
        </p:spPr>
        <p:txBody>
          <a:bodyPr/>
          <a:lstStyle/>
          <a:p/>
        </p:txBody>
      </p:sp>
      <p:sp>
        <p:nvSpPr>
          <p:cNvPr id="5" name="Shape 3"/>
          <p:cNvSpPr>
            <a:spLocks noGrp="1"/>
          </p:cNvSpPr>
          <p:nvPr/>
        </p:nvSpPr>
        <p:spPr>
          <a:xfrm>
            <a:off x="9948672" y="274320"/>
            <a:ext cx="64008" cy="64008"/>
          </a:xfrm>
          <a:prstGeom prst="ellipse">
            <a:avLst/>
          </a:prstGeom>
          <a:solidFill>
            <a:srgbClr val="C7DAD6"/>
          </a:solidFill>
          <a:ln w="12700">
            <a:solidFill>
              <a:srgbClr val="C7DAD6"/>
            </a:solidFill>
            <a:prstDash val="solid"/>
          </a:ln>
        </p:spPr>
        <p:txBody>
          <a:bodyPr/>
          <a:lstStyle/>
          <a:p/>
        </p:txBody>
      </p:sp>
      <p:sp>
        <p:nvSpPr>
          <p:cNvPr id="6" name="Text 4"/>
          <p:cNvSpPr>
            <a:spLocks noGrp="1"/>
          </p:cNvSpPr>
          <p:nvPr/>
        </p:nvSpPr>
        <p:spPr>
          <a:xfrm>
            <a:off x="9948672" y="274320"/>
            <a:ext cx="64008" cy="6400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endParaRPr sz="100"/>
          </a:p>
        </p:txBody>
      </p:sp>
      <p:sp>
        <p:nvSpPr>
          <p:cNvPr id="7" name="Shape 5"/>
          <p:cNvSpPr>
            <a:spLocks noGrp="1"/>
          </p:cNvSpPr>
          <p:nvPr/>
        </p:nvSpPr>
        <p:spPr>
          <a:xfrm>
            <a:off x="10158984" y="274320"/>
            <a:ext cx="64008" cy="64008"/>
          </a:xfrm>
          <a:prstGeom prst="ellipse">
            <a:avLst/>
          </a:prstGeom>
          <a:solidFill>
            <a:srgbClr val="C7DAD6"/>
          </a:solidFill>
          <a:ln w="12700">
            <a:solidFill>
              <a:srgbClr val="C7DAD6"/>
            </a:solidFill>
            <a:prstDash val="solid"/>
          </a:ln>
        </p:spPr>
        <p:txBody>
          <a:bodyPr/>
          <a:lstStyle/>
          <a:p/>
        </p:txBody>
      </p:sp>
      <p:sp>
        <p:nvSpPr>
          <p:cNvPr id="8" name="Text 6"/>
          <p:cNvSpPr>
            <a:spLocks noGrp="1"/>
          </p:cNvSpPr>
          <p:nvPr/>
        </p:nvSpPr>
        <p:spPr>
          <a:xfrm>
            <a:off x="10158984" y="274320"/>
            <a:ext cx="64008" cy="6400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endParaRPr sz="100"/>
          </a:p>
        </p:txBody>
      </p:sp>
      <p:sp>
        <p:nvSpPr>
          <p:cNvPr id="9" name="Shape 7"/>
          <p:cNvSpPr>
            <a:spLocks noGrp="1"/>
          </p:cNvSpPr>
          <p:nvPr/>
        </p:nvSpPr>
        <p:spPr>
          <a:xfrm>
            <a:off x="10369296" y="274320"/>
            <a:ext cx="64008" cy="64008"/>
          </a:xfrm>
          <a:prstGeom prst="ellipse">
            <a:avLst/>
          </a:prstGeom>
          <a:solidFill>
            <a:srgbClr val="07966F"/>
          </a:solidFill>
          <a:ln w="12700">
            <a:solidFill>
              <a:srgbClr val="07966F"/>
            </a:solidFill>
            <a:prstDash val="solid"/>
          </a:ln>
        </p:spPr>
        <p:txBody>
          <a:bodyPr/>
          <a:lstStyle/>
          <a:p/>
        </p:txBody>
      </p:sp>
      <p:sp>
        <p:nvSpPr>
          <p:cNvPr id="10" name="Text 8"/>
          <p:cNvSpPr>
            <a:spLocks noGrp="1"/>
          </p:cNvSpPr>
          <p:nvPr/>
        </p:nvSpPr>
        <p:spPr>
          <a:xfrm>
            <a:off x="10369296" y="274320"/>
            <a:ext cx="64008" cy="6400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endParaRPr sz="100"/>
          </a:p>
        </p:txBody>
      </p:sp>
      <p:sp>
        <p:nvSpPr>
          <p:cNvPr id="11" name="Shape 9"/>
          <p:cNvSpPr>
            <a:spLocks noGrp="1"/>
          </p:cNvSpPr>
          <p:nvPr/>
        </p:nvSpPr>
        <p:spPr>
          <a:xfrm>
            <a:off x="10579608" y="274320"/>
            <a:ext cx="64008" cy="64008"/>
          </a:xfrm>
          <a:prstGeom prst="ellipse">
            <a:avLst/>
          </a:prstGeom>
          <a:solidFill>
            <a:srgbClr val="C7DAD6"/>
          </a:solidFill>
          <a:ln w="12700">
            <a:solidFill>
              <a:srgbClr val="C7DAD6"/>
            </a:solidFill>
            <a:prstDash val="solid"/>
          </a:ln>
        </p:spPr>
        <p:txBody>
          <a:bodyPr/>
          <a:lstStyle/>
          <a:p/>
        </p:txBody>
      </p:sp>
      <p:sp>
        <p:nvSpPr>
          <p:cNvPr id="12" name="Text 10"/>
          <p:cNvSpPr>
            <a:spLocks noGrp="1"/>
          </p:cNvSpPr>
          <p:nvPr/>
        </p:nvSpPr>
        <p:spPr>
          <a:xfrm>
            <a:off x="10579608" y="274320"/>
            <a:ext cx="64008" cy="6400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endParaRPr sz="100"/>
          </a:p>
        </p:txBody>
      </p:sp>
      <p:sp>
        <p:nvSpPr>
          <p:cNvPr id="13" name="Shape 11"/>
          <p:cNvSpPr>
            <a:spLocks noGrp="1"/>
          </p:cNvSpPr>
          <p:nvPr/>
        </p:nvSpPr>
        <p:spPr>
          <a:xfrm>
            <a:off x="10789920" y="274320"/>
            <a:ext cx="64008" cy="64008"/>
          </a:xfrm>
          <a:prstGeom prst="ellipse">
            <a:avLst/>
          </a:prstGeom>
          <a:solidFill>
            <a:srgbClr val="C7DAD6"/>
          </a:solidFill>
          <a:ln w="12700">
            <a:solidFill>
              <a:srgbClr val="C7DAD6"/>
            </a:solidFill>
            <a:prstDash val="solid"/>
          </a:ln>
        </p:spPr>
        <p:txBody>
          <a:bodyPr/>
          <a:lstStyle/>
          <a:p/>
        </p:txBody>
      </p:sp>
      <p:sp>
        <p:nvSpPr>
          <p:cNvPr id="14" name="Text 12"/>
          <p:cNvSpPr>
            <a:spLocks noGrp="1"/>
          </p:cNvSpPr>
          <p:nvPr/>
        </p:nvSpPr>
        <p:spPr>
          <a:xfrm>
            <a:off x="10789920" y="274320"/>
            <a:ext cx="64008" cy="6400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endParaRPr sz="100"/>
          </a:p>
        </p:txBody>
      </p:sp>
      <p:sp>
        <p:nvSpPr>
          <p:cNvPr id="15" name="Shape 13"/>
          <p:cNvSpPr>
            <a:spLocks noGrp="1"/>
          </p:cNvSpPr>
          <p:nvPr/>
        </p:nvSpPr>
        <p:spPr>
          <a:xfrm>
            <a:off x="11000232" y="274320"/>
            <a:ext cx="64008" cy="64008"/>
          </a:xfrm>
          <a:prstGeom prst="ellipse">
            <a:avLst/>
          </a:prstGeom>
          <a:solidFill>
            <a:srgbClr val="C7DAD6"/>
          </a:solidFill>
          <a:ln w="12700">
            <a:solidFill>
              <a:srgbClr val="C7DAD6"/>
            </a:solidFill>
            <a:prstDash val="solid"/>
          </a:ln>
        </p:spPr>
        <p:txBody>
          <a:bodyPr/>
          <a:lstStyle/>
          <a:p/>
        </p:txBody>
      </p:sp>
      <p:sp>
        <p:nvSpPr>
          <p:cNvPr id="16" name="Text 14"/>
          <p:cNvSpPr>
            <a:spLocks noGrp="1"/>
          </p:cNvSpPr>
          <p:nvPr/>
        </p:nvSpPr>
        <p:spPr>
          <a:xfrm>
            <a:off x="11000232" y="274320"/>
            <a:ext cx="64008" cy="6400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endParaRPr sz="100"/>
          </a:p>
        </p:txBody>
      </p:sp>
      <p:sp>
        <p:nvSpPr>
          <p:cNvPr id="17" name="Shape 15"/>
          <p:cNvSpPr>
            <a:spLocks noGrp="1"/>
          </p:cNvSpPr>
          <p:nvPr/>
        </p:nvSpPr>
        <p:spPr>
          <a:xfrm>
            <a:off x="11210544" y="274320"/>
            <a:ext cx="64008" cy="64008"/>
          </a:xfrm>
          <a:prstGeom prst="ellipse">
            <a:avLst/>
          </a:prstGeom>
          <a:solidFill>
            <a:srgbClr val="C7DAD6"/>
          </a:solidFill>
          <a:ln w="12700">
            <a:solidFill>
              <a:srgbClr val="C7DAD6"/>
            </a:solidFill>
            <a:prstDash val="solid"/>
          </a:ln>
        </p:spPr>
        <p:txBody>
          <a:bodyPr/>
          <a:lstStyle/>
          <a:p/>
        </p:txBody>
      </p:sp>
      <p:sp>
        <p:nvSpPr>
          <p:cNvPr id="18" name="Text 16"/>
          <p:cNvSpPr>
            <a:spLocks noGrp="1"/>
          </p:cNvSpPr>
          <p:nvPr/>
        </p:nvSpPr>
        <p:spPr>
          <a:xfrm>
            <a:off x="11210544" y="274320"/>
            <a:ext cx="64008" cy="6400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endParaRPr sz="100"/>
          </a:p>
        </p:txBody>
      </p:sp>
      <p:sp>
        <p:nvSpPr>
          <p:cNvPr id="19" name="Shape 17"/>
          <p:cNvSpPr>
            <a:spLocks noGrp="1"/>
          </p:cNvSpPr>
          <p:nvPr/>
        </p:nvSpPr>
        <p:spPr>
          <a:xfrm>
            <a:off x="658368" y="420624"/>
            <a:ext cx="237744" cy="0"/>
          </a:xfrm>
          <a:prstGeom prst="line">
            <a:avLst/>
          </a:prstGeom>
          <a:noFill/>
          <a:ln w="15875">
            <a:solidFill>
              <a:srgbClr val="0A8F6A"/>
            </a:solidFill>
            <a:prstDash val="solid"/>
          </a:ln>
        </p:spPr>
        <p:txBody>
          <a:bodyPr/>
          <a:lstStyle/>
          <a:p/>
        </p:txBody>
      </p:sp>
      <p:sp>
        <p:nvSpPr>
          <p:cNvPr id="20" name="Text 18"/>
          <p:cNvSpPr>
            <a:spLocks noGrp="1"/>
          </p:cNvSpPr>
          <p:nvPr/>
        </p:nvSpPr>
        <p:spPr>
          <a:xfrm>
            <a:off x="950976" y="274320"/>
            <a:ext cx="3931920" cy="25603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r>
              <a:rPr sz="1050" b="1">
                <a:solidFill>
                  <a:srgbClr val="076B50"/>
                </a:solidFill>
                <a:latin typeface="Noto Sans CJK SC"/>
                <a:ea typeface="Noto Sans CJK SC"/>
                <a:cs typeface="Noto Sans CJK SC"/>
              </a:rPr>
              <a:t>CHAPTER 4 · 上下文与知识</a:t>
            </a:r>
            <a:endParaRPr sz="1050" b="1">
              <a:solidFill>
                <a:srgbClr val="00A7A7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1" name="Text 19"/>
          <p:cNvSpPr>
            <a:spLocks noGrp="1"/>
          </p:cNvSpPr>
          <p:nvPr/>
        </p:nvSpPr>
        <p:spPr>
          <a:xfrm>
            <a:off x="658368" y="658368"/>
            <a:ext cx="10607040" cy="457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buNone/>
            </a:pPr>
            <a:r>
              <a:rPr sz="2900" b="1">
                <a:solidFill>
                  <a:srgbClr val="153D39"/>
                </a:solidFill>
                <a:latin typeface="Noto Sans CJK SC"/>
                <a:ea typeface="Noto Sans CJK SC"/>
                <a:cs typeface="Noto Sans CJK SC"/>
              </a:rPr>
              <a:t>知识资产与可信等级</a:t>
            </a:r>
            <a:endParaRPr sz="2900"/>
          </a:p>
        </p:txBody>
      </p:sp>
      <p:sp>
        <p:nvSpPr>
          <p:cNvPr id="22" name="Text 20"/>
          <p:cNvSpPr>
            <a:spLocks noGrp="1"/>
          </p:cNvSpPr>
          <p:nvPr/>
        </p:nvSpPr>
        <p:spPr>
          <a:xfrm>
            <a:off x="658368" y="1143000"/>
            <a:ext cx="10561320" cy="31089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buNone/>
            </a:pPr>
            <a:r>
              <a:rPr sz="1340">
                <a:solidFill>
                  <a:srgbClr val="44585C"/>
                </a:solidFill>
                <a:latin typeface="Noto Sans CJK SC"/>
                <a:ea typeface="Noto Sans CJK SC"/>
                <a:cs typeface="Noto Sans CJK SC"/>
              </a:rPr>
              <a:t>同一条信息可能能对客引用、只能内部判断，或必须实时查询；这些边界要在入上下文前定清楚。</a:t>
            </a:r>
            <a:endParaRPr sz="1340"/>
          </a:p>
        </p:txBody>
      </p:sp>
      <p:sp>
        <p:nvSpPr>
          <p:cNvPr id="23" name="Shape 21"/>
          <p:cNvSpPr>
            <a:spLocks noGrp="1"/>
          </p:cNvSpPr>
          <p:nvPr/>
        </p:nvSpPr>
        <p:spPr>
          <a:xfrm>
            <a:off x="658368" y="6519672"/>
            <a:ext cx="11064240" cy="0"/>
          </a:xfrm>
          <a:prstGeom prst="line">
            <a:avLst/>
          </a:prstGeom>
          <a:noFill/>
          <a:ln w="12700">
            <a:solidFill>
              <a:srgbClr val="D7E7E3"/>
            </a:solidFill>
            <a:prstDash val="solid"/>
          </a:ln>
        </p:spPr>
        <p:txBody>
          <a:bodyPr/>
          <a:lstStyle/>
          <a:p/>
        </p:txBody>
      </p:sp>
      <p:sp>
        <p:nvSpPr>
          <p:cNvPr id="24" name="Text 22"/>
          <p:cNvSpPr>
            <a:spLocks noGrp="1"/>
          </p:cNvSpPr>
          <p:nvPr/>
        </p:nvSpPr>
        <p:spPr>
          <a:xfrm>
            <a:off x="658368" y="6583680"/>
            <a:ext cx="3931920" cy="14630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buNone/>
            </a:pPr>
            <a:r>
              <a:rPr sz="850">
                <a:solidFill>
                  <a:srgbClr val="55696A"/>
                </a:solidFill>
                <a:latin typeface="Noto Sans CJK SC"/>
                <a:ea typeface="Noto Sans CJK SC"/>
                <a:cs typeface="Noto Sans CJK SC"/>
              </a:rPr>
              <a:t>CUSTOMER SERVICE AI AGENT</a:t>
            </a:r>
            <a:endParaRPr sz="850"/>
          </a:p>
        </p:txBody>
      </p:sp>
      <p:sp>
        <p:nvSpPr>
          <p:cNvPr id="25" name="Text 23"/>
          <p:cNvSpPr>
            <a:spLocks noGrp="1"/>
          </p:cNvSpPr>
          <p:nvPr/>
        </p:nvSpPr>
        <p:spPr>
          <a:xfrm>
            <a:off x="10927080" y="6565392"/>
            <a:ext cx="777240" cy="16459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</a:pPr>
            <a:r>
              <a:rPr sz="880" b="1">
                <a:solidFill>
                  <a:srgbClr val="076B50"/>
                </a:solidFill>
                <a:latin typeface="Noto Sans CJK SC"/>
                <a:ea typeface="Noto Sans CJK SC"/>
                <a:cs typeface="Noto Sans CJK SC"/>
              </a:rPr>
              <a:t>28</a:t>
            </a:r>
            <a:endParaRPr sz="880" b="1">
              <a:solidFill>
                <a:srgbClr val="00A7A7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6" name="Shape 24"/>
          <p:cNvSpPr>
            <a:spLocks noGrp="1"/>
          </p:cNvSpPr>
          <p:nvPr/>
        </p:nvSpPr>
        <p:spPr>
          <a:xfrm>
            <a:off x="658368" y="1645920"/>
            <a:ext cx="2852928" cy="4553712"/>
          </a:xfrm>
          <a:prstGeom prst="roundRect">
            <a:avLst/>
          </a:prstGeom>
          <a:solidFill>
            <a:srgbClr val="153D39"/>
          </a:solidFill>
          <a:ln w="12700">
            <a:solidFill>
              <a:srgbClr val="153D39"/>
            </a:solidFill>
            <a:prstDash val="solid"/>
          </a:ln>
        </p:spPr>
        <p:txBody>
          <a:bodyPr/>
          <a:lstStyle/>
          <a:p/>
        </p:txBody>
      </p:sp>
      <p:sp>
        <p:nvSpPr>
          <p:cNvPr id="27" name="Shape 25"/>
          <p:cNvSpPr>
            <a:spLocks noGrp="1"/>
          </p:cNvSpPr>
          <p:nvPr/>
        </p:nvSpPr>
        <p:spPr>
          <a:xfrm>
            <a:off x="914400" y="1874520"/>
            <a:ext cx="1444752" cy="256032"/>
          </a:xfrm>
          <a:prstGeom prst="roundRect">
            <a:avLst/>
          </a:prstGeom>
          <a:solidFill>
            <a:srgbClr val="07714F"/>
          </a:solidFill>
          <a:ln w="12700">
            <a:solidFill>
              <a:srgbClr val="07714F"/>
            </a:solidFill>
            <a:prstDash val="solid"/>
          </a:ln>
        </p:spPr>
        <p:txBody>
          <a:bodyPr/>
          <a:lstStyle/>
          <a:p/>
        </p:txBody>
      </p:sp>
      <p:sp>
        <p:nvSpPr>
          <p:cNvPr id="28" name="Text 26"/>
          <p:cNvSpPr>
            <a:spLocks noGrp="1"/>
          </p:cNvSpPr>
          <p:nvPr/>
        </p:nvSpPr>
        <p:spPr>
          <a:xfrm>
            <a:off x="914400" y="1874520"/>
            <a:ext cx="1444752" cy="25603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KNOWLEDGE PASSPORT</a:t>
            </a:r>
            <a:endParaRPr sz="950"/>
          </a:p>
        </p:txBody>
      </p:sp>
      <p:sp>
        <p:nvSpPr>
          <p:cNvPr id="29" name="Text 27"/>
          <p:cNvSpPr>
            <a:spLocks noGrp="1"/>
          </p:cNvSpPr>
          <p:nvPr/>
        </p:nvSpPr>
        <p:spPr>
          <a:xfrm>
            <a:off x="914400" y="2249424"/>
            <a:ext cx="2139696" cy="50292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buNone/>
            </a:pPr>
            <a:r>
              <a:rPr sz="22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每条知识都要带四个属性</a:t>
            </a:r>
            <a:endParaRPr sz="2200"/>
          </a:p>
        </p:txBody>
      </p:sp>
      <p:sp>
        <p:nvSpPr>
          <p:cNvPr id="30" name="Shape 28"/>
          <p:cNvSpPr>
            <a:spLocks noGrp="1"/>
          </p:cNvSpPr>
          <p:nvPr/>
        </p:nvSpPr>
        <p:spPr>
          <a:xfrm>
            <a:off x="941832" y="2907792"/>
            <a:ext cx="329184" cy="329184"/>
          </a:xfrm>
          <a:prstGeom prst="ellipse">
            <a:avLst/>
          </a:prstGeom>
          <a:solidFill>
            <a:srgbClr val="007574"/>
          </a:solidFill>
          <a:ln w="12700">
            <a:solidFill>
              <a:srgbClr val="007574"/>
            </a:solidFill>
            <a:prstDash val="solid"/>
          </a:ln>
        </p:spPr>
        <p:txBody>
          <a:bodyPr/>
          <a:lstStyle/>
          <a:p/>
        </p:txBody>
      </p:sp>
      <p:sp>
        <p:nvSpPr>
          <p:cNvPr id="31" name="Text 29"/>
          <p:cNvSpPr>
            <a:spLocks noGrp="1"/>
          </p:cNvSpPr>
          <p:nvPr/>
        </p:nvSpPr>
        <p:spPr>
          <a:xfrm>
            <a:off x="941832" y="2907792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1</a:t>
            </a:r>
            <a:endParaRPr sz="1000"/>
          </a:p>
        </p:txBody>
      </p:sp>
      <p:sp>
        <p:nvSpPr>
          <p:cNvPr id="32" name="Text 30"/>
          <p:cNvSpPr>
            <a:spLocks noGrp="1"/>
          </p:cNvSpPr>
          <p:nvPr/>
        </p:nvSpPr>
        <p:spPr>
          <a:xfrm>
            <a:off x="1417320" y="2889504"/>
            <a:ext cx="822960" cy="21031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buNone/>
            </a:pPr>
            <a:r>
              <a:rPr sz="920" b="1">
                <a:solidFill>
                  <a:srgbClr val="A8D9D0"/>
                </a:solidFill>
                <a:latin typeface="Noto Sans CJK SC"/>
                <a:ea typeface="Noto Sans CJK SC"/>
                <a:cs typeface="Noto Sans CJK SC"/>
              </a:rPr>
              <a:t>SOURCE</a:t>
            </a:r>
            <a:endParaRPr sz="920"/>
          </a:p>
        </p:txBody>
      </p:sp>
      <p:sp>
        <p:nvSpPr>
          <p:cNvPr id="33" name="Text 31"/>
          <p:cNvSpPr>
            <a:spLocks noGrp="1"/>
          </p:cNvSpPr>
          <p:nvPr/>
        </p:nvSpPr>
        <p:spPr>
          <a:xfrm>
            <a:off x="1417320" y="3127248"/>
            <a:ext cx="1554480" cy="2286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buNone/>
            </a:pPr>
            <a:r>
              <a:rPr sz="1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来源与责任人</a:t>
            </a:r>
            <a:endParaRPr sz="1100"/>
          </a:p>
        </p:txBody>
      </p:sp>
      <p:sp>
        <p:nvSpPr>
          <p:cNvPr id="34" name="Shape 32"/>
          <p:cNvSpPr>
            <a:spLocks noGrp="1"/>
          </p:cNvSpPr>
          <p:nvPr/>
        </p:nvSpPr>
        <p:spPr>
          <a:xfrm>
            <a:off x="941832" y="3566160"/>
            <a:ext cx="329184" cy="329184"/>
          </a:xfrm>
          <a:prstGeom prst="ellipse">
            <a:avLst/>
          </a:prstGeom>
          <a:solidFill>
            <a:srgbClr val="BC6414"/>
          </a:solidFill>
          <a:ln w="12700">
            <a:solidFill>
              <a:srgbClr val="BC6414"/>
            </a:solidFill>
            <a:prstDash val="solid"/>
          </a:ln>
        </p:spPr>
        <p:txBody>
          <a:bodyPr/>
          <a:lstStyle/>
          <a:p/>
        </p:txBody>
      </p:sp>
      <p:sp>
        <p:nvSpPr>
          <p:cNvPr id="35" name="Text 33"/>
          <p:cNvSpPr>
            <a:spLocks noGrp="1"/>
          </p:cNvSpPr>
          <p:nvPr/>
        </p:nvSpPr>
        <p:spPr>
          <a:xfrm>
            <a:off x="941832" y="3566160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2</a:t>
            </a:r>
            <a:endParaRPr sz="1000"/>
          </a:p>
        </p:txBody>
      </p:sp>
      <p:sp>
        <p:nvSpPr>
          <p:cNvPr id="36" name="Text 34"/>
          <p:cNvSpPr>
            <a:spLocks noGrp="1"/>
          </p:cNvSpPr>
          <p:nvPr/>
        </p:nvSpPr>
        <p:spPr>
          <a:xfrm>
            <a:off x="1417320" y="3547872"/>
            <a:ext cx="822960" cy="21031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buNone/>
            </a:pPr>
            <a:r>
              <a:rPr sz="920" b="1">
                <a:solidFill>
                  <a:srgbClr val="A8D9D0"/>
                </a:solidFill>
                <a:latin typeface="Noto Sans CJK SC"/>
                <a:ea typeface="Noto Sans CJK SC"/>
                <a:cs typeface="Noto Sans CJK SC"/>
              </a:rPr>
              <a:t>VISIBILITY</a:t>
            </a:r>
            <a:endParaRPr sz="920"/>
          </a:p>
        </p:txBody>
      </p:sp>
      <p:sp>
        <p:nvSpPr>
          <p:cNvPr id="37" name="Text 35"/>
          <p:cNvSpPr>
            <a:spLocks noGrp="1"/>
          </p:cNvSpPr>
          <p:nvPr/>
        </p:nvSpPr>
        <p:spPr>
          <a:xfrm>
            <a:off x="1417320" y="3785616"/>
            <a:ext cx="1554480" cy="2286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buNone/>
            </a:pPr>
            <a:r>
              <a:rPr sz="1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客户可见 / 内部</a:t>
            </a:r>
            <a:endParaRPr sz="1100"/>
          </a:p>
        </p:txBody>
      </p:sp>
      <p:sp>
        <p:nvSpPr>
          <p:cNvPr id="38" name="Shape 36"/>
          <p:cNvSpPr>
            <a:spLocks noGrp="1"/>
          </p:cNvSpPr>
          <p:nvPr/>
        </p:nvSpPr>
        <p:spPr>
          <a:xfrm>
            <a:off x="941832" y="4224528"/>
            <a:ext cx="329184" cy="329184"/>
          </a:xfrm>
          <a:prstGeom prst="ellipse">
            <a:avLst/>
          </a:prstGeom>
          <a:solidFill>
            <a:srgbClr val="007574"/>
          </a:solidFill>
          <a:ln w="12700">
            <a:solidFill>
              <a:srgbClr val="007574"/>
            </a:solidFill>
            <a:prstDash val="solid"/>
          </a:ln>
        </p:spPr>
        <p:txBody>
          <a:bodyPr/>
          <a:lstStyle/>
          <a:p/>
        </p:txBody>
      </p:sp>
      <p:sp>
        <p:nvSpPr>
          <p:cNvPr id="39" name="Text 37"/>
          <p:cNvSpPr>
            <a:spLocks noGrp="1"/>
          </p:cNvSpPr>
          <p:nvPr/>
        </p:nvSpPr>
        <p:spPr>
          <a:xfrm>
            <a:off x="941832" y="4224528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3</a:t>
            </a:r>
            <a:endParaRPr sz="1000"/>
          </a:p>
        </p:txBody>
      </p:sp>
      <p:sp>
        <p:nvSpPr>
          <p:cNvPr id="40" name="Text 38"/>
          <p:cNvSpPr>
            <a:spLocks noGrp="1"/>
          </p:cNvSpPr>
          <p:nvPr/>
        </p:nvSpPr>
        <p:spPr>
          <a:xfrm>
            <a:off x="1417320" y="4206240"/>
            <a:ext cx="822960" cy="21031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buNone/>
            </a:pPr>
            <a:r>
              <a:rPr sz="920" b="1">
                <a:solidFill>
                  <a:srgbClr val="A8D9D0"/>
                </a:solidFill>
                <a:latin typeface="Noto Sans CJK SC"/>
                <a:ea typeface="Noto Sans CJK SC"/>
                <a:cs typeface="Noto Sans CJK SC"/>
              </a:rPr>
              <a:t>FRESHNESS</a:t>
            </a:r>
            <a:endParaRPr sz="920"/>
          </a:p>
        </p:txBody>
      </p:sp>
      <p:sp>
        <p:nvSpPr>
          <p:cNvPr id="41" name="Text 39"/>
          <p:cNvSpPr>
            <a:spLocks noGrp="1"/>
          </p:cNvSpPr>
          <p:nvPr/>
        </p:nvSpPr>
        <p:spPr>
          <a:xfrm>
            <a:off x="1417320" y="4443984"/>
            <a:ext cx="1554480" cy="2286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buNone/>
            </a:pPr>
            <a:r>
              <a:rPr sz="1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版本与有效期</a:t>
            </a:r>
            <a:endParaRPr sz="1100"/>
          </a:p>
        </p:txBody>
      </p:sp>
      <p:sp>
        <p:nvSpPr>
          <p:cNvPr id="42" name="Shape 40"/>
          <p:cNvSpPr>
            <a:spLocks noGrp="1"/>
          </p:cNvSpPr>
          <p:nvPr/>
        </p:nvSpPr>
        <p:spPr>
          <a:xfrm>
            <a:off x="941832" y="4882896"/>
            <a:ext cx="329184" cy="329184"/>
          </a:xfrm>
          <a:prstGeom prst="ellipse">
            <a:avLst/>
          </a:prstGeom>
          <a:solidFill>
            <a:srgbClr val="007574"/>
          </a:solidFill>
          <a:ln w="12700">
            <a:solidFill>
              <a:srgbClr val="007574"/>
            </a:solidFill>
            <a:prstDash val="solid"/>
          </a:ln>
        </p:spPr>
        <p:txBody>
          <a:bodyPr/>
          <a:lstStyle/>
          <a:p/>
        </p:txBody>
      </p:sp>
      <p:sp>
        <p:nvSpPr>
          <p:cNvPr id="43" name="Text 41"/>
          <p:cNvSpPr>
            <a:spLocks noGrp="1"/>
          </p:cNvSpPr>
          <p:nvPr/>
        </p:nvSpPr>
        <p:spPr>
          <a:xfrm>
            <a:off x="941832" y="4882896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4</a:t>
            </a:r>
            <a:endParaRPr sz="1000"/>
          </a:p>
        </p:txBody>
      </p:sp>
      <p:sp>
        <p:nvSpPr>
          <p:cNvPr id="44" name="Text 42"/>
          <p:cNvSpPr>
            <a:spLocks noGrp="1"/>
          </p:cNvSpPr>
          <p:nvPr/>
        </p:nvSpPr>
        <p:spPr>
          <a:xfrm>
            <a:off x="1417320" y="4864608"/>
            <a:ext cx="822960" cy="21031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buNone/>
            </a:pPr>
            <a:r>
              <a:rPr sz="920" b="1">
                <a:solidFill>
                  <a:srgbClr val="A8D9D0"/>
                </a:solidFill>
                <a:latin typeface="Noto Sans CJK SC"/>
                <a:ea typeface="Noto Sans CJK SC"/>
                <a:cs typeface="Noto Sans CJK SC"/>
              </a:rPr>
              <a:t>SCOPE</a:t>
            </a:r>
            <a:endParaRPr sz="920"/>
          </a:p>
        </p:txBody>
      </p:sp>
      <p:sp>
        <p:nvSpPr>
          <p:cNvPr id="45" name="Text 43"/>
          <p:cNvSpPr>
            <a:spLocks noGrp="1"/>
          </p:cNvSpPr>
          <p:nvPr/>
        </p:nvSpPr>
        <p:spPr>
          <a:xfrm>
            <a:off x="1417320" y="5102352"/>
            <a:ext cx="1554480" cy="2286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buNone/>
            </a:pPr>
            <a:r>
              <a:rPr sz="1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允许使用的场景</a:t>
            </a:r>
            <a:endParaRPr sz="1100"/>
          </a:p>
        </p:txBody>
      </p:sp>
      <p:sp>
        <p:nvSpPr>
          <p:cNvPr id="46" name="Text 44"/>
          <p:cNvSpPr>
            <a:spLocks noGrp="1"/>
          </p:cNvSpPr>
          <p:nvPr/>
        </p:nvSpPr>
        <p:spPr>
          <a:xfrm>
            <a:off x="914400" y="5577840"/>
            <a:ext cx="2176272" cy="42062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buNone/>
            </a:pPr>
            <a:r>
              <a:rPr sz="910">
                <a:solidFill>
                  <a:srgbClr val="C8DDDA"/>
                </a:solidFill>
                <a:latin typeface="Noto Sans CJK SC"/>
                <a:ea typeface="Noto Sans CJK SC"/>
                <a:cs typeface="Noto Sans CJK SC"/>
              </a:rPr>
              <a:t>要回答的是：这条事实能不能影响当前工单的判断。</a:t>
            </a:r>
            <a:endParaRPr sz="910"/>
          </a:p>
        </p:txBody>
      </p:sp>
      <p:sp>
        <p:nvSpPr>
          <p:cNvPr id="47" name="Shape 45"/>
          <p:cNvSpPr>
            <a:spLocks noGrp="1"/>
          </p:cNvSpPr>
          <p:nvPr/>
        </p:nvSpPr>
        <p:spPr>
          <a:xfrm>
            <a:off x="3767328" y="1700784"/>
            <a:ext cx="7479792" cy="859536"/>
          </a:xfrm>
          <a:prstGeom prst="roundRect">
            <a:avLst/>
          </a:prstGeom>
          <a:solidFill>
            <a:srgbClr val="EAF3FF"/>
          </a:solidFill>
          <a:ln w="12700">
            <a:solidFill>
              <a:srgbClr val="2F80ED"/>
            </a:solidFill>
            <a:prstDash val="solid"/>
          </a:ln>
        </p:spPr>
        <p:txBody>
          <a:bodyPr/>
          <a:lstStyle/>
          <a:p/>
        </p:txBody>
      </p:sp>
      <p:sp>
        <p:nvSpPr>
          <p:cNvPr id="48" name="Shape 46"/>
          <p:cNvSpPr>
            <a:spLocks noGrp="1"/>
          </p:cNvSpPr>
          <p:nvPr/>
        </p:nvSpPr>
        <p:spPr>
          <a:xfrm>
            <a:off x="3968496" y="1938528"/>
            <a:ext cx="384048" cy="384048"/>
          </a:xfrm>
          <a:prstGeom prst="ellipse">
            <a:avLst/>
          </a:prstGeom>
          <a:solidFill>
            <a:srgbClr val="1F63C4"/>
          </a:solidFill>
          <a:ln w="12700">
            <a:solidFill>
              <a:srgbClr val="1F63C4"/>
            </a:solidFill>
            <a:prstDash val="solid"/>
          </a:ln>
        </p:spPr>
        <p:txBody>
          <a:bodyPr/>
          <a:lstStyle/>
          <a:p/>
        </p:txBody>
      </p:sp>
      <p:sp>
        <p:nvSpPr>
          <p:cNvPr id="49" name="Text 47"/>
          <p:cNvSpPr>
            <a:spLocks noGrp="1"/>
          </p:cNvSpPr>
          <p:nvPr/>
        </p:nvSpPr>
        <p:spPr>
          <a:xfrm>
            <a:off x="3968496" y="1938528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01</a:t>
            </a:r>
            <a:endParaRPr sz="1000"/>
          </a:p>
        </p:txBody>
      </p:sp>
      <p:sp>
        <p:nvSpPr>
          <p:cNvPr id="50" name="Text 48"/>
          <p:cNvSpPr>
            <a:spLocks noGrp="1"/>
          </p:cNvSpPr>
          <p:nvPr/>
        </p:nvSpPr>
        <p:spPr>
          <a:xfrm>
            <a:off x="4507992" y="1792224"/>
            <a:ext cx="1463040" cy="24688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buNone/>
            </a:pPr>
            <a:r>
              <a:rPr sz="1310" b="1">
                <a:solidFill>
                  <a:srgbClr val="153D39"/>
                </a:solidFill>
                <a:latin typeface="Noto Sans CJK SC"/>
                <a:ea typeface="Noto Sans CJK SC"/>
                <a:cs typeface="Noto Sans CJK SC"/>
              </a:rPr>
              <a:t>客户可见知识</a:t>
            </a:r>
            <a:endParaRPr sz="1310"/>
          </a:p>
        </p:txBody>
      </p:sp>
      <p:sp>
        <p:nvSpPr>
          <p:cNvPr id="51" name="Text 49"/>
          <p:cNvSpPr>
            <a:spLocks noGrp="1"/>
          </p:cNvSpPr>
          <p:nvPr/>
        </p:nvSpPr>
        <p:spPr>
          <a:xfrm>
            <a:off x="4507992" y="2093976"/>
            <a:ext cx="1783080" cy="21945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buNone/>
            </a:pPr>
            <a:r>
              <a:rPr sz="920">
                <a:solidFill>
                  <a:srgbClr val="44585C"/>
                </a:solidFill>
                <a:latin typeface="Noto Sans CJK SC"/>
                <a:ea typeface="Noto Sans CJK SC"/>
                <a:cs typeface="Noto Sans CJK SC"/>
              </a:rPr>
              <a:t>政策、产品、护理说明</a:t>
            </a:r>
            <a:endParaRPr sz="920"/>
          </a:p>
        </p:txBody>
      </p:sp>
      <p:sp>
        <p:nvSpPr>
          <p:cNvPr id="52" name="Shape 50"/>
          <p:cNvSpPr>
            <a:spLocks noGrp="1"/>
          </p:cNvSpPr>
          <p:nvPr/>
        </p:nvSpPr>
        <p:spPr>
          <a:xfrm>
            <a:off x="6455664" y="1828800"/>
            <a:ext cx="438912" cy="256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/>
        </p:txBody>
      </p:sp>
      <p:sp>
        <p:nvSpPr>
          <p:cNvPr id="53" name="Text 51"/>
          <p:cNvSpPr>
            <a:spLocks noGrp="1"/>
          </p:cNvSpPr>
          <p:nvPr/>
        </p:nvSpPr>
        <p:spPr>
          <a:xfrm>
            <a:off x="6455664" y="1828800"/>
            <a:ext cx="438912" cy="25603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950" b="1">
                <a:solidFill>
                  <a:srgbClr val="1B5FC4"/>
                </a:solidFill>
                <a:latin typeface="Noto Sans CJK SC"/>
                <a:ea typeface="Noto Sans CJK SC"/>
                <a:cs typeface="Noto Sans CJK SC"/>
              </a:rPr>
              <a:t>用途</a:t>
            </a:r>
            <a:endParaRPr sz="950"/>
          </a:p>
        </p:txBody>
      </p:sp>
      <p:sp>
        <p:nvSpPr>
          <p:cNvPr id="54" name="Text 52"/>
          <p:cNvSpPr>
            <a:spLocks noGrp="1"/>
          </p:cNvSpPr>
          <p:nvPr/>
        </p:nvSpPr>
        <p:spPr>
          <a:xfrm>
            <a:off x="6967728" y="1810512"/>
            <a:ext cx="1883664" cy="27432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buNone/>
            </a:pPr>
            <a:r>
              <a:rPr sz="950" b="1">
                <a:solidFill>
                  <a:srgbClr val="153D39"/>
                </a:solidFill>
                <a:latin typeface="Noto Sans CJK SC"/>
                <a:ea typeface="Noto Sans CJK SC"/>
                <a:cs typeface="Noto Sans CJK SC"/>
              </a:rPr>
              <a:t>用于回复，可引用来源</a:t>
            </a:r>
            <a:endParaRPr sz="950"/>
          </a:p>
        </p:txBody>
      </p:sp>
      <p:sp>
        <p:nvSpPr>
          <p:cNvPr id="55" name="Shape 53"/>
          <p:cNvSpPr>
            <a:spLocks noGrp="1"/>
          </p:cNvSpPr>
          <p:nvPr/>
        </p:nvSpPr>
        <p:spPr>
          <a:xfrm>
            <a:off x="9015984" y="1828800"/>
            <a:ext cx="438912" cy="256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/>
        </p:txBody>
      </p:sp>
      <p:sp>
        <p:nvSpPr>
          <p:cNvPr id="56" name="Text 54"/>
          <p:cNvSpPr>
            <a:spLocks noGrp="1"/>
          </p:cNvSpPr>
          <p:nvPr/>
        </p:nvSpPr>
        <p:spPr>
          <a:xfrm>
            <a:off x="9015984" y="1828800"/>
            <a:ext cx="438912" cy="25603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950" b="1">
                <a:solidFill>
                  <a:srgbClr val="1B5FC4"/>
                </a:solidFill>
                <a:latin typeface="Noto Sans CJK SC"/>
                <a:ea typeface="Noto Sans CJK SC"/>
                <a:cs typeface="Noto Sans CJK SC"/>
              </a:rPr>
              <a:t>时效</a:t>
            </a:r>
            <a:endParaRPr sz="950"/>
          </a:p>
        </p:txBody>
      </p:sp>
      <p:sp>
        <p:nvSpPr>
          <p:cNvPr id="57" name="Text 55"/>
          <p:cNvSpPr>
            <a:spLocks noGrp="1"/>
          </p:cNvSpPr>
          <p:nvPr/>
        </p:nvSpPr>
        <p:spPr>
          <a:xfrm>
            <a:off x="9528048" y="1810512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buNone/>
            </a:pPr>
            <a:r>
              <a:rPr sz="930" b="1">
                <a:solidFill>
                  <a:srgbClr val="153D39"/>
                </a:solidFill>
                <a:latin typeface="Noto Sans CJK SC"/>
                <a:ea typeface="Noto Sans CJK SC"/>
                <a:cs typeface="Noto Sans CJK SC"/>
              </a:rPr>
              <a:t>按内容版本发布</a:t>
            </a:r>
            <a:endParaRPr sz="930"/>
          </a:p>
        </p:txBody>
      </p:sp>
      <p:sp>
        <p:nvSpPr>
          <p:cNvPr id="58" name="Shape 56"/>
          <p:cNvSpPr>
            <a:spLocks noGrp="1"/>
          </p:cNvSpPr>
          <p:nvPr/>
        </p:nvSpPr>
        <p:spPr>
          <a:xfrm>
            <a:off x="3767328" y="2734056"/>
            <a:ext cx="7479792" cy="859536"/>
          </a:xfrm>
          <a:prstGeom prst="roundRect">
            <a:avLst/>
          </a:prstGeom>
          <a:solidFill>
            <a:srgbClr val="FFF2E8"/>
          </a:solidFill>
          <a:ln w="12700">
            <a:solidFill>
              <a:srgbClr val="F28B36"/>
            </a:solidFill>
            <a:prstDash val="solid"/>
          </a:ln>
        </p:spPr>
        <p:txBody>
          <a:bodyPr/>
          <a:lstStyle/>
          <a:p/>
        </p:txBody>
      </p:sp>
      <p:sp>
        <p:nvSpPr>
          <p:cNvPr id="59" name="Shape 57"/>
          <p:cNvSpPr>
            <a:spLocks noGrp="1"/>
          </p:cNvSpPr>
          <p:nvPr/>
        </p:nvSpPr>
        <p:spPr>
          <a:xfrm>
            <a:off x="3968496" y="2971800"/>
            <a:ext cx="384048" cy="384048"/>
          </a:xfrm>
          <a:prstGeom prst="ellipse">
            <a:avLst/>
          </a:prstGeom>
          <a:solidFill>
            <a:srgbClr val="BC6414"/>
          </a:solidFill>
          <a:ln w="12700">
            <a:solidFill>
              <a:srgbClr val="BC6414"/>
            </a:solidFill>
            <a:prstDash val="solid"/>
          </a:ln>
        </p:spPr>
        <p:txBody>
          <a:bodyPr/>
          <a:lstStyle/>
          <a:p/>
        </p:txBody>
      </p:sp>
      <p:sp>
        <p:nvSpPr>
          <p:cNvPr id="60" name="Text 58"/>
          <p:cNvSpPr>
            <a:spLocks noGrp="1"/>
          </p:cNvSpPr>
          <p:nvPr/>
        </p:nvSpPr>
        <p:spPr>
          <a:xfrm>
            <a:off x="3968496" y="297180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02</a:t>
            </a:r>
            <a:endParaRPr sz="1000"/>
          </a:p>
        </p:txBody>
      </p:sp>
      <p:sp>
        <p:nvSpPr>
          <p:cNvPr id="61" name="Text 59"/>
          <p:cNvSpPr>
            <a:spLocks noGrp="1"/>
          </p:cNvSpPr>
          <p:nvPr/>
        </p:nvSpPr>
        <p:spPr>
          <a:xfrm>
            <a:off x="4507992" y="2825496"/>
            <a:ext cx="1463040" cy="24688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buNone/>
            </a:pPr>
            <a:r>
              <a:rPr sz="1310" b="1">
                <a:solidFill>
                  <a:srgbClr val="153D39"/>
                </a:solidFill>
                <a:latin typeface="Noto Sans CJK SC"/>
                <a:ea typeface="Noto Sans CJK SC"/>
                <a:cs typeface="Noto Sans CJK SC"/>
              </a:rPr>
              <a:t>内部业务规则</a:t>
            </a:r>
            <a:endParaRPr sz="1310"/>
          </a:p>
        </p:txBody>
      </p:sp>
      <p:sp>
        <p:nvSpPr>
          <p:cNvPr id="62" name="Text 60"/>
          <p:cNvSpPr>
            <a:spLocks noGrp="1"/>
          </p:cNvSpPr>
          <p:nvPr/>
        </p:nvSpPr>
        <p:spPr>
          <a:xfrm>
            <a:off x="4507992" y="3127248"/>
            <a:ext cx="1783080" cy="21945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buNone/>
            </a:pPr>
            <a:r>
              <a:rPr sz="920">
                <a:solidFill>
                  <a:srgbClr val="44585C"/>
                </a:solidFill>
                <a:latin typeface="Noto Sans CJK SC"/>
                <a:ea typeface="Noto Sans CJK SC"/>
                <a:cs typeface="Noto Sans CJK SC"/>
              </a:rPr>
              <a:t>风控、审核、补偿边界</a:t>
            </a:r>
            <a:endParaRPr sz="920"/>
          </a:p>
        </p:txBody>
      </p:sp>
      <p:sp>
        <p:nvSpPr>
          <p:cNvPr id="63" name="Shape 61"/>
          <p:cNvSpPr>
            <a:spLocks noGrp="1"/>
          </p:cNvSpPr>
          <p:nvPr/>
        </p:nvSpPr>
        <p:spPr>
          <a:xfrm>
            <a:off x="6455664" y="2862072"/>
            <a:ext cx="438912" cy="256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/>
        </p:txBody>
      </p:sp>
      <p:sp>
        <p:nvSpPr>
          <p:cNvPr id="64" name="Text 62"/>
          <p:cNvSpPr>
            <a:spLocks noGrp="1"/>
          </p:cNvSpPr>
          <p:nvPr/>
        </p:nvSpPr>
        <p:spPr>
          <a:xfrm>
            <a:off x="6455664" y="2862072"/>
            <a:ext cx="438912" cy="25603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950" b="1">
                <a:solidFill>
                  <a:srgbClr val="9A5210"/>
                </a:solidFill>
                <a:latin typeface="Noto Sans CJK SC"/>
                <a:ea typeface="Noto Sans CJK SC"/>
                <a:cs typeface="Noto Sans CJK SC"/>
              </a:rPr>
              <a:t>用途</a:t>
            </a:r>
            <a:endParaRPr sz="950"/>
          </a:p>
        </p:txBody>
      </p:sp>
      <p:sp>
        <p:nvSpPr>
          <p:cNvPr id="65" name="Text 63"/>
          <p:cNvSpPr>
            <a:spLocks noGrp="1"/>
          </p:cNvSpPr>
          <p:nvPr/>
        </p:nvSpPr>
        <p:spPr>
          <a:xfrm>
            <a:off x="6967728" y="2843784"/>
            <a:ext cx="1883664" cy="27432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buNone/>
            </a:pPr>
            <a:r>
              <a:rPr sz="950" b="1">
                <a:solidFill>
                  <a:srgbClr val="153D39"/>
                </a:solidFill>
                <a:latin typeface="Noto Sans CJK SC"/>
                <a:ea typeface="Noto Sans CJK SC"/>
                <a:cs typeface="Noto Sans CJK SC"/>
              </a:rPr>
              <a:t>只参与判断，不对客披露</a:t>
            </a:r>
            <a:endParaRPr sz="950"/>
          </a:p>
        </p:txBody>
      </p:sp>
      <p:sp>
        <p:nvSpPr>
          <p:cNvPr id="66" name="Shape 64"/>
          <p:cNvSpPr>
            <a:spLocks noGrp="1"/>
          </p:cNvSpPr>
          <p:nvPr/>
        </p:nvSpPr>
        <p:spPr>
          <a:xfrm>
            <a:off x="9015984" y="2862072"/>
            <a:ext cx="438912" cy="256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/>
        </p:txBody>
      </p:sp>
      <p:sp>
        <p:nvSpPr>
          <p:cNvPr id="67" name="Text 65"/>
          <p:cNvSpPr>
            <a:spLocks noGrp="1"/>
          </p:cNvSpPr>
          <p:nvPr/>
        </p:nvSpPr>
        <p:spPr>
          <a:xfrm>
            <a:off x="9015984" y="2862072"/>
            <a:ext cx="438912" cy="25603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950" b="1">
                <a:solidFill>
                  <a:srgbClr val="9A5210"/>
                </a:solidFill>
                <a:latin typeface="Noto Sans CJK SC"/>
                <a:ea typeface="Noto Sans CJK SC"/>
                <a:cs typeface="Noto Sans CJK SC"/>
              </a:rPr>
              <a:t>时效</a:t>
            </a:r>
            <a:endParaRPr sz="950"/>
          </a:p>
        </p:txBody>
      </p:sp>
      <p:sp>
        <p:nvSpPr>
          <p:cNvPr id="68" name="Text 66"/>
          <p:cNvSpPr>
            <a:spLocks noGrp="1"/>
          </p:cNvSpPr>
          <p:nvPr/>
        </p:nvSpPr>
        <p:spPr>
          <a:xfrm>
            <a:off x="9528048" y="2843784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buNone/>
            </a:pPr>
            <a:r>
              <a:rPr sz="930" b="1">
                <a:solidFill>
                  <a:srgbClr val="153D39"/>
                </a:solidFill>
                <a:latin typeface="Noto Sans CJK SC"/>
                <a:ea typeface="Noto Sans CJK SC"/>
                <a:cs typeface="Noto Sans CJK SC"/>
              </a:rPr>
              <a:t>由业务负责人维护</a:t>
            </a:r>
            <a:endParaRPr sz="930"/>
          </a:p>
        </p:txBody>
      </p:sp>
      <p:sp>
        <p:nvSpPr>
          <p:cNvPr id="69" name="Shape 67"/>
          <p:cNvSpPr>
            <a:spLocks noGrp="1"/>
          </p:cNvSpPr>
          <p:nvPr/>
        </p:nvSpPr>
        <p:spPr>
          <a:xfrm>
            <a:off x="3767328" y="3767328"/>
            <a:ext cx="7479792" cy="859536"/>
          </a:xfrm>
          <a:prstGeom prst="roundRect">
            <a:avLst/>
          </a:prstGeom>
          <a:solidFill>
            <a:srgbClr val="E7F7F7"/>
          </a:solidFill>
          <a:ln w="12700">
            <a:solidFill>
              <a:srgbClr val="00A7A7"/>
            </a:solidFill>
            <a:prstDash val="solid"/>
          </a:ln>
        </p:spPr>
        <p:txBody>
          <a:bodyPr/>
          <a:lstStyle/>
          <a:p/>
        </p:txBody>
      </p:sp>
      <p:sp>
        <p:nvSpPr>
          <p:cNvPr id="70" name="Shape 68"/>
          <p:cNvSpPr>
            <a:spLocks noGrp="1"/>
          </p:cNvSpPr>
          <p:nvPr/>
        </p:nvSpPr>
        <p:spPr>
          <a:xfrm>
            <a:off x="3968496" y="4005072"/>
            <a:ext cx="384048" cy="384048"/>
          </a:xfrm>
          <a:prstGeom prst="ellipse">
            <a:avLst/>
          </a:prstGeom>
          <a:solidFill>
            <a:srgbClr val="007574"/>
          </a:solidFill>
          <a:ln w="12700">
            <a:solidFill>
              <a:srgbClr val="007574"/>
            </a:solidFill>
            <a:prstDash val="solid"/>
          </a:ln>
        </p:spPr>
        <p:txBody>
          <a:bodyPr/>
          <a:lstStyle/>
          <a:p/>
        </p:txBody>
      </p:sp>
      <p:sp>
        <p:nvSpPr>
          <p:cNvPr id="71" name="Text 69"/>
          <p:cNvSpPr>
            <a:spLocks noGrp="1"/>
          </p:cNvSpPr>
          <p:nvPr/>
        </p:nvSpPr>
        <p:spPr>
          <a:xfrm>
            <a:off x="3968496" y="4005072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03</a:t>
            </a:r>
            <a:endParaRPr sz="1000"/>
          </a:p>
        </p:txBody>
      </p:sp>
      <p:sp>
        <p:nvSpPr>
          <p:cNvPr id="72" name="Text 70"/>
          <p:cNvSpPr>
            <a:spLocks noGrp="1"/>
          </p:cNvSpPr>
          <p:nvPr/>
        </p:nvSpPr>
        <p:spPr>
          <a:xfrm>
            <a:off x="4507992" y="3858768"/>
            <a:ext cx="1463040" cy="24688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buNone/>
            </a:pPr>
            <a:r>
              <a:rPr sz="1310" b="1">
                <a:solidFill>
                  <a:srgbClr val="153D39"/>
                </a:solidFill>
                <a:latin typeface="Noto Sans CJK SC"/>
                <a:ea typeface="Noto Sans CJK SC"/>
                <a:cs typeface="Noto Sans CJK SC"/>
              </a:rPr>
              <a:t>实时业务状态</a:t>
            </a:r>
            <a:endParaRPr sz="1310"/>
          </a:p>
        </p:txBody>
      </p:sp>
      <p:sp>
        <p:nvSpPr>
          <p:cNvPr id="73" name="Text 71"/>
          <p:cNvSpPr>
            <a:spLocks noGrp="1"/>
          </p:cNvSpPr>
          <p:nvPr/>
        </p:nvSpPr>
        <p:spPr>
          <a:xfrm>
            <a:off x="4507992" y="4160520"/>
            <a:ext cx="1783080" cy="21945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buNone/>
            </a:pPr>
            <a:r>
              <a:rPr sz="920">
                <a:solidFill>
                  <a:srgbClr val="44585C"/>
                </a:solidFill>
                <a:latin typeface="Noto Sans CJK SC"/>
                <a:ea typeface="Noto Sans CJK SC"/>
                <a:cs typeface="Noto Sans CJK SC"/>
              </a:rPr>
              <a:t>订单、履约、物流、退款</a:t>
            </a:r>
            <a:endParaRPr sz="920"/>
          </a:p>
        </p:txBody>
      </p:sp>
      <p:sp>
        <p:nvSpPr>
          <p:cNvPr id="74" name="Shape 72"/>
          <p:cNvSpPr>
            <a:spLocks noGrp="1"/>
          </p:cNvSpPr>
          <p:nvPr/>
        </p:nvSpPr>
        <p:spPr>
          <a:xfrm>
            <a:off x="6455664" y="3895344"/>
            <a:ext cx="438912" cy="256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/>
        </p:txBody>
      </p:sp>
      <p:sp>
        <p:nvSpPr>
          <p:cNvPr id="75" name="Text 73"/>
          <p:cNvSpPr>
            <a:spLocks noGrp="1"/>
          </p:cNvSpPr>
          <p:nvPr/>
        </p:nvSpPr>
        <p:spPr>
          <a:xfrm>
            <a:off x="6455664" y="3895344"/>
            <a:ext cx="438912" cy="25603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950" b="1">
                <a:solidFill>
                  <a:srgbClr val="00706F"/>
                </a:solidFill>
                <a:latin typeface="Noto Sans CJK SC"/>
                <a:ea typeface="Noto Sans CJK SC"/>
                <a:cs typeface="Noto Sans CJK SC"/>
              </a:rPr>
              <a:t>用途</a:t>
            </a:r>
            <a:endParaRPr sz="950"/>
          </a:p>
        </p:txBody>
      </p:sp>
      <p:sp>
        <p:nvSpPr>
          <p:cNvPr id="76" name="Text 74"/>
          <p:cNvSpPr>
            <a:spLocks noGrp="1"/>
          </p:cNvSpPr>
          <p:nvPr/>
        </p:nvSpPr>
        <p:spPr>
          <a:xfrm>
            <a:off x="6967728" y="3877056"/>
            <a:ext cx="1883664" cy="27432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buNone/>
            </a:pPr>
            <a:r>
              <a:rPr sz="950" b="1">
                <a:solidFill>
                  <a:srgbClr val="153D39"/>
                </a:solidFill>
                <a:latin typeface="Noto Sans CJK SC"/>
                <a:ea typeface="Noto Sans CJK SC"/>
                <a:cs typeface="Noto Sans CJK SC"/>
              </a:rPr>
              <a:t>查询后使用，不长期缓存</a:t>
            </a:r>
            <a:endParaRPr sz="950"/>
          </a:p>
        </p:txBody>
      </p:sp>
      <p:sp>
        <p:nvSpPr>
          <p:cNvPr id="77" name="Shape 75"/>
          <p:cNvSpPr>
            <a:spLocks noGrp="1"/>
          </p:cNvSpPr>
          <p:nvPr/>
        </p:nvSpPr>
        <p:spPr>
          <a:xfrm>
            <a:off x="9015984" y="3895344"/>
            <a:ext cx="438912" cy="256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/>
        </p:txBody>
      </p:sp>
      <p:sp>
        <p:nvSpPr>
          <p:cNvPr id="78" name="Text 76"/>
          <p:cNvSpPr>
            <a:spLocks noGrp="1"/>
          </p:cNvSpPr>
          <p:nvPr/>
        </p:nvSpPr>
        <p:spPr>
          <a:xfrm>
            <a:off x="9015984" y="3895344"/>
            <a:ext cx="438912" cy="25603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950" b="1">
                <a:solidFill>
                  <a:srgbClr val="00706F"/>
                </a:solidFill>
                <a:latin typeface="Noto Sans CJK SC"/>
                <a:ea typeface="Noto Sans CJK SC"/>
                <a:cs typeface="Noto Sans CJK SC"/>
              </a:rPr>
              <a:t>时效</a:t>
            </a:r>
            <a:endParaRPr sz="950"/>
          </a:p>
        </p:txBody>
      </p:sp>
      <p:sp>
        <p:nvSpPr>
          <p:cNvPr id="79" name="Text 77"/>
          <p:cNvSpPr>
            <a:spLocks noGrp="1"/>
          </p:cNvSpPr>
          <p:nvPr/>
        </p:nvSpPr>
        <p:spPr>
          <a:xfrm>
            <a:off x="9528048" y="3877056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buNone/>
            </a:pPr>
            <a:r>
              <a:rPr sz="930" b="1">
                <a:solidFill>
                  <a:srgbClr val="153D39"/>
                </a:solidFill>
                <a:latin typeface="Noto Sans CJK SC"/>
                <a:ea typeface="Noto Sans CJK SC"/>
                <a:cs typeface="Noto Sans CJK SC"/>
              </a:rPr>
              <a:t>以业务系统为准</a:t>
            </a:r>
            <a:endParaRPr sz="930"/>
          </a:p>
        </p:txBody>
      </p:sp>
      <p:sp>
        <p:nvSpPr>
          <p:cNvPr id="80" name="Shape 78"/>
          <p:cNvSpPr>
            <a:spLocks noGrp="1"/>
          </p:cNvSpPr>
          <p:nvPr/>
        </p:nvSpPr>
        <p:spPr>
          <a:xfrm>
            <a:off x="3767328" y="4800600"/>
            <a:ext cx="7479792" cy="859536"/>
          </a:xfrm>
          <a:prstGeom prst="roundRect">
            <a:avLst/>
          </a:prstGeom>
          <a:solidFill>
            <a:srgbClr val="E8F7F1"/>
          </a:solidFill>
          <a:ln w="12700">
            <a:solidFill>
              <a:srgbClr val="07966F"/>
            </a:solidFill>
            <a:prstDash val="solid"/>
          </a:ln>
        </p:spPr>
        <p:txBody>
          <a:bodyPr/>
          <a:lstStyle/>
          <a:p/>
        </p:txBody>
      </p:sp>
      <p:sp>
        <p:nvSpPr>
          <p:cNvPr id="81" name="Shape 79"/>
          <p:cNvSpPr>
            <a:spLocks noGrp="1"/>
          </p:cNvSpPr>
          <p:nvPr/>
        </p:nvSpPr>
        <p:spPr>
          <a:xfrm>
            <a:off x="3968496" y="5038344"/>
            <a:ext cx="384048" cy="384048"/>
          </a:xfrm>
          <a:prstGeom prst="ellipse">
            <a:avLst/>
          </a:prstGeom>
          <a:solidFill>
            <a:srgbClr val="07714F"/>
          </a:solidFill>
          <a:ln w="12700">
            <a:solidFill>
              <a:srgbClr val="07714F"/>
            </a:solidFill>
            <a:prstDash val="solid"/>
          </a:ln>
        </p:spPr>
        <p:txBody>
          <a:bodyPr/>
          <a:lstStyle/>
          <a:p/>
        </p:txBody>
      </p:sp>
      <p:sp>
        <p:nvSpPr>
          <p:cNvPr id="82" name="Text 80"/>
          <p:cNvSpPr>
            <a:spLocks noGrp="1"/>
          </p:cNvSpPr>
          <p:nvPr/>
        </p:nvSpPr>
        <p:spPr>
          <a:xfrm>
            <a:off x="3968496" y="5038344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04</a:t>
            </a:r>
            <a:endParaRPr sz="1000"/>
          </a:p>
        </p:txBody>
      </p:sp>
      <p:sp>
        <p:nvSpPr>
          <p:cNvPr id="83" name="Text 81"/>
          <p:cNvSpPr>
            <a:spLocks noGrp="1"/>
          </p:cNvSpPr>
          <p:nvPr/>
        </p:nvSpPr>
        <p:spPr>
          <a:xfrm>
            <a:off x="4507992" y="4892040"/>
            <a:ext cx="1463040" cy="24688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buNone/>
            </a:pPr>
            <a:r>
              <a:rPr sz="1310" b="1">
                <a:solidFill>
                  <a:srgbClr val="153D39"/>
                </a:solidFill>
                <a:latin typeface="Noto Sans CJK SC"/>
                <a:ea typeface="Noto Sans CJK SC"/>
                <a:cs typeface="Noto Sans CJK SC"/>
              </a:rPr>
              <a:t>当前工单状态</a:t>
            </a:r>
            <a:endParaRPr sz="1310"/>
          </a:p>
        </p:txBody>
      </p:sp>
      <p:sp>
        <p:nvSpPr>
          <p:cNvPr id="84" name="Text 82"/>
          <p:cNvSpPr>
            <a:spLocks noGrp="1"/>
          </p:cNvSpPr>
          <p:nvPr/>
        </p:nvSpPr>
        <p:spPr>
          <a:xfrm>
            <a:off x="4507992" y="5193792"/>
            <a:ext cx="1783080" cy="21945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buNone/>
            </a:pPr>
            <a:r>
              <a:rPr sz="920">
                <a:solidFill>
                  <a:srgbClr val="44585C"/>
                </a:solidFill>
                <a:latin typeface="Noto Sans CJK SC"/>
                <a:ea typeface="Noto Sans CJK SC"/>
                <a:cs typeface="Noto Sans CJK SC"/>
              </a:rPr>
              <a:t>客户确认、人工审核、已执行动作</a:t>
            </a:r>
            <a:endParaRPr sz="920"/>
          </a:p>
        </p:txBody>
      </p:sp>
      <p:sp>
        <p:nvSpPr>
          <p:cNvPr id="85" name="Shape 83"/>
          <p:cNvSpPr>
            <a:spLocks noGrp="1"/>
          </p:cNvSpPr>
          <p:nvPr/>
        </p:nvSpPr>
        <p:spPr>
          <a:xfrm>
            <a:off x="6455664" y="4928616"/>
            <a:ext cx="438912" cy="256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/>
        </p:txBody>
      </p:sp>
      <p:sp>
        <p:nvSpPr>
          <p:cNvPr id="86" name="Text 84"/>
          <p:cNvSpPr>
            <a:spLocks noGrp="1"/>
          </p:cNvSpPr>
          <p:nvPr/>
        </p:nvSpPr>
        <p:spPr>
          <a:xfrm>
            <a:off x="6455664" y="4928616"/>
            <a:ext cx="438912" cy="25603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950" b="1">
                <a:solidFill>
                  <a:srgbClr val="076B50"/>
                </a:solidFill>
                <a:latin typeface="Noto Sans CJK SC"/>
                <a:ea typeface="Noto Sans CJK SC"/>
                <a:cs typeface="Noto Sans CJK SC"/>
              </a:rPr>
              <a:t>用途</a:t>
            </a:r>
            <a:endParaRPr sz="950"/>
          </a:p>
        </p:txBody>
      </p:sp>
      <p:sp>
        <p:nvSpPr>
          <p:cNvPr id="87" name="Text 85"/>
          <p:cNvSpPr>
            <a:spLocks noGrp="1"/>
          </p:cNvSpPr>
          <p:nvPr/>
        </p:nvSpPr>
        <p:spPr>
          <a:xfrm>
            <a:off x="6967728" y="4910328"/>
            <a:ext cx="1883664" cy="27432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buNone/>
            </a:pPr>
            <a:r>
              <a:rPr sz="950" b="1">
                <a:solidFill>
                  <a:srgbClr val="153D39"/>
                </a:solidFill>
                <a:latin typeface="Noto Sans CJK SC"/>
                <a:ea typeface="Noto Sans CJK SC"/>
                <a:cs typeface="Noto Sans CJK SC"/>
              </a:rPr>
              <a:t>随单保存，支持续跑与交接</a:t>
            </a:r>
            <a:endParaRPr sz="950"/>
          </a:p>
        </p:txBody>
      </p:sp>
      <p:sp>
        <p:nvSpPr>
          <p:cNvPr id="88" name="Shape 86"/>
          <p:cNvSpPr>
            <a:spLocks noGrp="1"/>
          </p:cNvSpPr>
          <p:nvPr/>
        </p:nvSpPr>
        <p:spPr>
          <a:xfrm>
            <a:off x="9015984" y="4928616"/>
            <a:ext cx="438912" cy="256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/>
        </p:txBody>
      </p:sp>
      <p:sp>
        <p:nvSpPr>
          <p:cNvPr id="89" name="Text 87"/>
          <p:cNvSpPr>
            <a:spLocks noGrp="1"/>
          </p:cNvSpPr>
          <p:nvPr/>
        </p:nvSpPr>
        <p:spPr>
          <a:xfrm>
            <a:off x="9015984" y="4928616"/>
            <a:ext cx="438912" cy="25603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950" b="1">
                <a:solidFill>
                  <a:srgbClr val="076B50"/>
                </a:solidFill>
                <a:latin typeface="Noto Sans CJK SC"/>
                <a:ea typeface="Noto Sans CJK SC"/>
                <a:cs typeface="Noto Sans CJK SC"/>
              </a:rPr>
              <a:t>时效</a:t>
            </a:r>
            <a:endParaRPr sz="950"/>
          </a:p>
        </p:txBody>
      </p:sp>
      <p:sp>
        <p:nvSpPr>
          <p:cNvPr id="90" name="Text 88"/>
          <p:cNvSpPr>
            <a:spLocks noGrp="1"/>
          </p:cNvSpPr>
          <p:nvPr/>
        </p:nvSpPr>
        <p:spPr>
          <a:xfrm>
            <a:off x="9528048" y="4910328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buNone/>
            </a:pPr>
            <a:r>
              <a:rPr sz="930" b="1">
                <a:solidFill>
                  <a:srgbClr val="153D39"/>
                </a:solidFill>
                <a:latin typeface="Noto Sans CJK SC"/>
                <a:ea typeface="Noto Sans CJK SC"/>
                <a:cs typeface="Noto Sans CJK SC"/>
              </a:rPr>
              <a:t>当前工单生命周期</a:t>
            </a:r>
            <a:endParaRPr sz="930"/>
          </a:p>
        </p:txBody>
      </p:sp>
      <p:sp>
        <p:nvSpPr>
          <p:cNvPr id="91" name="Text 89"/>
          <p:cNvSpPr>
            <a:spLocks noGrp="1"/>
          </p:cNvSpPr>
          <p:nvPr/>
        </p:nvSpPr>
        <p:spPr>
          <a:xfrm>
            <a:off x="3803904" y="5870448"/>
            <a:ext cx="768096" cy="2286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buNone/>
            </a:pPr>
            <a:r>
              <a:rPr sz="1050" b="1">
                <a:solidFill>
                  <a:srgbClr val="44585C"/>
                </a:solidFill>
                <a:latin typeface="Noto Sans CJK SC"/>
                <a:ea typeface="Noto Sans CJK SC"/>
                <a:cs typeface="Noto Sans CJK SC"/>
              </a:rPr>
              <a:t>上线流程</a:t>
            </a:r>
            <a:endParaRPr sz="1050"/>
          </a:p>
        </p:txBody>
      </p:sp>
      <p:sp>
        <p:nvSpPr>
          <p:cNvPr id="92" name="Shape 90"/>
          <p:cNvSpPr>
            <a:spLocks noGrp="1"/>
          </p:cNvSpPr>
          <p:nvPr/>
        </p:nvSpPr>
        <p:spPr>
          <a:xfrm>
            <a:off x="4590288" y="5797296"/>
            <a:ext cx="1005840" cy="320040"/>
          </a:xfrm>
          <a:prstGeom prst="roundRect">
            <a:avLst/>
          </a:prstGeom>
          <a:solidFill>
            <a:srgbClr val="EFF5F3"/>
          </a:solidFill>
          <a:ln w="10160">
            <a:solidFill>
              <a:srgbClr val="D7E7E3"/>
            </a:solidFill>
            <a:prstDash val="solid"/>
          </a:ln>
        </p:spPr>
        <p:txBody>
          <a:bodyPr/>
          <a:lstStyle/>
          <a:p/>
        </p:txBody>
      </p:sp>
      <p:sp>
        <p:nvSpPr>
          <p:cNvPr id="93" name="Text 91"/>
          <p:cNvSpPr>
            <a:spLocks noGrp="1"/>
          </p:cNvSpPr>
          <p:nvPr/>
        </p:nvSpPr>
        <p:spPr>
          <a:xfrm>
            <a:off x="4590288" y="5797296"/>
            <a:ext cx="1005840" cy="32004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880" b="1">
                <a:solidFill>
                  <a:srgbClr val="315A55"/>
                </a:solidFill>
                <a:latin typeface="Noto Sans CJK SC"/>
                <a:ea typeface="Noto Sans CJK SC"/>
                <a:cs typeface="Noto Sans CJK SC"/>
              </a:rPr>
              <a:t>来源确认</a:t>
            </a:r>
            <a:endParaRPr sz="880"/>
          </a:p>
        </p:txBody>
      </p:sp>
      <p:sp>
        <p:nvSpPr>
          <p:cNvPr id="94" name="Shape 92"/>
          <p:cNvSpPr>
            <a:spLocks noGrp="1"/>
          </p:cNvSpPr>
          <p:nvPr/>
        </p:nvSpPr>
        <p:spPr>
          <a:xfrm>
            <a:off x="5605272" y="5961888"/>
            <a:ext cx="210312" cy="0"/>
          </a:xfrm>
          <a:prstGeom prst="line">
            <a:avLst/>
          </a:prstGeom>
          <a:noFill/>
          <a:ln w="15240">
            <a:solidFill>
              <a:srgbClr val="A8C7C0"/>
            </a:solidFill>
            <a:prstDash val="solid"/>
            <a:tailEnd type="triangle"/>
          </a:ln>
        </p:spPr>
        <p:txBody>
          <a:bodyPr/>
          <a:lstStyle/>
          <a:p/>
        </p:txBody>
      </p:sp>
      <p:sp>
        <p:nvSpPr>
          <p:cNvPr id="95" name="Shape 93"/>
          <p:cNvSpPr>
            <a:spLocks noGrp="1"/>
          </p:cNvSpPr>
          <p:nvPr/>
        </p:nvSpPr>
        <p:spPr>
          <a:xfrm>
            <a:off x="5852160" y="5797296"/>
            <a:ext cx="1005840" cy="320040"/>
          </a:xfrm>
          <a:prstGeom prst="roundRect">
            <a:avLst/>
          </a:prstGeom>
          <a:solidFill>
            <a:srgbClr val="EFF5F3"/>
          </a:solidFill>
          <a:ln w="10160">
            <a:solidFill>
              <a:srgbClr val="D7E7E3"/>
            </a:solidFill>
            <a:prstDash val="solid"/>
          </a:ln>
        </p:spPr>
        <p:txBody>
          <a:bodyPr/>
          <a:lstStyle/>
          <a:p/>
        </p:txBody>
      </p:sp>
      <p:sp>
        <p:nvSpPr>
          <p:cNvPr id="96" name="Text 94"/>
          <p:cNvSpPr>
            <a:spLocks noGrp="1"/>
          </p:cNvSpPr>
          <p:nvPr/>
        </p:nvSpPr>
        <p:spPr>
          <a:xfrm>
            <a:off x="5852160" y="5797296"/>
            <a:ext cx="1005840" cy="32004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880" b="1">
                <a:solidFill>
                  <a:srgbClr val="315A55"/>
                </a:solidFill>
                <a:latin typeface="Noto Sans CJK SC"/>
                <a:ea typeface="Noto Sans CJK SC"/>
                <a:cs typeface="Noto Sans CJK SC"/>
              </a:rPr>
              <a:t>内容审核</a:t>
            </a:r>
            <a:endParaRPr sz="880"/>
          </a:p>
        </p:txBody>
      </p:sp>
      <p:sp>
        <p:nvSpPr>
          <p:cNvPr id="97" name="Shape 95"/>
          <p:cNvSpPr>
            <a:spLocks noGrp="1"/>
          </p:cNvSpPr>
          <p:nvPr/>
        </p:nvSpPr>
        <p:spPr>
          <a:xfrm>
            <a:off x="6867144" y="5961888"/>
            <a:ext cx="210312" cy="0"/>
          </a:xfrm>
          <a:prstGeom prst="line">
            <a:avLst/>
          </a:prstGeom>
          <a:noFill/>
          <a:ln w="15240">
            <a:solidFill>
              <a:srgbClr val="A8C7C0"/>
            </a:solidFill>
            <a:prstDash val="solid"/>
            <a:tailEnd type="triangle"/>
          </a:ln>
        </p:spPr>
        <p:txBody>
          <a:bodyPr/>
          <a:lstStyle/>
          <a:p/>
        </p:txBody>
      </p:sp>
      <p:sp>
        <p:nvSpPr>
          <p:cNvPr id="98" name="Shape 96"/>
          <p:cNvSpPr>
            <a:spLocks noGrp="1"/>
          </p:cNvSpPr>
          <p:nvPr/>
        </p:nvSpPr>
        <p:spPr>
          <a:xfrm>
            <a:off x="7114032" y="5797296"/>
            <a:ext cx="1005840" cy="320040"/>
          </a:xfrm>
          <a:prstGeom prst="roundRect">
            <a:avLst/>
          </a:prstGeom>
          <a:solidFill>
            <a:srgbClr val="EFF5F3"/>
          </a:solidFill>
          <a:ln w="10160">
            <a:solidFill>
              <a:srgbClr val="D7E7E3"/>
            </a:solidFill>
            <a:prstDash val="solid"/>
          </a:ln>
        </p:spPr>
        <p:txBody>
          <a:bodyPr/>
          <a:lstStyle/>
          <a:p/>
        </p:txBody>
      </p:sp>
      <p:sp>
        <p:nvSpPr>
          <p:cNvPr id="99" name="Text 97"/>
          <p:cNvSpPr>
            <a:spLocks noGrp="1"/>
          </p:cNvSpPr>
          <p:nvPr/>
        </p:nvSpPr>
        <p:spPr>
          <a:xfrm>
            <a:off x="7114032" y="5797296"/>
            <a:ext cx="1005840" cy="32004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880" b="1">
                <a:solidFill>
                  <a:srgbClr val="315A55"/>
                </a:solidFill>
                <a:latin typeface="Noto Sans CJK SC"/>
                <a:ea typeface="Noto Sans CJK SC"/>
                <a:cs typeface="Noto Sans CJK SC"/>
              </a:rPr>
              <a:t>版本发布</a:t>
            </a:r>
            <a:endParaRPr sz="880"/>
          </a:p>
        </p:txBody>
      </p:sp>
      <p:sp>
        <p:nvSpPr>
          <p:cNvPr id="100" name="Shape 98"/>
          <p:cNvSpPr>
            <a:spLocks noGrp="1"/>
          </p:cNvSpPr>
          <p:nvPr/>
        </p:nvSpPr>
        <p:spPr>
          <a:xfrm>
            <a:off x="8129016" y="5961888"/>
            <a:ext cx="210312" cy="0"/>
          </a:xfrm>
          <a:prstGeom prst="line">
            <a:avLst/>
          </a:prstGeom>
          <a:noFill/>
          <a:ln w="15240">
            <a:solidFill>
              <a:srgbClr val="A8C7C0"/>
            </a:solidFill>
            <a:prstDash val="solid"/>
            <a:tailEnd type="triangle"/>
          </a:ln>
        </p:spPr>
        <p:txBody>
          <a:bodyPr/>
          <a:lstStyle/>
          <a:p/>
        </p:txBody>
      </p:sp>
      <p:sp>
        <p:nvSpPr>
          <p:cNvPr id="101" name="Shape 99"/>
          <p:cNvSpPr>
            <a:spLocks noGrp="1"/>
          </p:cNvSpPr>
          <p:nvPr/>
        </p:nvSpPr>
        <p:spPr>
          <a:xfrm>
            <a:off x="8375904" y="5797296"/>
            <a:ext cx="1005840" cy="320040"/>
          </a:xfrm>
          <a:prstGeom prst="roundRect">
            <a:avLst/>
          </a:prstGeom>
          <a:solidFill>
            <a:srgbClr val="EFF5F3"/>
          </a:solidFill>
          <a:ln w="10160">
            <a:solidFill>
              <a:srgbClr val="D7E7E3"/>
            </a:solidFill>
            <a:prstDash val="solid"/>
          </a:ln>
        </p:spPr>
        <p:txBody>
          <a:bodyPr/>
          <a:lstStyle/>
          <a:p/>
        </p:txBody>
      </p:sp>
      <p:sp>
        <p:nvSpPr>
          <p:cNvPr id="102" name="Text 100"/>
          <p:cNvSpPr>
            <a:spLocks noGrp="1"/>
          </p:cNvSpPr>
          <p:nvPr/>
        </p:nvSpPr>
        <p:spPr>
          <a:xfrm>
            <a:off x="8375904" y="5797296"/>
            <a:ext cx="1005840" cy="32004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880" b="1">
                <a:solidFill>
                  <a:srgbClr val="315A55"/>
                </a:solidFill>
                <a:latin typeface="Noto Sans CJK SC"/>
                <a:ea typeface="Noto Sans CJK SC"/>
                <a:cs typeface="Noto Sans CJK SC"/>
              </a:rPr>
              <a:t>场景授权</a:t>
            </a:r>
            <a:endParaRPr sz="880"/>
          </a:p>
        </p:txBody>
      </p:sp>
      <p:sp>
        <p:nvSpPr>
          <p:cNvPr id="103" name="Shape 101"/>
          <p:cNvSpPr>
            <a:spLocks noGrp="1"/>
          </p:cNvSpPr>
          <p:nvPr/>
        </p:nvSpPr>
        <p:spPr>
          <a:xfrm>
            <a:off x="9390888" y="5961888"/>
            <a:ext cx="210312" cy="0"/>
          </a:xfrm>
          <a:prstGeom prst="line">
            <a:avLst/>
          </a:prstGeom>
          <a:noFill/>
          <a:ln w="15240">
            <a:solidFill>
              <a:srgbClr val="A8C7C0"/>
            </a:solidFill>
            <a:prstDash val="solid"/>
            <a:tailEnd type="triangle"/>
          </a:ln>
        </p:spPr>
        <p:txBody>
          <a:bodyPr/>
          <a:lstStyle/>
          <a:p/>
        </p:txBody>
      </p:sp>
      <p:sp>
        <p:nvSpPr>
          <p:cNvPr id="104" name="Shape 102"/>
          <p:cNvSpPr>
            <a:spLocks noGrp="1"/>
          </p:cNvSpPr>
          <p:nvPr/>
        </p:nvSpPr>
        <p:spPr>
          <a:xfrm>
            <a:off x="9637776" y="5797296"/>
            <a:ext cx="1005840" cy="320040"/>
          </a:xfrm>
          <a:prstGeom prst="roundRect">
            <a:avLst/>
          </a:prstGeom>
          <a:solidFill>
            <a:srgbClr val="FDEEEE"/>
          </a:solidFill>
          <a:ln w="10160">
            <a:solidFill>
              <a:srgbClr val="E45858"/>
            </a:solidFill>
            <a:prstDash val="solid"/>
          </a:ln>
        </p:spPr>
        <p:txBody>
          <a:bodyPr/>
          <a:lstStyle/>
          <a:p/>
        </p:txBody>
      </p:sp>
      <p:sp>
        <p:nvSpPr>
          <p:cNvPr id="105" name="Text 103"/>
          <p:cNvSpPr>
            <a:spLocks noGrp="1"/>
          </p:cNvSpPr>
          <p:nvPr/>
        </p:nvSpPr>
        <p:spPr>
          <a:xfrm>
            <a:off x="9637776" y="5797296"/>
            <a:ext cx="1005840" cy="32004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880" b="1">
                <a:solidFill>
                  <a:srgbClr val="C23B3B"/>
                </a:solidFill>
                <a:latin typeface="Noto Sans CJK SC"/>
                <a:ea typeface="Noto Sans CJK SC"/>
                <a:cs typeface="Noto Sans CJK SC"/>
              </a:rPr>
              <a:t>失效下线</a:t>
            </a:r>
            <a:endParaRPr sz="880"/>
          </a:p>
        </p:txBody>
      </p:sp>
      <p:sp>
        <p:nvSpPr>
          <p:cNvPr id="106" name="Rectangle 105"/>
          <p:cNvSpPr>
            <a:spLocks noGrp="1"/>
          </p:cNvSpPr>
          <p:nvPr/>
        </p:nvSpPr>
        <p:spPr>
          <a:xfrm>
            <a:off x="0" y="0"/>
            <a:ext cx="41148" cy="6858000"/>
          </a:xfrm>
          <a:prstGeom prst="rect">
            <a:avLst/>
          </a:prstGeom>
          <a:solidFill>
            <a:srgbClr val="0A8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07" name="圆角矩形 106"/>
          <p:cNvSpPr>
            <a:spLocks noGrp="1"/>
          </p:cNvSpPr>
          <p:nvPr/>
        </p:nvSpPr>
        <p:spPr>
          <a:xfrm>
            <a:off x="6565583" y="127635"/>
            <a:ext cx="4937760" cy="365760"/>
          </a:xfrm>
          <a:prstGeom prst="roundRect">
            <a:avLst>
              <a:gd name="adj" fmla="val 20833"/>
            </a:avLst>
          </a:prstGeom>
          <a:solidFill>
            <a:srgbClr val="F7FBF9"/>
          </a:solidFill>
          <a:ln w="12668">
            <a:solidFill>
              <a:srgbClr val="F7FBF9"/>
            </a:solidFill>
            <a:prstDash val="solid"/>
          </a:ln>
        </p:spPr>
        <p:txBody>
          <a:bodyPr/>
          <a:p/>
        </p:txBody>
      </p:sp>
      <p:sp>
        <p:nvSpPr>
          <p:cNvPr id="108" name="圆角矩形 107"/>
          <p:cNvSpPr>
            <a:spLocks noGrp="1"/>
          </p:cNvSpPr>
          <p:nvPr/>
        </p:nvSpPr>
        <p:spPr>
          <a:xfrm>
            <a:off x="6657023" y="164783"/>
            <a:ext cx="1154430" cy="264795"/>
          </a:xfrm>
          <a:prstGeom prst="roundRect">
            <a:avLst>
              <a:gd name="adj" fmla="val 28777"/>
            </a:avLst>
          </a:prstGeom>
          <a:solidFill>
            <a:srgbClr val="007574"/>
          </a:solidFill>
          <a:ln w="12668">
            <a:solidFill>
              <a:srgbClr val="007574"/>
            </a:solidFill>
            <a:prstDash val="solid"/>
          </a:ln>
        </p:spPr>
        <p:txBody>
          <a:bodyPr/>
          <a:p/>
        </p:txBody>
      </p:sp>
      <p:sp>
        <p:nvSpPr>
          <p:cNvPr id="109" name="矩形 108"/>
          <p:cNvSpPr>
            <a:spLocks noGrp="1"/>
          </p:cNvSpPr>
          <p:nvPr/>
        </p:nvSpPr>
        <p:spPr>
          <a:xfrm>
            <a:off x="6657023" y="187643"/>
            <a:ext cx="1154430" cy="182880"/>
          </a:xfrm>
          <a:prstGeom prst="rect">
            <a:avLst/>
          </a:prstGeom>
        </p:spPr>
        <p:txBody>
          <a:bodyPr anchor="ctr"/>
          <a:lstStyle/>
          <a:p>
            <a:pPr algn="ctr">
              <a:defRPr sz="660" b="1">
                <a:solidFill>
                  <a:srgbClr val="FFFFFF"/>
                </a:solidFill>
              </a:defRPr>
            </a:pPr>
            <a:r>
              <a:t>理解</a:t>
            </a:r>
          </a:p>
        </p:txBody>
      </p:sp>
      <p:sp>
        <p:nvSpPr>
          <p:cNvPr id="110" name="圆角矩形 109"/>
          <p:cNvSpPr>
            <a:spLocks noGrp="1"/>
          </p:cNvSpPr>
          <p:nvPr/>
        </p:nvSpPr>
        <p:spPr>
          <a:xfrm>
            <a:off x="7857173" y="164783"/>
            <a:ext cx="1154430" cy="264795"/>
          </a:xfrm>
          <a:prstGeom prst="roundRect">
            <a:avLst>
              <a:gd name="adj" fmla="val 28777"/>
            </a:avLst>
          </a:prstGeom>
          <a:solidFill>
            <a:srgbClr val="FFFFFF"/>
          </a:solidFill>
          <a:ln w="12668">
            <a:solidFill>
              <a:srgbClr val="C9DCD7"/>
            </a:solidFill>
            <a:prstDash val="solid"/>
          </a:ln>
        </p:spPr>
        <p:txBody>
          <a:bodyPr/>
          <a:p/>
        </p:txBody>
      </p:sp>
      <p:sp>
        <p:nvSpPr>
          <p:cNvPr id="111" name="矩形 110"/>
          <p:cNvSpPr>
            <a:spLocks noGrp="1"/>
          </p:cNvSpPr>
          <p:nvPr/>
        </p:nvSpPr>
        <p:spPr>
          <a:xfrm>
            <a:off x="7857173" y="187643"/>
            <a:ext cx="1154430" cy="182880"/>
          </a:xfrm>
          <a:prstGeom prst="rect">
            <a:avLst/>
          </a:prstGeom>
        </p:spPr>
        <p:txBody>
          <a:bodyPr anchor="ctr"/>
          <a:lstStyle/>
          <a:p>
            <a:pPr algn="ctr">
              <a:defRPr sz="650" b="0">
                <a:solidFill>
                  <a:srgbClr val="44585C"/>
                </a:solidFill>
              </a:defRPr>
            </a:pPr>
            <a:r>
              <a:t>查询</a:t>
            </a:r>
          </a:p>
        </p:txBody>
      </p:sp>
      <p:sp>
        <p:nvSpPr>
          <p:cNvPr id="112" name="圆角矩形 111"/>
          <p:cNvSpPr>
            <a:spLocks noGrp="1"/>
          </p:cNvSpPr>
          <p:nvPr/>
        </p:nvSpPr>
        <p:spPr>
          <a:xfrm>
            <a:off x="9057323" y="164783"/>
            <a:ext cx="1154430" cy="264795"/>
          </a:xfrm>
          <a:prstGeom prst="roundRect">
            <a:avLst>
              <a:gd name="adj" fmla="val 28777"/>
            </a:avLst>
          </a:prstGeom>
          <a:solidFill>
            <a:srgbClr val="FFFFFF"/>
          </a:solidFill>
          <a:ln w="12668">
            <a:solidFill>
              <a:srgbClr val="C9DCD7"/>
            </a:solidFill>
            <a:prstDash val="solid"/>
          </a:ln>
        </p:spPr>
        <p:txBody>
          <a:bodyPr/>
          <a:p/>
        </p:txBody>
      </p:sp>
      <p:sp>
        <p:nvSpPr>
          <p:cNvPr id="113" name="矩形 112"/>
          <p:cNvSpPr>
            <a:spLocks noGrp="1"/>
          </p:cNvSpPr>
          <p:nvPr/>
        </p:nvSpPr>
        <p:spPr>
          <a:xfrm>
            <a:off x="9057323" y="187643"/>
            <a:ext cx="1154430" cy="182880"/>
          </a:xfrm>
          <a:prstGeom prst="rect">
            <a:avLst/>
          </a:prstGeom>
        </p:spPr>
        <p:txBody>
          <a:bodyPr anchor="ctr"/>
          <a:lstStyle/>
          <a:p>
            <a:pPr algn="ctr">
              <a:defRPr sz="650" b="0">
                <a:solidFill>
                  <a:srgbClr val="44585C"/>
                </a:solidFill>
              </a:defRPr>
            </a:pPr>
            <a:r>
              <a:t>决策</a:t>
            </a:r>
          </a:p>
        </p:txBody>
      </p:sp>
      <p:sp>
        <p:nvSpPr>
          <p:cNvPr id="114" name="圆角矩形 113"/>
          <p:cNvSpPr>
            <a:spLocks noGrp="1"/>
          </p:cNvSpPr>
          <p:nvPr/>
        </p:nvSpPr>
        <p:spPr>
          <a:xfrm>
            <a:off x="10257473" y="164783"/>
            <a:ext cx="1154430" cy="264795"/>
          </a:xfrm>
          <a:prstGeom prst="roundRect">
            <a:avLst>
              <a:gd name="adj" fmla="val 28777"/>
            </a:avLst>
          </a:prstGeom>
          <a:solidFill>
            <a:srgbClr val="FFFFFF"/>
          </a:solidFill>
          <a:ln w="12668">
            <a:solidFill>
              <a:srgbClr val="C9DCD7"/>
            </a:solidFill>
            <a:prstDash val="solid"/>
          </a:ln>
        </p:spPr>
        <p:txBody>
          <a:bodyPr/>
          <a:p/>
        </p:txBody>
      </p:sp>
      <p:sp>
        <p:nvSpPr>
          <p:cNvPr id="115" name="矩形 114"/>
          <p:cNvSpPr>
            <a:spLocks noGrp="1"/>
          </p:cNvSpPr>
          <p:nvPr/>
        </p:nvSpPr>
        <p:spPr>
          <a:xfrm>
            <a:off x="10257473" y="187643"/>
            <a:ext cx="1154430" cy="182880"/>
          </a:xfrm>
          <a:prstGeom prst="rect">
            <a:avLst/>
          </a:prstGeom>
        </p:spPr>
        <p:txBody>
          <a:bodyPr anchor="ctr"/>
          <a:lstStyle/>
          <a:p>
            <a:pPr algn="ctr">
              <a:defRPr sz="650" b="0">
                <a:solidFill>
                  <a:srgbClr val="44585C"/>
                </a:solidFill>
              </a:defRPr>
            </a:pPr>
            <a:r>
              <a:t>执行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>
            <a:spLocks noGrp="1"/>
          </p:cNvSpPr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" name="Rectangle 2"/>
          <p:cNvSpPr>
            <a:spLocks noGrp="1"/>
          </p:cNvSpPr>
          <p:nvPr/>
        </p:nvSpPr>
        <p:spPr>
          <a:xfrm>
            <a:off x="0" y="0"/>
            <a:ext cx="41148" cy="6858000"/>
          </a:xfrm>
          <a:prstGeom prst="rect">
            <a:avLst/>
          </a:prstGeom>
          <a:solidFill>
            <a:srgbClr val="0A8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4" name="Oval 3"/>
          <p:cNvSpPr>
            <a:spLocks noGrp="1"/>
          </p:cNvSpPr>
          <p:nvPr/>
        </p:nvSpPr>
        <p:spPr>
          <a:xfrm>
            <a:off x="658368" y="384048"/>
            <a:ext cx="73152" cy="73152"/>
          </a:xfrm>
          <a:prstGeom prst="ellipse">
            <a:avLst/>
          </a:prstGeom>
          <a:solidFill>
            <a:srgbClr val="0A8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5" name="Rectangle 4"/>
          <p:cNvSpPr>
            <a:spLocks noGrp="1"/>
          </p:cNvSpPr>
          <p:nvPr/>
        </p:nvSpPr>
        <p:spPr>
          <a:xfrm>
            <a:off x="768096" y="420624"/>
            <a:ext cx="411480" cy="16459"/>
          </a:xfrm>
          <a:prstGeom prst="rect">
            <a:avLst/>
          </a:prstGeom>
          <a:solidFill>
            <a:srgbClr val="0A8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6" name="TextBox 5"/>
          <p:cNvSpPr>
            <a:spLocks noGrp="1"/>
          </p:cNvSpPr>
          <p:nvPr/>
        </p:nvSpPr>
        <p:spPr>
          <a:xfrm>
            <a:off x="1225296" y="256032"/>
            <a:ext cx="36576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050" b="1">
                <a:solidFill>
                  <a:srgbClr val="076B50"/>
                </a:solidFill>
                <a:latin typeface="Noto Sans CJK SC"/>
                <a:ea typeface="Noto Sans CJK SC"/>
                <a:cs typeface="Noto Sans CJK SC"/>
              </a:rPr>
              <a:t>CHAPTER 4 · 上下文与知识</a:t>
            </a:r>
            <a:endParaRPr sz="1050" b="1">
              <a:solidFill>
                <a:srgbClr val="00A7A7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" name="TextBox 6"/>
          <p:cNvSpPr>
            <a:spLocks noGrp="1"/>
          </p:cNvSpPr>
          <p:nvPr/>
        </p:nvSpPr>
        <p:spPr>
          <a:xfrm>
            <a:off x="658368" y="694944"/>
            <a:ext cx="1060704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2750" b="1">
                <a:solidFill>
                  <a:srgbClr val="14383E"/>
                </a:solidFill>
                <a:latin typeface="Noto Sans CJK SC"/>
                <a:ea typeface="Noto Sans CJK SC"/>
                <a:cs typeface="Noto Sans CJK SC"/>
              </a:rPr>
              <a:t>知识供给方式</a:t>
            </a:r>
            <a:endParaRPr sz="2750" b="1">
              <a:solidFill>
                <a:srgbClr val="14383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8" name="TextBox 7"/>
          <p:cNvSpPr>
            <a:spLocks noGrp="1"/>
          </p:cNvSpPr>
          <p:nvPr/>
        </p:nvSpPr>
        <p:spPr>
          <a:xfrm>
            <a:off x="658368" y="1170432"/>
            <a:ext cx="1056132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170">
                <a:solidFill>
                  <a:srgbClr val="44585C"/>
                </a:solidFill>
                <a:latin typeface="Noto Sans CJK SC"/>
                <a:ea typeface="Noto Sans CJK SC"/>
                <a:cs typeface="Noto Sans CJK SC"/>
              </a:rPr>
              <a:t>稳定规则可以随版本发布，实时状态必须现查，长尾知识再按需检索。</a:t>
            </a:r>
            <a:endParaRPr sz="1170">
              <a:solidFill>
                <a:srgbClr val="6B8185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9" name="Oval 8"/>
          <p:cNvSpPr>
            <a:spLocks noGrp="1"/>
          </p:cNvSpPr>
          <p:nvPr/>
        </p:nvSpPr>
        <p:spPr>
          <a:xfrm>
            <a:off x="10469880" y="45720"/>
            <a:ext cx="1554480" cy="749808"/>
          </a:xfrm>
          <a:prstGeom prst="ellipse">
            <a:avLst/>
          </a:prstGeom>
          <a:solidFill>
            <a:srgbClr val="E6F7F6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0" name="Oval 9"/>
          <p:cNvSpPr>
            <a:spLocks noGrp="1"/>
          </p:cNvSpPr>
          <p:nvPr/>
        </p:nvSpPr>
        <p:spPr>
          <a:xfrm>
            <a:off x="9838944" y="292608"/>
            <a:ext cx="64008" cy="64008"/>
          </a:xfrm>
          <a:prstGeom prst="ellipse">
            <a:avLst/>
          </a:prstGeom>
          <a:solidFill>
            <a:srgbClr val="C8D9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1" name="Oval 10"/>
          <p:cNvSpPr>
            <a:spLocks noGrp="1"/>
          </p:cNvSpPr>
          <p:nvPr/>
        </p:nvSpPr>
        <p:spPr>
          <a:xfrm>
            <a:off x="10049256" y="292608"/>
            <a:ext cx="64008" cy="64008"/>
          </a:xfrm>
          <a:prstGeom prst="ellipse">
            <a:avLst/>
          </a:prstGeom>
          <a:solidFill>
            <a:srgbClr val="C8D9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2" name="Oval 11"/>
          <p:cNvSpPr>
            <a:spLocks noGrp="1"/>
          </p:cNvSpPr>
          <p:nvPr/>
        </p:nvSpPr>
        <p:spPr>
          <a:xfrm>
            <a:off x="10259568" y="292608"/>
            <a:ext cx="64008" cy="64008"/>
          </a:xfrm>
          <a:prstGeom prst="ellipse">
            <a:avLst/>
          </a:prstGeom>
          <a:solidFill>
            <a:srgbClr val="00A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3" name="Oval 12"/>
          <p:cNvSpPr>
            <a:spLocks noGrp="1"/>
          </p:cNvSpPr>
          <p:nvPr/>
        </p:nvSpPr>
        <p:spPr>
          <a:xfrm>
            <a:off x="10469880" y="292608"/>
            <a:ext cx="64008" cy="64008"/>
          </a:xfrm>
          <a:prstGeom prst="ellipse">
            <a:avLst/>
          </a:prstGeom>
          <a:solidFill>
            <a:srgbClr val="C8D9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4" name="Oval 13"/>
          <p:cNvSpPr>
            <a:spLocks noGrp="1"/>
          </p:cNvSpPr>
          <p:nvPr/>
        </p:nvSpPr>
        <p:spPr>
          <a:xfrm>
            <a:off x="10680192" y="292608"/>
            <a:ext cx="64008" cy="64008"/>
          </a:xfrm>
          <a:prstGeom prst="ellipse">
            <a:avLst/>
          </a:prstGeom>
          <a:solidFill>
            <a:srgbClr val="C8D9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5" name="Oval 14"/>
          <p:cNvSpPr>
            <a:spLocks noGrp="1"/>
          </p:cNvSpPr>
          <p:nvPr/>
        </p:nvSpPr>
        <p:spPr>
          <a:xfrm>
            <a:off x="10890504" y="292608"/>
            <a:ext cx="64008" cy="64008"/>
          </a:xfrm>
          <a:prstGeom prst="ellipse">
            <a:avLst/>
          </a:prstGeom>
          <a:solidFill>
            <a:srgbClr val="C8D9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6" name="Oval 15"/>
          <p:cNvSpPr>
            <a:spLocks noGrp="1"/>
          </p:cNvSpPr>
          <p:nvPr/>
        </p:nvSpPr>
        <p:spPr>
          <a:xfrm>
            <a:off x="11100816" y="292608"/>
            <a:ext cx="64008" cy="64008"/>
          </a:xfrm>
          <a:prstGeom prst="ellipse">
            <a:avLst/>
          </a:prstGeom>
          <a:solidFill>
            <a:srgbClr val="C8D9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7" name="Oval 16"/>
          <p:cNvSpPr>
            <a:spLocks noGrp="1"/>
          </p:cNvSpPr>
          <p:nvPr/>
        </p:nvSpPr>
        <p:spPr>
          <a:xfrm>
            <a:off x="11311128" y="292608"/>
            <a:ext cx="64008" cy="64008"/>
          </a:xfrm>
          <a:prstGeom prst="ellipse">
            <a:avLst/>
          </a:prstGeom>
          <a:solidFill>
            <a:srgbClr val="C8D9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8" name="Rectangle 17"/>
          <p:cNvSpPr>
            <a:spLocks noGrp="1"/>
          </p:cNvSpPr>
          <p:nvPr/>
        </p:nvSpPr>
        <p:spPr>
          <a:xfrm>
            <a:off x="658368" y="6501384"/>
            <a:ext cx="10835640" cy="10972"/>
          </a:xfrm>
          <a:prstGeom prst="rect">
            <a:avLst/>
          </a:prstGeom>
          <a:solidFill>
            <a:srgbClr val="C9DC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9" name="TextBox 18"/>
          <p:cNvSpPr>
            <a:spLocks noGrp="1"/>
          </p:cNvSpPr>
          <p:nvPr/>
        </p:nvSpPr>
        <p:spPr>
          <a:xfrm>
            <a:off x="658368" y="6547104"/>
            <a:ext cx="237744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780" b="1">
                <a:solidFill>
                  <a:srgbClr val="5C7276"/>
                </a:solidFill>
                <a:latin typeface="Noto Sans CJK SC"/>
                <a:ea typeface="Noto Sans CJK SC"/>
                <a:cs typeface="Noto Sans CJK SC"/>
              </a:rPr>
              <a:t>CUSTOMER SERVICE AI AGENT</a:t>
            </a:r>
            <a:endParaRPr sz="780" b="1">
              <a:solidFill>
                <a:srgbClr val="98ACA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0" name="TextBox 19"/>
          <p:cNvSpPr>
            <a:spLocks noGrp="1"/>
          </p:cNvSpPr>
          <p:nvPr/>
        </p:nvSpPr>
        <p:spPr>
          <a:xfrm>
            <a:off x="10680192" y="6519672"/>
            <a:ext cx="82296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buNone/>
            </a:pPr>
            <a:r>
              <a:rPr sz="880" b="1">
                <a:solidFill>
                  <a:srgbClr val="076B50"/>
                </a:solidFill>
                <a:latin typeface="Noto Sans CJK SC"/>
                <a:ea typeface="Noto Sans CJK SC"/>
                <a:cs typeface="Noto Sans CJK SC"/>
              </a:rPr>
              <a:t>29</a:t>
            </a:r>
            <a:endParaRPr sz="880" b="1">
              <a:solidFill>
                <a:srgbClr val="00A7A7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1" name="Rounded Rectangle 20"/>
          <p:cNvSpPr>
            <a:spLocks noGrp="1"/>
          </p:cNvSpPr>
          <p:nvPr/>
        </p:nvSpPr>
        <p:spPr>
          <a:xfrm>
            <a:off x="781812" y="1796795"/>
            <a:ext cx="6903720" cy="4370832"/>
          </a:xfrm>
          <a:prstGeom prst="roundRect">
            <a:avLst/>
          </a:prstGeom>
          <a:solidFill>
            <a:srgbClr val="E3E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2" name="Rounded Rectangle 21"/>
          <p:cNvSpPr>
            <a:spLocks noGrp="1"/>
          </p:cNvSpPr>
          <p:nvPr/>
        </p:nvSpPr>
        <p:spPr>
          <a:xfrm>
            <a:off x="749808" y="1755648"/>
            <a:ext cx="6903720" cy="4370832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9D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3" name="Connector 22"/>
          <p:cNvSpPr>
            <a:spLocks noGrp="1"/>
          </p:cNvSpPr>
          <p:nvPr/>
        </p:nvSpPr>
        <p:spPr>
          <a:xfrm>
            <a:off x="1426464" y="5321808"/>
            <a:ext cx="5669280" cy="0"/>
          </a:xfrm>
          <a:prstGeom prst="line">
            <a:avLst/>
          </a:prstGeom>
          <a:ln w="15240">
            <a:solidFill>
              <a:srgbClr val="A9C9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p/>
        </p:txBody>
      </p:sp>
      <p:sp>
        <p:nvSpPr>
          <p:cNvPr id="24" name="Connector 23"/>
          <p:cNvSpPr>
            <a:spLocks noGrp="1"/>
          </p:cNvSpPr>
          <p:nvPr/>
        </p:nvSpPr>
        <p:spPr>
          <a:xfrm>
            <a:off x="1426464" y="2267712"/>
            <a:ext cx="0" cy="3054096"/>
          </a:xfrm>
          <a:prstGeom prst="line">
            <a:avLst/>
          </a:prstGeom>
          <a:ln w="15240">
            <a:solidFill>
              <a:srgbClr val="A9C9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p/>
        </p:txBody>
      </p:sp>
      <p:sp>
        <p:nvSpPr>
          <p:cNvPr id="25" name="TextBox 24"/>
          <p:cNvSpPr>
            <a:spLocks noGrp="1"/>
          </p:cNvSpPr>
          <p:nvPr/>
        </p:nvSpPr>
        <p:spPr>
          <a:xfrm rot="16200000">
            <a:off x="804672" y="2788920"/>
            <a:ext cx="310896" cy="187451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860" b="1">
                <a:solidFill>
                  <a:srgbClr val="44585C"/>
                </a:solidFill>
                <a:latin typeface="Noto Sans CJK SC"/>
                <a:ea typeface="Noto Sans CJK SC"/>
                <a:cs typeface="Noto Sans CJK SC"/>
              </a:rPr>
              <a:t>约束与结构化程度</a:t>
            </a:r>
            <a:endParaRPr sz="860" b="1">
              <a:solidFill>
                <a:srgbClr val="6B8185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6" name="TextBox 25"/>
          <p:cNvSpPr>
            <a:spLocks noGrp="1"/>
          </p:cNvSpPr>
          <p:nvPr/>
        </p:nvSpPr>
        <p:spPr>
          <a:xfrm>
            <a:off x="1078992" y="2176272"/>
            <a:ext cx="2286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780" b="1">
                <a:solidFill>
                  <a:srgbClr val="44585C"/>
                </a:solidFill>
                <a:latin typeface="Noto Sans CJK SC"/>
                <a:ea typeface="Noto Sans CJK SC"/>
                <a:cs typeface="Noto Sans CJK SC"/>
              </a:rPr>
              <a:t>高</a:t>
            </a:r>
            <a:endParaRPr sz="780" b="1">
              <a:solidFill>
                <a:srgbClr val="6B8185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7" name="TextBox 26"/>
          <p:cNvSpPr>
            <a:spLocks noGrp="1"/>
          </p:cNvSpPr>
          <p:nvPr/>
        </p:nvSpPr>
        <p:spPr>
          <a:xfrm>
            <a:off x="1078992" y="5166360"/>
            <a:ext cx="2286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780" b="1">
                <a:solidFill>
                  <a:srgbClr val="44585C"/>
                </a:solidFill>
                <a:latin typeface="Noto Sans CJK SC"/>
                <a:ea typeface="Noto Sans CJK SC"/>
                <a:cs typeface="Noto Sans CJK SC"/>
              </a:rPr>
              <a:t>低</a:t>
            </a:r>
            <a:endParaRPr sz="780" b="1">
              <a:solidFill>
                <a:srgbClr val="6B8185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8" name="TextBox 27"/>
          <p:cNvSpPr>
            <a:spLocks noGrp="1"/>
          </p:cNvSpPr>
          <p:nvPr/>
        </p:nvSpPr>
        <p:spPr>
          <a:xfrm>
            <a:off x="3840480" y="5596128"/>
            <a:ext cx="12344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860" b="1">
                <a:solidFill>
                  <a:srgbClr val="44585C"/>
                </a:solidFill>
                <a:latin typeface="Noto Sans CJK SC"/>
                <a:ea typeface="Noto Sans CJK SC"/>
                <a:cs typeface="Noto Sans CJK SC"/>
              </a:rPr>
              <a:t>信息变化速度</a:t>
            </a:r>
            <a:endParaRPr sz="860" b="1">
              <a:solidFill>
                <a:srgbClr val="6B8185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9" name="TextBox 28"/>
          <p:cNvSpPr>
            <a:spLocks noGrp="1"/>
          </p:cNvSpPr>
          <p:nvPr/>
        </p:nvSpPr>
        <p:spPr>
          <a:xfrm>
            <a:off x="1417320" y="5413248"/>
            <a:ext cx="10058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780" b="1">
                <a:solidFill>
                  <a:srgbClr val="44585C"/>
                </a:solidFill>
                <a:latin typeface="Noto Sans CJK SC"/>
                <a:ea typeface="Noto Sans CJK SC"/>
                <a:cs typeface="Noto Sans CJK SC"/>
              </a:rPr>
              <a:t>稳定 / 高频</a:t>
            </a:r>
            <a:endParaRPr sz="780" b="1">
              <a:solidFill>
                <a:srgbClr val="6B8185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0" name="TextBox 29"/>
          <p:cNvSpPr>
            <a:spLocks noGrp="1"/>
          </p:cNvSpPr>
          <p:nvPr/>
        </p:nvSpPr>
        <p:spPr>
          <a:xfrm>
            <a:off x="6053328" y="5413248"/>
            <a:ext cx="9601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buNone/>
            </a:pPr>
            <a:r>
              <a:rPr sz="780" b="1">
                <a:solidFill>
                  <a:srgbClr val="44585C"/>
                </a:solidFill>
                <a:latin typeface="Noto Sans CJK SC"/>
                <a:ea typeface="Noto Sans CJK SC"/>
                <a:cs typeface="Noto Sans CJK SC"/>
              </a:rPr>
              <a:t>长尾 / 变化</a:t>
            </a:r>
            <a:endParaRPr sz="780" b="1">
              <a:solidFill>
                <a:srgbClr val="6B8185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1" name="Rounded Rectangle 30"/>
          <p:cNvSpPr>
            <a:spLocks noGrp="1"/>
          </p:cNvSpPr>
          <p:nvPr/>
        </p:nvSpPr>
        <p:spPr>
          <a:xfrm>
            <a:off x="1700784" y="2212848"/>
            <a:ext cx="2322576" cy="1170432"/>
          </a:xfrm>
          <a:prstGeom prst="roundRect">
            <a:avLst/>
          </a:prstGeom>
          <a:solidFill>
            <a:srgbClr val="FFF0E4"/>
          </a:solidFill>
          <a:ln w="12700">
            <a:solidFill>
              <a:srgbClr val="F28B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2" name="Oval 31"/>
          <p:cNvSpPr>
            <a:spLocks noGrp="1"/>
          </p:cNvSpPr>
          <p:nvPr/>
        </p:nvSpPr>
        <p:spPr>
          <a:xfrm>
            <a:off x="1828800" y="2368296"/>
            <a:ext cx="292608" cy="292608"/>
          </a:xfrm>
          <a:prstGeom prst="ellipse">
            <a:avLst/>
          </a:prstGeom>
          <a:solidFill>
            <a:srgbClr val="BC6414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3" name="TextBox 32"/>
          <p:cNvSpPr>
            <a:spLocks noGrp="1"/>
          </p:cNvSpPr>
          <p:nvPr/>
        </p:nvSpPr>
        <p:spPr>
          <a:xfrm>
            <a:off x="1828800" y="2377439"/>
            <a:ext cx="292608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74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1</a:t>
            </a:r>
            <a:endParaRPr sz="74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4" name="TextBox 33"/>
          <p:cNvSpPr>
            <a:spLocks noGrp="1"/>
          </p:cNvSpPr>
          <p:nvPr/>
        </p:nvSpPr>
        <p:spPr>
          <a:xfrm>
            <a:off x="2194560" y="2359152"/>
            <a:ext cx="170078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060" b="1">
                <a:solidFill>
                  <a:srgbClr val="14383E"/>
                </a:solidFill>
                <a:latin typeface="Noto Sans CJK SC"/>
                <a:ea typeface="Noto Sans CJK SC"/>
                <a:cs typeface="Noto Sans CJK SC"/>
              </a:rPr>
              <a:t>skill.md 内嵌规则</a:t>
            </a:r>
            <a:endParaRPr sz="1060" b="1">
              <a:solidFill>
                <a:srgbClr val="14383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5" name="TextBox 34"/>
          <p:cNvSpPr>
            <a:spLocks noGrp="1"/>
          </p:cNvSpPr>
          <p:nvPr/>
        </p:nvSpPr>
        <p:spPr>
          <a:xfrm>
            <a:off x="1865376" y="2688336"/>
            <a:ext cx="1993392" cy="20116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buNone/>
            </a:pPr>
            <a:r>
              <a:rPr sz="790" b="0">
                <a:solidFill>
                  <a:srgbClr val="44585C"/>
                </a:solidFill>
                <a:latin typeface="Noto Sans CJK SC"/>
                <a:ea typeface="Noto Sans CJK SC"/>
                <a:cs typeface="Noto Sans CJK SC"/>
              </a:rPr>
              <a:t>高风险边界，逐字稳定，随版本发布</a:t>
            </a:r>
            <a:endParaRPr sz="790" b="0">
              <a:solidFill>
                <a:srgbClr val="6B8185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6" name="TextBox 35"/>
          <p:cNvSpPr>
            <a:spLocks noGrp="1"/>
          </p:cNvSpPr>
          <p:nvPr/>
        </p:nvSpPr>
        <p:spPr>
          <a:xfrm>
            <a:off x="1865376" y="3008376"/>
            <a:ext cx="1993392" cy="1828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buNone/>
            </a:pPr>
            <a:r>
              <a:rPr sz="760" b="1">
                <a:solidFill>
                  <a:srgbClr val="9A5210"/>
                </a:solidFill>
                <a:latin typeface="Noto Sans CJK SC"/>
                <a:ea typeface="Noto Sans CJK SC"/>
                <a:cs typeface="Noto Sans CJK SC"/>
              </a:rPr>
              <a:t>金额阈值 · 状态限制 · 权限规则</a:t>
            </a:r>
            <a:endParaRPr sz="760" b="1">
              <a:solidFill>
                <a:srgbClr val="F28B36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7" name="Rounded Rectangle 36"/>
          <p:cNvSpPr>
            <a:spLocks noGrp="1"/>
          </p:cNvSpPr>
          <p:nvPr/>
        </p:nvSpPr>
        <p:spPr>
          <a:xfrm>
            <a:off x="4407408" y="2212848"/>
            <a:ext cx="2322576" cy="1170432"/>
          </a:xfrm>
          <a:prstGeom prst="roundRect">
            <a:avLst/>
          </a:prstGeom>
          <a:solidFill>
            <a:srgbClr val="E6F7F6"/>
          </a:solidFill>
          <a:ln w="12700">
            <a:solidFill>
              <a:srgbClr val="00A7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8" name="Oval 37"/>
          <p:cNvSpPr>
            <a:spLocks noGrp="1"/>
          </p:cNvSpPr>
          <p:nvPr/>
        </p:nvSpPr>
        <p:spPr>
          <a:xfrm>
            <a:off x="4535424" y="2368296"/>
            <a:ext cx="292608" cy="292608"/>
          </a:xfrm>
          <a:prstGeom prst="ellipse">
            <a:avLst/>
          </a:prstGeom>
          <a:solidFill>
            <a:srgbClr val="007574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9" name="TextBox 38"/>
          <p:cNvSpPr>
            <a:spLocks noGrp="1"/>
          </p:cNvSpPr>
          <p:nvPr/>
        </p:nvSpPr>
        <p:spPr>
          <a:xfrm>
            <a:off x="4535424" y="2377439"/>
            <a:ext cx="292608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74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2</a:t>
            </a:r>
            <a:endParaRPr sz="74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0" name="TextBox 39"/>
          <p:cNvSpPr>
            <a:spLocks noGrp="1"/>
          </p:cNvSpPr>
          <p:nvPr/>
        </p:nvSpPr>
        <p:spPr>
          <a:xfrm>
            <a:off x="4901184" y="2359152"/>
            <a:ext cx="170078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060" b="1">
                <a:solidFill>
                  <a:srgbClr val="14383E"/>
                </a:solidFill>
                <a:latin typeface="Noto Sans CJK SC"/>
                <a:ea typeface="Noto Sans CJK SC"/>
                <a:cs typeface="Noto Sans CJK SC"/>
              </a:rPr>
              <a:t>实时业务查询</a:t>
            </a:r>
            <a:endParaRPr sz="1060" b="1">
              <a:solidFill>
                <a:srgbClr val="14383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1" name="TextBox 40"/>
          <p:cNvSpPr>
            <a:spLocks noGrp="1"/>
          </p:cNvSpPr>
          <p:nvPr/>
        </p:nvSpPr>
        <p:spPr>
          <a:xfrm>
            <a:off x="4572000" y="2688336"/>
            <a:ext cx="1993392" cy="20116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buNone/>
            </a:pPr>
            <a:r>
              <a:rPr sz="790" b="0">
                <a:solidFill>
                  <a:srgbClr val="44585C"/>
                </a:solidFill>
                <a:latin typeface="Noto Sans CJK SC"/>
                <a:ea typeface="Noto Sans CJK SC"/>
                <a:cs typeface="Noto Sans CJK SC"/>
              </a:rPr>
              <a:t>动态状态以业务系统为准</a:t>
            </a:r>
            <a:endParaRPr sz="790" b="0">
              <a:solidFill>
                <a:srgbClr val="6B8185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2" name="TextBox 41"/>
          <p:cNvSpPr>
            <a:spLocks noGrp="1"/>
          </p:cNvSpPr>
          <p:nvPr/>
        </p:nvSpPr>
        <p:spPr>
          <a:xfrm>
            <a:off x="4572000" y="3008376"/>
            <a:ext cx="1993392" cy="1828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buNone/>
            </a:pPr>
            <a:r>
              <a:rPr sz="760" b="1">
                <a:solidFill>
                  <a:srgbClr val="00706F"/>
                </a:solidFill>
                <a:latin typeface="Noto Sans CJK SC"/>
                <a:ea typeface="Noto Sans CJK SC"/>
                <a:cs typeface="Noto Sans CJK SC"/>
              </a:rPr>
              <a:t>订单 · 履约 · 物流 · 退款</a:t>
            </a:r>
            <a:endParaRPr sz="760" b="1">
              <a:solidFill>
                <a:srgbClr val="00A7A7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3" name="Rounded Rectangle 42"/>
          <p:cNvSpPr>
            <a:spLocks noGrp="1"/>
          </p:cNvSpPr>
          <p:nvPr/>
        </p:nvSpPr>
        <p:spPr>
          <a:xfrm>
            <a:off x="1700784" y="3749039"/>
            <a:ext cx="2322576" cy="1170432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44" name="Oval 43"/>
          <p:cNvSpPr>
            <a:spLocks noGrp="1"/>
          </p:cNvSpPr>
          <p:nvPr/>
        </p:nvSpPr>
        <p:spPr>
          <a:xfrm>
            <a:off x="1828800" y="3904487"/>
            <a:ext cx="292608" cy="292608"/>
          </a:xfrm>
          <a:prstGeom prst="ellipse">
            <a:avLst/>
          </a:prstGeom>
          <a:solidFill>
            <a:srgbClr val="1F63C4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45" name="TextBox 44"/>
          <p:cNvSpPr>
            <a:spLocks noGrp="1"/>
          </p:cNvSpPr>
          <p:nvPr/>
        </p:nvSpPr>
        <p:spPr>
          <a:xfrm>
            <a:off x="1828800" y="3913631"/>
            <a:ext cx="292608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74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3</a:t>
            </a:r>
            <a:endParaRPr sz="74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6" name="TextBox 45"/>
          <p:cNvSpPr>
            <a:spLocks noGrp="1"/>
          </p:cNvSpPr>
          <p:nvPr/>
        </p:nvSpPr>
        <p:spPr>
          <a:xfrm>
            <a:off x="2194560" y="3895344"/>
            <a:ext cx="170078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060" b="1">
                <a:solidFill>
                  <a:srgbClr val="14383E"/>
                </a:solidFill>
                <a:latin typeface="Noto Sans CJK SC"/>
                <a:ea typeface="Noto Sans CJK SC"/>
                <a:cs typeface="Noto Sans CJK SC"/>
              </a:rPr>
              <a:t>白名单知识页（已审批）</a:t>
            </a:r>
            <a:endParaRPr sz="1060" b="1">
              <a:solidFill>
                <a:srgbClr val="14383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7" name="TextBox 46"/>
          <p:cNvSpPr>
            <a:spLocks noGrp="1"/>
          </p:cNvSpPr>
          <p:nvPr/>
        </p:nvSpPr>
        <p:spPr>
          <a:xfrm>
            <a:off x="1865376" y="4224527"/>
            <a:ext cx="1993392" cy="20116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buNone/>
            </a:pPr>
            <a:r>
              <a:rPr sz="790" b="0">
                <a:solidFill>
                  <a:srgbClr val="44585C"/>
                </a:solidFill>
                <a:latin typeface="Noto Sans CJK SC"/>
                <a:ea typeface="Noto Sans CJK SC"/>
                <a:cs typeface="Noto Sans CJK SC"/>
              </a:rPr>
              <a:t>75 篇官网文章 · 11 组 · customer_safe</a:t>
            </a:r>
            <a:endParaRPr sz="790" b="0">
              <a:solidFill>
                <a:srgbClr val="6B8185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8" name="TextBox 47"/>
          <p:cNvSpPr>
            <a:spLocks noGrp="1"/>
          </p:cNvSpPr>
          <p:nvPr/>
        </p:nvSpPr>
        <p:spPr>
          <a:xfrm>
            <a:off x="1865376" y="4544568"/>
            <a:ext cx="1993392" cy="1828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buNone/>
            </a:pPr>
            <a:r>
              <a:rPr sz="760" b="1">
                <a:solidFill>
                  <a:srgbClr val="1B5FC4"/>
                </a:solidFill>
                <a:latin typeface="Noto Sans CJK SC"/>
                <a:ea typeface="Noto Sans CJK SC"/>
                <a:cs typeface="Noto Sans CJK SC"/>
              </a:rPr>
              <a:t>运行时实时抓取，与官网保持一致</a:t>
            </a:r>
            <a:endParaRPr sz="760" b="1">
              <a:solidFill>
                <a:srgbClr val="2F80ED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9" name="Rounded Rectangle 48"/>
          <p:cNvSpPr>
            <a:spLocks noGrp="1"/>
          </p:cNvSpPr>
          <p:nvPr/>
        </p:nvSpPr>
        <p:spPr>
          <a:xfrm>
            <a:off x="4407408" y="3749039"/>
            <a:ext cx="2322576" cy="1170432"/>
          </a:xfrm>
          <a:prstGeom prst="roundRect">
            <a:avLst/>
          </a:prstGeom>
          <a:solidFill>
            <a:srgbClr val="EFEEFF"/>
          </a:solidFill>
          <a:ln w="12700">
            <a:solidFill>
              <a:srgbClr val="6B6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50" name="Oval 49"/>
          <p:cNvSpPr>
            <a:spLocks noGrp="1"/>
          </p:cNvSpPr>
          <p:nvPr/>
        </p:nvSpPr>
        <p:spPr>
          <a:xfrm>
            <a:off x="4535424" y="3904487"/>
            <a:ext cx="292608" cy="292608"/>
          </a:xfrm>
          <a:prstGeom prst="ellipse">
            <a:avLst/>
          </a:prstGeom>
          <a:solidFill>
            <a:srgbClr val="5356BE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51" name="TextBox 50"/>
          <p:cNvSpPr>
            <a:spLocks noGrp="1"/>
          </p:cNvSpPr>
          <p:nvPr/>
        </p:nvSpPr>
        <p:spPr>
          <a:xfrm>
            <a:off x="4535424" y="3913631"/>
            <a:ext cx="292608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74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4</a:t>
            </a:r>
            <a:endParaRPr sz="74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2" name="TextBox 51"/>
          <p:cNvSpPr>
            <a:spLocks noGrp="1"/>
          </p:cNvSpPr>
          <p:nvPr/>
        </p:nvSpPr>
        <p:spPr>
          <a:xfrm>
            <a:off x="4901184" y="3895344"/>
            <a:ext cx="170078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060" b="1">
                <a:solidFill>
                  <a:srgbClr val="14383E"/>
                </a:solidFill>
                <a:latin typeface="Noto Sans CJK SC"/>
                <a:ea typeface="Noto Sans CJK SC"/>
                <a:cs typeface="Noto Sans CJK SC"/>
              </a:rPr>
              <a:t>向量检索(RAG)</a:t>
            </a:r>
            <a:endParaRPr sz="1060" b="1">
              <a:solidFill>
                <a:srgbClr val="14383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3" name="TextBox 52"/>
          <p:cNvSpPr>
            <a:spLocks noGrp="1"/>
          </p:cNvSpPr>
          <p:nvPr/>
        </p:nvSpPr>
        <p:spPr>
          <a:xfrm>
            <a:off x="4572000" y="4224527"/>
            <a:ext cx="1993392" cy="20116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buNone/>
            </a:pPr>
            <a:r>
              <a:rPr sz="790" b="0">
                <a:solidFill>
                  <a:srgbClr val="44585C"/>
                </a:solidFill>
                <a:latin typeface="Noto Sans CJK SC"/>
                <a:ea typeface="Noto Sans CJK SC"/>
                <a:cs typeface="Noto Sans CJK SC"/>
              </a:rPr>
              <a:t>长尾 · 按 scope 隔离的向量空间</a:t>
            </a:r>
            <a:endParaRPr sz="790" b="0">
              <a:solidFill>
                <a:srgbClr val="6B8185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4" name="TextBox 53"/>
          <p:cNvSpPr>
            <a:spLocks noGrp="1"/>
          </p:cNvSpPr>
          <p:nvPr/>
        </p:nvSpPr>
        <p:spPr>
          <a:xfrm>
            <a:off x="4572000" y="4544568"/>
            <a:ext cx="1993392" cy="1828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buNone/>
            </a:pPr>
            <a:r>
              <a:rPr sz="760" b="1">
                <a:solidFill>
                  <a:srgbClr val="4A4EB0"/>
                </a:solidFill>
                <a:latin typeface="Noto Sans CJK SC"/>
                <a:ea typeface="Noto Sans CJK SC"/>
                <a:cs typeface="Noto Sans CJK SC"/>
              </a:rPr>
              <a:t>产品护理 · 复杂政策说明</a:t>
            </a:r>
            <a:endParaRPr sz="760" b="1">
              <a:solidFill>
                <a:srgbClr val="6B6FD8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5" name="Rounded Rectangle 54"/>
          <p:cNvSpPr>
            <a:spLocks noGrp="1"/>
          </p:cNvSpPr>
          <p:nvPr/>
        </p:nvSpPr>
        <p:spPr>
          <a:xfrm>
            <a:off x="7914131" y="1796795"/>
            <a:ext cx="3383280" cy="4370832"/>
          </a:xfrm>
          <a:prstGeom prst="roundRect">
            <a:avLst/>
          </a:prstGeom>
          <a:solidFill>
            <a:srgbClr val="E3E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56" name="Rounded Rectangle 55"/>
          <p:cNvSpPr>
            <a:spLocks noGrp="1"/>
          </p:cNvSpPr>
          <p:nvPr/>
        </p:nvSpPr>
        <p:spPr>
          <a:xfrm>
            <a:off x="7882127" y="1755648"/>
            <a:ext cx="3383280" cy="4370832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9D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57" name="Rounded Rectangle 56"/>
          <p:cNvSpPr>
            <a:spLocks noGrp="1"/>
          </p:cNvSpPr>
          <p:nvPr/>
        </p:nvSpPr>
        <p:spPr>
          <a:xfrm>
            <a:off x="8156448" y="1956816"/>
            <a:ext cx="1170432" cy="274320"/>
          </a:xfrm>
          <a:prstGeom prst="roundRect">
            <a:avLst/>
          </a:prstGeom>
          <a:solidFill>
            <a:srgbClr val="007574"/>
          </a:solidFill>
          <a:ln w="10160">
            <a:solidFill>
              <a:srgbClr val="0075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58" name="TextBox 57"/>
          <p:cNvSpPr>
            <a:spLocks noGrp="1"/>
          </p:cNvSpPr>
          <p:nvPr/>
        </p:nvSpPr>
        <p:spPr>
          <a:xfrm>
            <a:off x="8183879" y="1970532"/>
            <a:ext cx="1115568" cy="24688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</a:pPr>
            <a:r>
              <a:rPr sz="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SCENARIO MIX</a:t>
            </a:r>
            <a:endParaRPr sz="80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9" name="TextBox 58"/>
          <p:cNvSpPr>
            <a:spLocks noGrp="1"/>
          </p:cNvSpPr>
          <p:nvPr/>
        </p:nvSpPr>
        <p:spPr>
          <a:xfrm>
            <a:off x="8156448" y="2395728"/>
            <a:ext cx="281635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230" b="1">
                <a:solidFill>
                  <a:srgbClr val="14383E"/>
                </a:solidFill>
                <a:latin typeface="Noto Sans CJK SC"/>
                <a:ea typeface="Noto Sans CJK SC"/>
                <a:cs typeface="Noto Sans CJK SC"/>
              </a:rPr>
              <a:t>一个场景通常混合多种供给方式</a:t>
            </a:r>
            <a:endParaRPr sz="1230" b="1">
              <a:solidFill>
                <a:srgbClr val="14383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0" name="Rounded Rectangle 59"/>
          <p:cNvSpPr>
            <a:spLocks noGrp="1"/>
          </p:cNvSpPr>
          <p:nvPr/>
        </p:nvSpPr>
        <p:spPr>
          <a:xfrm>
            <a:off x="8156448" y="2944368"/>
            <a:ext cx="2816352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A8F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61" name="TextBox 60"/>
          <p:cNvSpPr>
            <a:spLocks noGrp="1"/>
          </p:cNvSpPr>
          <p:nvPr/>
        </p:nvSpPr>
        <p:spPr>
          <a:xfrm>
            <a:off x="8357615" y="3108960"/>
            <a:ext cx="2395728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080" b="1">
                <a:solidFill>
                  <a:srgbClr val="14383E"/>
                </a:solidFill>
                <a:latin typeface="Noto Sans CJK SC"/>
                <a:ea typeface="Noto Sans CJK SC"/>
                <a:cs typeface="Noto Sans CJK SC"/>
              </a:rPr>
              <a:t>修改收货地址</a:t>
            </a:r>
            <a:endParaRPr sz="1080" b="1">
              <a:solidFill>
                <a:srgbClr val="14383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2" name="Rounded Rectangle 61"/>
          <p:cNvSpPr>
            <a:spLocks noGrp="1"/>
          </p:cNvSpPr>
          <p:nvPr/>
        </p:nvSpPr>
        <p:spPr>
          <a:xfrm>
            <a:off x="8357615" y="3438144"/>
            <a:ext cx="786384" cy="182880"/>
          </a:xfrm>
          <a:prstGeom prst="roundRect">
            <a:avLst/>
          </a:prstGeom>
          <a:solidFill>
            <a:srgbClr val="007574"/>
          </a:solidFill>
          <a:ln w="10160">
            <a:solidFill>
              <a:srgbClr val="0075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63" name="TextBox 62"/>
          <p:cNvSpPr>
            <a:spLocks noGrp="1"/>
          </p:cNvSpPr>
          <p:nvPr/>
        </p:nvSpPr>
        <p:spPr>
          <a:xfrm>
            <a:off x="8385047" y="3451860"/>
            <a:ext cx="731520" cy="15544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</a:pPr>
            <a:r>
              <a:rPr sz="66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实时查询</a:t>
            </a:r>
            <a:endParaRPr sz="66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4" name="TextBox 63"/>
          <p:cNvSpPr>
            <a:spLocks noGrp="1"/>
          </p:cNvSpPr>
          <p:nvPr/>
        </p:nvSpPr>
        <p:spPr>
          <a:xfrm>
            <a:off x="9226296" y="3447287"/>
            <a:ext cx="1417320" cy="16459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buNone/>
            </a:pPr>
            <a:r>
              <a:rPr sz="730" b="0">
                <a:solidFill>
                  <a:srgbClr val="44585C"/>
                </a:solidFill>
                <a:latin typeface="Noto Sans CJK SC"/>
                <a:ea typeface="Noto Sans CJK SC"/>
                <a:cs typeface="Noto Sans CJK SC"/>
              </a:rPr>
              <a:t>订单与履约状态</a:t>
            </a:r>
            <a:endParaRPr sz="730" b="0">
              <a:solidFill>
                <a:srgbClr val="6B8185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5" name="Rounded Rectangle 64"/>
          <p:cNvSpPr>
            <a:spLocks noGrp="1"/>
          </p:cNvSpPr>
          <p:nvPr/>
        </p:nvSpPr>
        <p:spPr>
          <a:xfrm>
            <a:off x="8357615" y="3666744"/>
            <a:ext cx="786384" cy="182880"/>
          </a:xfrm>
          <a:prstGeom prst="roundRect">
            <a:avLst/>
          </a:prstGeom>
          <a:solidFill>
            <a:srgbClr val="07714F"/>
          </a:solidFill>
          <a:ln w="10160">
            <a:solidFill>
              <a:srgbClr val="0771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66" name="TextBox 65"/>
          <p:cNvSpPr>
            <a:spLocks noGrp="1"/>
          </p:cNvSpPr>
          <p:nvPr/>
        </p:nvSpPr>
        <p:spPr>
          <a:xfrm>
            <a:off x="8385047" y="3680459"/>
            <a:ext cx="731520" cy="15544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</a:pPr>
            <a:r>
              <a:rPr sz="66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skill.md 内嵌规则</a:t>
            </a:r>
            <a:endParaRPr sz="66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7" name="TextBox 66"/>
          <p:cNvSpPr>
            <a:spLocks noGrp="1"/>
          </p:cNvSpPr>
          <p:nvPr/>
        </p:nvSpPr>
        <p:spPr>
          <a:xfrm>
            <a:off x="9226296" y="3675887"/>
            <a:ext cx="1417320" cy="16459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buNone/>
            </a:pPr>
            <a:r>
              <a:rPr sz="730" b="0">
                <a:solidFill>
                  <a:srgbClr val="44585C"/>
                </a:solidFill>
                <a:latin typeface="Noto Sans CJK SC"/>
                <a:ea typeface="Noto Sans CJK SC"/>
                <a:cs typeface="Noto Sans CJK SC"/>
              </a:rPr>
              <a:t>是否允许修改</a:t>
            </a:r>
            <a:endParaRPr sz="730" b="0">
              <a:solidFill>
                <a:srgbClr val="6B8185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8" name="Rounded Rectangle 67"/>
          <p:cNvSpPr>
            <a:spLocks noGrp="1"/>
          </p:cNvSpPr>
          <p:nvPr/>
        </p:nvSpPr>
        <p:spPr>
          <a:xfrm>
            <a:off x="8357615" y="3895344"/>
            <a:ext cx="786384" cy="182880"/>
          </a:xfrm>
          <a:prstGeom prst="roundRect">
            <a:avLst/>
          </a:prstGeom>
          <a:solidFill>
            <a:srgbClr val="BC6414"/>
          </a:solidFill>
          <a:ln w="10160">
            <a:solidFill>
              <a:srgbClr val="BC6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69" name="TextBox 68"/>
          <p:cNvSpPr>
            <a:spLocks noGrp="1"/>
          </p:cNvSpPr>
          <p:nvPr/>
        </p:nvSpPr>
        <p:spPr>
          <a:xfrm>
            <a:off x="8385047" y="3909059"/>
            <a:ext cx="731520" cy="15544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</a:pPr>
            <a:r>
              <a:rPr sz="66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工单状态</a:t>
            </a:r>
            <a:endParaRPr sz="66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0" name="TextBox 69"/>
          <p:cNvSpPr>
            <a:spLocks noGrp="1"/>
          </p:cNvSpPr>
          <p:nvPr/>
        </p:nvSpPr>
        <p:spPr>
          <a:xfrm>
            <a:off x="9226296" y="3904487"/>
            <a:ext cx="1417320" cy="16459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buNone/>
            </a:pPr>
            <a:r>
              <a:rPr sz="730" b="0">
                <a:solidFill>
                  <a:srgbClr val="44585C"/>
                </a:solidFill>
                <a:latin typeface="Noto Sans CJK SC"/>
                <a:ea typeface="Noto Sans CJK SC"/>
                <a:cs typeface="Noto Sans CJK SC"/>
              </a:rPr>
              <a:t>客户是否确认</a:t>
            </a:r>
            <a:endParaRPr sz="730" b="0">
              <a:solidFill>
                <a:srgbClr val="6B8185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1" name="Rounded Rectangle 70"/>
          <p:cNvSpPr>
            <a:spLocks noGrp="1"/>
          </p:cNvSpPr>
          <p:nvPr/>
        </p:nvSpPr>
        <p:spPr>
          <a:xfrm>
            <a:off x="8156448" y="4407408"/>
            <a:ext cx="2816352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B6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72" name="TextBox 71"/>
          <p:cNvSpPr>
            <a:spLocks noGrp="1"/>
          </p:cNvSpPr>
          <p:nvPr/>
        </p:nvSpPr>
        <p:spPr>
          <a:xfrm>
            <a:off x="8357615" y="4572000"/>
            <a:ext cx="2395728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080" b="1">
                <a:solidFill>
                  <a:srgbClr val="14383E"/>
                </a:solidFill>
                <a:latin typeface="Noto Sans CJK SC"/>
                <a:ea typeface="Noto Sans CJK SC"/>
                <a:cs typeface="Noto Sans CJK SC"/>
              </a:rPr>
              <a:t>产品护理咨询</a:t>
            </a:r>
            <a:endParaRPr sz="1080" b="1">
              <a:solidFill>
                <a:srgbClr val="14383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3" name="Rounded Rectangle 72"/>
          <p:cNvSpPr>
            <a:spLocks noGrp="1"/>
          </p:cNvSpPr>
          <p:nvPr/>
        </p:nvSpPr>
        <p:spPr>
          <a:xfrm>
            <a:off x="8357615" y="4901183"/>
            <a:ext cx="786384" cy="182880"/>
          </a:xfrm>
          <a:prstGeom prst="roundRect">
            <a:avLst/>
          </a:prstGeom>
          <a:solidFill>
            <a:srgbClr val="1F63C4"/>
          </a:solidFill>
          <a:ln w="10160">
            <a:solidFill>
              <a:srgbClr val="1F63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74" name="TextBox 73"/>
          <p:cNvSpPr>
            <a:spLocks noGrp="1"/>
          </p:cNvSpPr>
          <p:nvPr/>
        </p:nvSpPr>
        <p:spPr>
          <a:xfrm>
            <a:off x="8385047" y="4914899"/>
            <a:ext cx="731520" cy="15544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</a:pPr>
            <a:r>
              <a:rPr sz="66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白名单知识页</a:t>
            </a:r>
            <a:endParaRPr sz="66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5" name="TextBox 74"/>
          <p:cNvSpPr>
            <a:spLocks noGrp="1"/>
          </p:cNvSpPr>
          <p:nvPr/>
        </p:nvSpPr>
        <p:spPr>
          <a:xfrm>
            <a:off x="9226296" y="4910327"/>
            <a:ext cx="1417320" cy="16459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buNone/>
            </a:pPr>
            <a:r>
              <a:rPr sz="730" b="0">
                <a:solidFill>
                  <a:srgbClr val="44585C"/>
                </a:solidFill>
                <a:latin typeface="Noto Sans CJK SC"/>
                <a:ea typeface="Noto Sans CJK SC"/>
                <a:cs typeface="Noto Sans CJK SC"/>
              </a:rPr>
              <a:t>通用护理原则</a:t>
            </a:r>
            <a:endParaRPr sz="730" b="0">
              <a:solidFill>
                <a:srgbClr val="6B8185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6" name="Rounded Rectangle 75"/>
          <p:cNvSpPr>
            <a:spLocks noGrp="1"/>
          </p:cNvSpPr>
          <p:nvPr/>
        </p:nvSpPr>
        <p:spPr>
          <a:xfrm>
            <a:off x="8357615" y="5129783"/>
            <a:ext cx="786384" cy="182880"/>
          </a:xfrm>
          <a:prstGeom prst="roundRect">
            <a:avLst/>
          </a:prstGeom>
          <a:solidFill>
            <a:srgbClr val="5356BE"/>
          </a:solidFill>
          <a:ln w="10160">
            <a:solidFill>
              <a:srgbClr val="535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77" name="TextBox 76"/>
          <p:cNvSpPr>
            <a:spLocks noGrp="1"/>
          </p:cNvSpPr>
          <p:nvPr/>
        </p:nvSpPr>
        <p:spPr>
          <a:xfrm>
            <a:off x="8385047" y="5143499"/>
            <a:ext cx="731520" cy="15544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</a:pPr>
            <a:r>
              <a:rPr sz="66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RAG</a:t>
            </a:r>
            <a:endParaRPr sz="66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8" name="TextBox 77"/>
          <p:cNvSpPr>
            <a:spLocks noGrp="1"/>
          </p:cNvSpPr>
          <p:nvPr/>
        </p:nvSpPr>
        <p:spPr>
          <a:xfrm>
            <a:off x="9226296" y="5138927"/>
            <a:ext cx="1417320" cy="16459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buNone/>
            </a:pPr>
            <a:r>
              <a:rPr sz="730" b="0">
                <a:solidFill>
                  <a:srgbClr val="44585C"/>
                </a:solidFill>
                <a:latin typeface="Noto Sans CJK SC"/>
                <a:ea typeface="Noto Sans CJK SC"/>
                <a:cs typeface="Noto Sans CJK SC"/>
              </a:rPr>
              <a:t>长尾面料说明</a:t>
            </a:r>
            <a:endParaRPr sz="730" b="0">
              <a:solidFill>
                <a:srgbClr val="6B8185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9" name="Rounded Rectangle 78"/>
          <p:cNvSpPr>
            <a:spLocks noGrp="1"/>
          </p:cNvSpPr>
          <p:nvPr/>
        </p:nvSpPr>
        <p:spPr>
          <a:xfrm>
            <a:off x="8357615" y="5358383"/>
            <a:ext cx="786384" cy="182880"/>
          </a:xfrm>
          <a:prstGeom prst="roundRect">
            <a:avLst/>
          </a:prstGeom>
          <a:solidFill>
            <a:srgbClr val="007574"/>
          </a:solidFill>
          <a:ln w="10160">
            <a:solidFill>
              <a:srgbClr val="0075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80" name="TextBox 79"/>
          <p:cNvSpPr>
            <a:spLocks noGrp="1"/>
          </p:cNvSpPr>
          <p:nvPr/>
        </p:nvSpPr>
        <p:spPr>
          <a:xfrm>
            <a:off x="8385047" y="5372099"/>
            <a:ext cx="731520" cy="15544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</a:pPr>
            <a:r>
              <a:rPr sz="66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引用证据</a:t>
            </a:r>
            <a:endParaRPr sz="66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81" name="TextBox 80"/>
          <p:cNvSpPr>
            <a:spLocks noGrp="1"/>
          </p:cNvSpPr>
          <p:nvPr/>
        </p:nvSpPr>
        <p:spPr>
          <a:xfrm>
            <a:off x="9226296" y="5367527"/>
            <a:ext cx="1417320" cy="16459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buNone/>
            </a:pPr>
            <a:r>
              <a:rPr sz="730" b="0">
                <a:solidFill>
                  <a:srgbClr val="44585C"/>
                </a:solidFill>
                <a:latin typeface="Noto Sans CJK SC"/>
                <a:ea typeface="Noto Sans CJK SC"/>
                <a:cs typeface="Noto Sans CJK SC"/>
              </a:rPr>
              <a:t>客户可见来源</a:t>
            </a:r>
            <a:endParaRPr sz="730" b="0">
              <a:solidFill>
                <a:srgbClr val="6B8185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82" name="TextBox 81"/>
          <p:cNvSpPr>
            <a:spLocks noGrp="1"/>
          </p:cNvSpPr>
          <p:nvPr/>
        </p:nvSpPr>
        <p:spPr>
          <a:xfrm>
            <a:off x="8156448" y="5724144"/>
            <a:ext cx="2834640" cy="237744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buNone/>
            </a:pPr>
            <a:r>
              <a:rPr sz="780" b="1">
                <a:solidFill>
                  <a:srgbClr val="00706F"/>
                </a:solidFill>
                <a:latin typeface="Noto Sans CJK SC"/>
                <a:ea typeface="Noto Sans CJK SC"/>
                <a:cs typeface="Noto Sans CJK SC"/>
              </a:rPr>
              <a:t>政策不手工复制进 prompt：或内嵌随版本发布，或白名单实时抓取，避免两份口径。</a:t>
            </a:r>
            <a:endParaRPr sz="780" b="1">
              <a:solidFill>
                <a:srgbClr val="00A7A7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83" name="Rectangle 82"/>
          <p:cNvSpPr>
            <a:spLocks noGrp="1"/>
          </p:cNvSpPr>
          <p:nvPr/>
        </p:nvSpPr>
        <p:spPr>
          <a:xfrm>
            <a:off x="0" y="0"/>
            <a:ext cx="41148" cy="6858000"/>
          </a:xfrm>
          <a:prstGeom prst="rect">
            <a:avLst/>
          </a:prstGeom>
          <a:solidFill>
            <a:srgbClr val="0A8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84" name="圆角矩形 83"/>
          <p:cNvSpPr>
            <a:spLocks noGrp="1"/>
          </p:cNvSpPr>
          <p:nvPr/>
        </p:nvSpPr>
        <p:spPr>
          <a:xfrm>
            <a:off x="6565583" y="127635"/>
            <a:ext cx="4937760" cy="365760"/>
          </a:xfrm>
          <a:prstGeom prst="roundRect">
            <a:avLst>
              <a:gd name="adj" fmla="val 20833"/>
            </a:avLst>
          </a:prstGeom>
          <a:solidFill>
            <a:srgbClr val="F7FBF9"/>
          </a:solidFill>
          <a:ln w="12668">
            <a:solidFill>
              <a:srgbClr val="F7FBF9"/>
            </a:solidFill>
            <a:prstDash val="solid"/>
          </a:ln>
        </p:spPr>
        <p:txBody>
          <a:bodyPr/>
          <a:p/>
        </p:txBody>
      </p:sp>
      <p:sp>
        <p:nvSpPr>
          <p:cNvPr id="85" name="圆角矩形 84"/>
          <p:cNvSpPr>
            <a:spLocks noGrp="1"/>
          </p:cNvSpPr>
          <p:nvPr/>
        </p:nvSpPr>
        <p:spPr>
          <a:xfrm>
            <a:off x="6657023" y="164783"/>
            <a:ext cx="1154430" cy="264795"/>
          </a:xfrm>
          <a:prstGeom prst="roundRect">
            <a:avLst>
              <a:gd name="adj" fmla="val 28777"/>
            </a:avLst>
          </a:prstGeom>
          <a:solidFill>
            <a:srgbClr val="007574"/>
          </a:solidFill>
          <a:ln w="12668">
            <a:solidFill>
              <a:srgbClr val="007574"/>
            </a:solidFill>
            <a:prstDash val="solid"/>
          </a:ln>
        </p:spPr>
        <p:txBody>
          <a:bodyPr/>
          <a:p/>
        </p:txBody>
      </p:sp>
      <p:sp>
        <p:nvSpPr>
          <p:cNvPr id="86" name="矩形 85"/>
          <p:cNvSpPr>
            <a:spLocks noGrp="1"/>
          </p:cNvSpPr>
          <p:nvPr/>
        </p:nvSpPr>
        <p:spPr>
          <a:xfrm>
            <a:off x="6657023" y="187643"/>
            <a:ext cx="1154430" cy="182880"/>
          </a:xfrm>
          <a:prstGeom prst="rect">
            <a:avLst/>
          </a:prstGeom>
        </p:spPr>
        <p:txBody>
          <a:bodyPr anchor="ctr"/>
          <a:lstStyle/>
          <a:p>
            <a:pPr algn="ctr">
              <a:defRPr sz="660" b="1">
                <a:solidFill>
                  <a:srgbClr val="FFFFFF"/>
                </a:solidFill>
              </a:defRPr>
            </a:pPr>
            <a:r>
              <a:t>理解</a:t>
            </a:r>
          </a:p>
        </p:txBody>
      </p:sp>
      <p:sp>
        <p:nvSpPr>
          <p:cNvPr id="87" name="圆角矩形 86"/>
          <p:cNvSpPr>
            <a:spLocks noGrp="1"/>
          </p:cNvSpPr>
          <p:nvPr/>
        </p:nvSpPr>
        <p:spPr>
          <a:xfrm>
            <a:off x="7857173" y="164783"/>
            <a:ext cx="1154430" cy="264795"/>
          </a:xfrm>
          <a:prstGeom prst="roundRect">
            <a:avLst>
              <a:gd name="adj" fmla="val 28777"/>
            </a:avLst>
          </a:prstGeom>
          <a:solidFill>
            <a:srgbClr val="FFFFFF"/>
          </a:solidFill>
          <a:ln w="12668">
            <a:solidFill>
              <a:srgbClr val="C9DCD7"/>
            </a:solidFill>
            <a:prstDash val="solid"/>
          </a:ln>
        </p:spPr>
        <p:txBody>
          <a:bodyPr/>
          <a:p/>
        </p:txBody>
      </p:sp>
      <p:sp>
        <p:nvSpPr>
          <p:cNvPr id="88" name="矩形 87"/>
          <p:cNvSpPr>
            <a:spLocks noGrp="1"/>
          </p:cNvSpPr>
          <p:nvPr/>
        </p:nvSpPr>
        <p:spPr>
          <a:xfrm>
            <a:off x="7857173" y="187643"/>
            <a:ext cx="1154430" cy="182880"/>
          </a:xfrm>
          <a:prstGeom prst="rect">
            <a:avLst/>
          </a:prstGeom>
        </p:spPr>
        <p:txBody>
          <a:bodyPr anchor="ctr"/>
          <a:lstStyle/>
          <a:p>
            <a:pPr algn="ctr">
              <a:defRPr sz="650" b="0">
                <a:solidFill>
                  <a:srgbClr val="44585C"/>
                </a:solidFill>
              </a:defRPr>
            </a:pPr>
            <a:r>
              <a:t>查询</a:t>
            </a:r>
          </a:p>
        </p:txBody>
      </p:sp>
      <p:sp>
        <p:nvSpPr>
          <p:cNvPr id="89" name="圆角矩形 88"/>
          <p:cNvSpPr>
            <a:spLocks noGrp="1"/>
          </p:cNvSpPr>
          <p:nvPr/>
        </p:nvSpPr>
        <p:spPr>
          <a:xfrm>
            <a:off x="9057323" y="164783"/>
            <a:ext cx="1154430" cy="264795"/>
          </a:xfrm>
          <a:prstGeom prst="roundRect">
            <a:avLst>
              <a:gd name="adj" fmla="val 28777"/>
            </a:avLst>
          </a:prstGeom>
          <a:solidFill>
            <a:srgbClr val="FFFFFF"/>
          </a:solidFill>
          <a:ln w="12668">
            <a:solidFill>
              <a:srgbClr val="C9DCD7"/>
            </a:solidFill>
            <a:prstDash val="solid"/>
          </a:ln>
        </p:spPr>
        <p:txBody>
          <a:bodyPr/>
          <a:p/>
        </p:txBody>
      </p:sp>
      <p:sp>
        <p:nvSpPr>
          <p:cNvPr id="90" name="矩形 89"/>
          <p:cNvSpPr>
            <a:spLocks noGrp="1"/>
          </p:cNvSpPr>
          <p:nvPr/>
        </p:nvSpPr>
        <p:spPr>
          <a:xfrm>
            <a:off x="9057323" y="187643"/>
            <a:ext cx="1154430" cy="182880"/>
          </a:xfrm>
          <a:prstGeom prst="rect">
            <a:avLst/>
          </a:prstGeom>
        </p:spPr>
        <p:txBody>
          <a:bodyPr anchor="ctr"/>
          <a:lstStyle/>
          <a:p>
            <a:pPr algn="ctr">
              <a:defRPr sz="650" b="0">
                <a:solidFill>
                  <a:srgbClr val="44585C"/>
                </a:solidFill>
              </a:defRPr>
            </a:pPr>
            <a:r>
              <a:t>决策</a:t>
            </a:r>
          </a:p>
        </p:txBody>
      </p:sp>
      <p:sp>
        <p:nvSpPr>
          <p:cNvPr id="91" name="圆角矩形 90"/>
          <p:cNvSpPr>
            <a:spLocks noGrp="1"/>
          </p:cNvSpPr>
          <p:nvPr/>
        </p:nvSpPr>
        <p:spPr>
          <a:xfrm>
            <a:off x="10257473" y="164783"/>
            <a:ext cx="1154430" cy="264795"/>
          </a:xfrm>
          <a:prstGeom prst="roundRect">
            <a:avLst>
              <a:gd name="adj" fmla="val 28777"/>
            </a:avLst>
          </a:prstGeom>
          <a:solidFill>
            <a:srgbClr val="FFFFFF"/>
          </a:solidFill>
          <a:ln w="12668">
            <a:solidFill>
              <a:srgbClr val="C9DCD7"/>
            </a:solidFill>
            <a:prstDash val="solid"/>
          </a:ln>
        </p:spPr>
        <p:txBody>
          <a:bodyPr/>
          <a:p/>
        </p:txBody>
      </p:sp>
      <p:sp>
        <p:nvSpPr>
          <p:cNvPr id="92" name="矩形 91"/>
          <p:cNvSpPr>
            <a:spLocks noGrp="1"/>
          </p:cNvSpPr>
          <p:nvPr/>
        </p:nvSpPr>
        <p:spPr>
          <a:xfrm>
            <a:off x="10257473" y="187643"/>
            <a:ext cx="1154430" cy="182880"/>
          </a:xfrm>
          <a:prstGeom prst="rect">
            <a:avLst/>
          </a:prstGeom>
        </p:spPr>
        <p:txBody>
          <a:bodyPr anchor="ctr"/>
          <a:lstStyle/>
          <a:p>
            <a:pPr algn="ctr">
              <a:defRPr sz="650" b="0">
                <a:solidFill>
                  <a:srgbClr val="44585C"/>
                </a:solidFill>
              </a:defRPr>
            </a:pPr>
            <a:r>
              <a:t>执行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hape 0"/>
          <p:cNvSpPr>
            <a:spLocks noGrp="1"/>
          </p:cNvSpPr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A"/>
          </a:solidFill>
          <a:ln w="12700">
            <a:solidFill>
              <a:srgbClr val="F7FBFA"/>
            </a:solidFill>
            <a:prstDash val="solid"/>
          </a:ln>
        </p:spPr>
        <p:txBody>
          <a:bodyPr/>
          <a:lstStyle/>
          <a:p/>
        </p:txBody>
      </p:sp>
      <p:sp>
        <p:nvSpPr>
          <p:cNvPr id="3" name="Shape 1"/>
          <p:cNvSpPr>
            <a:spLocks noGrp="1"/>
          </p:cNvSpPr>
          <p:nvPr/>
        </p:nvSpPr>
        <p:spPr>
          <a:xfrm>
            <a:off x="0" y="0"/>
            <a:ext cx="50292" cy="6858000"/>
          </a:xfrm>
          <a:prstGeom prst="rect">
            <a:avLst/>
          </a:prstGeom>
          <a:solidFill>
            <a:srgbClr val="0A8F6A"/>
          </a:solidFill>
          <a:ln w="12700">
            <a:solidFill>
              <a:srgbClr val="07966F"/>
            </a:solidFill>
            <a:prstDash val="solid"/>
          </a:ln>
        </p:spPr>
        <p:txBody>
          <a:bodyPr/>
          <a:lstStyle/>
          <a:p/>
        </p:txBody>
      </p:sp>
      <p:sp>
        <p:nvSpPr>
          <p:cNvPr id="4" name="Shape 2"/>
          <p:cNvSpPr>
            <a:spLocks noGrp="1"/>
          </p:cNvSpPr>
          <p:nvPr/>
        </p:nvSpPr>
        <p:spPr>
          <a:xfrm>
            <a:off x="10716768" y="45720"/>
            <a:ext cx="1170432" cy="658368"/>
          </a:xfrm>
          <a:prstGeom prst="ellipse">
            <a:avLst/>
          </a:prstGeom>
          <a:solidFill>
            <a:srgbClr val="E8F4F1"/>
          </a:solidFill>
          <a:ln w="12700">
            <a:solidFill>
              <a:srgbClr val="E8F4F1"/>
            </a:solidFill>
            <a:prstDash val="solid"/>
          </a:ln>
        </p:spPr>
        <p:txBody>
          <a:bodyPr/>
          <a:lstStyle/>
          <a:p/>
        </p:txBody>
      </p:sp>
      <p:sp>
        <p:nvSpPr>
          <p:cNvPr id="5" name="Shape 3"/>
          <p:cNvSpPr>
            <a:spLocks noGrp="1"/>
          </p:cNvSpPr>
          <p:nvPr/>
        </p:nvSpPr>
        <p:spPr>
          <a:xfrm>
            <a:off x="9948672" y="274320"/>
            <a:ext cx="64008" cy="64008"/>
          </a:xfrm>
          <a:prstGeom prst="ellipse">
            <a:avLst/>
          </a:prstGeom>
          <a:solidFill>
            <a:srgbClr val="C7DAD6"/>
          </a:solidFill>
          <a:ln w="12700">
            <a:solidFill>
              <a:srgbClr val="C7DAD6"/>
            </a:solidFill>
            <a:prstDash val="solid"/>
          </a:ln>
        </p:spPr>
        <p:txBody>
          <a:bodyPr/>
          <a:lstStyle/>
          <a:p/>
        </p:txBody>
      </p:sp>
      <p:sp>
        <p:nvSpPr>
          <p:cNvPr id="6" name="Text 4"/>
          <p:cNvSpPr>
            <a:spLocks noGrp="1"/>
          </p:cNvSpPr>
          <p:nvPr/>
        </p:nvSpPr>
        <p:spPr>
          <a:xfrm>
            <a:off x="9948672" y="274320"/>
            <a:ext cx="64008" cy="6400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endParaRPr sz="100"/>
          </a:p>
        </p:txBody>
      </p:sp>
      <p:sp>
        <p:nvSpPr>
          <p:cNvPr id="7" name="Shape 5"/>
          <p:cNvSpPr>
            <a:spLocks noGrp="1"/>
          </p:cNvSpPr>
          <p:nvPr/>
        </p:nvSpPr>
        <p:spPr>
          <a:xfrm>
            <a:off x="10158984" y="274320"/>
            <a:ext cx="64008" cy="64008"/>
          </a:xfrm>
          <a:prstGeom prst="ellipse">
            <a:avLst/>
          </a:prstGeom>
          <a:solidFill>
            <a:srgbClr val="C7DAD6"/>
          </a:solidFill>
          <a:ln w="12700">
            <a:solidFill>
              <a:srgbClr val="C7DAD6"/>
            </a:solidFill>
            <a:prstDash val="solid"/>
          </a:ln>
        </p:spPr>
        <p:txBody>
          <a:bodyPr/>
          <a:lstStyle/>
          <a:p/>
        </p:txBody>
      </p:sp>
      <p:sp>
        <p:nvSpPr>
          <p:cNvPr id="8" name="Text 6"/>
          <p:cNvSpPr>
            <a:spLocks noGrp="1"/>
          </p:cNvSpPr>
          <p:nvPr/>
        </p:nvSpPr>
        <p:spPr>
          <a:xfrm>
            <a:off x="10158984" y="274320"/>
            <a:ext cx="64008" cy="6400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endParaRPr sz="100"/>
          </a:p>
        </p:txBody>
      </p:sp>
      <p:sp>
        <p:nvSpPr>
          <p:cNvPr id="9" name="Shape 7"/>
          <p:cNvSpPr>
            <a:spLocks noGrp="1"/>
          </p:cNvSpPr>
          <p:nvPr/>
        </p:nvSpPr>
        <p:spPr>
          <a:xfrm>
            <a:off x="10369296" y="274320"/>
            <a:ext cx="64008" cy="64008"/>
          </a:xfrm>
          <a:prstGeom prst="ellipse">
            <a:avLst/>
          </a:prstGeom>
          <a:solidFill>
            <a:srgbClr val="07966F"/>
          </a:solidFill>
          <a:ln w="12700">
            <a:solidFill>
              <a:srgbClr val="07966F"/>
            </a:solidFill>
            <a:prstDash val="solid"/>
          </a:ln>
        </p:spPr>
        <p:txBody>
          <a:bodyPr/>
          <a:lstStyle/>
          <a:p/>
        </p:txBody>
      </p:sp>
      <p:sp>
        <p:nvSpPr>
          <p:cNvPr id="10" name="Text 8"/>
          <p:cNvSpPr>
            <a:spLocks noGrp="1"/>
          </p:cNvSpPr>
          <p:nvPr/>
        </p:nvSpPr>
        <p:spPr>
          <a:xfrm>
            <a:off x="10369296" y="274320"/>
            <a:ext cx="64008" cy="6400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endParaRPr sz="100"/>
          </a:p>
        </p:txBody>
      </p:sp>
      <p:sp>
        <p:nvSpPr>
          <p:cNvPr id="11" name="Shape 9"/>
          <p:cNvSpPr>
            <a:spLocks noGrp="1"/>
          </p:cNvSpPr>
          <p:nvPr/>
        </p:nvSpPr>
        <p:spPr>
          <a:xfrm>
            <a:off x="10579608" y="274320"/>
            <a:ext cx="64008" cy="64008"/>
          </a:xfrm>
          <a:prstGeom prst="ellipse">
            <a:avLst/>
          </a:prstGeom>
          <a:solidFill>
            <a:srgbClr val="C7DAD6"/>
          </a:solidFill>
          <a:ln w="12700">
            <a:solidFill>
              <a:srgbClr val="C7DAD6"/>
            </a:solidFill>
            <a:prstDash val="solid"/>
          </a:ln>
        </p:spPr>
        <p:txBody>
          <a:bodyPr/>
          <a:lstStyle/>
          <a:p/>
        </p:txBody>
      </p:sp>
      <p:sp>
        <p:nvSpPr>
          <p:cNvPr id="12" name="Text 10"/>
          <p:cNvSpPr>
            <a:spLocks noGrp="1"/>
          </p:cNvSpPr>
          <p:nvPr/>
        </p:nvSpPr>
        <p:spPr>
          <a:xfrm>
            <a:off x="10579608" y="274320"/>
            <a:ext cx="64008" cy="6400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endParaRPr sz="100"/>
          </a:p>
        </p:txBody>
      </p:sp>
      <p:sp>
        <p:nvSpPr>
          <p:cNvPr id="13" name="Shape 11"/>
          <p:cNvSpPr>
            <a:spLocks noGrp="1"/>
          </p:cNvSpPr>
          <p:nvPr/>
        </p:nvSpPr>
        <p:spPr>
          <a:xfrm>
            <a:off x="10789920" y="274320"/>
            <a:ext cx="64008" cy="64008"/>
          </a:xfrm>
          <a:prstGeom prst="ellipse">
            <a:avLst/>
          </a:prstGeom>
          <a:solidFill>
            <a:srgbClr val="C7DAD6"/>
          </a:solidFill>
          <a:ln w="12700">
            <a:solidFill>
              <a:srgbClr val="C7DAD6"/>
            </a:solidFill>
            <a:prstDash val="solid"/>
          </a:ln>
        </p:spPr>
        <p:txBody>
          <a:bodyPr/>
          <a:lstStyle/>
          <a:p/>
        </p:txBody>
      </p:sp>
      <p:sp>
        <p:nvSpPr>
          <p:cNvPr id="14" name="Text 12"/>
          <p:cNvSpPr>
            <a:spLocks noGrp="1"/>
          </p:cNvSpPr>
          <p:nvPr/>
        </p:nvSpPr>
        <p:spPr>
          <a:xfrm>
            <a:off x="10789920" y="274320"/>
            <a:ext cx="64008" cy="6400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endParaRPr sz="100"/>
          </a:p>
        </p:txBody>
      </p:sp>
      <p:sp>
        <p:nvSpPr>
          <p:cNvPr id="15" name="Shape 13"/>
          <p:cNvSpPr>
            <a:spLocks noGrp="1"/>
          </p:cNvSpPr>
          <p:nvPr/>
        </p:nvSpPr>
        <p:spPr>
          <a:xfrm>
            <a:off x="11000232" y="274320"/>
            <a:ext cx="64008" cy="64008"/>
          </a:xfrm>
          <a:prstGeom prst="ellipse">
            <a:avLst/>
          </a:prstGeom>
          <a:solidFill>
            <a:srgbClr val="C7DAD6"/>
          </a:solidFill>
          <a:ln w="12700">
            <a:solidFill>
              <a:srgbClr val="C7DAD6"/>
            </a:solidFill>
            <a:prstDash val="solid"/>
          </a:ln>
        </p:spPr>
        <p:txBody>
          <a:bodyPr/>
          <a:lstStyle/>
          <a:p/>
        </p:txBody>
      </p:sp>
      <p:sp>
        <p:nvSpPr>
          <p:cNvPr id="16" name="Text 14"/>
          <p:cNvSpPr>
            <a:spLocks noGrp="1"/>
          </p:cNvSpPr>
          <p:nvPr/>
        </p:nvSpPr>
        <p:spPr>
          <a:xfrm>
            <a:off x="11000232" y="274320"/>
            <a:ext cx="64008" cy="6400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endParaRPr sz="100"/>
          </a:p>
        </p:txBody>
      </p:sp>
      <p:sp>
        <p:nvSpPr>
          <p:cNvPr id="17" name="Shape 15"/>
          <p:cNvSpPr>
            <a:spLocks noGrp="1"/>
          </p:cNvSpPr>
          <p:nvPr/>
        </p:nvSpPr>
        <p:spPr>
          <a:xfrm>
            <a:off x="11210544" y="274320"/>
            <a:ext cx="64008" cy="64008"/>
          </a:xfrm>
          <a:prstGeom prst="ellipse">
            <a:avLst/>
          </a:prstGeom>
          <a:solidFill>
            <a:srgbClr val="C7DAD6"/>
          </a:solidFill>
          <a:ln w="12700">
            <a:solidFill>
              <a:srgbClr val="C7DAD6"/>
            </a:solidFill>
            <a:prstDash val="solid"/>
          </a:ln>
        </p:spPr>
        <p:txBody>
          <a:bodyPr/>
          <a:lstStyle/>
          <a:p/>
        </p:txBody>
      </p:sp>
      <p:sp>
        <p:nvSpPr>
          <p:cNvPr id="18" name="Text 16"/>
          <p:cNvSpPr>
            <a:spLocks noGrp="1"/>
          </p:cNvSpPr>
          <p:nvPr/>
        </p:nvSpPr>
        <p:spPr>
          <a:xfrm>
            <a:off x="11210544" y="274320"/>
            <a:ext cx="64008" cy="6400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endParaRPr sz="100"/>
          </a:p>
        </p:txBody>
      </p:sp>
      <p:sp>
        <p:nvSpPr>
          <p:cNvPr id="19" name="Shape 17"/>
          <p:cNvSpPr>
            <a:spLocks noGrp="1"/>
          </p:cNvSpPr>
          <p:nvPr/>
        </p:nvSpPr>
        <p:spPr>
          <a:xfrm>
            <a:off x="658368" y="420624"/>
            <a:ext cx="237744" cy="0"/>
          </a:xfrm>
          <a:prstGeom prst="line">
            <a:avLst/>
          </a:prstGeom>
          <a:noFill/>
          <a:ln w="15875">
            <a:solidFill>
              <a:srgbClr val="0A8F6A"/>
            </a:solidFill>
            <a:prstDash val="solid"/>
          </a:ln>
        </p:spPr>
        <p:txBody>
          <a:bodyPr/>
          <a:lstStyle/>
          <a:p/>
        </p:txBody>
      </p:sp>
      <p:sp>
        <p:nvSpPr>
          <p:cNvPr id="20" name="Text 18"/>
          <p:cNvSpPr>
            <a:spLocks noGrp="1"/>
          </p:cNvSpPr>
          <p:nvPr/>
        </p:nvSpPr>
        <p:spPr>
          <a:xfrm>
            <a:off x="950976" y="274320"/>
            <a:ext cx="3931920" cy="25603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r>
              <a:rPr sz="1050" b="1">
                <a:solidFill>
                  <a:srgbClr val="076B50"/>
                </a:solidFill>
                <a:latin typeface="Noto Sans CJK SC"/>
                <a:ea typeface="Noto Sans CJK SC"/>
                <a:cs typeface="Noto Sans CJK SC"/>
              </a:rPr>
              <a:t>CHAPTER 4 · 上下文与知识</a:t>
            </a:r>
            <a:endParaRPr sz="1050" b="1">
              <a:solidFill>
                <a:srgbClr val="00A7A7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1" name="Text 19"/>
          <p:cNvSpPr>
            <a:spLocks noGrp="1"/>
          </p:cNvSpPr>
          <p:nvPr/>
        </p:nvSpPr>
        <p:spPr>
          <a:xfrm>
            <a:off x="658368" y="658368"/>
            <a:ext cx="10607040" cy="457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buNone/>
            </a:pPr>
            <a:r>
              <a:rPr sz="2900" b="1">
                <a:solidFill>
                  <a:srgbClr val="153D39"/>
                </a:solidFill>
                <a:latin typeface="Noto Sans CJK SC"/>
                <a:ea typeface="Noto Sans CJK SC"/>
                <a:cs typeface="Noto Sans CJK SC"/>
              </a:rPr>
              <a:t>RAG 在上下文链路中的位置</a:t>
            </a:r>
            <a:endParaRPr sz="2900"/>
          </a:p>
        </p:txBody>
      </p:sp>
      <p:sp>
        <p:nvSpPr>
          <p:cNvPr id="22" name="Text 20"/>
          <p:cNvSpPr>
            <a:spLocks noGrp="1"/>
          </p:cNvSpPr>
          <p:nvPr/>
        </p:nvSpPr>
        <p:spPr>
          <a:xfrm>
            <a:off x="658368" y="1143000"/>
            <a:ext cx="10561320" cy="31089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buNone/>
            </a:pPr>
            <a:r>
              <a:rPr sz="1340">
                <a:solidFill>
                  <a:srgbClr val="44585C"/>
                </a:solidFill>
                <a:latin typeface="Noto Sans CJK SC"/>
                <a:ea typeface="Noto Sans CJK SC"/>
                <a:cs typeface="Noto Sans CJK SC"/>
              </a:rPr>
              <a:t>检索结果必须带来源；找不到、互相冲突或没有权限时，系统直接退出。</a:t>
            </a:r>
            <a:endParaRPr sz="1340"/>
          </a:p>
        </p:txBody>
      </p:sp>
      <p:sp>
        <p:nvSpPr>
          <p:cNvPr id="23" name="Shape 21"/>
          <p:cNvSpPr>
            <a:spLocks noGrp="1"/>
          </p:cNvSpPr>
          <p:nvPr/>
        </p:nvSpPr>
        <p:spPr>
          <a:xfrm>
            <a:off x="658368" y="6519672"/>
            <a:ext cx="11064240" cy="0"/>
          </a:xfrm>
          <a:prstGeom prst="line">
            <a:avLst/>
          </a:prstGeom>
          <a:noFill/>
          <a:ln w="12700">
            <a:solidFill>
              <a:srgbClr val="D7E7E3"/>
            </a:solidFill>
            <a:prstDash val="solid"/>
          </a:ln>
        </p:spPr>
        <p:txBody>
          <a:bodyPr/>
          <a:lstStyle/>
          <a:p/>
        </p:txBody>
      </p:sp>
      <p:sp>
        <p:nvSpPr>
          <p:cNvPr id="24" name="Text 22"/>
          <p:cNvSpPr>
            <a:spLocks noGrp="1"/>
          </p:cNvSpPr>
          <p:nvPr/>
        </p:nvSpPr>
        <p:spPr>
          <a:xfrm>
            <a:off x="658368" y="6583680"/>
            <a:ext cx="3931920" cy="14630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buNone/>
            </a:pPr>
            <a:r>
              <a:rPr sz="850">
                <a:solidFill>
                  <a:srgbClr val="55696A"/>
                </a:solidFill>
                <a:latin typeface="Noto Sans CJK SC"/>
                <a:ea typeface="Noto Sans CJK SC"/>
                <a:cs typeface="Noto Sans CJK SC"/>
              </a:rPr>
              <a:t>CUSTOMER SERVICE AI AGENT</a:t>
            </a:r>
            <a:endParaRPr sz="850"/>
          </a:p>
        </p:txBody>
      </p:sp>
      <p:sp>
        <p:nvSpPr>
          <p:cNvPr id="25" name="Text 23"/>
          <p:cNvSpPr>
            <a:spLocks noGrp="1"/>
          </p:cNvSpPr>
          <p:nvPr/>
        </p:nvSpPr>
        <p:spPr>
          <a:xfrm>
            <a:off x="10927080" y="6565392"/>
            <a:ext cx="777240" cy="16459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</a:pPr>
            <a:r>
              <a:rPr sz="880" b="1">
                <a:solidFill>
                  <a:srgbClr val="076B50"/>
                </a:solidFill>
                <a:latin typeface="Noto Sans CJK SC"/>
                <a:ea typeface="Noto Sans CJK SC"/>
                <a:cs typeface="Noto Sans CJK SC"/>
              </a:rPr>
              <a:t>30</a:t>
            </a:r>
            <a:endParaRPr sz="880" b="1">
              <a:solidFill>
                <a:srgbClr val="00A7A7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6" name="Shape 24"/>
          <p:cNvSpPr>
            <a:spLocks noGrp="1"/>
          </p:cNvSpPr>
          <p:nvPr/>
        </p:nvSpPr>
        <p:spPr>
          <a:xfrm>
            <a:off x="2011680" y="3118104"/>
            <a:ext cx="365760" cy="0"/>
          </a:xfrm>
          <a:prstGeom prst="line">
            <a:avLst/>
          </a:prstGeom>
          <a:noFill/>
          <a:ln w="21590">
            <a:solidFill>
              <a:srgbClr val="2F80ED"/>
            </a:solidFill>
            <a:prstDash val="solid"/>
            <a:tailEnd type="triangle"/>
          </a:ln>
        </p:spPr>
        <p:txBody>
          <a:bodyPr/>
          <a:lstStyle/>
          <a:p/>
        </p:txBody>
      </p:sp>
      <p:sp>
        <p:nvSpPr>
          <p:cNvPr id="27" name="Shape 25"/>
          <p:cNvSpPr>
            <a:spLocks noGrp="1"/>
          </p:cNvSpPr>
          <p:nvPr/>
        </p:nvSpPr>
        <p:spPr>
          <a:xfrm>
            <a:off x="3767328" y="3118104"/>
            <a:ext cx="365760" cy="0"/>
          </a:xfrm>
          <a:prstGeom prst="line">
            <a:avLst/>
          </a:prstGeom>
          <a:noFill/>
          <a:ln w="21590">
            <a:solidFill>
              <a:srgbClr val="00A7A7"/>
            </a:solidFill>
            <a:prstDash val="solid"/>
            <a:tailEnd type="triangle"/>
          </a:ln>
        </p:spPr>
        <p:txBody>
          <a:bodyPr/>
          <a:lstStyle/>
          <a:p/>
        </p:txBody>
      </p:sp>
      <p:sp>
        <p:nvSpPr>
          <p:cNvPr id="28" name="Shape 26"/>
          <p:cNvSpPr>
            <a:spLocks noGrp="1"/>
          </p:cNvSpPr>
          <p:nvPr/>
        </p:nvSpPr>
        <p:spPr>
          <a:xfrm>
            <a:off x="5522976" y="3118104"/>
            <a:ext cx="365760" cy="0"/>
          </a:xfrm>
          <a:prstGeom prst="line">
            <a:avLst/>
          </a:prstGeom>
          <a:noFill/>
          <a:ln w="21590">
            <a:solidFill>
              <a:srgbClr val="6B6FD8"/>
            </a:solidFill>
            <a:prstDash val="solid"/>
            <a:tailEnd type="triangle"/>
          </a:ln>
        </p:spPr>
        <p:txBody>
          <a:bodyPr/>
          <a:lstStyle/>
          <a:p/>
        </p:txBody>
      </p:sp>
      <p:sp>
        <p:nvSpPr>
          <p:cNvPr id="29" name="Shape 27"/>
          <p:cNvSpPr>
            <a:spLocks noGrp="1"/>
          </p:cNvSpPr>
          <p:nvPr/>
        </p:nvSpPr>
        <p:spPr>
          <a:xfrm>
            <a:off x="7278624" y="3118104"/>
            <a:ext cx="365760" cy="0"/>
          </a:xfrm>
          <a:prstGeom prst="line">
            <a:avLst/>
          </a:prstGeom>
          <a:noFill/>
          <a:ln w="21590">
            <a:solidFill>
              <a:srgbClr val="F28B36"/>
            </a:solidFill>
            <a:prstDash val="solid"/>
            <a:tailEnd type="triangle"/>
          </a:ln>
        </p:spPr>
        <p:txBody>
          <a:bodyPr/>
          <a:lstStyle/>
          <a:p/>
        </p:txBody>
      </p:sp>
      <p:sp>
        <p:nvSpPr>
          <p:cNvPr id="30" name="Shape 28"/>
          <p:cNvSpPr>
            <a:spLocks noGrp="1"/>
          </p:cNvSpPr>
          <p:nvPr/>
        </p:nvSpPr>
        <p:spPr>
          <a:xfrm>
            <a:off x="9034272" y="3118104"/>
            <a:ext cx="365760" cy="0"/>
          </a:xfrm>
          <a:prstGeom prst="line">
            <a:avLst/>
          </a:prstGeom>
          <a:noFill/>
          <a:ln w="21590">
            <a:solidFill>
              <a:srgbClr val="07966F"/>
            </a:solidFill>
            <a:prstDash val="solid"/>
            <a:tailEnd type="triangle"/>
          </a:ln>
        </p:spPr>
        <p:txBody>
          <a:bodyPr/>
          <a:lstStyle/>
          <a:p/>
        </p:txBody>
      </p:sp>
      <p:sp>
        <p:nvSpPr>
          <p:cNvPr id="31" name="Shape 29"/>
          <p:cNvSpPr>
            <a:spLocks noGrp="1"/>
          </p:cNvSpPr>
          <p:nvPr/>
        </p:nvSpPr>
        <p:spPr>
          <a:xfrm>
            <a:off x="713232" y="2212848"/>
            <a:ext cx="1298448" cy="1810512"/>
          </a:xfrm>
          <a:prstGeom prst="roundRect">
            <a:avLst/>
          </a:prstGeom>
          <a:solidFill>
            <a:srgbClr val="EAF3FF"/>
          </a:solidFill>
          <a:ln w="12700">
            <a:solidFill>
              <a:srgbClr val="2F80ED"/>
            </a:solidFill>
            <a:prstDash val="solid"/>
          </a:ln>
        </p:spPr>
        <p:txBody>
          <a:bodyPr/>
          <a:lstStyle/>
          <a:p/>
        </p:txBody>
      </p:sp>
      <p:sp>
        <p:nvSpPr>
          <p:cNvPr id="32" name="Shape 30"/>
          <p:cNvSpPr>
            <a:spLocks noGrp="1"/>
          </p:cNvSpPr>
          <p:nvPr/>
        </p:nvSpPr>
        <p:spPr>
          <a:xfrm>
            <a:off x="1152144" y="2395728"/>
            <a:ext cx="393192" cy="393192"/>
          </a:xfrm>
          <a:prstGeom prst="ellipse">
            <a:avLst/>
          </a:prstGeom>
          <a:solidFill>
            <a:srgbClr val="1F63C4"/>
          </a:solidFill>
          <a:ln w="12700">
            <a:solidFill>
              <a:srgbClr val="1F63C4"/>
            </a:solidFill>
            <a:prstDash val="solid"/>
          </a:ln>
        </p:spPr>
        <p:txBody>
          <a:bodyPr/>
          <a:lstStyle/>
          <a:p/>
        </p:txBody>
      </p:sp>
      <p:sp>
        <p:nvSpPr>
          <p:cNvPr id="33" name="Text 31"/>
          <p:cNvSpPr>
            <a:spLocks noGrp="1"/>
          </p:cNvSpPr>
          <p:nvPr/>
        </p:nvSpPr>
        <p:spPr>
          <a:xfrm>
            <a:off x="1152144" y="2395728"/>
            <a:ext cx="393192" cy="39319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01</a:t>
            </a:r>
            <a:endParaRPr sz="950"/>
          </a:p>
        </p:txBody>
      </p:sp>
      <p:sp>
        <p:nvSpPr>
          <p:cNvPr id="34" name="Text 32"/>
          <p:cNvSpPr>
            <a:spLocks noGrp="1"/>
          </p:cNvSpPr>
          <p:nvPr/>
        </p:nvSpPr>
        <p:spPr>
          <a:xfrm>
            <a:off x="804672" y="2907792"/>
            <a:ext cx="1115568" cy="25603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1130" b="1">
                <a:solidFill>
                  <a:srgbClr val="153D39"/>
                </a:solidFill>
                <a:latin typeface="Noto Sans CJK SC"/>
                <a:ea typeface="Noto Sans CJK SC"/>
                <a:cs typeface="Noto Sans CJK SC"/>
              </a:rPr>
              <a:t>客户问题</a:t>
            </a:r>
            <a:endParaRPr sz="1130"/>
          </a:p>
        </p:txBody>
      </p:sp>
      <p:sp>
        <p:nvSpPr>
          <p:cNvPr id="35" name="Text 33"/>
          <p:cNvSpPr>
            <a:spLocks noGrp="1"/>
          </p:cNvSpPr>
          <p:nvPr/>
        </p:nvSpPr>
        <p:spPr>
          <a:xfrm>
            <a:off x="822960" y="3273552"/>
            <a:ext cx="1078992" cy="43891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820">
                <a:solidFill>
                  <a:srgbClr val="44585C"/>
                </a:solidFill>
                <a:latin typeface="Noto Sans CJK SC"/>
                <a:ea typeface="Noto Sans CJK SC"/>
                <a:cs typeface="Noto Sans CJK SC"/>
              </a:rPr>
              <a:t>保留当前有效诉求</a:t>
            </a:r>
            <a:endParaRPr sz="820"/>
          </a:p>
        </p:txBody>
      </p:sp>
      <p:sp>
        <p:nvSpPr>
          <p:cNvPr id="36" name="Shape 34"/>
          <p:cNvSpPr>
            <a:spLocks noGrp="1"/>
          </p:cNvSpPr>
          <p:nvPr/>
        </p:nvSpPr>
        <p:spPr>
          <a:xfrm>
            <a:off x="2468880" y="2212848"/>
            <a:ext cx="1298448" cy="1810512"/>
          </a:xfrm>
          <a:prstGeom prst="roundRect">
            <a:avLst/>
          </a:prstGeom>
          <a:solidFill>
            <a:srgbClr val="E7F7F7"/>
          </a:solidFill>
          <a:ln w="12700">
            <a:solidFill>
              <a:srgbClr val="00A7A7"/>
            </a:solidFill>
            <a:prstDash val="solid"/>
          </a:ln>
        </p:spPr>
        <p:txBody>
          <a:bodyPr/>
          <a:lstStyle/>
          <a:p/>
        </p:txBody>
      </p:sp>
      <p:sp>
        <p:nvSpPr>
          <p:cNvPr id="37" name="Shape 35"/>
          <p:cNvSpPr>
            <a:spLocks noGrp="1"/>
          </p:cNvSpPr>
          <p:nvPr/>
        </p:nvSpPr>
        <p:spPr>
          <a:xfrm>
            <a:off x="2907792" y="2395728"/>
            <a:ext cx="393192" cy="393192"/>
          </a:xfrm>
          <a:prstGeom prst="ellipse">
            <a:avLst/>
          </a:prstGeom>
          <a:solidFill>
            <a:srgbClr val="007574"/>
          </a:solidFill>
          <a:ln w="12700">
            <a:solidFill>
              <a:srgbClr val="007574"/>
            </a:solidFill>
            <a:prstDash val="solid"/>
          </a:ln>
        </p:spPr>
        <p:txBody>
          <a:bodyPr/>
          <a:lstStyle/>
          <a:p/>
        </p:txBody>
      </p:sp>
      <p:sp>
        <p:nvSpPr>
          <p:cNvPr id="38" name="Text 36"/>
          <p:cNvSpPr>
            <a:spLocks noGrp="1"/>
          </p:cNvSpPr>
          <p:nvPr/>
        </p:nvSpPr>
        <p:spPr>
          <a:xfrm>
            <a:off x="2907792" y="2395728"/>
            <a:ext cx="393192" cy="39319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02</a:t>
            </a:r>
            <a:endParaRPr sz="950"/>
          </a:p>
        </p:txBody>
      </p:sp>
      <p:sp>
        <p:nvSpPr>
          <p:cNvPr id="39" name="Text 37"/>
          <p:cNvSpPr>
            <a:spLocks noGrp="1"/>
          </p:cNvSpPr>
          <p:nvPr/>
        </p:nvSpPr>
        <p:spPr>
          <a:xfrm>
            <a:off x="2560320" y="2907792"/>
            <a:ext cx="1115568" cy="25603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1130" b="1">
                <a:solidFill>
                  <a:srgbClr val="153D39"/>
                </a:solidFill>
                <a:latin typeface="Noto Sans CJK SC"/>
                <a:ea typeface="Noto Sans CJK SC"/>
                <a:cs typeface="Noto Sans CJK SC"/>
              </a:rPr>
              <a:t>触发检索</a:t>
            </a:r>
            <a:endParaRPr sz="1130"/>
          </a:p>
        </p:txBody>
      </p:sp>
      <p:sp>
        <p:nvSpPr>
          <p:cNvPr id="40" name="Text 38"/>
          <p:cNvSpPr>
            <a:spLocks noGrp="1"/>
          </p:cNvSpPr>
          <p:nvPr/>
        </p:nvSpPr>
        <p:spPr>
          <a:xfrm>
            <a:off x="2578608" y="3273552"/>
            <a:ext cx="1078992" cy="43891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820">
                <a:solidFill>
                  <a:srgbClr val="44585C"/>
                </a:solidFill>
                <a:latin typeface="Noto Sans CJK SC"/>
                <a:ea typeface="Noto Sans CJK SC"/>
                <a:cs typeface="Noto Sans CJK SC"/>
              </a:rPr>
              <a:t>KB Gate：命中场景必须先检索(must-search)</a:t>
            </a:r>
            <a:endParaRPr sz="820"/>
          </a:p>
        </p:txBody>
      </p:sp>
      <p:sp>
        <p:nvSpPr>
          <p:cNvPr id="41" name="Shape 39"/>
          <p:cNvSpPr>
            <a:spLocks noGrp="1"/>
          </p:cNvSpPr>
          <p:nvPr/>
        </p:nvSpPr>
        <p:spPr>
          <a:xfrm>
            <a:off x="4224528" y="2212848"/>
            <a:ext cx="1298448" cy="1810512"/>
          </a:xfrm>
          <a:prstGeom prst="roundRect">
            <a:avLst/>
          </a:prstGeom>
          <a:solidFill>
            <a:srgbClr val="EEF0FF"/>
          </a:solidFill>
          <a:ln w="12700">
            <a:solidFill>
              <a:srgbClr val="6B6FD8"/>
            </a:solidFill>
            <a:prstDash val="solid"/>
          </a:ln>
        </p:spPr>
        <p:txBody>
          <a:bodyPr/>
          <a:lstStyle/>
          <a:p/>
        </p:txBody>
      </p:sp>
      <p:sp>
        <p:nvSpPr>
          <p:cNvPr id="42" name="Shape 40"/>
          <p:cNvSpPr>
            <a:spLocks noGrp="1"/>
          </p:cNvSpPr>
          <p:nvPr/>
        </p:nvSpPr>
        <p:spPr>
          <a:xfrm>
            <a:off x="4663440" y="2395728"/>
            <a:ext cx="393192" cy="393192"/>
          </a:xfrm>
          <a:prstGeom prst="ellipse">
            <a:avLst/>
          </a:prstGeom>
          <a:solidFill>
            <a:srgbClr val="5356BE"/>
          </a:solidFill>
          <a:ln w="12700">
            <a:solidFill>
              <a:srgbClr val="5356BE"/>
            </a:solidFill>
            <a:prstDash val="solid"/>
          </a:ln>
        </p:spPr>
        <p:txBody>
          <a:bodyPr/>
          <a:lstStyle/>
          <a:p/>
        </p:txBody>
      </p:sp>
      <p:sp>
        <p:nvSpPr>
          <p:cNvPr id="43" name="Text 41"/>
          <p:cNvSpPr>
            <a:spLocks noGrp="1"/>
          </p:cNvSpPr>
          <p:nvPr/>
        </p:nvSpPr>
        <p:spPr>
          <a:xfrm>
            <a:off x="4663440" y="2395728"/>
            <a:ext cx="393192" cy="39319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03</a:t>
            </a:r>
            <a:endParaRPr sz="950"/>
          </a:p>
        </p:txBody>
      </p:sp>
      <p:sp>
        <p:nvSpPr>
          <p:cNvPr id="44" name="Text 42"/>
          <p:cNvSpPr>
            <a:spLocks noGrp="1"/>
          </p:cNvSpPr>
          <p:nvPr/>
        </p:nvSpPr>
        <p:spPr>
          <a:xfrm>
            <a:off x="4315968" y="2907792"/>
            <a:ext cx="1115568" cy="25603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1130" b="1">
                <a:solidFill>
                  <a:srgbClr val="153D39"/>
                </a:solidFill>
                <a:latin typeface="Noto Sans CJK SC"/>
                <a:ea typeface="Noto Sans CJK SC"/>
                <a:cs typeface="Noto Sans CJK SC"/>
              </a:rPr>
              <a:t>限定可见范围</a:t>
            </a:r>
            <a:endParaRPr sz="1130"/>
          </a:p>
        </p:txBody>
      </p:sp>
      <p:sp>
        <p:nvSpPr>
          <p:cNvPr id="45" name="Text 43"/>
          <p:cNvSpPr>
            <a:spLocks noGrp="1"/>
          </p:cNvSpPr>
          <p:nvPr/>
        </p:nvSpPr>
        <p:spPr>
          <a:xfrm>
            <a:off x="4334256" y="3273552"/>
            <a:ext cx="1078992" cy="43891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820">
                <a:solidFill>
                  <a:srgbClr val="44585C"/>
                </a:solidFill>
                <a:latin typeface="Noto Sans CJK SC"/>
                <a:ea typeface="Noto Sans CJK SC"/>
                <a:cs typeface="Noto Sans CJK SC"/>
              </a:rPr>
              <a:t>按场景授权选择隔离的知识范围</a:t>
            </a:r>
            <a:endParaRPr sz="820"/>
          </a:p>
        </p:txBody>
      </p:sp>
      <p:sp>
        <p:nvSpPr>
          <p:cNvPr id="46" name="Shape 44"/>
          <p:cNvSpPr>
            <a:spLocks noGrp="1"/>
          </p:cNvSpPr>
          <p:nvPr/>
        </p:nvSpPr>
        <p:spPr>
          <a:xfrm>
            <a:off x="5980176" y="2212848"/>
            <a:ext cx="1298448" cy="1810512"/>
          </a:xfrm>
          <a:prstGeom prst="roundRect">
            <a:avLst/>
          </a:prstGeom>
          <a:solidFill>
            <a:srgbClr val="FFF2E8"/>
          </a:solidFill>
          <a:ln w="12700">
            <a:solidFill>
              <a:srgbClr val="F28B36"/>
            </a:solidFill>
            <a:prstDash val="solid"/>
          </a:ln>
        </p:spPr>
        <p:txBody>
          <a:bodyPr/>
          <a:lstStyle/>
          <a:p/>
        </p:txBody>
      </p:sp>
      <p:sp>
        <p:nvSpPr>
          <p:cNvPr id="47" name="Shape 45"/>
          <p:cNvSpPr>
            <a:spLocks noGrp="1"/>
          </p:cNvSpPr>
          <p:nvPr/>
        </p:nvSpPr>
        <p:spPr>
          <a:xfrm>
            <a:off x="6419088" y="2395728"/>
            <a:ext cx="393192" cy="393192"/>
          </a:xfrm>
          <a:prstGeom prst="ellipse">
            <a:avLst/>
          </a:prstGeom>
          <a:solidFill>
            <a:srgbClr val="BC6414"/>
          </a:solidFill>
          <a:ln w="12700">
            <a:solidFill>
              <a:srgbClr val="BC6414"/>
            </a:solidFill>
            <a:prstDash val="solid"/>
          </a:ln>
        </p:spPr>
        <p:txBody>
          <a:bodyPr/>
          <a:lstStyle/>
          <a:p/>
        </p:txBody>
      </p:sp>
      <p:sp>
        <p:nvSpPr>
          <p:cNvPr id="48" name="Text 46"/>
          <p:cNvSpPr>
            <a:spLocks noGrp="1"/>
          </p:cNvSpPr>
          <p:nvPr/>
        </p:nvSpPr>
        <p:spPr>
          <a:xfrm>
            <a:off x="6419088" y="2395728"/>
            <a:ext cx="393192" cy="39319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04</a:t>
            </a:r>
            <a:endParaRPr sz="950"/>
          </a:p>
        </p:txBody>
      </p:sp>
      <p:sp>
        <p:nvSpPr>
          <p:cNvPr id="49" name="Text 47"/>
          <p:cNvSpPr>
            <a:spLocks noGrp="1"/>
          </p:cNvSpPr>
          <p:nvPr/>
        </p:nvSpPr>
        <p:spPr>
          <a:xfrm>
            <a:off x="6071616" y="2907792"/>
            <a:ext cx="1115568" cy="25603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1130" b="1">
                <a:solidFill>
                  <a:srgbClr val="153D39"/>
                </a:solidFill>
                <a:latin typeface="Noto Sans CJK SC"/>
                <a:ea typeface="Noto Sans CJK SC"/>
                <a:cs typeface="Noto Sans CJK SC"/>
              </a:rPr>
              <a:t>召回证据</a:t>
            </a:r>
            <a:endParaRPr sz="1130"/>
          </a:p>
        </p:txBody>
      </p:sp>
      <p:sp>
        <p:nvSpPr>
          <p:cNvPr id="50" name="Text 48"/>
          <p:cNvSpPr>
            <a:spLocks noGrp="1"/>
          </p:cNvSpPr>
          <p:nvPr/>
        </p:nvSpPr>
        <p:spPr>
          <a:xfrm>
            <a:off x="6089904" y="3273552"/>
            <a:ext cx="1078992" cy="43891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820">
                <a:solidFill>
                  <a:srgbClr val="44585C"/>
                </a:solidFill>
                <a:latin typeface="Noto Sans CJK SC"/>
                <a:ea typeface="Noto Sans CJK SC"/>
                <a:cs typeface="Noto Sans CJK SC"/>
              </a:rPr>
              <a:t>返回候选片段与来源信息</a:t>
            </a:r>
            <a:endParaRPr sz="820"/>
          </a:p>
        </p:txBody>
      </p:sp>
      <p:sp>
        <p:nvSpPr>
          <p:cNvPr id="51" name="Shape 49"/>
          <p:cNvSpPr>
            <a:spLocks noGrp="1"/>
          </p:cNvSpPr>
          <p:nvPr/>
        </p:nvSpPr>
        <p:spPr>
          <a:xfrm>
            <a:off x="7735824" y="2212848"/>
            <a:ext cx="1298448" cy="1810512"/>
          </a:xfrm>
          <a:prstGeom prst="roundRect">
            <a:avLst/>
          </a:prstGeom>
          <a:solidFill>
            <a:srgbClr val="E8F7F1"/>
          </a:solidFill>
          <a:ln w="12700">
            <a:solidFill>
              <a:srgbClr val="07966F"/>
            </a:solidFill>
            <a:prstDash val="solid"/>
          </a:ln>
        </p:spPr>
        <p:txBody>
          <a:bodyPr/>
          <a:lstStyle/>
          <a:p/>
        </p:txBody>
      </p:sp>
      <p:sp>
        <p:nvSpPr>
          <p:cNvPr id="52" name="Shape 50"/>
          <p:cNvSpPr>
            <a:spLocks noGrp="1"/>
          </p:cNvSpPr>
          <p:nvPr/>
        </p:nvSpPr>
        <p:spPr>
          <a:xfrm>
            <a:off x="8174736" y="2395728"/>
            <a:ext cx="393192" cy="393192"/>
          </a:xfrm>
          <a:prstGeom prst="ellipse">
            <a:avLst/>
          </a:prstGeom>
          <a:solidFill>
            <a:srgbClr val="07714F"/>
          </a:solidFill>
          <a:ln w="12700">
            <a:solidFill>
              <a:srgbClr val="07714F"/>
            </a:solidFill>
            <a:prstDash val="solid"/>
          </a:ln>
        </p:spPr>
        <p:txBody>
          <a:bodyPr/>
          <a:lstStyle/>
          <a:p/>
        </p:txBody>
      </p:sp>
      <p:sp>
        <p:nvSpPr>
          <p:cNvPr id="53" name="Text 51"/>
          <p:cNvSpPr>
            <a:spLocks noGrp="1"/>
          </p:cNvSpPr>
          <p:nvPr/>
        </p:nvSpPr>
        <p:spPr>
          <a:xfrm>
            <a:off x="8174736" y="2395728"/>
            <a:ext cx="393192" cy="39319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05</a:t>
            </a:r>
            <a:endParaRPr sz="950"/>
          </a:p>
        </p:txBody>
      </p:sp>
      <p:sp>
        <p:nvSpPr>
          <p:cNvPr id="54" name="Text 52"/>
          <p:cNvSpPr>
            <a:spLocks noGrp="1"/>
          </p:cNvSpPr>
          <p:nvPr/>
        </p:nvSpPr>
        <p:spPr>
          <a:xfrm>
            <a:off x="7827264" y="2907792"/>
            <a:ext cx="1115568" cy="25603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1130" b="1">
                <a:solidFill>
                  <a:srgbClr val="153D39"/>
                </a:solidFill>
                <a:latin typeface="Noto Sans CJK SC"/>
                <a:ea typeface="Noto Sans CJK SC"/>
                <a:cs typeface="Noto Sans CJK SC"/>
              </a:rPr>
              <a:t>证据校验</a:t>
            </a:r>
            <a:endParaRPr sz="1130"/>
          </a:p>
        </p:txBody>
      </p:sp>
      <p:sp>
        <p:nvSpPr>
          <p:cNvPr id="55" name="Text 53"/>
          <p:cNvSpPr>
            <a:spLocks noGrp="1"/>
          </p:cNvSpPr>
          <p:nvPr/>
        </p:nvSpPr>
        <p:spPr>
          <a:xfrm>
            <a:off x="7845552" y="3273552"/>
            <a:ext cx="1078992" cy="43891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820">
                <a:solidFill>
                  <a:srgbClr val="44585C"/>
                </a:solidFill>
                <a:latin typeface="Noto Sans CJK SC"/>
                <a:ea typeface="Noto Sans CJK SC"/>
                <a:cs typeface="Noto Sans CJK SC"/>
              </a:rPr>
              <a:t>相关性、可信度、冲突检查</a:t>
            </a:r>
            <a:endParaRPr sz="820"/>
          </a:p>
        </p:txBody>
      </p:sp>
      <p:sp>
        <p:nvSpPr>
          <p:cNvPr id="56" name="Shape 54"/>
          <p:cNvSpPr>
            <a:spLocks noGrp="1"/>
          </p:cNvSpPr>
          <p:nvPr/>
        </p:nvSpPr>
        <p:spPr>
          <a:xfrm>
            <a:off x="9491472" y="2212848"/>
            <a:ext cx="1298448" cy="1810512"/>
          </a:xfrm>
          <a:prstGeom prst="roundRect">
            <a:avLst/>
          </a:prstGeom>
          <a:solidFill>
            <a:srgbClr val="E8F7F1"/>
          </a:solidFill>
          <a:ln w="12700">
            <a:solidFill>
              <a:srgbClr val="12B07D"/>
            </a:solidFill>
            <a:prstDash val="solid"/>
          </a:ln>
        </p:spPr>
        <p:txBody>
          <a:bodyPr/>
          <a:lstStyle/>
          <a:p/>
        </p:txBody>
      </p:sp>
      <p:sp>
        <p:nvSpPr>
          <p:cNvPr id="57" name="Shape 55"/>
          <p:cNvSpPr>
            <a:spLocks noGrp="1"/>
          </p:cNvSpPr>
          <p:nvPr/>
        </p:nvSpPr>
        <p:spPr>
          <a:xfrm>
            <a:off x="9930384" y="2395728"/>
            <a:ext cx="393192" cy="393192"/>
          </a:xfrm>
          <a:prstGeom prst="ellipse">
            <a:avLst/>
          </a:prstGeom>
          <a:solidFill>
            <a:srgbClr val="0A7A57"/>
          </a:solidFill>
          <a:ln w="12700">
            <a:solidFill>
              <a:srgbClr val="0A7A57"/>
            </a:solidFill>
            <a:prstDash val="solid"/>
          </a:ln>
        </p:spPr>
        <p:txBody>
          <a:bodyPr/>
          <a:lstStyle/>
          <a:p/>
        </p:txBody>
      </p:sp>
      <p:sp>
        <p:nvSpPr>
          <p:cNvPr id="58" name="Text 56"/>
          <p:cNvSpPr>
            <a:spLocks noGrp="1"/>
          </p:cNvSpPr>
          <p:nvPr/>
        </p:nvSpPr>
        <p:spPr>
          <a:xfrm>
            <a:off x="9930384" y="2395728"/>
            <a:ext cx="393192" cy="39319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06</a:t>
            </a:r>
            <a:endParaRPr sz="950"/>
          </a:p>
        </p:txBody>
      </p:sp>
      <p:sp>
        <p:nvSpPr>
          <p:cNvPr id="59" name="Text 57"/>
          <p:cNvSpPr>
            <a:spLocks noGrp="1"/>
          </p:cNvSpPr>
          <p:nvPr/>
        </p:nvSpPr>
        <p:spPr>
          <a:xfrm>
            <a:off x="9582912" y="2907792"/>
            <a:ext cx="1115568" cy="25603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1130" b="1">
                <a:solidFill>
                  <a:srgbClr val="153D39"/>
                </a:solidFill>
                <a:latin typeface="Noto Sans CJK SC"/>
                <a:ea typeface="Noto Sans CJK SC"/>
                <a:cs typeface="Noto Sans CJK SC"/>
              </a:rPr>
              <a:t>进入上下文</a:t>
            </a:r>
            <a:endParaRPr sz="1130"/>
          </a:p>
        </p:txBody>
      </p:sp>
      <p:sp>
        <p:nvSpPr>
          <p:cNvPr id="60" name="Text 58"/>
          <p:cNvSpPr>
            <a:spLocks noGrp="1"/>
          </p:cNvSpPr>
          <p:nvPr/>
        </p:nvSpPr>
        <p:spPr>
          <a:xfrm>
            <a:off x="9601200" y="3273552"/>
            <a:ext cx="1078992" cy="43891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820">
                <a:solidFill>
                  <a:srgbClr val="44585C"/>
                </a:solidFill>
                <a:latin typeface="Noto Sans CJK SC"/>
                <a:ea typeface="Noto Sans CJK SC"/>
                <a:cs typeface="Noto Sans CJK SC"/>
              </a:rPr>
              <a:t>只注入足以支持本次回答的片段</a:t>
            </a:r>
            <a:endParaRPr sz="820"/>
          </a:p>
        </p:txBody>
      </p:sp>
      <p:sp>
        <p:nvSpPr>
          <p:cNvPr id="61" name="Shape 59"/>
          <p:cNvSpPr>
            <a:spLocks noGrp="1"/>
          </p:cNvSpPr>
          <p:nvPr/>
        </p:nvSpPr>
        <p:spPr>
          <a:xfrm>
            <a:off x="832104" y="4160520"/>
            <a:ext cx="1060704" cy="23774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9DDD8"/>
            </a:solidFill>
            <a:prstDash val="solid"/>
          </a:ln>
        </p:spPr>
        <p:txBody>
          <a:bodyPr/>
          <a:lstStyle/>
          <a:p/>
        </p:txBody>
      </p:sp>
      <p:sp>
        <p:nvSpPr>
          <p:cNvPr id="62" name="Text 60"/>
          <p:cNvSpPr>
            <a:spLocks noGrp="1"/>
          </p:cNvSpPr>
          <p:nvPr/>
        </p:nvSpPr>
        <p:spPr>
          <a:xfrm>
            <a:off x="832104" y="4160520"/>
            <a:ext cx="1060704" cy="23774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800" b="1">
                <a:solidFill>
                  <a:srgbClr val="1B5FC4"/>
                </a:solidFill>
                <a:latin typeface="Noto Sans CJK SC"/>
                <a:ea typeface="Noto Sans CJK SC"/>
                <a:cs typeface="Noto Sans CJK SC"/>
              </a:rPr>
              <a:t>当前问题</a:t>
            </a:r>
            <a:endParaRPr sz="800"/>
          </a:p>
        </p:txBody>
      </p:sp>
      <p:sp>
        <p:nvSpPr>
          <p:cNvPr id="63" name="Shape 61"/>
          <p:cNvSpPr>
            <a:spLocks noGrp="1"/>
          </p:cNvSpPr>
          <p:nvPr/>
        </p:nvSpPr>
        <p:spPr>
          <a:xfrm>
            <a:off x="2587752" y="4160520"/>
            <a:ext cx="1060704" cy="23774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9DDD8"/>
            </a:solidFill>
            <a:prstDash val="solid"/>
          </a:ln>
        </p:spPr>
        <p:txBody>
          <a:bodyPr/>
          <a:lstStyle/>
          <a:p/>
        </p:txBody>
      </p:sp>
      <p:sp>
        <p:nvSpPr>
          <p:cNvPr id="64" name="Text 62"/>
          <p:cNvSpPr>
            <a:spLocks noGrp="1"/>
          </p:cNvSpPr>
          <p:nvPr/>
        </p:nvSpPr>
        <p:spPr>
          <a:xfrm>
            <a:off x="2587752" y="4160520"/>
            <a:ext cx="1060704" cy="23774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800" b="1">
                <a:solidFill>
                  <a:srgbClr val="00706F"/>
                </a:solidFill>
                <a:latin typeface="Noto Sans CJK SC"/>
                <a:ea typeface="Noto Sans CJK SC"/>
                <a:cs typeface="Noto Sans CJK SC"/>
              </a:rPr>
              <a:t>必查门槛</a:t>
            </a:r>
            <a:endParaRPr sz="800"/>
          </a:p>
        </p:txBody>
      </p:sp>
      <p:sp>
        <p:nvSpPr>
          <p:cNvPr id="65" name="Shape 63"/>
          <p:cNvSpPr>
            <a:spLocks noGrp="1"/>
          </p:cNvSpPr>
          <p:nvPr/>
        </p:nvSpPr>
        <p:spPr>
          <a:xfrm>
            <a:off x="4343400" y="4160520"/>
            <a:ext cx="1060704" cy="23774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9DDD8"/>
            </a:solidFill>
            <a:prstDash val="solid"/>
          </a:ln>
        </p:spPr>
        <p:txBody>
          <a:bodyPr/>
          <a:lstStyle/>
          <a:p/>
        </p:txBody>
      </p:sp>
      <p:sp>
        <p:nvSpPr>
          <p:cNvPr id="66" name="Text 64"/>
          <p:cNvSpPr>
            <a:spLocks noGrp="1"/>
          </p:cNvSpPr>
          <p:nvPr/>
        </p:nvSpPr>
        <p:spPr>
          <a:xfrm>
            <a:off x="4343400" y="4160520"/>
            <a:ext cx="1060704" cy="23774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800" b="1">
                <a:solidFill>
                  <a:srgbClr val="4A4EB0"/>
                </a:solidFill>
                <a:latin typeface="Noto Sans CJK SC"/>
                <a:ea typeface="Noto Sans CJK SC"/>
                <a:cs typeface="Noto Sans CJK SC"/>
              </a:rPr>
              <a:t>授权范围</a:t>
            </a:r>
            <a:endParaRPr sz="800"/>
          </a:p>
        </p:txBody>
      </p:sp>
      <p:sp>
        <p:nvSpPr>
          <p:cNvPr id="67" name="Shape 65"/>
          <p:cNvSpPr>
            <a:spLocks noGrp="1"/>
          </p:cNvSpPr>
          <p:nvPr/>
        </p:nvSpPr>
        <p:spPr>
          <a:xfrm>
            <a:off x="6099048" y="4160520"/>
            <a:ext cx="1060704" cy="23774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9DDD8"/>
            </a:solidFill>
            <a:prstDash val="solid"/>
          </a:ln>
        </p:spPr>
        <p:txBody>
          <a:bodyPr/>
          <a:lstStyle/>
          <a:p/>
        </p:txBody>
      </p:sp>
      <p:sp>
        <p:nvSpPr>
          <p:cNvPr id="68" name="Text 66"/>
          <p:cNvSpPr>
            <a:spLocks noGrp="1"/>
          </p:cNvSpPr>
          <p:nvPr/>
        </p:nvSpPr>
        <p:spPr>
          <a:xfrm>
            <a:off x="6099048" y="4160520"/>
            <a:ext cx="1060704" cy="23774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800" b="1">
                <a:solidFill>
                  <a:srgbClr val="9A5210"/>
                </a:solidFill>
                <a:latin typeface="Noto Sans CJK SC"/>
                <a:ea typeface="Noto Sans CJK SC"/>
                <a:cs typeface="Noto Sans CJK SC"/>
              </a:rPr>
              <a:t>配置化召回数量</a:t>
            </a:r>
            <a:endParaRPr sz="800"/>
          </a:p>
        </p:txBody>
      </p:sp>
      <p:sp>
        <p:nvSpPr>
          <p:cNvPr id="69" name="Shape 67"/>
          <p:cNvSpPr>
            <a:spLocks noGrp="1"/>
          </p:cNvSpPr>
          <p:nvPr/>
        </p:nvSpPr>
        <p:spPr>
          <a:xfrm>
            <a:off x="7854696" y="4160520"/>
            <a:ext cx="1060704" cy="23774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9DDD8"/>
            </a:solidFill>
            <a:prstDash val="solid"/>
          </a:ln>
        </p:spPr>
        <p:txBody>
          <a:bodyPr/>
          <a:lstStyle/>
          <a:p/>
        </p:txBody>
      </p:sp>
      <p:sp>
        <p:nvSpPr>
          <p:cNvPr id="70" name="Text 68"/>
          <p:cNvSpPr>
            <a:spLocks noGrp="1"/>
          </p:cNvSpPr>
          <p:nvPr/>
        </p:nvSpPr>
        <p:spPr>
          <a:xfrm>
            <a:off x="7854696" y="4160520"/>
            <a:ext cx="1060704" cy="23774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800" b="1">
                <a:solidFill>
                  <a:srgbClr val="076B50"/>
                </a:solidFill>
                <a:latin typeface="Noto Sans CJK SC"/>
                <a:ea typeface="Noto Sans CJK SC"/>
                <a:cs typeface="Noto Sans CJK SC"/>
              </a:rPr>
              <a:t>阈值 / 冲突</a:t>
            </a:r>
            <a:endParaRPr sz="800"/>
          </a:p>
        </p:txBody>
      </p:sp>
      <p:sp>
        <p:nvSpPr>
          <p:cNvPr id="71" name="Shape 69"/>
          <p:cNvSpPr>
            <a:spLocks noGrp="1"/>
          </p:cNvSpPr>
          <p:nvPr/>
        </p:nvSpPr>
        <p:spPr>
          <a:xfrm>
            <a:off x="9610344" y="4160520"/>
            <a:ext cx="1060704" cy="23774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9DDD8"/>
            </a:solidFill>
            <a:prstDash val="solid"/>
          </a:ln>
        </p:spPr>
        <p:txBody>
          <a:bodyPr/>
          <a:lstStyle/>
          <a:p/>
        </p:txBody>
      </p:sp>
      <p:sp>
        <p:nvSpPr>
          <p:cNvPr id="72" name="Text 70"/>
          <p:cNvSpPr>
            <a:spLocks noGrp="1"/>
          </p:cNvSpPr>
          <p:nvPr/>
        </p:nvSpPr>
        <p:spPr>
          <a:xfrm>
            <a:off x="9610344" y="4160520"/>
            <a:ext cx="1060704" cy="23774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800" b="1">
                <a:solidFill>
                  <a:srgbClr val="0A7A57"/>
                </a:solidFill>
                <a:latin typeface="Noto Sans CJK SC"/>
                <a:ea typeface="Noto Sans CJK SC"/>
                <a:cs typeface="Noto Sans CJK SC"/>
              </a:rPr>
              <a:t>证据 + 状态</a:t>
            </a:r>
            <a:endParaRPr sz="800"/>
          </a:p>
        </p:txBody>
      </p:sp>
      <p:sp>
        <p:nvSpPr>
          <p:cNvPr id="73" name="Shape 71"/>
          <p:cNvSpPr>
            <a:spLocks noGrp="1"/>
          </p:cNvSpPr>
          <p:nvPr/>
        </p:nvSpPr>
        <p:spPr>
          <a:xfrm>
            <a:off x="960120" y="4709160"/>
            <a:ext cx="10314432" cy="1124712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9E5E2"/>
            </a:solidFill>
            <a:prstDash val="solid"/>
          </a:ln>
        </p:spPr>
        <p:txBody>
          <a:bodyPr/>
          <a:lstStyle/>
          <a:p/>
        </p:txBody>
      </p:sp>
      <p:sp>
        <p:nvSpPr>
          <p:cNvPr id="74" name="Text 72"/>
          <p:cNvSpPr>
            <a:spLocks noGrp="1"/>
          </p:cNvSpPr>
          <p:nvPr/>
        </p:nvSpPr>
        <p:spPr>
          <a:xfrm>
            <a:off x="1170432" y="4901184"/>
            <a:ext cx="804672" cy="2286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buNone/>
            </a:pPr>
            <a:r>
              <a:rPr sz="1050" b="1">
                <a:solidFill>
                  <a:srgbClr val="C23B3B"/>
                </a:solidFill>
                <a:latin typeface="Noto Sans CJK SC"/>
                <a:ea typeface="Noto Sans CJK SC"/>
                <a:cs typeface="Noto Sans CJK SC"/>
              </a:rPr>
              <a:t>退出条件</a:t>
            </a:r>
            <a:endParaRPr sz="1050"/>
          </a:p>
        </p:txBody>
      </p:sp>
      <p:sp>
        <p:nvSpPr>
          <p:cNvPr id="75" name="Shape 73"/>
          <p:cNvSpPr>
            <a:spLocks noGrp="1"/>
          </p:cNvSpPr>
          <p:nvPr/>
        </p:nvSpPr>
        <p:spPr>
          <a:xfrm>
            <a:off x="2221992" y="4837176"/>
            <a:ext cx="2542032" cy="594360"/>
          </a:xfrm>
          <a:prstGeom prst="roundRect">
            <a:avLst/>
          </a:prstGeom>
          <a:solidFill>
            <a:srgbClr val="EFF5F3"/>
          </a:solidFill>
          <a:ln w="11430">
            <a:solidFill>
              <a:srgbClr val="C8D6D2"/>
            </a:solidFill>
            <a:prstDash val="solid"/>
          </a:ln>
        </p:spPr>
        <p:txBody>
          <a:bodyPr/>
          <a:lstStyle/>
          <a:p/>
        </p:txBody>
      </p:sp>
      <p:sp>
        <p:nvSpPr>
          <p:cNvPr id="76" name="Shape 74"/>
          <p:cNvSpPr>
            <a:spLocks noGrp="1"/>
          </p:cNvSpPr>
          <p:nvPr/>
        </p:nvSpPr>
        <p:spPr>
          <a:xfrm>
            <a:off x="2359152" y="4983480"/>
            <a:ext cx="283464" cy="283464"/>
          </a:xfrm>
          <a:prstGeom prst="ellipse">
            <a:avLst/>
          </a:prstGeom>
          <a:solidFill>
            <a:srgbClr val="9BB0AA"/>
          </a:solidFill>
          <a:ln w="12700">
            <a:solidFill>
              <a:srgbClr val="9BB0AA"/>
            </a:solidFill>
            <a:prstDash val="solid"/>
          </a:ln>
        </p:spPr>
        <p:txBody>
          <a:bodyPr/>
          <a:lstStyle/>
          <a:p/>
        </p:txBody>
      </p:sp>
      <p:sp>
        <p:nvSpPr>
          <p:cNvPr id="77" name="Text 75"/>
          <p:cNvSpPr>
            <a:spLocks noGrp="1"/>
          </p:cNvSpPr>
          <p:nvPr/>
        </p:nvSpPr>
        <p:spPr>
          <a:xfrm>
            <a:off x="2359152" y="4983480"/>
            <a:ext cx="283464" cy="28346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×</a:t>
            </a:r>
            <a:endParaRPr sz="1200"/>
          </a:p>
        </p:txBody>
      </p:sp>
      <p:sp>
        <p:nvSpPr>
          <p:cNvPr id="78" name="Text 76"/>
          <p:cNvSpPr>
            <a:spLocks noGrp="1"/>
          </p:cNvSpPr>
          <p:nvPr/>
        </p:nvSpPr>
        <p:spPr>
          <a:xfrm>
            <a:off x="2734056" y="4882896"/>
            <a:ext cx="822960" cy="21031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buNone/>
            </a:pPr>
            <a:r>
              <a:rPr sz="1010" b="1">
                <a:solidFill>
                  <a:srgbClr val="153D39"/>
                </a:solidFill>
                <a:latin typeface="Noto Sans CJK SC"/>
                <a:ea typeface="Noto Sans CJK SC"/>
                <a:cs typeface="Noto Sans CJK SC"/>
              </a:rPr>
              <a:t>无相关结果</a:t>
            </a:r>
            <a:endParaRPr sz="1010"/>
          </a:p>
        </p:txBody>
      </p:sp>
      <p:sp>
        <p:nvSpPr>
          <p:cNvPr id="79" name="Text 77"/>
          <p:cNvSpPr>
            <a:spLocks noGrp="1"/>
          </p:cNvSpPr>
          <p:nvPr/>
        </p:nvSpPr>
        <p:spPr>
          <a:xfrm>
            <a:off x="2734056" y="5120640"/>
            <a:ext cx="1792224" cy="19202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buNone/>
            </a:pPr>
            <a:r>
              <a:rPr sz="810">
                <a:solidFill>
                  <a:srgbClr val="44585C"/>
                </a:solidFill>
                <a:latin typeface="Noto Sans CJK SC"/>
                <a:ea typeface="Noto Sans CJK SC"/>
                <a:cs typeface="Noto Sans CJK SC"/>
              </a:rPr>
              <a:t>不使用模型记忆补答案</a:t>
            </a:r>
            <a:endParaRPr sz="810"/>
          </a:p>
        </p:txBody>
      </p:sp>
      <p:sp>
        <p:nvSpPr>
          <p:cNvPr id="80" name="Shape 78"/>
          <p:cNvSpPr>
            <a:spLocks noGrp="1"/>
          </p:cNvSpPr>
          <p:nvPr/>
        </p:nvSpPr>
        <p:spPr>
          <a:xfrm>
            <a:off x="5102352" y="4837176"/>
            <a:ext cx="2542032" cy="594360"/>
          </a:xfrm>
          <a:prstGeom prst="roundRect">
            <a:avLst/>
          </a:prstGeom>
          <a:solidFill>
            <a:srgbClr val="FDEEEE"/>
          </a:solidFill>
          <a:ln w="11430">
            <a:solidFill>
              <a:srgbClr val="E45858"/>
            </a:solidFill>
            <a:prstDash val="solid"/>
          </a:ln>
        </p:spPr>
        <p:txBody>
          <a:bodyPr/>
          <a:lstStyle/>
          <a:p/>
        </p:txBody>
      </p:sp>
      <p:sp>
        <p:nvSpPr>
          <p:cNvPr id="81" name="Shape 79"/>
          <p:cNvSpPr>
            <a:spLocks noGrp="1"/>
          </p:cNvSpPr>
          <p:nvPr/>
        </p:nvSpPr>
        <p:spPr>
          <a:xfrm>
            <a:off x="5239512" y="4983480"/>
            <a:ext cx="283464" cy="283464"/>
          </a:xfrm>
          <a:prstGeom prst="ellipse">
            <a:avLst/>
          </a:prstGeom>
          <a:solidFill>
            <a:srgbClr val="E45858"/>
          </a:solidFill>
          <a:ln w="12700">
            <a:solidFill>
              <a:srgbClr val="E45858"/>
            </a:solidFill>
            <a:prstDash val="solid"/>
          </a:ln>
        </p:spPr>
        <p:txBody>
          <a:bodyPr/>
          <a:lstStyle/>
          <a:p/>
        </p:txBody>
      </p:sp>
      <p:sp>
        <p:nvSpPr>
          <p:cNvPr id="82" name="Text 80"/>
          <p:cNvSpPr>
            <a:spLocks noGrp="1"/>
          </p:cNvSpPr>
          <p:nvPr/>
        </p:nvSpPr>
        <p:spPr>
          <a:xfrm>
            <a:off x="5239512" y="4983480"/>
            <a:ext cx="283464" cy="28346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×</a:t>
            </a:r>
            <a:endParaRPr sz="1200"/>
          </a:p>
        </p:txBody>
      </p:sp>
      <p:sp>
        <p:nvSpPr>
          <p:cNvPr id="83" name="Text 81"/>
          <p:cNvSpPr>
            <a:spLocks noGrp="1"/>
          </p:cNvSpPr>
          <p:nvPr/>
        </p:nvSpPr>
        <p:spPr>
          <a:xfrm>
            <a:off x="5614416" y="4882896"/>
            <a:ext cx="822960" cy="21031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buNone/>
            </a:pPr>
            <a:r>
              <a:rPr sz="1010" b="1">
                <a:solidFill>
                  <a:srgbClr val="153D39"/>
                </a:solidFill>
                <a:latin typeface="Noto Sans CJK SC"/>
                <a:ea typeface="Noto Sans CJK SC"/>
                <a:cs typeface="Noto Sans CJK SC"/>
              </a:rPr>
              <a:t>证据冲突</a:t>
            </a:r>
            <a:endParaRPr sz="1010"/>
          </a:p>
        </p:txBody>
      </p:sp>
      <p:sp>
        <p:nvSpPr>
          <p:cNvPr id="84" name="Text 82"/>
          <p:cNvSpPr>
            <a:spLocks noGrp="1"/>
          </p:cNvSpPr>
          <p:nvPr/>
        </p:nvSpPr>
        <p:spPr>
          <a:xfrm>
            <a:off x="5614416" y="5120640"/>
            <a:ext cx="1792224" cy="19202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buNone/>
            </a:pPr>
            <a:r>
              <a:rPr sz="810">
                <a:solidFill>
                  <a:srgbClr val="44585C"/>
                </a:solidFill>
                <a:latin typeface="Noto Sans CJK SC"/>
                <a:ea typeface="Noto Sans CJK SC"/>
                <a:cs typeface="Noto Sans CJK SC"/>
              </a:rPr>
              <a:t>请求补充信息或转人工</a:t>
            </a:r>
            <a:endParaRPr sz="810"/>
          </a:p>
        </p:txBody>
      </p:sp>
      <p:sp>
        <p:nvSpPr>
          <p:cNvPr id="85" name="Shape 83"/>
          <p:cNvSpPr>
            <a:spLocks noGrp="1"/>
          </p:cNvSpPr>
          <p:nvPr/>
        </p:nvSpPr>
        <p:spPr>
          <a:xfrm>
            <a:off x="7982712" y="4837176"/>
            <a:ext cx="2542032" cy="594360"/>
          </a:xfrm>
          <a:prstGeom prst="roundRect">
            <a:avLst/>
          </a:prstGeom>
          <a:solidFill>
            <a:srgbClr val="FDEEEE"/>
          </a:solidFill>
          <a:ln w="11430">
            <a:solidFill>
              <a:srgbClr val="E45858"/>
            </a:solidFill>
            <a:prstDash val="solid"/>
          </a:ln>
        </p:spPr>
        <p:txBody>
          <a:bodyPr/>
          <a:lstStyle/>
          <a:p/>
        </p:txBody>
      </p:sp>
      <p:sp>
        <p:nvSpPr>
          <p:cNvPr id="86" name="Shape 84"/>
          <p:cNvSpPr>
            <a:spLocks noGrp="1"/>
          </p:cNvSpPr>
          <p:nvPr/>
        </p:nvSpPr>
        <p:spPr>
          <a:xfrm>
            <a:off x="8119872" y="4983480"/>
            <a:ext cx="283464" cy="283464"/>
          </a:xfrm>
          <a:prstGeom prst="ellipse">
            <a:avLst/>
          </a:prstGeom>
          <a:solidFill>
            <a:srgbClr val="E45858"/>
          </a:solidFill>
          <a:ln w="12700">
            <a:solidFill>
              <a:srgbClr val="E45858"/>
            </a:solidFill>
            <a:prstDash val="solid"/>
          </a:ln>
        </p:spPr>
        <p:txBody>
          <a:bodyPr/>
          <a:lstStyle/>
          <a:p/>
        </p:txBody>
      </p:sp>
      <p:sp>
        <p:nvSpPr>
          <p:cNvPr id="87" name="Text 85"/>
          <p:cNvSpPr>
            <a:spLocks noGrp="1"/>
          </p:cNvSpPr>
          <p:nvPr/>
        </p:nvSpPr>
        <p:spPr>
          <a:xfrm>
            <a:off x="8119872" y="4983480"/>
            <a:ext cx="283464" cy="28346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×</a:t>
            </a:r>
            <a:endParaRPr sz="1200"/>
          </a:p>
        </p:txBody>
      </p:sp>
      <p:sp>
        <p:nvSpPr>
          <p:cNvPr id="88" name="Text 86"/>
          <p:cNvSpPr>
            <a:spLocks noGrp="1"/>
          </p:cNvSpPr>
          <p:nvPr/>
        </p:nvSpPr>
        <p:spPr>
          <a:xfrm>
            <a:off x="8494776" y="4882896"/>
            <a:ext cx="822960" cy="21031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buNone/>
            </a:pPr>
            <a:r>
              <a:rPr sz="1010" b="1">
                <a:solidFill>
                  <a:srgbClr val="153D39"/>
                </a:solidFill>
                <a:latin typeface="Noto Sans CJK SC"/>
                <a:ea typeface="Noto Sans CJK SC"/>
                <a:cs typeface="Noto Sans CJK SC"/>
              </a:rPr>
              <a:t>无读取权限</a:t>
            </a:r>
            <a:endParaRPr sz="1010"/>
          </a:p>
        </p:txBody>
      </p:sp>
      <p:sp>
        <p:nvSpPr>
          <p:cNvPr id="89" name="Text 87"/>
          <p:cNvSpPr>
            <a:spLocks noGrp="1"/>
          </p:cNvSpPr>
          <p:nvPr/>
        </p:nvSpPr>
        <p:spPr>
          <a:xfrm>
            <a:off x="8494776" y="5120640"/>
            <a:ext cx="1792224" cy="19202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buNone/>
            </a:pPr>
            <a:r>
              <a:rPr sz="810">
                <a:solidFill>
                  <a:srgbClr val="44585C"/>
                </a:solidFill>
                <a:latin typeface="Noto Sans CJK SC"/>
                <a:ea typeface="Noto Sans CJK SC"/>
                <a:cs typeface="Noto Sans CJK SC"/>
              </a:rPr>
              <a:t>拒绝访问并记录原因</a:t>
            </a:r>
            <a:endParaRPr sz="810"/>
          </a:p>
        </p:txBody>
      </p:sp>
      <p:sp>
        <p:nvSpPr>
          <p:cNvPr id="90" name="Rectangle 89"/>
          <p:cNvSpPr>
            <a:spLocks noGrp="1"/>
          </p:cNvSpPr>
          <p:nvPr/>
        </p:nvSpPr>
        <p:spPr>
          <a:xfrm>
            <a:off x="0" y="0"/>
            <a:ext cx="41148" cy="6858000"/>
          </a:xfrm>
          <a:prstGeom prst="rect">
            <a:avLst/>
          </a:prstGeom>
          <a:solidFill>
            <a:srgbClr val="0A8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91" name="圆角矩形 90"/>
          <p:cNvSpPr>
            <a:spLocks noGrp="1"/>
          </p:cNvSpPr>
          <p:nvPr/>
        </p:nvSpPr>
        <p:spPr>
          <a:xfrm>
            <a:off x="6565583" y="127635"/>
            <a:ext cx="4937760" cy="365760"/>
          </a:xfrm>
          <a:prstGeom prst="roundRect">
            <a:avLst>
              <a:gd name="adj" fmla="val 20833"/>
            </a:avLst>
          </a:prstGeom>
          <a:solidFill>
            <a:srgbClr val="F7FBF9"/>
          </a:solidFill>
          <a:ln w="12668">
            <a:solidFill>
              <a:srgbClr val="F7FBF9"/>
            </a:solidFill>
            <a:prstDash val="solid"/>
          </a:ln>
        </p:spPr>
        <p:txBody>
          <a:bodyPr/>
          <a:p/>
        </p:txBody>
      </p:sp>
      <p:sp>
        <p:nvSpPr>
          <p:cNvPr id="92" name="圆角矩形 91"/>
          <p:cNvSpPr>
            <a:spLocks noGrp="1"/>
          </p:cNvSpPr>
          <p:nvPr/>
        </p:nvSpPr>
        <p:spPr>
          <a:xfrm>
            <a:off x="6657023" y="164783"/>
            <a:ext cx="1154430" cy="264795"/>
          </a:xfrm>
          <a:prstGeom prst="roundRect">
            <a:avLst>
              <a:gd name="adj" fmla="val 28777"/>
            </a:avLst>
          </a:prstGeom>
          <a:solidFill>
            <a:srgbClr val="007574"/>
          </a:solidFill>
          <a:ln w="12668">
            <a:solidFill>
              <a:srgbClr val="007574"/>
            </a:solidFill>
            <a:prstDash val="solid"/>
          </a:ln>
        </p:spPr>
        <p:txBody>
          <a:bodyPr/>
          <a:p/>
        </p:txBody>
      </p:sp>
      <p:sp>
        <p:nvSpPr>
          <p:cNvPr id="93" name="矩形 92"/>
          <p:cNvSpPr>
            <a:spLocks noGrp="1"/>
          </p:cNvSpPr>
          <p:nvPr/>
        </p:nvSpPr>
        <p:spPr>
          <a:xfrm>
            <a:off x="6657023" y="187643"/>
            <a:ext cx="1154430" cy="182880"/>
          </a:xfrm>
          <a:prstGeom prst="rect">
            <a:avLst/>
          </a:prstGeom>
        </p:spPr>
        <p:txBody>
          <a:bodyPr anchor="ctr"/>
          <a:lstStyle/>
          <a:p>
            <a:pPr algn="ctr">
              <a:defRPr sz="660" b="1">
                <a:solidFill>
                  <a:srgbClr val="FFFFFF"/>
                </a:solidFill>
              </a:defRPr>
            </a:pPr>
            <a:r>
              <a:t>理解</a:t>
            </a:r>
          </a:p>
        </p:txBody>
      </p:sp>
      <p:sp>
        <p:nvSpPr>
          <p:cNvPr id="94" name="圆角矩形 93"/>
          <p:cNvSpPr>
            <a:spLocks noGrp="1"/>
          </p:cNvSpPr>
          <p:nvPr/>
        </p:nvSpPr>
        <p:spPr>
          <a:xfrm>
            <a:off x="7857173" y="164783"/>
            <a:ext cx="1154430" cy="264795"/>
          </a:xfrm>
          <a:prstGeom prst="roundRect">
            <a:avLst>
              <a:gd name="adj" fmla="val 28777"/>
            </a:avLst>
          </a:prstGeom>
          <a:solidFill>
            <a:srgbClr val="FFFFFF"/>
          </a:solidFill>
          <a:ln w="12668">
            <a:solidFill>
              <a:srgbClr val="C9DCD7"/>
            </a:solidFill>
            <a:prstDash val="solid"/>
          </a:ln>
        </p:spPr>
        <p:txBody>
          <a:bodyPr/>
          <a:p/>
        </p:txBody>
      </p:sp>
      <p:sp>
        <p:nvSpPr>
          <p:cNvPr id="95" name="矩形 94"/>
          <p:cNvSpPr>
            <a:spLocks noGrp="1"/>
          </p:cNvSpPr>
          <p:nvPr/>
        </p:nvSpPr>
        <p:spPr>
          <a:xfrm>
            <a:off x="7857173" y="187643"/>
            <a:ext cx="1154430" cy="182880"/>
          </a:xfrm>
          <a:prstGeom prst="rect">
            <a:avLst/>
          </a:prstGeom>
        </p:spPr>
        <p:txBody>
          <a:bodyPr anchor="ctr"/>
          <a:lstStyle/>
          <a:p>
            <a:pPr algn="ctr">
              <a:defRPr sz="650" b="0">
                <a:solidFill>
                  <a:srgbClr val="44585C"/>
                </a:solidFill>
              </a:defRPr>
            </a:pPr>
            <a:r>
              <a:t>查询</a:t>
            </a:r>
          </a:p>
        </p:txBody>
      </p:sp>
      <p:sp>
        <p:nvSpPr>
          <p:cNvPr id="96" name="圆角矩形 95"/>
          <p:cNvSpPr>
            <a:spLocks noGrp="1"/>
          </p:cNvSpPr>
          <p:nvPr/>
        </p:nvSpPr>
        <p:spPr>
          <a:xfrm>
            <a:off x="9057323" y="164783"/>
            <a:ext cx="1154430" cy="264795"/>
          </a:xfrm>
          <a:prstGeom prst="roundRect">
            <a:avLst>
              <a:gd name="adj" fmla="val 28777"/>
            </a:avLst>
          </a:prstGeom>
          <a:solidFill>
            <a:srgbClr val="FFFFFF"/>
          </a:solidFill>
          <a:ln w="12668">
            <a:solidFill>
              <a:srgbClr val="C9DCD7"/>
            </a:solidFill>
            <a:prstDash val="solid"/>
          </a:ln>
        </p:spPr>
        <p:txBody>
          <a:bodyPr/>
          <a:p/>
        </p:txBody>
      </p:sp>
      <p:sp>
        <p:nvSpPr>
          <p:cNvPr id="97" name="矩形 96"/>
          <p:cNvSpPr>
            <a:spLocks noGrp="1"/>
          </p:cNvSpPr>
          <p:nvPr/>
        </p:nvSpPr>
        <p:spPr>
          <a:xfrm>
            <a:off x="9057323" y="187643"/>
            <a:ext cx="1154430" cy="182880"/>
          </a:xfrm>
          <a:prstGeom prst="rect">
            <a:avLst/>
          </a:prstGeom>
        </p:spPr>
        <p:txBody>
          <a:bodyPr anchor="ctr"/>
          <a:lstStyle/>
          <a:p>
            <a:pPr algn="ctr">
              <a:defRPr sz="650" b="0">
                <a:solidFill>
                  <a:srgbClr val="44585C"/>
                </a:solidFill>
              </a:defRPr>
            </a:pPr>
            <a:r>
              <a:t>决策</a:t>
            </a:r>
          </a:p>
        </p:txBody>
      </p:sp>
      <p:sp>
        <p:nvSpPr>
          <p:cNvPr id="98" name="圆角矩形 97"/>
          <p:cNvSpPr>
            <a:spLocks noGrp="1"/>
          </p:cNvSpPr>
          <p:nvPr/>
        </p:nvSpPr>
        <p:spPr>
          <a:xfrm>
            <a:off x="10257473" y="164783"/>
            <a:ext cx="1154430" cy="264795"/>
          </a:xfrm>
          <a:prstGeom prst="roundRect">
            <a:avLst>
              <a:gd name="adj" fmla="val 28777"/>
            </a:avLst>
          </a:prstGeom>
          <a:solidFill>
            <a:srgbClr val="FFFFFF"/>
          </a:solidFill>
          <a:ln w="12668">
            <a:solidFill>
              <a:srgbClr val="C9DCD7"/>
            </a:solidFill>
            <a:prstDash val="solid"/>
          </a:ln>
        </p:spPr>
        <p:txBody>
          <a:bodyPr/>
          <a:p/>
        </p:txBody>
      </p:sp>
      <p:sp>
        <p:nvSpPr>
          <p:cNvPr id="99" name="矩形 98"/>
          <p:cNvSpPr>
            <a:spLocks noGrp="1"/>
          </p:cNvSpPr>
          <p:nvPr/>
        </p:nvSpPr>
        <p:spPr>
          <a:xfrm>
            <a:off x="10257473" y="187643"/>
            <a:ext cx="1154430" cy="182880"/>
          </a:xfrm>
          <a:prstGeom prst="rect">
            <a:avLst/>
          </a:prstGeom>
        </p:spPr>
        <p:txBody>
          <a:bodyPr anchor="ctr"/>
          <a:lstStyle/>
          <a:p>
            <a:pPr algn="ctr">
              <a:defRPr sz="650" b="0">
                <a:solidFill>
                  <a:srgbClr val="44585C"/>
                </a:solidFill>
              </a:defRPr>
            </a:pPr>
            <a:r>
              <a:t>执行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hape 0"/>
          <p:cNvSpPr>
            <a:spLocks noGrp="1"/>
          </p:cNvSpPr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A"/>
          </a:solidFill>
          <a:ln w="12700">
            <a:solidFill>
              <a:srgbClr val="F7FBFA"/>
            </a:solidFill>
            <a:prstDash val="solid"/>
          </a:ln>
        </p:spPr>
        <p:txBody>
          <a:bodyPr/>
          <a:lstStyle/>
          <a:p/>
        </p:txBody>
      </p:sp>
      <p:sp>
        <p:nvSpPr>
          <p:cNvPr id="3" name="Shape 1"/>
          <p:cNvSpPr>
            <a:spLocks noGrp="1"/>
          </p:cNvSpPr>
          <p:nvPr/>
        </p:nvSpPr>
        <p:spPr>
          <a:xfrm>
            <a:off x="0" y="0"/>
            <a:ext cx="50292" cy="6858000"/>
          </a:xfrm>
          <a:prstGeom prst="rect">
            <a:avLst/>
          </a:prstGeom>
          <a:solidFill>
            <a:srgbClr val="0A8F6A"/>
          </a:solidFill>
          <a:ln w="12700">
            <a:solidFill>
              <a:srgbClr val="07966F"/>
            </a:solidFill>
            <a:prstDash val="solid"/>
          </a:ln>
        </p:spPr>
        <p:txBody>
          <a:bodyPr/>
          <a:lstStyle/>
          <a:p/>
        </p:txBody>
      </p:sp>
      <p:sp>
        <p:nvSpPr>
          <p:cNvPr id="4" name="Shape 2"/>
          <p:cNvSpPr>
            <a:spLocks noGrp="1"/>
          </p:cNvSpPr>
          <p:nvPr/>
        </p:nvSpPr>
        <p:spPr>
          <a:xfrm>
            <a:off x="10716768" y="45720"/>
            <a:ext cx="1170432" cy="658368"/>
          </a:xfrm>
          <a:prstGeom prst="ellipse">
            <a:avLst/>
          </a:prstGeom>
          <a:solidFill>
            <a:srgbClr val="E8F4F1"/>
          </a:solidFill>
          <a:ln w="12700">
            <a:solidFill>
              <a:srgbClr val="E8F4F1"/>
            </a:solidFill>
            <a:prstDash val="solid"/>
          </a:ln>
        </p:spPr>
        <p:txBody>
          <a:bodyPr/>
          <a:lstStyle/>
          <a:p/>
        </p:txBody>
      </p:sp>
      <p:sp>
        <p:nvSpPr>
          <p:cNvPr id="5" name="Shape 3"/>
          <p:cNvSpPr>
            <a:spLocks noGrp="1"/>
          </p:cNvSpPr>
          <p:nvPr/>
        </p:nvSpPr>
        <p:spPr>
          <a:xfrm>
            <a:off x="9948672" y="274320"/>
            <a:ext cx="64008" cy="64008"/>
          </a:xfrm>
          <a:prstGeom prst="ellipse">
            <a:avLst/>
          </a:prstGeom>
          <a:solidFill>
            <a:srgbClr val="C7DAD6"/>
          </a:solidFill>
          <a:ln w="12700">
            <a:solidFill>
              <a:srgbClr val="C7DAD6"/>
            </a:solidFill>
            <a:prstDash val="solid"/>
          </a:ln>
        </p:spPr>
        <p:txBody>
          <a:bodyPr/>
          <a:lstStyle/>
          <a:p/>
        </p:txBody>
      </p:sp>
      <p:sp>
        <p:nvSpPr>
          <p:cNvPr id="6" name="Text 4"/>
          <p:cNvSpPr>
            <a:spLocks noGrp="1"/>
          </p:cNvSpPr>
          <p:nvPr/>
        </p:nvSpPr>
        <p:spPr>
          <a:xfrm>
            <a:off x="9948672" y="274320"/>
            <a:ext cx="64008" cy="6400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endParaRPr sz="100"/>
          </a:p>
        </p:txBody>
      </p:sp>
      <p:sp>
        <p:nvSpPr>
          <p:cNvPr id="7" name="Shape 5"/>
          <p:cNvSpPr>
            <a:spLocks noGrp="1"/>
          </p:cNvSpPr>
          <p:nvPr/>
        </p:nvSpPr>
        <p:spPr>
          <a:xfrm>
            <a:off x="10158984" y="274320"/>
            <a:ext cx="64008" cy="64008"/>
          </a:xfrm>
          <a:prstGeom prst="ellipse">
            <a:avLst/>
          </a:prstGeom>
          <a:solidFill>
            <a:srgbClr val="C7DAD6"/>
          </a:solidFill>
          <a:ln w="12700">
            <a:solidFill>
              <a:srgbClr val="C7DAD6"/>
            </a:solidFill>
            <a:prstDash val="solid"/>
          </a:ln>
        </p:spPr>
        <p:txBody>
          <a:bodyPr/>
          <a:lstStyle/>
          <a:p/>
        </p:txBody>
      </p:sp>
      <p:sp>
        <p:nvSpPr>
          <p:cNvPr id="8" name="Text 6"/>
          <p:cNvSpPr>
            <a:spLocks noGrp="1"/>
          </p:cNvSpPr>
          <p:nvPr/>
        </p:nvSpPr>
        <p:spPr>
          <a:xfrm>
            <a:off x="10158984" y="274320"/>
            <a:ext cx="64008" cy="6400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endParaRPr sz="100"/>
          </a:p>
        </p:txBody>
      </p:sp>
      <p:sp>
        <p:nvSpPr>
          <p:cNvPr id="9" name="Shape 7"/>
          <p:cNvSpPr>
            <a:spLocks noGrp="1"/>
          </p:cNvSpPr>
          <p:nvPr/>
        </p:nvSpPr>
        <p:spPr>
          <a:xfrm>
            <a:off x="10369296" y="274320"/>
            <a:ext cx="64008" cy="64008"/>
          </a:xfrm>
          <a:prstGeom prst="ellipse">
            <a:avLst/>
          </a:prstGeom>
          <a:solidFill>
            <a:srgbClr val="07966F"/>
          </a:solidFill>
          <a:ln w="12700">
            <a:solidFill>
              <a:srgbClr val="07966F"/>
            </a:solidFill>
            <a:prstDash val="solid"/>
          </a:ln>
        </p:spPr>
        <p:txBody>
          <a:bodyPr/>
          <a:lstStyle/>
          <a:p/>
        </p:txBody>
      </p:sp>
      <p:sp>
        <p:nvSpPr>
          <p:cNvPr id="10" name="Text 8"/>
          <p:cNvSpPr>
            <a:spLocks noGrp="1"/>
          </p:cNvSpPr>
          <p:nvPr/>
        </p:nvSpPr>
        <p:spPr>
          <a:xfrm>
            <a:off x="10369296" y="274320"/>
            <a:ext cx="64008" cy="6400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endParaRPr sz="100"/>
          </a:p>
        </p:txBody>
      </p:sp>
      <p:sp>
        <p:nvSpPr>
          <p:cNvPr id="11" name="Shape 9"/>
          <p:cNvSpPr>
            <a:spLocks noGrp="1"/>
          </p:cNvSpPr>
          <p:nvPr/>
        </p:nvSpPr>
        <p:spPr>
          <a:xfrm>
            <a:off x="10579608" y="274320"/>
            <a:ext cx="64008" cy="64008"/>
          </a:xfrm>
          <a:prstGeom prst="ellipse">
            <a:avLst/>
          </a:prstGeom>
          <a:solidFill>
            <a:srgbClr val="C7DAD6"/>
          </a:solidFill>
          <a:ln w="12700">
            <a:solidFill>
              <a:srgbClr val="C7DAD6"/>
            </a:solidFill>
            <a:prstDash val="solid"/>
          </a:ln>
        </p:spPr>
        <p:txBody>
          <a:bodyPr/>
          <a:lstStyle/>
          <a:p/>
        </p:txBody>
      </p:sp>
      <p:sp>
        <p:nvSpPr>
          <p:cNvPr id="12" name="Text 10"/>
          <p:cNvSpPr>
            <a:spLocks noGrp="1"/>
          </p:cNvSpPr>
          <p:nvPr/>
        </p:nvSpPr>
        <p:spPr>
          <a:xfrm>
            <a:off x="10579608" y="274320"/>
            <a:ext cx="64008" cy="6400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endParaRPr sz="100"/>
          </a:p>
        </p:txBody>
      </p:sp>
      <p:sp>
        <p:nvSpPr>
          <p:cNvPr id="13" name="Shape 11"/>
          <p:cNvSpPr>
            <a:spLocks noGrp="1"/>
          </p:cNvSpPr>
          <p:nvPr/>
        </p:nvSpPr>
        <p:spPr>
          <a:xfrm>
            <a:off x="10789920" y="274320"/>
            <a:ext cx="64008" cy="64008"/>
          </a:xfrm>
          <a:prstGeom prst="ellipse">
            <a:avLst/>
          </a:prstGeom>
          <a:solidFill>
            <a:srgbClr val="C7DAD6"/>
          </a:solidFill>
          <a:ln w="12700">
            <a:solidFill>
              <a:srgbClr val="C7DAD6"/>
            </a:solidFill>
            <a:prstDash val="solid"/>
          </a:ln>
        </p:spPr>
        <p:txBody>
          <a:bodyPr/>
          <a:lstStyle/>
          <a:p/>
        </p:txBody>
      </p:sp>
      <p:sp>
        <p:nvSpPr>
          <p:cNvPr id="14" name="Text 12"/>
          <p:cNvSpPr>
            <a:spLocks noGrp="1"/>
          </p:cNvSpPr>
          <p:nvPr/>
        </p:nvSpPr>
        <p:spPr>
          <a:xfrm>
            <a:off x="10789920" y="274320"/>
            <a:ext cx="64008" cy="6400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endParaRPr sz="100"/>
          </a:p>
        </p:txBody>
      </p:sp>
      <p:sp>
        <p:nvSpPr>
          <p:cNvPr id="15" name="Shape 13"/>
          <p:cNvSpPr>
            <a:spLocks noGrp="1"/>
          </p:cNvSpPr>
          <p:nvPr/>
        </p:nvSpPr>
        <p:spPr>
          <a:xfrm>
            <a:off x="11000232" y="274320"/>
            <a:ext cx="64008" cy="64008"/>
          </a:xfrm>
          <a:prstGeom prst="ellipse">
            <a:avLst/>
          </a:prstGeom>
          <a:solidFill>
            <a:srgbClr val="C7DAD6"/>
          </a:solidFill>
          <a:ln w="12700">
            <a:solidFill>
              <a:srgbClr val="C7DAD6"/>
            </a:solidFill>
            <a:prstDash val="solid"/>
          </a:ln>
        </p:spPr>
        <p:txBody>
          <a:bodyPr/>
          <a:lstStyle/>
          <a:p/>
        </p:txBody>
      </p:sp>
      <p:sp>
        <p:nvSpPr>
          <p:cNvPr id="16" name="Text 14"/>
          <p:cNvSpPr>
            <a:spLocks noGrp="1"/>
          </p:cNvSpPr>
          <p:nvPr/>
        </p:nvSpPr>
        <p:spPr>
          <a:xfrm>
            <a:off x="11000232" y="274320"/>
            <a:ext cx="64008" cy="6400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endParaRPr sz="100"/>
          </a:p>
        </p:txBody>
      </p:sp>
      <p:sp>
        <p:nvSpPr>
          <p:cNvPr id="17" name="Shape 15"/>
          <p:cNvSpPr>
            <a:spLocks noGrp="1"/>
          </p:cNvSpPr>
          <p:nvPr/>
        </p:nvSpPr>
        <p:spPr>
          <a:xfrm>
            <a:off x="11210544" y="274320"/>
            <a:ext cx="64008" cy="64008"/>
          </a:xfrm>
          <a:prstGeom prst="ellipse">
            <a:avLst/>
          </a:prstGeom>
          <a:solidFill>
            <a:srgbClr val="C7DAD6"/>
          </a:solidFill>
          <a:ln w="12700">
            <a:solidFill>
              <a:srgbClr val="C7DAD6"/>
            </a:solidFill>
            <a:prstDash val="solid"/>
          </a:ln>
        </p:spPr>
        <p:txBody>
          <a:bodyPr/>
          <a:lstStyle/>
          <a:p/>
        </p:txBody>
      </p:sp>
      <p:sp>
        <p:nvSpPr>
          <p:cNvPr id="18" name="Text 16"/>
          <p:cNvSpPr>
            <a:spLocks noGrp="1"/>
          </p:cNvSpPr>
          <p:nvPr/>
        </p:nvSpPr>
        <p:spPr>
          <a:xfrm>
            <a:off x="11210544" y="274320"/>
            <a:ext cx="64008" cy="6400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endParaRPr sz="100"/>
          </a:p>
        </p:txBody>
      </p:sp>
      <p:sp>
        <p:nvSpPr>
          <p:cNvPr id="19" name="Shape 17"/>
          <p:cNvSpPr>
            <a:spLocks noGrp="1"/>
          </p:cNvSpPr>
          <p:nvPr/>
        </p:nvSpPr>
        <p:spPr>
          <a:xfrm>
            <a:off x="658368" y="420624"/>
            <a:ext cx="237744" cy="0"/>
          </a:xfrm>
          <a:prstGeom prst="line">
            <a:avLst/>
          </a:prstGeom>
          <a:noFill/>
          <a:ln w="15875">
            <a:solidFill>
              <a:srgbClr val="0A8F6A"/>
            </a:solidFill>
            <a:prstDash val="solid"/>
          </a:ln>
        </p:spPr>
        <p:txBody>
          <a:bodyPr/>
          <a:lstStyle/>
          <a:p/>
        </p:txBody>
      </p:sp>
      <p:sp>
        <p:nvSpPr>
          <p:cNvPr id="20" name="Text 18"/>
          <p:cNvSpPr>
            <a:spLocks noGrp="1"/>
          </p:cNvSpPr>
          <p:nvPr/>
        </p:nvSpPr>
        <p:spPr>
          <a:xfrm>
            <a:off x="950976" y="274320"/>
            <a:ext cx="3931920" cy="25603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r>
              <a:rPr sz="1050" b="1">
                <a:solidFill>
                  <a:srgbClr val="076B50"/>
                </a:solidFill>
                <a:latin typeface="Noto Sans CJK SC"/>
                <a:ea typeface="Noto Sans CJK SC"/>
                <a:cs typeface="Noto Sans CJK SC"/>
              </a:rPr>
              <a:t>CHAPTER 4 · 上下文与知识</a:t>
            </a:r>
            <a:endParaRPr sz="1050" b="1">
              <a:solidFill>
                <a:srgbClr val="00A7A7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1" name="Text 19"/>
          <p:cNvSpPr>
            <a:spLocks noGrp="1"/>
          </p:cNvSpPr>
          <p:nvPr/>
        </p:nvSpPr>
        <p:spPr>
          <a:xfrm>
            <a:off x="658368" y="658368"/>
            <a:ext cx="10607040" cy="457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buNone/>
            </a:pPr>
            <a:r>
              <a:rPr sz="2900" b="1">
                <a:solidFill>
                  <a:srgbClr val="153D39"/>
                </a:solidFill>
                <a:latin typeface="Noto Sans CJK SC"/>
                <a:ea typeface="Noto Sans CJK SC"/>
                <a:cs typeface="Noto Sans CJK SC"/>
              </a:rPr>
              <a:t>知识发布链路：版本、切换与失效</a:t>
            </a:r>
            <a:endParaRPr sz="2900"/>
          </a:p>
        </p:txBody>
      </p:sp>
      <p:sp>
        <p:nvSpPr>
          <p:cNvPr id="22" name="Text 20"/>
          <p:cNvSpPr>
            <a:spLocks noGrp="1"/>
          </p:cNvSpPr>
          <p:nvPr/>
        </p:nvSpPr>
        <p:spPr>
          <a:xfrm>
            <a:off x="658368" y="1143000"/>
            <a:ext cx="10561320" cy="31089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r>
              <a:rPr sz="1170">
                <a:solidFill>
                  <a:srgbClr val="44585C"/>
                </a:solidFill>
                <a:latin typeface="Noto Sans CJK SC"/>
                <a:ea typeface="Noto Sans CJK SC"/>
                <a:cs typeface="Noto Sans CJK SC"/>
              </a:rPr>
              <a:t>先管来源、版本、可见范围和有效期；更新失败时保留已验证版本，过期内容停止回答。</a:t>
            </a:r>
            <a:endParaRPr sz="1170">
              <a:solidFill>
                <a:srgbClr val="6B8185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3" name="Shape 21"/>
          <p:cNvSpPr>
            <a:spLocks noGrp="1"/>
          </p:cNvSpPr>
          <p:nvPr/>
        </p:nvSpPr>
        <p:spPr>
          <a:xfrm>
            <a:off x="658368" y="6519672"/>
            <a:ext cx="11064240" cy="0"/>
          </a:xfrm>
          <a:prstGeom prst="line">
            <a:avLst/>
          </a:prstGeom>
          <a:noFill/>
          <a:ln w="12700">
            <a:solidFill>
              <a:srgbClr val="D7E7E3"/>
            </a:solidFill>
            <a:prstDash val="solid"/>
          </a:ln>
        </p:spPr>
        <p:txBody>
          <a:bodyPr/>
          <a:lstStyle/>
          <a:p/>
        </p:txBody>
      </p:sp>
      <p:sp>
        <p:nvSpPr>
          <p:cNvPr id="24" name="Text 22"/>
          <p:cNvSpPr>
            <a:spLocks noGrp="1"/>
          </p:cNvSpPr>
          <p:nvPr/>
        </p:nvSpPr>
        <p:spPr>
          <a:xfrm>
            <a:off x="658368" y="6583680"/>
            <a:ext cx="3931920" cy="14630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buNone/>
            </a:pPr>
            <a:r>
              <a:rPr sz="850">
                <a:solidFill>
                  <a:srgbClr val="55696A"/>
                </a:solidFill>
                <a:latin typeface="Noto Sans CJK SC"/>
                <a:ea typeface="Noto Sans CJK SC"/>
                <a:cs typeface="Noto Sans CJK SC"/>
              </a:rPr>
              <a:t>CUSTOMER SERVICE AI AGENT</a:t>
            </a:r>
            <a:endParaRPr sz="850"/>
          </a:p>
        </p:txBody>
      </p:sp>
      <p:sp>
        <p:nvSpPr>
          <p:cNvPr id="25" name="Text 23"/>
          <p:cNvSpPr>
            <a:spLocks noGrp="1"/>
          </p:cNvSpPr>
          <p:nvPr/>
        </p:nvSpPr>
        <p:spPr>
          <a:xfrm>
            <a:off x="10927080" y="6565392"/>
            <a:ext cx="777240" cy="16459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</a:pPr>
            <a:r>
              <a:rPr sz="880" b="1">
                <a:solidFill>
                  <a:srgbClr val="076B50"/>
                </a:solidFill>
                <a:latin typeface="Noto Sans CJK SC"/>
                <a:ea typeface="Noto Sans CJK SC"/>
                <a:cs typeface="Noto Sans CJK SC"/>
              </a:rPr>
              <a:t>31</a:t>
            </a:r>
            <a:endParaRPr sz="880" b="1">
              <a:solidFill>
                <a:srgbClr val="00A7A7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6" name="Shape 24"/>
          <p:cNvSpPr>
            <a:spLocks noGrp="1"/>
          </p:cNvSpPr>
          <p:nvPr/>
        </p:nvSpPr>
        <p:spPr>
          <a:xfrm>
            <a:off x="1929384" y="2880360"/>
            <a:ext cx="210312" cy="0"/>
          </a:xfrm>
          <a:prstGeom prst="line">
            <a:avLst/>
          </a:prstGeom>
          <a:noFill/>
          <a:ln w="20320">
            <a:solidFill>
              <a:srgbClr val="2F80ED"/>
            </a:solidFill>
            <a:prstDash val="solid"/>
            <a:tailEnd type="triangle"/>
          </a:ln>
        </p:spPr>
        <p:txBody>
          <a:bodyPr/>
          <a:lstStyle/>
          <a:p/>
        </p:txBody>
      </p:sp>
      <p:sp>
        <p:nvSpPr>
          <p:cNvPr id="27" name="Shape 25"/>
          <p:cNvSpPr>
            <a:spLocks noGrp="1"/>
          </p:cNvSpPr>
          <p:nvPr/>
        </p:nvSpPr>
        <p:spPr>
          <a:xfrm>
            <a:off x="3447288" y="2880360"/>
            <a:ext cx="210312" cy="0"/>
          </a:xfrm>
          <a:prstGeom prst="line">
            <a:avLst/>
          </a:prstGeom>
          <a:noFill/>
          <a:ln w="20320">
            <a:solidFill>
              <a:srgbClr val="00A7A7"/>
            </a:solidFill>
            <a:prstDash val="solid"/>
            <a:tailEnd type="triangle"/>
          </a:ln>
        </p:spPr>
        <p:txBody>
          <a:bodyPr/>
          <a:lstStyle/>
          <a:p/>
        </p:txBody>
      </p:sp>
      <p:sp>
        <p:nvSpPr>
          <p:cNvPr id="28" name="Shape 26"/>
          <p:cNvSpPr>
            <a:spLocks noGrp="1"/>
          </p:cNvSpPr>
          <p:nvPr/>
        </p:nvSpPr>
        <p:spPr>
          <a:xfrm>
            <a:off x="4965192" y="2880360"/>
            <a:ext cx="210312" cy="0"/>
          </a:xfrm>
          <a:prstGeom prst="line">
            <a:avLst/>
          </a:prstGeom>
          <a:noFill/>
          <a:ln w="20320">
            <a:solidFill>
              <a:srgbClr val="6B6FD8"/>
            </a:solidFill>
            <a:prstDash val="solid"/>
            <a:tailEnd type="triangle"/>
          </a:ln>
        </p:spPr>
        <p:txBody>
          <a:bodyPr/>
          <a:lstStyle/>
          <a:p/>
        </p:txBody>
      </p:sp>
      <p:sp>
        <p:nvSpPr>
          <p:cNvPr id="29" name="Shape 27"/>
          <p:cNvSpPr>
            <a:spLocks noGrp="1"/>
          </p:cNvSpPr>
          <p:nvPr/>
        </p:nvSpPr>
        <p:spPr>
          <a:xfrm>
            <a:off x="6483096" y="2880360"/>
            <a:ext cx="210312" cy="0"/>
          </a:xfrm>
          <a:prstGeom prst="line">
            <a:avLst/>
          </a:prstGeom>
          <a:noFill/>
          <a:ln w="20320">
            <a:solidFill>
              <a:srgbClr val="07966F"/>
            </a:solidFill>
            <a:prstDash val="solid"/>
            <a:tailEnd type="triangle"/>
          </a:ln>
        </p:spPr>
        <p:txBody>
          <a:bodyPr/>
          <a:lstStyle/>
          <a:p/>
        </p:txBody>
      </p:sp>
      <p:sp>
        <p:nvSpPr>
          <p:cNvPr id="30" name="Shape 28"/>
          <p:cNvSpPr>
            <a:spLocks noGrp="1"/>
          </p:cNvSpPr>
          <p:nvPr/>
        </p:nvSpPr>
        <p:spPr>
          <a:xfrm>
            <a:off x="8001000" y="2880360"/>
            <a:ext cx="210312" cy="0"/>
          </a:xfrm>
          <a:prstGeom prst="line">
            <a:avLst/>
          </a:prstGeom>
          <a:noFill/>
          <a:ln w="20320">
            <a:solidFill>
              <a:srgbClr val="F28B36"/>
            </a:solidFill>
            <a:prstDash val="solid"/>
            <a:tailEnd type="triangle"/>
          </a:ln>
        </p:spPr>
        <p:txBody>
          <a:bodyPr/>
          <a:lstStyle/>
          <a:p/>
        </p:txBody>
      </p:sp>
      <p:sp>
        <p:nvSpPr>
          <p:cNvPr id="31" name="Shape 29"/>
          <p:cNvSpPr>
            <a:spLocks noGrp="1"/>
          </p:cNvSpPr>
          <p:nvPr/>
        </p:nvSpPr>
        <p:spPr>
          <a:xfrm>
            <a:off x="9518904" y="2880360"/>
            <a:ext cx="210312" cy="0"/>
          </a:xfrm>
          <a:prstGeom prst="line">
            <a:avLst/>
          </a:prstGeom>
          <a:noFill/>
          <a:ln w="20320">
            <a:solidFill>
              <a:srgbClr val="07966F"/>
            </a:solidFill>
            <a:prstDash val="solid"/>
            <a:tailEnd type="triangle"/>
          </a:ln>
        </p:spPr>
        <p:txBody>
          <a:bodyPr/>
          <a:lstStyle/>
          <a:p/>
        </p:txBody>
      </p:sp>
      <p:sp>
        <p:nvSpPr>
          <p:cNvPr id="32" name="Shape 30"/>
          <p:cNvSpPr>
            <a:spLocks noGrp="1"/>
          </p:cNvSpPr>
          <p:nvPr/>
        </p:nvSpPr>
        <p:spPr>
          <a:xfrm>
            <a:off x="713232" y="2130552"/>
            <a:ext cx="1216152" cy="1490472"/>
          </a:xfrm>
          <a:prstGeom prst="roundRect">
            <a:avLst/>
          </a:prstGeom>
          <a:solidFill>
            <a:srgbClr val="EAF3FF"/>
          </a:solidFill>
          <a:ln w="11430">
            <a:solidFill>
              <a:srgbClr val="2F80ED"/>
            </a:solidFill>
            <a:prstDash val="solid"/>
          </a:ln>
        </p:spPr>
        <p:txBody>
          <a:bodyPr/>
          <a:lstStyle/>
          <a:p/>
        </p:txBody>
      </p:sp>
      <p:sp>
        <p:nvSpPr>
          <p:cNvPr id="33" name="Shape 31"/>
          <p:cNvSpPr>
            <a:spLocks noGrp="1"/>
          </p:cNvSpPr>
          <p:nvPr/>
        </p:nvSpPr>
        <p:spPr>
          <a:xfrm>
            <a:off x="1143000" y="2331720"/>
            <a:ext cx="356616" cy="356616"/>
          </a:xfrm>
          <a:prstGeom prst="ellipse">
            <a:avLst/>
          </a:prstGeom>
          <a:solidFill>
            <a:srgbClr val="1F63C4"/>
          </a:solidFill>
          <a:ln w="12700">
            <a:solidFill>
              <a:srgbClr val="1F63C4"/>
            </a:solidFill>
            <a:prstDash val="solid"/>
          </a:ln>
        </p:spPr>
        <p:txBody>
          <a:bodyPr/>
          <a:lstStyle/>
          <a:p/>
        </p:txBody>
      </p:sp>
      <p:sp>
        <p:nvSpPr>
          <p:cNvPr id="34" name="Text 32"/>
          <p:cNvSpPr>
            <a:spLocks noGrp="1"/>
          </p:cNvSpPr>
          <p:nvPr/>
        </p:nvSpPr>
        <p:spPr>
          <a:xfrm>
            <a:off x="1143000" y="2331720"/>
            <a:ext cx="356616" cy="35661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9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1</a:t>
            </a:r>
            <a:endParaRPr sz="900"/>
          </a:p>
        </p:txBody>
      </p:sp>
      <p:sp>
        <p:nvSpPr>
          <p:cNvPr id="35" name="Text 33"/>
          <p:cNvSpPr>
            <a:spLocks noGrp="1"/>
          </p:cNvSpPr>
          <p:nvPr/>
        </p:nvSpPr>
        <p:spPr>
          <a:xfrm>
            <a:off x="777240" y="2788920"/>
            <a:ext cx="1088136" cy="21945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1040" b="1">
                <a:solidFill>
                  <a:srgbClr val="153D39"/>
                </a:solidFill>
                <a:latin typeface="Noto Sans CJK SC"/>
                <a:ea typeface="Noto Sans CJK SC"/>
                <a:cs typeface="Noto Sans CJK SC"/>
              </a:rPr>
              <a:t>来源登记</a:t>
            </a:r>
            <a:endParaRPr sz="1040"/>
          </a:p>
        </p:txBody>
      </p:sp>
      <p:sp>
        <p:nvSpPr>
          <p:cNvPr id="36" name="Text 34"/>
          <p:cNvSpPr>
            <a:spLocks noGrp="1"/>
          </p:cNvSpPr>
          <p:nvPr/>
        </p:nvSpPr>
        <p:spPr>
          <a:xfrm>
            <a:off x="786384" y="3099816"/>
            <a:ext cx="1069848" cy="31089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780">
                <a:solidFill>
                  <a:srgbClr val="44585C"/>
                </a:solidFill>
                <a:latin typeface="Noto Sans CJK SC"/>
                <a:ea typeface="Noto Sans CJK SC"/>
                <a:cs typeface="Noto Sans CJK SC"/>
              </a:rPr>
              <a:t>官网文章、内部政策</a:t>
            </a:r>
            <a:endParaRPr sz="780"/>
          </a:p>
        </p:txBody>
      </p:sp>
      <p:sp>
        <p:nvSpPr>
          <p:cNvPr id="37" name="Shape 35"/>
          <p:cNvSpPr>
            <a:spLocks noGrp="1"/>
          </p:cNvSpPr>
          <p:nvPr/>
        </p:nvSpPr>
        <p:spPr>
          <a:xfrm>
            <a:off x="2231136" y="2130552"/>
            <a:ext cx="1216152" cy="1490472"/>
          </a:xfrm>
          <a:prstGeom prst="roundRect">
            <a:avLst/>
          </a:prstGeom>
          <a:solidFill>
            <a:srgbClr val="E7F7F7"/>
          </a:solidFill>
          <a:ln w="11430">
            <a:solidFill>
              <a:srgbClr val="00A7A7"/>
            </a:solidFill>
            <a:prstDash val="solid"/>
          </a:ln>
        </p:spPr>
        <p:txBody>
          <a:bodyPr/>
          <a:lstStyle/>
          <a:p/>
        </p:txBody>
      </p:sp>
      <p:sp>
        <p:nvSpPr>
          <p:cNvPr id="38" name="Shape 36"/>
          <p:cNvSpPr>
            <a:spLocks noGrp="1"/>
          </p:cNvSpPr>
          <p:nvPr/>
        </p:nvSpPr>
        <p:spPr>
          <a:xfrm>
            <a:off x="2660904" y="2331720"/>
            <a:ext cx="356616" cy="356616"/>
          </a:xfrm>
          <a:prstGeom prst="ellipse">
            <a:avLst/>
          </a:prstGeom>
          <a:solidFill>
            <a:srgbClr val="007574"/>
          </a:solidFill>
          <a:ln w="12700">
            <a:solidFill>
              <a:srgbClr val="007574"/>
            </a:solidFill>
            <a:prstDash val="solid"/>
          </a:ln>
        </p:spPr>
        <p:txBody>
          <a:bodyPr/>
          <a:lstStyle/>
          <a:p/>
        </p:txBody>
      </p:sp>
      <p:sp>
        <p:nvSpPr>
          <p:cNvPr id="39" name="Text 37"/>
          <p:cNvSpPr>
            <a:spLocks noGrp="1"/>
          </p:cNvSpPr>
          <p:nvPr/>
        </p:nvSpPr>
        <p:spPr>
          <a:xfrm>
            <a:off x="2660904" y="2331720"/>
            <a:ext cx="356616" cy="35661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9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2</a:t>
            </a:r>
            <a:endParaRPr sz="900"/>
          </a:p>
        </p:txBody>
      </p:sp>
      <p:sp>
        <p:nvSpPr>
          <p:cNvPr id="40" name="Text 38"/>
          <p:cNvSpPr>
            <a:spLocks noGrp="1"/>
          </p:cNvSpPr>
          <p:nvPr/>
        </p:nvSpPr>
        <p:spPr>
          <a:xfrm>
            <a:off x="2295144" y="2788920"/>
            <a:ext cx="1088136" cy="21945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1040" b="1">
                <a:solidFill>
                  <a:srgbClr val="153D39"/>
                </a:solidFill>
                <a:latin typeface="Noto Sans CJK SC"/>
                <a:ea typeface="Noto Sans CJK SC"/>
                <a:cs typeface="Noto Sans CJK SC"/>
              </a:rPr>
              <a:t>内容抓取</a:t>
            </a:r>
            <a:endParaRPr sz="1040"/>
          </a:p>
        </p:txBody>
      </p:sp>
      <p:sp>
        <p:nvSpPr>
          <p:cNvPr id="41" name="Text 39"/>
          <p:cNvSpPr>
            <a:spLocks noGrp="1"/>
          </p:cNvSpPr>
          <p:nvPr/>
        </p:nvSpPr>
        <p:spPr>
          <a:xfrm>
            <a:off x="2304288" y="3099816"/>
            <a:ext cx="1069848" cy="31089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780">
                <a:solidFill>
                  <a:srgbClr val="44585C"/>
                </a:solidFill>
                <a:latin typeface="Noto Sans CJK SC"/>
                <a:ea typeface="Noto Sans CJK SC"/>
                <a:cs typeface="Noto Sans CJK SC"/>
              </a:rPr>
              <a:t>只处理新增或变更内容</a:t>
            </a:r>
            <a:endParaRPr sz="780"/>
          </a:p>
        </p:txBody>
      </p:sp>
      <p:sp>
        <p:nvSpPr>
          <p:cNvPr id="42" name="Shape 40"/>
          <p:cNvSpPr>
            <a:spLocks noGrp="1"/>
          </p:cNvSpPr>
          <p:nvPr/>
        </p:nvSpPr>
        <p:spPr>
          <a:xfrm>
            <a:off x="3749040" y="2130552"/>
            <a:ext cx="1216152" cy="1490472"/>
          </a:xfrm>
          <a:prstGeom prst="roundRect">
            <a:avLst/>
          </a:prstGeom>
          <a:solidFill>
            <a:srgbClr val="EEF0FF"/>
          </a:solidFill>
          <a:ln w="11430">
            <a:solidFill>
              <a:srgbClr val="6B6FD8"/>
            </a:solidFill>
            <a:prstDash val="solid"/>
          </a:ln>
        </p:spPr>
        <p:txBody>
          <a:bodyPr/>
          <a:lstStyle/>
          <a:p/>
        </p:txBody>
      </p:sp>
      <p:sp>
        <p:nvSpPr>
          <p:cNvPr id="43" name="Shape 41"/>
          <p:cNvSpPr>
            <a:spLocks noGrp="1"/>
          </p:cNvSpPr>
          <p:nvPr/>
        </p:nvSpPr>
        <p:spPr>
          <a:xfrm>
            <a:off x="4178808" y="2331720"/>
            <a:ext cx="356616" cy="356616"/>
          </a:xfrm>
          <a:prstGeom prst="ellipse">
            <a:avLst/>
          </a:prstGeom>
          <a:solidFill>
            <a:srgbClr val="5356BE"/>
          </a:solidFill>
          <a:ln w="12700">
            <a:solidFill>
              <a:srgbClr val="5356BE"/>
            </a:solidFill>
            <a:prstDash val="solid"/>
          </a:ln>
        </p:spPr>
        <p:txBody>
          <a:bodyPr/>
          <a:lstStyle/>
          <a:p/>
        </p:txBody>
      </p:sp>
      <p:sp>
        <p:nvSpPr>
          <p:cNvPr id="44" name="Text 42"/>
          <p:cNvSpPr>
            <a:spLocks noGrp="1"/>
          </p:cNvSpPr>
          <p:nvPr/>
        </p:nvSpPr>
        <p:spPr>
          <a:xfrm>
            <a:off x="4178808" y="2331720"/>
            <a:ext cx="356616" cy="35661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9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3</a:t>
            </a:r>
            <a:endParaRPr sz="900"/>
          </a:p>
        </p:txBody>
      </p:sp>
      <p:sp>
        <p:nvSpPr>
          <p:cNvPr id="45" name="Text 43"/>
          <p:cNvSpPr>
            <a:spLocks noGrp="1"/>
          </p:cNvSpPr>
          <p:nvPr/>
        </p:nvSpPr>
        <p:spPr>
          <a:xfrm>
            <a:off x="3813048" y="2788920"/>
            <a:ext cx="1088136" cy="21945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1040" b="1">
                <a:solidFill>
                  <a:srgbClr val="153D39"/>
                </a:solidFill>
                <a:latin typeface="Noto Sans CJK SC"/>
                <a:ea typeface="Noto Sans CJK SC"/>
                <a:cs typeface="Noto Sans CJK SC"/>
              </a:rPr>
              <a:t>分块与校验</a:t>
            </a:r>
            <a:endParaRPr sz="1040"/>
          </a:p>
        </p:txBody>
      </p:sp>
      <p:sp>
        <p:nvSpPr>
          <p:cNvPr id="46" name="Text 44"/>
          <p:cNvSpPr>
            <a:spLocks noGrp="1"/>
          </p:cNvSpPr>
          <p:nvPr/>
        </p:nvSpPr>
        <p:spPr>
          <a:xfrm>
            <a:off x="3822192" y="3099816"/>
            <a:ext cx="1069848" cy="31089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780">
                <a:solidFill>
                  <a:srgbClr val="44585C"/>
                </a:solidFill>
                <a:latin typeface="Noto Sans CJK SC"/>
                <a:ea typeface="Noto Sans CJK SC"/>
                <a:cs typeface="Noto Sans CJK SC"/>
              </a:rPr>
              <a:t>scope、可见性与出处</a:t>
            </a:r>
            <a:endParaRPr sz="780"/>
          </a:p>
        </p:txBody>
      </p:sp>
      <p:sp>
        <p:nvSpPr>
          <p:cNvPr id="47" name="Shape 45"/>
          <p:cNvSpPr>
            <a:spLocks noGrp="1"/>
          </p:cNvSpPr>
          <p:nvPr/>
        </p:nvSpPr>
        <p:spPr>
          <a:xfrm>
            <a:off x="5266944" y="2130552"/>
            <a:ext cx="1216152" cy="1490472"/>
          </a:xfrm>
          <a:prstGeom prst="roundRect">
            <a:avLst/>
          </a:prstGeom>
          <a:solidFill>
            <a:srgbClr val="E8F7F1"/>
          </a:solidFill>
          <a:ln w="11430">
            <a:solidFill>
              <a:srgbClr val="07966F"/>
            </a:solidFill>
            <a:prstDash val="solid"/>
          </a:ln>
        </p:spPr>
        <p:txBody>
          <a:bodyPr/>
          <a:lstStyle/>
          <a:p/>
        </p:txBody>
      </p:sp>
      <p:sp>
        <p:nvSpPr>
          <p:cNvPr id="48" name="Shape 46"/>
          <p:cNvSpPr>
            <a:spLocks noGrp="1"/>
          </p:cNvSpPr>
          <p:nvPr/>
        </p:nvSpPr>
        <p:spPr>
          <a:xfrm>
            <a:off x="5696712" y="2331720"/>
            <a:ext cx="356616" cy="356616"/>
          </a:xfrm>
          <a:prstGeom prst="ellipse">
            <a:avLst/>
          </a:prstGeom>
          <a:solidFill>
            <a:srgbClr val="07714F"/>
          </a:solidFill>
          <a:ln w="12700">
            <a:solidFill>
              <a:srgbClr val="07714F"/>
            </a:solidFill>
            <a:prstDash val="solid"/>
          </a:ln>
        </p:spPr>
        <p:txBody>
          <a:bodyPr/>
          <a:lstStyle/>
          <a:p/>
        </p:txBody>
      </p:sp>
      <p:sp>
        <p:nvSpPr>
          <p:cNvPr id="49" name="Text 47"/>
          <p:cNvSpPr>
            <a:spLocks noGrp="1"/>
          </p:cNvSpPr>
          <p:nvPr/>
        </p:nvSpPr>
        <p:spPr>
          <a:xfrm>
            <a:off x="5696712" y="2331720"/>
            <a:ext cx="356616" cy="35661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9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4</a:t>
            </a:r>
            <a:endParaRPr sz="900"/>
          </a:p>
        </p:txBody>
      </p:sp>
      <p:sp>
        <p:nvSpPr>
          <p:cNvPr id="50" name="Text 48"/>
          <p:cNvSpPr>
            <a:spLocks noGrp="1"/>
          </p:cNvSpPr>
          <p:nvPr/>
        </p:nvSpPr>
        <p:spPr>
          <a:xfrm>
            <a:off x="5330952" y="2788920"/>
            <a:ext cx="1088136" cy="21945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1040" b="1">
                <a:solidFill>
                  <a:srgbClr val="153D39"/>
                </a:solidFill>
                <a:latin typeface="Noto Sans CJK SC"/>
                <a:ea typeface="Noto Sans CJK SC"/>
                <a:cs typeface="Noto Sans CJK SC"/>
              </a:rPr>
              <a:t>候选版本</a:t>
            </a:r>
            <a:endParaRPr sz="1040"/>
          </a:p>
        </p:txBody>
      </p:sp>
      <p:sp>
        <p:nvSpPr>
          <p:cNvPr id="51" name="Text 49"/>
          <p:cNvSpPr>
            <a:spLocks noGrp="1"/>
          </p:cNvSpPr>
          <p:nvPr/>
        </p:nvSpPr>
        <p:spPr>
          <a:xfrm>
            <a:off x="5340096" y="3099816"/>
            <a:ext cx="1069848" cy="31089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780">
                <a:solidFill>
                  <a:srgbClr val="44585C"/>
                </a:solidFill>
                <a:latin typeface="Noto Sans CJK SC"/>
                <a:ea typeface="Noto Sans CJK SC"/>
                <a:cs typeface="Noto Sans CJK SC"/>
              </a:rPr>
              <a:t>在独立空间完成构建</a:t>
            </a:r>
            <a:endParaRPr sz="780"/>
          </a:p>
        </p:txBody>
      </p:sp>
      <p:sp>
        <p:nvSpPr>
          <p:cNvPr id="52" name="Shape 50"/>
          <p:cNvSpPr>
            <a:spLocks noGrp="1"/>
          </p:cNvSpPr>
          <p:nvPr/>
        </p:nvSpPr>
        <p:spPr>
          <a:xfrm>
            <a:off x="6784848" y="2130552"/>
            <a:ext cx="1216152" cy="1490472"/>
          </a:xfrm>
          <a:prstGeom prst="roundRect">
            <a:avLst/>
          </a:prstGeom>
          <a:solidFill>
            <a:srgbClr val="FFF2E8"/>
          </a:solidFill>
          <a:ln w="11430">
            <a:solidFill>
              <a:srgbClr val="F28B36"/>
            </a:solidFill>
            <a:prstDash val="solid"/>
          </a:ln>
        </p:spPr>
        <p:txBody>
          <a:bodyPr/>
          <a:lstStyle/>
          <a:p/>
        </p:txBody>
      </p:sp>
      <p:sp>
        <p:nvSpPr>
          <p:cNvPr id="53" name="Shape 51"/>
          <p:cNvSpPr>
            <a:spLocks noGrp="1"/>
          </p:cNvSpPr>
          <p:nvPr/>
        </p:nvSpPr>
        <p:spPr>
          <a:xfrm>
            <a:off x="7214616" y="2331720"/>
            <a:ext cx="356616" cy="356616"/>
          </a:xfrm>
          <a:prstGeom prst="ellipse">
            <a:avLst/>
          </a:prstGeom>
          <a:solidFill>
            <a:srgbClr val="BC6414"/>
          </a:solidFill>
          <a:ln w="12700">
            <a:solidFill>
              <a:srgbClr val="BC6414"/>
            </a:solidFill>
            <a:prstDash val="solid"/>
          </a:ln>
        </p:spPr>
        <p:txBody>
          <a:bodyPr/>
          <a:lstStyle/>
          <a:p/>
        </p:txBody>
      </p:sp>
      <p:sp>
        <p:nvSpPr>
          <p:cNvPr id="54" name="Text 52"/>
          <p:cNvSpPr>
            <a:spLocks noGrp="1"/>
          </p:cNvSpPr>
          <p:nvPr/>
        </p:nvSpPr>
        <p:spPr>
          <a:xfrm>
            <a:off x="7214616" y="2331720"/>
            <a:ext cx="356616" cy="35661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9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5</a:t>
            </a:r>
            <a:endParaRPr sz="900"/>
          </a:p>
        </p:txBody>
      </p:sp>
      <p:sp>
        <p:nvSpPr>
          <p:cNvPr id="55" name="Text 53"/>
          <p:cNvSpPr>
            <a:spLocks noGrp="1"/>
          </p:cNvSpPr>
          <p:nvPr/>
        </p:nvSpPr>
        <p:spPr>
          <a:xfrm>
            <a:off x="6848856" y="2788920"/>
            <a:ext cx="1088136" cy="21945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1040" b="1">
                <a:solidFill>
                  <a:srgbClr val="153D39"/>
                </a:solidFill>
                <a:latin typeface="Noto Sans CJK SC"/>
                <a:ea typeface="Noto Sans CJK SC"/>
                <a:cs typeface="Noto Sans CJK SC"/>
              </a:rPr>
              <a:t>回放验证</a:t>
            </a:r>
            <a:endParaRPr sz="1040"/>
          </a:p>
        </p:txBody>
      </p:sp>
      <p:sp>
        <p:nvSpPr>
          <p:cNvPr id="56" name="Text 54"/>
          <p:cNvSpPr>
            <a:spLocks noGrp="1"/>
          </p:cNvSpPr>
          <p:nvPr/>
        </p:nvSpPr>
        <p:spPr>
          <a:xfrm>
            <a:off x="6858000" y="3099816"/>
            <a:ext cx="1069848" cy="31089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780">
                <a:solidFill>
                  <a:srgbClr val="44585C"/>
                </a:solidFill>
                <a:latin typeface="Noto Sans CJK SC"/>
                <a:ea typeface="Noto Sans CJK SC"/>
                <a:cs typeface="Noto Sans CJK SC"/>
              </a:rPr>
              <a:t>检索、引用与冲突用例</a:t>
            </a:r>
            <a:endParaRPr sz="780"/>
          </a:p>
        </p:txBody>
      </p:sp>
      <p:sp>
        <p:nvSpPr>
          <p:cNvPr id="57" name="Shape 55"/>
          <p:cNvSpPr>
            <a:spLocks noGrp="1"/>
          </p:cNvSpPr>
          <p:nvPr/>
        </p:nvSpPr>
        <p:spPr>
          <a:xfrm>
            <a:off x="8302752" y="2130552"/>
            <a:ext cx="1216152" cy="1490472"/>
          </a:xfrm>
          <a:prstGeom prst="roundRect">
            <a:avLst/>
          </a:prstGeom>
          <a:solidFill>
            <a:srgbClr val="E8F7F1"/>
          </a:solidFill>
          <a:ln w="11430">
            <a:solidFill>
              <a:srgbClr val="12B07D"/>
            </a:solidFill>
            <a:prstDash val="solid"/>
          </a:ln>
        </p:spPr>
        <p:txBody>
          <a:bodyPr/>
          <a:lstStyle/>
          <a:p/>
        </p:txBody>
      </p:sp>
      <p:sp>
        <p:nvSpPr>
          <p:cNvPr id="58" name="Shape 56"/>
          <p:cNvSpPr>
            <a:spLocks noGrp="1"/>
          </p:cNvSpPr>
          <p:nvPr/>
        </p:nvSpPr>
        <p:spPr>
          <a:xfrm>
            <a:off x="8732520" y="2331720"/>
            <a:ext cx="356616" cy="356616"/>
          </a:xfrm>
          <a:prstGeom prst="ellipse">
            <a:avLst/>
          </a:prstGeom>
          <a:solidFill>
            <a:srgbClr val="0A7A57"/>
          </a:solidFill>
          <a:ln w="12700">
            <a:solidFill>
              <a:srgbClr val="0A7A57"/>
            </a:solidFill>
            <a:prstDash val="solid"/>
          </a:ln>
        </p:spPr>
        <p:txBody>
          <a:bodyPr/>
          <a:lstStyle/>
          <a:p/>
        </p:txBody>
      </p:sp>
      <p:sp>
        <p:nvSpPr>
          <p:cNvPr id="59" name="Text 57"/>
          <p:cNvSpPr>
            <a:spLocks noGrp="1"/>
          </p:cNvSpPr>
          <p:nvPr/>
        </p:nvSpPr>
        <p:spPr>
          <a:xfrm>
            <a:off x="8732520" y="2331720"/>
            <a:ext cx="356616" cy="35661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9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6</a:t>
            </a:r>
            <a:endParaRPr sz="900"/>
          </a:p>
        </p:txBody>
      </p:sp>
      <p:sp>
        <p:nvSpPr>
          <p:cNvPr id="60" name="Text 58"/>
          <p:cNvSpPr>
            <a:spLocks noGrp="1"/>
          </p:cNvSpPr>
          <p:nvPr/>
        </p:nvSpPr>
        <p:spPr>
          <a:xfrm>
            <a:off x="8366760" y="2788920"/>
            <a:ext cx="1088136" cy="21945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1040" b="1">
                <a:solidFill>
                  <a:srgbClr val="153D39"/>
                </a:solidFill>
                <a:latin typeface="Noto Sans CJK SC"/>
                <a:ea typeface="Noto Sans CJK SC"/>
                <a:cs typeface="Noto Sans CJK SC"/>
              </a:rPr>
              <a:t>指针切换</a:t>
            </a:r>
            <a:endParaRPr sz="1040"/>
          </a:p>
        </p:txBody>
      </p:sp>
      <p:sp>
        <p:nvSpPr>
          <p:cNvPr id="61" name="Text 59"/>
          <p:cNvSpPr>
            <a:spLocks noGrp="1"/>
          </p:cNvSpPr>
          <p:nvPr/>
        </p:nvSpPr>
        <p:spPr>
          <a:xfrm>
            <a:off x="8375904" y="3099816"/>
            <a:ext cx="1069848" cy="31089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780">
                <a:solidFill>
                  <a:srgbClr val="44585C"/>
                </a:solidFill>
                <a:latin typeface="Noto Sans CJK SC"/>
                <a:ea typeface="Noto Sans CJK SC"/>
                <a:cs typeface="Noto Sans CJK SC"/>
              </a:rPr>
              <a:t>活动版本原子切换</a:t>
            </a:r>
            <a:endParaRPr sz="780"/>
          </a:p>
        </p:txBody>
      </p:sp>
      <p:sp>
        <p:nvSpPr>
          <p:cNvPr id="62" name="Shape 60"/>
          <p:cNvSpPr>
            <a:spLocks noGrp="1"/>
          </p:cNvSpPr>
          <p:nvPr/>
        </p:nvSpPr>
        <p:spPr>
          <a:xfrm>
            <a:off x="9820656" y="2130552"/>
            <a:ext cx="1216152" cy="1490472"/>
          </a:xfrm>
          <a:prstGeom prst="roundRect">
            <a:avLst/>
          </a:prstGeom>
          <a:solidFill>
            <a:srgbClr val="EAF3FF"/>
          </a:solidFill>
          <a:ln w="11430">
            <a:solidFill>
              <a:srgbClr val="2F80ED"/>
            </a:solidFill>
            <a:prstDash val="solid"/>
          </a:ln>
        </p:spPr>
        <p:txBody>
          <a:bodyPr/>
          <a:lstStyle/>
          <a:p/>
        </p:txBody>
      </p:sp>
      <p:sp>
        <p:nvSpPr>
          <p:cNvPr id="63" name="Shape 61"/>
          <p:cNvSpPr>
            <a:spLocks noGrp="1"/>
          </p:cNvSpPr>
          <p:nvPr/>
        </p:nvSpPr>
        <p:spPr>
          <a:xfrm>
            <a:off x="10250424" y="2331720"/>
            <a:ext cx="356616" cy="356616"/>
          </a:xfrm>
          <a:prstGeom prst="ellipse">
            <a:avLst/>
          </a:prstGeom>
          <a:solidFill>
            <a:srgbClr val="1F63C4"/>
          </a:solidFill>
          <a:ln w="12700">
            <a:solidFill>
              <a:srgbClr val="1F63C4"/>
            </a:solidFill>
            <a:prstDash val="solid"/>
          </a:ln>
        </p:spPr>
        <p:txBody>
          <a:bodyPr/>
          <a:lstStyle/>
          <a:p/>
        </p:txBody>
      </p:sp>
      <p:sp>
        <p:nvSpPr>
          <p:cNvPr id="64" name="Text 62"/>
          <p:cNvSpPr>
            <a:spLocks noGrp="1"/>
          </p:cNvSpPr>
          <p:nvPr/>
        </p:nvSpPr>
        <p:spPr>
          <a:xfrm>
            <a:off x="10250424" y="2331720"/>
            <a:ext cx="356616" cy="35661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9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7</a:t>
            </a:r>
            <a:endParaRPr sz="900"/>
          </a:p>
        </p:txBody>
      </p:sp>
      <p:sp>
        <p:nvSpPr>
          <p:cNvPr id="65" name="Text 63"/>
          <p:cNvSpPr>
            <a:spLocks noGrp="1"/>
          </p:cNvSpPr>
          <p:nvPr/>
        </p:nvSpPr>
        <p:spPr>
          <a:xfrm>
            <a:off x="9884664" y="2788920"/>
            <a:ext cx="1088136" cy="21945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1040" b="1">
                <a:solidFill>
                  <a:srgbClr val="153D39"/>
                </a:solidFill>
                <a:latin typeface="Noto Sans CJK SC"/>
                <a:ea typeface="Noto Sans CJK SC"/>
                <a:cs typeface="Noto Sans CJK SC"/>
              </a:rPr>
              <a:t>过期下线</a:t>
            </a:r>
            <a:endParaRPr sz="1040"/>
          </a:p>
        </p:txBody>
      </p:sp>
      <p:sp>
        <p:nvSpPr>
          <p:cNvPr id="66" name="Text 64"/>
          <p:cNvSpPr>
            <a:spLocks noGrp="1"/>
          </p:cNvSpPr>
          <p:nvPr/>
        </p:nvSpPr>
        <p:spPr>
          <a:xfrm>
            <a:off x="9893808" y="3099816"/>
            <a:ext cx="1069848" cy="31089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780">
                <a:solidFill>
                  <a:srgbClr val="44585C"/>
                </a:solidFill>
                <a:latin typeface="Noto Sans CJK SC"/>
                <a:ea typeface="Noto Sans CJK SC"/>
                <a:cs typeface="Noto Sans CJK SC"/>
              </a:rPr>
              <a:t>陈旧或撤销内容立即拒用</a:t>
            </a:r>
            <a:endParaRPr sz="780"/>
          </a:p>
        </p:txBody>
      </p:sp>
      <p:sp>
        <p:nvSpPr>
          <p:cNvPr id="67" name="Shape 65"/>
          <p:cNvSpPr>
            <a:spLocks noGrp="1"/>
          </p:cNvSpPr>
          <p:nvPr/>
        </p:nvSpPr>
        <p:spPr>
          <a:xfrm>
            <a:off x="4361688" y="3621024"/>
            <a:ext cx="0" cy="475488"/>
          </a:xfrm>
          <a:prstGeom prst="line">
            <a:avLst/>
          </a:prstGeom>
          <a:noFill/>
          <a:ln w="16510">
            <a:solidFill>
              <a:srgbClr val="6B6FD8"/>
            </a:solidFill>
            <a:prstDash val="solid"/>
            <a:tailEnd type="triangle"/>
          </a:ln>
        </p:spPr>
        <p:txBody>
          <a:bodyPr/>
          <a:lstStyle/>
          <a:p/>
        </p:txBody>
      </p:sp>
      <p:sp>
        <p:nvSpPr>
          <p:cNvPr id="68" name="Shape 66"/>
          <p:cNvSpPr>
            <a:spLocks noGrp="1"/>
          </p:cNvSpPr>
          <p:nvPr/>
        </p:nvSpPr>
        <p:spPr>
          <a:xfrm>
            <a:off x="960120" y="4160520"/>
            <a:ext cx="10076688" cy="13441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8DED8"/>
            </a:solidFill>
            <a:prstDash val="solid"/>
          </a:ln>
        </p:spPr>
        <p:txBody>
          <a:bodyPr/>
          <a:lstStyle/>
          <a:p/>
        </p:txBody>
      </p:sp>
      <p:sp>
        <p:nvSpPr>
          <p:cNvPr id="69" name="Text 67"/>
          <p:cNvSpPr>
            <a:spLocks noGrp="1"/>
          </p:cNvSpPr>
          <p:nvPr/>
        </p:nvSpPr>
        <p:spPr>
          <a:xfrm>
            <a:off x="1188720" y="4370832"/>
            <a:ext cx="2057400" cy="2286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buNone/>
            </a:pPr>
            <a:r>
              <a:rPr sz="1100" b="1">
                <a:solidFill>
                  <a:srgbClr val="315A55"/>
                </a:solidFill>
                <a:latin typeface="Noto Sans CJK SC"/>
                <a:ea typeface="Noto Sans CJK SC"/>
                <a:cs typeface="Noto Sans CJK SC"/>
              </a:rPr>
              <a:t>三类治理资产</a:t>
            </a:r>
            <a:endParaRPr sz="1100"/>
          </a:p>
        </p:txBody>
      </p:sp>
      <p:sp>
        <p:nvSpPr>
          <p:cNvPr id="70" name="Shape 68"/>
          <p:cNvSpPr>
            <a:spLocks noGrp="1"/>
          </p:cNvSpPr>
          <p:nvPr/>
        </p:nvSpPr>
        <p:spPr>
          <a:xfrm>
            <a:off x="3401568" y="4315968"/>
            <a:ext cx="1920240" cy="832104"/>
          </a:xfrm>
          <a:prstGeom prst="roundRect">
            <a:avLst/>
          </a:prstGeom>
          <a:solidFill>
            <a:srgbClr val="E8F7F1"/>
          </a:solidFill>
          <a:ln w="11430">
            <a:solidFill>
              <a:srgbClr val="07966F"/>
            </a:solidFill>
            <a:prstDash val="solid"/>
          </a:ln>
        </p:spPr>
        <p:txBody>
          <a:bodyPr/>
          <a:lstStyle/>
          <a:p/>
        </p:txBody>
      </p:sp>
      <p:sp>
        <p:nvSpPr>
          <p:cNvPr id="71" name="Shape 69"/>
          <p:cNvSpPr>
            <a:spLocks noGrp="1"/>
          </p:cNvSpPr>
          <p:nvPr/>
        </p:nvSpPr>
        <p:spPr>
          <a:xfrm>
            <a:off x="3538728" y="4544568"/>
            <a:ext cx="283464" cy="283464"/>
          </a:xfrm>
          <a:prstGeom prst="ellipse">
            <a:avLst/>
          </a:prstGeom>
          <a:solidFill>
            <a:srgbClr val="07714F"/>
          </a:solidFill>
          <a:ln w="12700">
            <a:solidFill>
              <a:srgbClr val="07714F"/>
            </a:solidFill>
            <a:prstDash val="solid"/>
          </a:ln>
        </p:spPr>
        <p:txBody>
          <a:bodyPr/>
          <a:lstStyle/>
          <a:p/>
        </p:txBody>
      </p:sp>
      <p:sp>
        <p:nvSpPr>
          <p:cNvPr id="72" name="Text 70"/>
          <p:cNvSpPr>
            <a:spLocks noGrp="1"/>
          </p:cNvSpPr>
          <p:nvPr/>
        </p:nvSpPr>
        <p:spPr>
          <a:xfrm>
            <a:off x="3538728" y="4544568"/>
            <a:ext cx="283464" cy="28346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1</a:t>
            </a:r>
            <a:endParaRPr sz="850"/>
          </a:p>
        </p:txBody>
      </p:sp>
      <p:sp>
        <p:nvSpPr>
          <p:cNvPr id="73" name="Text 71"/>
          <p:cNvSpPr>
            <a:spLocks noGrp="1"/>
          </p:cNvSpPr>
          <p:nvPr/>
        </p:nvSpPr>
        <p:spPr>
          <a:xfrm>
            <a:off x="3913632" y="4370832"/>
            <a:ext cx="694944" cy="21031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buNone/>
            </a:pPr>
            <a:r>
              <a:rPr sz="1060" b="1">
                <a:solidFill>
                  <a:srgbClr val="153D39"/>
                </a:solidFill>
                <a:latin typeface="Noto Sans CJK SC"/>
                <a:ea typeface="Noto Sans CJK SC"/>
                <a:cs typeface="Noto Sans CJK SC"/>
              </a:rPr>
              <a:t>版本资产</a:t>
            </a:r>
            <a:endParaRPr sz="1060"/>
          </a:p>
        </p:txBody>
      </p:sp>
      <p:sp>
        <p:nvSpPr>
          <p:cNvPr id="74" name="Text 72"/>
          <p:cNvSpPr>
            <a:spLocks noGrp="1"/>
          </p:cNvSpPr>
          <p:nvPr/>
        </p:nvSpPr>
        <p:spPr>
          <a:xfrm>
            <a:off x="3913632" y="4645152"/>
            <a:ext cx="1225296" cy="28346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buNone/>
            </a:pPr>
            <a:r>
              <a:rPr sz="800">
                <a:solidFill>
                  <a:srgbClr val="44585C"/>
                </a:solidFill>
                <a:latin typeface="Noto Sans CJK SC"/>
                <a:ea typeface="Noto Sans CJK SC"/>
                <a:cs typeface="Noto Sans CJK SC"/>
              </a:rPr>
              <a:t>文章清单、内容指纹、发布时间</a:t>
            </a:r>
            <a:endParaRPr sz="800"/>
          </a:p>
        </p:txBody>
      </p:sp>
      <p:sp>
        <p:nvSpPr>
          <p:cNvPr id="75" name="Shape 73"/>
          <p:cNvSpPr>
            <a:spLocks noGrp="1"/>
          </p:cNvSpPr>
          <p:nvPr/>
        </p:nvSpPr>
        <p:spPr>
          <a:xfrm>
            <a:off x="5632704" y="4315968"/>
            <a:ext cx="1920240" cy="832104"/>
          </a:xfrm>
          <a:prstGeom prst="roundRect">
            <a:avLst/>
          </a:prstGeom>
          <a:solidFill>
            <a:srgbClr val="FFF2E8"/>
          </a:solidFill>
          <a:ln w="11430">
            <a:solidFill>
              <a:srgbClr val="F28B36"/>
            </a:solidFill>
            <a:prstDash val="solid"/>
          </a:ln>
        </p:spPr>
        <p:txBody>
          <a:bodyPr/>
          <a:lstStyle/>
          <a:p/>
        </p:txBody>
      </p:sp>
      <p:sp>
        <p:nvSpPr>
          <p:cNvPr id="76" name="Shape 74"/>
          <p:cNvSpPr>
            <a:spLocks noGrp="1"/>
          </p:cNvSpPr>
          <p:nvPr/>
        </p:nvSpPr>
        <p:spPr>
          <a:xfrm>
            <a:off x="5769864" y="4544568"/>
            <a:ext cx="283464" cy="283464"/>
          </a:xfrm>
          <a:prstGeom prst="ellipse">
            <a:avLst/>
          </a:prstGeom>
          <a:solidFill>
            <a:srgbClr val="BC6414"/>
          </a:solidFill>
          <a:ln w="12700">
            <a:solidFill>
              <a:srgbClr val="BC6414"/>
            </a:solidFill>
            <a:prstDash val="solid"/>
          </a:ln>
        </p:spPr>
        <p:txBody>
          <a:bodyPr/>
          <a:lstStyle/>
          <a:p/>
        </p:txBody>
      </p:sp>
      <p:sp>
        <p:nvSpPr>
          <p:cNvPr id="77" name="Text 75"/>
          <p:cNvSpPr>
            <a:spLocks noGrp="1"/>
          </p:cNvSpPr>
          <p:nvPr/>
        </p:nvSpPr>
        <p:spPr>
          <a:xfrm>
            <a:off x="5769864" y="4544568"/>
            <a:ext cx="283464" cy="28346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2</a:t>
            </a:r>
            <a:endParaRPr sz="850"/>
          </a:p>
        </p:txBody>
      </p:sp>
      <p:sp>
        <p:nvSpPr>
          <p:cNvPr id="78" name="Text 76"/>
          <p:cNvSpPr>
            <a:spLocks noGrp="1"/>
          </p:cNvSpPr>
          <p:nvPr/>
        </p:nvSpPr>
        <p:spPr>
          <a:xfrm>
            <a:off x="6144895" y="4370705"/>
            <a:ext cx="1078865" cy="28321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buNone/>
            </a:pPr>
            <a:r>
              <a:rPr sz="1060" b="1">
                <a:solidFill>
                  <a:srgbClr val="153D39"/>
                </a:solidFill>
                <a:latin typeface="Noto Sans CJK SC"/>
                <a:ea typeface="Noto Sans CJK SC"/>
                <a:cs typeface="Noto Sans CJK SC"/>
              </a:rPr>
              <a:t>安全资产</a:t>
            </a:r>
            <a:endParaRPr sz="1060"/>
          </a:p>
        </p:txBody>
      </p:sp>
      <p:sp>
        <p:nvSpPr>
          <p:cNvPr id="79" name="Text 77"/>
          <p:cNvSpPr>
            <a:spLocks noGrp="1"/>
          </p:cNvSpPr>
          <p:nvPr/>
        </p:nvSpPr>
        <p:spPr>
          <a:xfrm>
            <a:off x="6144768" y="4645152"/>
            <a:ext cx="1225296" cy="28346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buNone/>
            </a:pPr>
            <a:r>
              <a:rPr sz="800">
                <a:solidFill>
                  <a:srgbClr val="44585C"/>
                </a:solidFill>
                <a:latin typeface="Noto Sans CJK SC"/>
                <a:ea typeface="Noto Sans CJK SC"/>
                <a:cs typeface="Noto Sans CJK SC"/>
              </a:rPr>
              <a:t>可见范围、freshness、fail-closed</a:t>
            </a:r>
            <a:endParaRPr sz="800"/>
          </a:p>
        </p:txBody>
      </p:sp>
      <p:sp>
        <p:nvSpPr>
          <p:cNvPr id="80" name="Shape 78"/>
          <p:cNvSpPr>
            <a:spLocks noGrp="1"/>
          </p:cNvSpPr>
          <p:nvPr/>
        </p:nvSpPr>
        <p:spPr>
          <a:xfrm>
            <a:off x="8101584" y="4315968"/>
            <a:ext cx="1920240" cy="832104"/>
          </a:xfrm>
          <a:prstGeom prst="roundRect">
            <a:avLst/>
          </a:prstGeom>
          <a:solidFill>
            <a:srgbClr val="FDEEEE"/>
          </a:solidFill>
          <a:ln w="11430">
            <a:solidFill>
              <a:srgbClr val="E45858"/>
            </a:solidFill>
            <a:prstDash val="solid"/>
          </a:ln>
        </p:spPr>
        <p:txBody>
          <a:bodyPr/>
          <a:lstStyle/>
          <a:p/>
        </p:txBody>
      </p:sp>
      <p:sp>
        <p:nvSpPr>
          <p:cNvPr id="81" name="Shape 79"/>
          <p:cNvSpPr>
            <a:spLocks noGrp="1"/>
          </p:cNvSpPr>
          <p:nvPr/>
        </p:nvSpPr>
        <p:spPr>
          <a:xfrm>
            <a:off x="8238744" y="4544568"/>
            <a:ext cx="283464" cy="283464"/>
          </a:xfrm>
          <a:prstGeom prst="ellipse">
            <a:avLst/>
          </a:prstGeom>
          <a:solidFill>
            <a:srgbClr val="C23B3B"/>
          </a:solidFill>
          <a:ln w="12700">
            <a:solidFill>
              <a:srgbClr val="C23B3B"/>
            </a:solidFill>
            <a:prstDash val="solid"/>
          </a:ln>
        </p:spPr>
        <p:txBody>
          <a:bodyPr/>
          <a:lstStyle/>
          <a:p/>
        </p:txBody>
      </p:sp>
      <p:sp>
        <p:nvSpPr>
          <p:cNvPr id="82" name="Text 80"/>
          <p:cNvSpPr>
            <a:spLocks noGrp="1"/>
          </p:cNvSpPr>
          <p:nvPr/>
        </p:nvSpPr>
        <p:spPr>
          <a:xfrm>
            <a:off x="8238744" y="4544568"/>
            <a:ext cx="283464" cy="28346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3</a:t>
            </a:r>
            <a:endParaRPr sz="850"/>
          </a:p>
        </p:txBody>
      </p:sp>
      <p:sp>
        <p:nvSpPr>
          <p:cNvPr id="83" name="Text 81"/>
          <p:cNvSpPr>
            <a:spLocks noGrp="1"/>
          </p:cNvSpPr>
          <p:nvPr/>
        </p:nvSpPr>
        <p:spPr>
          <a:xfrm>
            <a:off x="8613648" y="4370832"/>
            <a:ext cx="694944" cy="21031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buNone/>
            </a:pPr>
            <a:r>
              <a:rPr sz="1060" b="1">
                <a:solidFill>
                  <a:srgbClr val="153D39"/>
                </a:solidFill>
                <a:latin typeface="Noto Sans CJK SC"/>
                <a:ea typeface="Noto Sans CJK SC"/>
                <a:cs typeface="Noto Sans CJK SC"/>
              </a:rPr>
              <a:t>运行证据</a:t>
            </a:r>
            <a:endParaRPr sz="1060"/>
          </a:p>
        </p:txBody>
      </p:sp>
      <p:sp>
        <p:nvSpPr>
          <p:cNvPr id="84" name="Text 82"/>
          <p:cNvSpPr>
            <a:spLocks noGrp="1"/>
          </p:cNvSpPr>
          <p:nvPr/>
        </p:nvSpPr>
        <p:spPr>
          <a:xfrm>
            <a:off x="8613648" y="4645152"/>
            <a:ext cx="1225296" cy="28346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buNone/>
            </a:pPr>
            <a:r>
              <a:rPr sz="800">
                <a:solidFill>
                  <a:srgbClr val="44585C"/>
                </a:solidFill>
                <a:latin typeface="Noto Sans CJK SC"/>
                <a:ea typeface="Noto Sans CJK SC"/>
                <a:cs typeface="Noto Sans CJK SC"/>
              </a:rPr>
              <a:t>刷新差异、切换结果与失败告警</a:t>
            </a:r>
            <a:endParaRPr sz="800"/>
          </a:p>
        </p:txBody>
      </p:sp>
      <p:sp>
        <p:nvSpPr>
          <p:cNvPr id="85" name="Shape 83"/>
          <p:cNvSpPr>
            <a:spLocks noGrp="1"/>
          </p:cNvSpPr>
          <p:nvPr/>
        </p:nvSpPr>
        <p:spPr>
          <a:xfrm>
            <a:off x="2002536" y="5760720"/>
            <a:ext cx="8193024" cy="310896"/>
          </a:xfrm>
          <a:prstGeom prst="roundRect">
            <a:avLst/>
          </a:prstGeom>
          <a:solidFill>
            <a:srgbClr val="EFF5F3"/>
          </a:solidFill>
          <a:ln w="10160">
            <a:solidFill>
              <a:srgbClr val="D7E7E3"/>
            </a:solidFill>
            <a:prstDash val="solid"/>
          </a:ln>
        </p:spPr>
        <p:txBody>
          <a:bodyPr/>
          <a:lstStyle/>
          <a:p/>
        </p:txBody>
      </p:sp>
      <p:sp>
        <p:nvSpPr>
          <p:cNvPr id="86" name="Text 84"/>
          <p:cNvSpPr>
            <a:spLocks noGrp="1"/>
          </p:cNvSpPr>
          <p:nvPr/>
        </p:nvSpPr>
        <p:spPr>
          <a:xfrm>
            <a:off x="2002536" y="5760720"/>
            <a:ext cx="8193024" cy="31089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930" b="1">
                <a:solidFill>
                  <a:srgbClr val="315A55"/>
                </a:solidFill>
                <a:latin typeface="Noto Sans CJK SC"/>
                <a:ea typeface="Noto Sans CJK SC"/>
                <a:cs typeface="Noto Sans CJK SC"/>
              </a:rPr>
              <a:t>更新失败就继续用已验证版本；活动政策过期后停止回答，不让模型凭记忆补。</a:t>
            </a:r>
            <a:endParaRPr sz="930"/>
          </a:p>
        </p:txBody>
      </p:sp>
      <p:sp>
        <p:nvSpPr>
          <p:cNvPr id="87" name="Rectangle 86"/>
          <p:cNvSpPr>
            <a:spLocks noGrp="1"/>
          </p:cNvSpPr>
          <p:nvPr/>
        </p:nvSpPr>
        <p:spPr>
          <a:xfrm>
            <a:off x="0" y="0"/>
            <a:ext cx="41148" cy="6858000"/>
          </a:xfrm>
          <a:prstGeom prst="rect">
            <a:avLst/>
          </a:prstGeom>
          <a:solidFill>
            <a:srgbClr val="0A8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88" name="圆角矩形 87"/>
          <p:cNvSpPr>
            <a:spLocks noGrp="1"/>
          </p:cNvSpPr>
          <p:nvPr/>
        </p:nvSpPr>
        <p:spPr>
          <a:xfrm>
            <a:off x="6565583" y="127635"/>
            <a:ext cx="4937760" cy="365760"/>
          </a:xfrm>
          <a:prstGeom prst="roundRect">
            <a:avLst>
              <a:gd name="adj" fmla="val 20833"/>
            </a:avLst>
          </a:prstGeom>
          <a:solidFill>
            <a:srgbClr val="F7FBF9"/>
          </a:solidFill>
          <a:ln w="12668">
            <a:solidFill>
              <a:srgbClr val="F7FBF9"/>
            </a:solidFill>
            <a:prstDash val="solid"/>
          </a:ln>
        </p:spPr>
        <p:txBody>
          <a:bodyPr/>
          <a:p/>
        </p:txBody>
      </p:sp>
      <p:sp>
        <p:nvSpPr>
          <p:cNvPr id="89" name="圆角矩形 88"/>
          <p:cNvSpPr>
            <a:spLocks noGrp="1"/>
          </p:cNvSpPr>
          <p:nvPr/>
        </p:nvSpPr>
        <p:spPr>
          <a:xfrm>
            <a:off x="6657023" y="164783"/>
            <a:ext cx="1154430" cy="264795"/>
          </a:xfrm>
          <a:prstGeom prst="roundRect">
            <a:avLst>
              <a:gd name="adj" fmla="val 28777"/>
            </a:avLst>
          </a:prstGeom>
          <a:solidFill>
            <a:srgbClr val="007574"/>
          </a:solidFill>
          <a:ln w="12668">
            <a:solidFill>
              <a:srgbClr val="007574"/>
            </a:solidFill>
            <a:prstDash val="solid"/>
          </a:ln>
        </p:spPr>
        <p:txBody>
          <a:bodyPr/>
          <a:p/>
        </p:txBody>
      </p:sp>
      <p:sp>
        <p:nvSpPr>
          <p:cNvPr id="90" name="矩形 89"/>
          <p:cNvSpPr>
            <a:spLocks noGrp="1"/>
          </p:cNvSpPr>
          <p:nvPr/>
        </p:nvSpPr>
        <p:spPr>
          <a:xfrm>
            <a:off x="6657023" y="187643"/>
            <a:ext cx="1154430" cy="182880"/>
          </a:xfrm>
          <a:prstGeom prst="rect">
            <a:avLst/>
          </a:prstGeom>
        </p:spPr>
        <p:txBody>
          <a:bodyPr anchor="ctr"/>
          <a:lstStyle/>
          <a:p>
            <a:pPr algn="ctr">
              <a:defRPr sz="660" b="1">
                <a:solidFill>
                  <a:srgbClr val="FFFFFF"/>
                </a:solidFill>
              </a:defRPr>
            </a:pPr>
            <a:r>
              <a:t>理解</a:t>
            </a:r>
          </a:p>
        </p:txBody>
      </p:sp>
      <p:sp>
        <p:nvSpPr>
          <p:cNvPr id="91" name="圆角矩形 90"/>
          <p:cNvSpPr>
            <a:spLocks noGrp="1"/>
          </p:cNvSpPr>
          <p:nvPr/>
        </p:nvSpPr>
        <p:spPr>
          <a:xfrm>
            <a:off x="7857173" y="164783"/>
            <a:ext cx="1154430" cy="264795"/>
          </a:xfrm>
          <a:prstGeom prst="roundRect">
            <a:avLst>
              <a:gd name="adj" fmla="val 28777"/>
            </a:avLst>
          </a:prstGeom>
          <a:solidFill>
            <a:srgbClr val="FFFFFF"/>
          </a:solidFill>
          <a:ln w="12668">
            <a:solidFill>
              <a:srgbClr val="C9DCD7"/>
            </a:solidFill>
            <a:prstDash val="solid"/>
          </a:ln>
        </p:spPr>
        <p:txBody>
          <a:bodyPr/>
          <a:p/>
        </p:txBody>
      </p:sp>
      <p:sp>
        <p:nvSpPr>
          <p:cNvPr id="92" name="矩形 91"/>
          <p:cNvSpPr>
            <a:spLocks noGrp="1"/>
          </p:cNvSpPr>
          <p:nvPr/>
        </p:nvSpPr>
        <p:spPr>
          <a:xfrm>
            <a:off x="7857173" y="187643"/>
            <a:ext cx="1154430" cy="182880"/>
          </a:xfrm>
          <a:prstGeom prst="rect">
            <a:avLst/>
          </a:prstGeom>
        </p:spPr>
        <p:txBody>
          <a:bodyPr anchor="ctr"/>
          <a:lstStyle/>
          <a:p>
            <a:pPr algn="ctr">
              <a:defRPr sz="650" b="0">
                <a:solidFill>
                  <a:srgbClr val="44585C"/>
                </a:solidFill>
              </a:defRPr>
            </a:pPr>
            <a:r>
              <a:t>查询</a:t>
            </a:r>
          </a:p>
        </p:txBody>
      </p:sp>
      <p:sp>
        <p:nvSpPr>
          <p:cNvPr id="93" name="圆角矩形 92"/>
          <p:cNvSpPr>
            <a:spLocks noGrp="1"/>
          </p:cNvSpPr>
          <p:nvPr/>
        </p:nvSpPr>
        <p:spPr>
          <a:xfrm>
            <a:off x="9057323" y="164783"/>
            <a:ext cx="1154430" cy="264795"/>
          </a:xfrm>
          <a:prstGeom prst="roundRect">
            <a:avLst>
              <a:gd name="adj" fmla="val 28777"/>
            </a:avLst>
          </a:prstGeom>
          <a:solidFill>
            <a:srgbClr val="FFFFFF"/>
          </a:solidFill>
          <a:ln w="12668">
            <a:solidFill>
              <a:srgbClr val="C9DCD7"/>
            </a:solidFill>
            <a:prstDash val="solid"/>
          </a:ln>
        </p:spPr>
        <p:txBody>
          <a:bodyPr/>
          <a:p/>
        </p:txBody>
      </p:sp>
      <p:sp>
        <p:nvSpPr>
          <p:cNvPr id="94" name="矩形 93"/>
          <p:cNvSpPr>
            <a:spLocks noGrp="1"/>
          </p:cNvSpPr>
          <p:nvPr/>
        </p:nvSpPr>
        <p:spPr>
          <a:xfrm>
            <a:off x="9057323" y="187643"/>
            <a:ext cx="1154430" cy="182880"/>
          </a:xfrm>
          <a:prstGeom prst="rect">
            <a:avLst/>
          </a:prstGeom>
        </p:spPr>
        <p:txBody>
          <a:bodyPr anchor="ctr"/>
          <a:lstStyle/>
          <a:p>
            <a:pPr algn="ctr">
              <a:defRPr sz="650" b="0">
                <a:solidFill>
                  <a:srgbClr val="44585C"/>
                </a:solidFill>
              </a:defRPr>
            </a:pPr>
            <a:r>
              <a:t>决策</a:t>
            </a:r>
          </a:p>
        </p:txBody>
      </p:sp>
      <p:sp>
        <p:nvSpPr>
          <p:cNvPr id="95" name="圆角矩形 94"/>
          <p:cNvSpPr>
            <a:spLocks noGrp="1"/>
          </p:cNvSpPr>
          <p:nvPr/>
        </p:nvSpPr>
        <p:spPr>
          <a:xfrm>
            <a:off x="10257473" y="164783"/>
            <a:ext cx="1154430" cy="264795"/>
          </a:xfrm>
          <a:prstGeom prst="roundRect">
            <a:avLst>
              <a:gd name="adj" fmla="val 28777"/>
            </a:avLst>
          </a:prstGeom>
          <a:solidFill>
            <a:srgbClr val="FFFFFF"/>
          </a:solidFill>
          <a:ln w="12668">
            <a:solidFill>
              <a:srgbClr val="C9DCD7"/>
            </a:solidFill>
            <a:prstDash val="solid"/>
          </a:ln>
        </p:spPr>
        <p:txBody>
          <a:bodyPr/>
          <a:p/>
        </p:txBody>
      </p:sp>
      <p:sp>
        <p:nvSpPr>
          <p:cNvPr id="96" name="矩形 95"/>
          <p:cNvSpPr>
            <a:spLocks noGrp="1"/>
          </p:cNvSpPr>
          <p:nvPr/>
        </p:nvSpPr>
        <p:spPr>
          <a:xfrm>
            <a:off x="10257473" y="187643"/>
            <a:ext cx="1154430" cy="182880"/>
          </a:xfrm>
          <a:prstGeom prst="rect">
            <a:avLst/>
          </a:prstGeom>
        </p:spPr>
        <p:txBody>
          <a:bodyPr anchor="ctr"/>
          <a:lstStyle/>
          <a:p>
            <a:pPr algn="ctr">
              <a:defRPr sz="650" b="0">
                <a:solidFill>
                  <a:srgbClr val="44585C"/>
                </a:solidFill>
              </a:defRPr>
            </a:pPr>
            <a:r>
              <a:t>执行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>
            <a:spLocks noGrp="1"/>
          </p:cNvSpPr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" name="Rectangle 2"/>
          <p:cNvSpPr>
            <a:spLocks noGrp="1"/>
          </p:cNvSpPr>
          <p:nvPr/>
        </p:nvSpPr>
        <p:spPr>
          <a:xfrm>
            <a:off x="0" y="0"/>
            <a:ext cx="41148" cy="6858000"/>
          </a:xfrm>
          <a:prstGeom prst="rect">
            <a:avLst/>
          </a:prstGeom>
          <a:solidFill>
            <a:srgbClr val="0A8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4" name="Oval 3"/>
          <p:cNvSpPr>
            <a:spLocks noGrp="1"/>
          </p:cNvSpPr>
          <p:nvPr/>
        </p:nvSpPr>
        <p:spPr>
          <a:xfrm>
            <a:off x="658368" y="384048"/>
            <a:ext cx="73152" cy="73152"/>
          </a:xfrm>
          <a:prstGeom prst="ellipse">
            <a:avLst/>
          </a:prstGeom>
          <a:solidFill>
            <a:srgbClr val="0A8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5" name="Rectangle 4"/>
          <p:cNvSpPr>
            <a:spLocks noGrp="1"/>
          </p:cNvSpPr>
          <p:nvPr/>
        </p:nvSpPr>
        <p:spPr>
          <a:xfrm>
            <a:off x="768096" y="420624"/>
            <a:ext cx="411480" cy="16459"/>
          </a:xfrm>
          <a:prstGeom prst="rect">
            <a:avLst/>
          </a:prstGeom>
          <a:solidFill>
            <a:srgbClr val="0A8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6" name="TextBox 5"/>
          <p:cNvSpPr>
            <a:spLocks noGrp="1"/>
          </p:cNvSpPr>
          <p:nvPr/>
        </p:nvSpPr>
        <p:spPr>
          <a:xfrm>
            <a:off x="1225296" y="256032"/>
            <a:ext cx="41148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050" b="1">
                <a:solidFill>
                  <a:srgbClr val="076B50"/>
                </a:solidFill>
                <a:latin typeface="Noto Sans CJK SC"/>
                <a:ea typeface="Noto Sans CJK SC"/>
                <a:cs typeface="Noto Sans CJK SC"/>
              </a:rPr>
              <a:t>CHAPTER 4 · 上下文与知识</a:t>
            </a:r>
            <a:endParaRPr sz="1050" b="1">
              <a:solidFill>
                <a:srgbClr val="00A7A7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" name="TextBox 6"/>
          <p:cNvSpPr>
            <a:spLocks noGrp="1"/>
          </p:cNvSpPr>
          <p:nvPr/>
        </p:nvSpPr>
        <p:spPr>
          <a:xfrm>
            <a:off x="658368" y="694944"/>
            <a:ext cx="10652760" cy="47548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</a:pPr>
            <a:r>
              <a:rPr sz="2720" b="1" i="0">
                <a:solidFill>
                  <a:srgbClr val="14383E"/>
                </a:solidFill>
                <a:latin typeface="Noto Sans CJK SC"/>
                <a:ea typeface="Noto Sans CJK SC"/>
                <a:cs typeface="Noto Sans CJK SC"/>
              </a:rPr>
              <a:t>附件先变成事实，再进入 Agent 上下文</a:t>
            </a:r>
            <a:endParaRPr sz="2720" b="1" i="0">
              <a:solidFill>
                <a:srgbClr val="14383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8" name="TextBox 7"/>
          <p:cNvSpPr>
            <a:spLocks noGrp="1"/>
          </p:cNvSpPr>
          <p:nvPr/>
        </p:nvSpPr>
        <p:spPr>
          <a:xfrm>
            <a:off x="658368" y="1170432"/>
            <a:ext cx="10561320" cy="31089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</a:pPr>
            <a:r>
              <a:rPr sz="1170" b="0" i="0">
                <a:solidFill>
                  <a:srgbClr val="44585C"/>
                </a:solidFill>
                <a:latin typeface="Noto Sans CJK SC"/>
                <a:ea typeface="Noto Sans CJK SC"/>
                <a:cs typeface="Noto Sans CJK SC"/>
              </a:rPr>
              <a:t>图片、扫描件和 PDF 先受控下载、解析和压缩，模型只看到处理后的内容与出处。</a:t>
            </a:r>
            <a:endParaRPr sz="1170" b="0" i="0">
              <a:solidFill>
                <a:srgbClr val="6B8185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9" name="Rectangle 8"/>
          <p:cNvSpPr>
            <a:spLocks noGrp="1"/>
          </p:cNvSpPr>
          <p:nvPr/>
        </p:nvSpPr>
        <p:spPr>
          <a:xfrm>
            <a:off x="658368" y="6501384"/>
            <a:ext cx="10835640" cy="10972"/>
          </a:xfrm>
          <a:prstGeom prst="rect">
            <a:avLst/>
          </a:prstGeom>
          <a:solidFill>
            <a:srgbClr val="C9DC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0" name="TextBox 9"/>
          <p:cNvSpPr>
            <a:spLocks noGrp="1"/>
          </p:cNvSpPr>
          <p:nvPr/>
        </p:nvSpPr>
        <p:spPr>
          <a:xfrm>
            <a:off x="658368" y="6547104"/>
            <a:ext cx="237744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780" b="1" i="0">
                <a:solidFill>
                  <a:srgbClr val="5C7276"/>
                </a:solidFill>
                <a:latin typeface="Noto Sans CJK SC"/>
                <a:ea typeface="Noto Sans CJK SC"/>
                <a:cs typeface="Noto Sans CJK SC"/>
              </a:rPr>
              <a:t>CUSTOMER SERVICE AI AGENT</a:t>
            </a:r>
            <a:endParaRPr sz="780" b="1" i="0">
              <a:solidFill>
                <a:srgbClr val="98ACA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1" name="TextBox 10"/>
          <p:cNvSpPr>
            <a:spLocks noGrp="1"/>
          </p:cNvSpPr>
          <p:nvPr/>
        </p:nvSpPr>
        <p:spPr>
          <a:xfrm>
            <a:off x="10680192" y="6519672"/>
            <a:ext cx="82296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buNone/>
            </a:pPr>
            <a:r>
              <a:rPr sz="880" b="1">
                <a:solidFill>
                  <a:srgbClr val="076B50"/>
                </a:solidFill>
                <a:latin typeface="Noto Sans CJK SC"/>
                <a:ea typeface="Noto Sans CJK SC"/>
                <a:cs typeface="Noto Sans CJK SC"/>
              </a:rPr>
              <a:t>32</a:t>
            </a:r>
            <a:endParaRPr sz="880" b="1">
              <a:solidFill>
                <a:srgbClr val="00A7A7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2" name="Rounded Rectangle 11"/>
          <p:cNvSpPr>
            <a:spLocks noGrp="1"/>
          </p:cNvSpPr>
          <p:nvPr/>
        </p:nvSpPr>
        <p:spPr>
          <a:xfrm>
            <a:off x="690372" y="1723644"/>
            <a:ext cx="3749039" cy="4425696"/>
          </a:xfrm>
          <a:prstGeom prst="roundRect">
            <a:avLst/>
          </a:prstGeom>
          <a:solidFill>
            <a:srgbClr val="E3E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3" name="Rounded Rectangle 12"/>
          <p:cNvSpPr>
            <a:spLocks noGrp="1"/>
          </p:cNvSpPr>
          <p:nvPr/>
        </p:nvSpPr>
        <p:spPr>
          <a:xfrm>
            <a:off x="658368" y="1682496"/>
            <a:ext cx="3749039" cy="44256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5" name="TextBox 14"/>
          <p:cNvSpPr>
            <a:spLocks noGrp="1"/>
          </p:cNvSpPr>
          <p:nvPr/>
        </p:nvSpPr>
        <p:spPr>
          <a:xfrm>
            <a:off x="932688" y="1883664"/>
            <a:ext cx="142646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320" b="1" i="0">
                <a:solidFill>
                  <a:srgbClr val="14383E"/>
                </a:solidFill>
                <a:latin typeface="Noto Sans CJK SC"/>
                <a:ea typeface="Noto Sans CJK SC"/>
                <a:cs typeface="Noto Sans CJK SC"/>
              </a:rPr>
              <a:t>附件输入</a:t>
            </a:r>
            <a:endParaRPr sz="1320" b="1" i="0">
              <a:solidFill>
                <a:srgbClr val="14383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6" name="Rounded Rectangle 15"/>
          <p:cNvSpPr>
            <a:spLocks noGrp="1"/>
          </p:cNvSpPr>
          <p:nvPr/>
        </p:nvSpPr>
        <p:spPr>
          <a:xfrm>
            <a:off x="2926080" y="1856231"/>
            <a:ext cx="1170432" cy="256032"/>
          </a:xfrm>
          <a:prstGeom prst="roundRect">
            <a:avLst/>
          </a:prstGeom>
          <a:solidFill>
            <a:srgbClr val="1F63C4"/>
          </a:solidFill>
          <a:ln w="10160">
            <a:solidFill>
              <a:srgbClr val="1F63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7" name="TextBox 16"/>
          <p:cNvSpPr>
            <a:spLocks noGrp="1"/>
          </p:cNvSpPr>
          <p:nvPr/>
        </p:nvSpPr>
        <p:spPr>
          <a:xfrm>
            <a:off x="2944368" y="1865375"/>
            <a:ext cx="1133856" cy="23774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</a:pPr>
            <a:r>
              <a:rPr sz="700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CONTROLLED INPUT</a:t>
            </a:r>
            <a:endParaRPr sz="700" b="1" i="0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8" name="Rounded Rectangle 17"/>
          <p:cNvSpPr>
            <a:spLocks noGrp="1"/>
          </p:cNvSpPr>
          <p:nvPr/>
        </p:nvSpPr>
        <p:spPr>
          <a:xfrm>
            <a:off x="932688" y="2395728"/>
            <a:ext cx="3182112" cy="457200"/>
          </a:xfrm>
          <a:prstGeom prst="roundRect">
            <a:avLst/>
          </a:prstGeom>
          <a:solidFill>
            <a:srgbClr val="EAF2FF"/>
          </a:solidFill>
          <a:ln w="10160"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9" name="TextBox 18"/>
          <p:cNvSpPr>
            <a:spLocks noGrp="1"/>
          </p:cNvSpPr>
          <p:nvPr/>
        </p:nvSpPr>
        <p:spPr>
          <a:xfrm>
            <a:off x="1115568" y="2496312"/>
            <a:ext cx="1024128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820" b="1" i="0">
                <a:solidFill>
                  <a:srgbClr val="1B5FC4"/>
                </a:solidFill>
                <a:latin typeface="Noto Sans CJK SC"/>
                <a:ea typeface="Noto Sans CJK SC"/>
                <a:cs typeface="Noto Sans CJK SC"/>
              </a:rPr>
              <a:t>附件元数据</a:t>
            </a:r>
            <a:endParaRPr sz="820" b="1" i="0">
              <a:solidFill>
                <a:srgbClr val="2F80ED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0" name="TextBox 19"/>
          <p:cNvSpPr>
            <a:spLocks noGrp="1"/>
          </p:cNvSpPr>
          <p:nvPr/>
        </p:nvSpPr>
        <p:spPr>
          <a:xfrm>
            <a:off x="2157984" y="2478024"/>
            <a:ext cx="1737360" cy="25603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</a:pPr>
            <a:r>
              <a:rPr sz="690" b="0" i="0">
                <a:solidFill>
                  <a:srgbClr val="44585C"/>
                </a:solidFill>
                <a:latin typeface="Noto Sans CJK SC"/>
                <a:ea typeface="Noto Sans CJK SC"/>
                <a:cs typeface="Noto Sans CJK SC"/>
              </a:rPr>
              <a:t>文件类型、大小与来源</a:t>
            </a:r>
            <a:endParaRPr sz="690" b="0" i="0">
              <a:solidFill>
                <a:srgbClr val="6B8185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1" name="Rounded Rectangle 20"/>
          <p:cNvSpPr>
            <a:spLocks noGrp="1"/>
          </p:cNvSpPr>
          <p:nvPr/>
        </p:nvSpPr>
        <p:spPr>
          <a:xfrm>
            <a:off x="932688" y="2999232"/>
            <a:ext cx="3182112" cy="457200"/>
          </a:xfrm>
          <a:prstGeom prst="roundRect">
            <a:avLst/>
          </a:prstGeom>
          <a:solidFill>
            <a:srgbClr val="E6F7F6"/>
          </a:solidFill>
          <a:ln w="10160">
            <a:solidFill>
              <a:srgbClr val="00A7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2" name="TextBox 21"/>
          <p:cNvSpPr>
            <a:spLocks noGrp="1"/>
          </p:cNvSpPr>
          <p:nvPr/>
        </p:nvSpPr>
        <p:spPr>
          <a:xfrm>
            <a:off x="1115568" y="3099816"/>
            <a:ext cx="1024128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820" b="1" i="0">
                <a:solidFill>
                  <a:srgbClr val="00706F"/>
                </a:solidFill>
                <a:latin typeface="Noto Sans CJK SC"/>
                <a:ea typeface="Noto Sans CJK SC"/>
                <a:cs typeface="Noto Sans CJK SC"/>
              </a:rPr>
              <a:t>受控下载</a:t>
            </a:r>
            <a:endParaRPr sz="820" b="1" i="0">
              <a:solidFill>
                <a:srgbClr val="00A7A7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3" name="TextBox 22"/>
          <p:cNvSpPr>
            <a:spLocks noGrp="1"/>
          </p:cNvSpPr>
          <p:nvPr/>
        </p:nvSpPr>
        <p:spPr>
          <a:xfrm>
            <a:off x="2157984" y="3081528"/>
            <a:ext cx="1737360" cy="25603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</a:pPr>
            <a:r>
              <a:rPr sz="690" b="0" i="0">
                <a:solidFill>
                  <a:srgbClr val="44585C"/>
                </a:solidFill>
                <a:latin typeface="Noto Sans CJK SC"/>
                <a:ea typeface="Noto Sans CJK SC"/>
                <a:cs typeface="Noto Sans CJK SC"/>
              </a:rPr>
              <a:t>域名白名单、跳转与超时</a:t>
            </a:r>
            <a:endParaRPr sz="690" b="0" i="0">
              <a:solidFill>
                <a:srgbClr val="6B8185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4" name="Rounded Rectangle 23"/>
          <p:cNvSpPr>
            <a:spLocks noGrp="1"/>
          </p:cNvSpPr>
          <p:nvPr/>
        </p:nvSpPr>
        <p:spPr>
          <a:xfrm>
            <a:off x="932688" y="3602736"/>
            <a:ext cx="3182112" cy="457200"/>
          </a:xfrm>
          <a:prstGeom prst="roundRect">
            <a:avLst/>
          </a:prstGeom>
          <a:solidFill>
            <a:srgbClr val="E8F6F0"/>
          </a:solidFill>
          <a:ln w="10160">
            <a:solidFill>
              <a:srgbClr val="0A8F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5" name="TextBox 24"/>
          <p:cNvSpPr>
            <a:spLocks noGrp="1"/>
          </p:cNvSpPr>
          <p:nvPr/>
        </p:nvSpPr>
        <p:spPr>
          <a:xfrm>
            <a:off x="1115568" y="3703320"/>
            <a:ext cx="1024128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820" b="1" i="0">
                <a:solidFill>
                  <a:srgbClr val="076B50"/>
                </a:solidFill>
                <a:latin typeface="Noto Sans CJK SC"/>
                <a:ea typeface="Noto Sans CJK SC"/>
                <a:cs typeface="Noto Sans CJK SC"/>
              </a:rPr>
              <a:t>文本解析</a:t>
            </a:r>
            <a:endParaRPr sz="820" b="1" i="0">
              <a:solidFill>
                <a:srgbClr val="0A8F6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6" name="TextBox 25"/>
          <p:cNvSpPr>
            <a:spLocks noGrp="1"/>
          </p:cNvSpPr>
          <p:nvPr/>
        </p:nvSpPr>
        <p:spPr>
          <a:xfrm>
            <a:off x="2157984" y="3685032"/>
            <a:ext cx="1737360" cy="25603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</a:pPr>
            <a:r>
              <a:rPr sz="690" b="0" i="0">
                <a:solidFill>
                  <a:srgbClr val="44585C"/>
                </a:solidFill>
                <a:latin typeface="Noto Sans CJK SC"/>
                <a:ea typeface="Noto Sans CJK SC"/>
                <a:cs typeface="Noto Sans CJK SC"/>
              </a:rPr>
              <a:t>提取 PDF 与文档可读内容</a:t>
            </a:r>
            <a:endParaRPr sz="690" b="0" i="0">
              <a:solidFill>
                <a:srgbClr val="6B8185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7" name="Rounded Rectangle 26"/>
          <p:cNvSpPr>
            <a:spLocks noGrp="1"/>
          </p:cNvSpPr>
          <p:nvPr/>
        </p:nvSpPr>
        <p:spPr>
          <a:xfrm>
            <a:off x="932688" y="4206240"/>
            <a:ext cx="3182112" cy="457200"/>
          </a:xfrm>
          <a:prstGeom prst="roundRect">
            <a:avLst/>
          </a:prstGeom>
          <a:solidFill>
            <a:srgbClr val="EFEEFF"/>
          </a:solidFill>
          <a:ln w="10160">
            <a:solidFill>
              <a:srgbClr val="6B6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8" name="TextBox 27"/>
          <p:cNvSpPr>
            <a:spLocks noGrp="1"/>
          </p:cNvSpPr>
          <p:nvPr/>
        </p:nvSpPr>
        <p:spPr>
          <a:xfrm>
            <a:off x="1115568" y="4306824"/>
            <a:ext cx="1024128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820" b="1" i="0">
                <a:solidFill>
                  <a:srgbClr val="4A4EB0"/>
                </a:solidFill>
                <a:latin typeface="Noto Sans CJK SC"/>
                <a:ea typeface="Noto Sans CJK SC"/>
                <a:cs typeface="Noto Sans CJK SC"/>
              </a:rPr>
              <a:t>视觉理解</a:t>
            </a:r>
            <a:endParaRPr sz="820" b="1" i="0">
              <a:solidFill>
                <a:srgbClr val="6B6FD8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9" name="TextBox 28"/>
          <p:cNvSpPr>
            <a:spLocks noGrp="1"/>
          </p:cNvSpPr>
          <p:nvPr/>
        </p:nvSpPr>
        <p:spPr>
          <a:xfrm>
            <a:off x="2157984" y="4288536"/>
            <a:ext cx="1737360" cy="25603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</a:pPr>
            <a:r>
              <a:rPr sz="690" b="0" i="0">
                <a:solidFill>
                  <a:srgbClr val="44585C"/>
                </a:solidFill>
                <a:latin typeface="Noto Sans CJK SC"/>
                <a:ea typeface="Noto Sans CJK SC"/>
                <a:cs typeface="Noto Sans CJK SC"/>
              </a:rPr>
              <a:t>识别图片、扫描件与截图</a:t>
            </a:r>
            <a:endParaRPr sz="690" b="0" i="0">
              <a:solidFill>
                <a:srgbClr val="6B8185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0" name="Rounded Rectangle 29"/>
          <p:cNvSpPr>
            <a:spLocks noGrp="1"/>
          </p:cNvSpPr>
          <p:nvPr/>
        </p:nvSpPr>
        <p:spPr>
          <a:xfrm>
            <a:off x="932688" y="4809744"/>
            <a:ext cx="3182112" cy="457200"/>
          </a:xfrm>
          <a:prstGeom prst="roundRect">
            <a:avLst/>
          </a:prstGeom>
          <a:solidFill>
            <a:srgbClr val="FFF0E4"/>
          </a:solidFill>
          <a:ln w="10160">
            <a:solidFill>
              <a:srgbClr val="F28B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1" name="TextBox 30"/>
          <p:cNvSpPr>
            <a:spLocks noGrp="1"/>
          </p:cNvSpPr>
          <p:nvPr/>
        </p:nvSpPr>
        <p:spPr>
          <a:xfrm>
            <a:off x="1115568" y="4910328"/>
            <a:ext cx="1024128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820" b="1" i="0">
                <a:solidFill>
                  <a:srgbClr val="9A5210"/>
                </a:solidFill>
                <a:latin typeface="Noto Sans CJK SC"/>
                <a:ea typeface="Noto Sans CJK SC"/>
                <a:cs typeface="Noto Sans CJK SC"/>
              </a:rPr>
              <a:t>去重与缓存</a:t>
            </a:r>
            <a:endParaRPr sz="820" b="1" i="0">
              <a:solidFill>
                <a:srgbClr val="F28B36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2" name="TextBox 31"/>
          <p:cNvSpPr>
            <a:spLocks noGrp="1"/>
          </p:cNvSpPr>
          <p:nvPr/>
        </p:nvSpPr>
        <p:spPr>
          <a:xfrm>
            <a:off x="2157984" y="4892040"/>
            <a:ext cx="1737360" cy="25603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</a:pPr>
            <a:r>
              <a:rPr sz="690" b="0" i="0">
                <a:solidFill>
                  <a:srgbClr val="44585C"/>
                </a:solidFill>
                <a:latin typeface="Noto Sans CJK SC"/>
                <a:ea typeface="Noto Sans CJK SC"/>
                <a:cs typeface="Noto Sans CJK SC"/>
              </a:rPr>
              <a:t>内容指纹避免重复解析</a:t>
            </a:r>
            <a:endParaRPr sz="690" b="0" i="0">
              <a:solidFill>
                <a:srgbClr val="6B8185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3" name="Right Arrow 32"/>
          <p:cNvSpPr>
            <a:spLocks noGrp="1"/>
          </p:cNvSpPr>
          <p:nvPr/>
        </p:nvSpPr>
        <p:spPr>
          <a:xfrm>
            <a:off x="4553712" y="3429000"/>
            <a:ext cx="420624" cy="566928"/>
          </a:xfrm>
          <a:prstGeom prst="rightArrow">
            <a:avLst/>
          </a:prstGeom>
          <a:solidFill>
            <a:srgbClr val="00A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4" name="Rounded Rectangle 33"/>
          <p:cNvSpPr>
            <a:spLocks noGrp="1"/>
          </p:cNvSpPr>
          <p:nvPr/>
        </p:nvSpPr>
        <p:spPr>
          <a:xfrm>
            <a:off x="5134356" y="2052828"/>
            <a:ext cx="1847088" cy="3566160"/>
          </a:xfrm>
          <a:prstGeom prst="roundRect">
            <a:avLst/>
          </a:prstGeom>
          <a:solidFill>
            <a:srgbClr val="E3E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5" name="Rounded Rectangle 34"/>
          <p:cNvSpPr>
            <a:spLocks noGrp="1"/>
          </p:cNvSpPr>
          <p:nvPr/>
        </p:nvSpPr>
        <p:spPr>
          <a:xfrm>
            <a:off x="5102352" y="2011680"/>
            <a:ext cx="1847088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A7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7" name="TextBox 36"/>
          <p:cNvSpPr>
            <a:spLocks noGrp="1"/>
          </p:cNvSpPr>
          <p:nvPr/>
        </p:nvSpPr>
        <p:spPr>
          <a:xfrm>
            <a:off x="5321808" y="2249424"/>
            <a:ext cx="1408176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1230" b="1" i="0">
                <a:solidFill>
                  <a:srgbClr val="14383E"/>
                </a:solidFill>
                <a:latin typeface="Noto Sans CJK SC"/>
                <a:ea typeface="Noto Sans CJK SC"/>
                <a:cs typeface="Noto Sans CJK SC"/>
              </a:rPr>
              <a:t>附件事实组装器</a:t>
            </a:r>
            <a:endParaRPr sz="1230" b="1" i="0">
              <a:solidFill>
                <a:srgbClr val="14383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8" name="Rounded Rectangle 37"/>
          <p:cNvSpPr>
            <a:spLocks noGrp="1"/>
          </p:cNvSpPr>
          <p:nvPr/>
        </p:nvSpPr>
        <p:spPr>
          <a:xfrm>
            <a:off x="5376672" y="2816352"/>
            <a:ext cx="1298448" cy="640080"/>
          </a:xfrm>
          <a:prstGeom prst="roundRect">
            <a:avLst/>
          </a:prstGeom>
          <a:solidFill>
            <a:srgbClr val="E6F7F6"/>
          </a:solidFill>
          <a:ln w="11430">
            <a:solidFill>
              <a:srgbClr val="00A7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9" name="TextBox 38"/>
          <p:cNvSpPr>
            <a:spLocks noGrp="1"/>
          </p:cNvSpPr>
          <p:nvPr/>
        </p:nvSpPr>
        <p:spPr>
          <a:xfrm>
            <a:off x="5376672" y="2916936"/>
            <a:ext cx="1298448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850" b="1" i="0">
                <a:solidFill>
                  <a:srgbClr val="00706F"/>
                </a:solidFill>
                <a:latin typeface="Noto Sans CJK SC"/>
                <a:ea typeface="Noto Sans CJK SC"/>
                <a:cs typeface="Noto Sans CJK SC"/>
              </a:rPr>
              <a:t>安全规则</a:t>
            </a:r>
            <a:endParaRPr sz="850" b="1" i="0">
              <a:solidFill>
                <a:srgbClr val="00A7A7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0" name="TextBox 39"/>
          <p:cNvSpPr>
            <a:spLocks noGrp="1"/>
          </p:cNvSpPr>
          <p:nvPr/>
        </p:nvSpPr>
        <p:spPr>
          <a:xfrm>
            <a:off x="5376672" y="3145536"/>
            <a:ext cx="1298448" cy="27432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</a:pPr>
            <a:r>
              <a:rPr sz="670" b="0" i="0">
                <a:solidFill>
                  <a:srgbClr val="44585C"/>
                </a:solidFill>
                <a:latin typeface="Noto Sans CJK SC"/>
                <a:ea typeface="Noto Sans CJK SC"/>
                <a:cs typeface="Noto Sans CJK SC"/>
              </a:rPr>
              <a:t>白名单 / 体积 / 超时</a:t>
            </a:r>
            <a:endParaRPr sz="670" b="0" i="0">
              <a:solidFill>
                <a:srgbClr val="6B8185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1" name="Oval 40"/>
          <p:cNvSpPr>
            <a:spLocks noGrp="1"/>
          </p:cNvSpPr>
          <p:nvPr/>
        </p:nvSpPr>
        <p:spPr>
          <a:xfrm>
            <a:off x="5879592" y="3611880"/>
            <a:ext cx="292608" cy="292608"/>
          </a:xfrm>
          <a:prstGeom prst="ellipse">
            <a:avLst/>
          </a:prstGeom>
          <a:solidFill>
            <a:srgbClr val="FFFFFF"/>
          </a:solidFill>
          <a:ln w="10160">
            <a:solidFill>
              <a:srgbClr val="C9D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42" name="TextBox 41"/>
          <p:cNvSpPr>
            <a:spLocks noGrp="1"/>
          </p:cNvSpPr>
          <p:nvPr/>
        </p:nvSpPr>
        <p:spPr>
          <a:xfrm>
            <a:off x="5879592" y="3611880"/>
            <a:ext cx="292608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1300" b="1" i="0">
                <a:solidFill>
                  <a:srgbClr val="9A5210"/>
                </a:solidFill>
                <a:latin typeface="Noto Sans CJK SC"/>
                <a:ea typeface="Noto Sans CJK SC"/>
                <a:cs typeface="Noto Sans CJK SC"/>
              </a:rPr>
              <a:t>+</a:t>
            </a:r>
            <a:endParaRPr sz="1300" b="1" i="0">
              <a:solidFill>
                <a:srgbClr val="F28B36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3" name="Rounded Rectangle 42"/>
          <p:cNvSpPr>
            <a:spLocks noGrp="1"/>
          </p:cNvSpPr>
          <p:nvPr/>
        </p:nvSpPr>
        <p:spPr>
          <a:xfrm>
            <a:off x="5376672" y="4050791"/>
            <a:ext cx="1298448" cy="640080"/>
          </a:xfrm>
          <a:prstGeom prst="roundRect">
            <a:avLst/>
          </a:prstGeom>
          <a:solidFill>
            <a:srgbClr val="EAF2FF"/>
          </a:solidFill>
          <a:ln w="11430"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44" name="TextBox 43"/>
          <p:cNvSpPr>
            <a:spLocks noGrp="1"/>
          </p:cNvSpPr>
          <p:nvPr/>
        </p:nvSpPr>
        <p:spPr>
          <a:xfrm>
            <a:off x="5376672" y="4160520"/>
            <a:ext cx="1298448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850" b="1" i="0">
                <a:solidFill>
                  <a:srgbClr val="1B5FC4"/>
                </a:solidFill>
                <a:latin typeface="Noto Sans CJK SC"/>
                <a:ea typeface="Noto Sans CJK SC"/>
                <a:cs typeface="Noto Sans CJK SC"/>
              </a:rPr>
              <a:t>解析策略</a:t>
            </a:r>
            <a:endParaRPr sz="850" b="1" i="0">
              <a:solidFill>
                <a:srgbClr val="2F80ED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5" name="TextBox 44"/>
          <p:cNvSpPr>
            <a:spLocks noGrp="1"/>
          </p:cNvSpPr>
          <p:nvPr/>
        </p:nvSpPr>
        <p:spPr>
          <a:xfrm>
            <a:off x="5376672" y="4398264"/>
            <a:ext cx="1298448" cy="25603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</a:pPr>
            <a:r>
              <a:rPr sz="670" b="0" i="0">
                <a:solidFill>
                  <a:srgbClr val="44585C"/>
                </a:solidFill>
                <a:latin typeface="Noto Sans CJK SC"/>
                <a:ea typeface="Noto Sans CJK SC"/>
                <a:cs typeface="Noto Sans CJK SC"/>
              </a:rPr>
              <a:t>文本优先 / 必要时视觉</a:t>
            </a:r>
            <a:endParaRPr sz="670" b="0" i="0">
              <a:solidFill>
                <a:srgbClr val="6B8185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6" name="Rounded Rectangle 45"/>
          <p:cNvSpPr>
            <a:spLocks noGrp="1"/>
          </p:cNvSpPr>
          <p:nvPr/>
        </p:nvSpPr>
        <p:spPr>
          <a:xfrm>
            <a:off x="5431536" y="4992624"/>
            <a:ext cx="1188720" cy="274320"/>
          </a:xfrm>
          <a:prstGeom prst="roundRect">
            <a:avLst/>
          </a:prstGeom>
          <a:solidFill>
            <a:srgbClr val="EFEEFF"/>
          </a:solidFill>
          <a:ln w="10160">
            <a:solidFill>
              <a:srgbClr val="6B6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47" name="TextBox 46"/>
          <p:cNvSpPr>
            <a:spLocks noGrp="1"/>
          </p:cNvSpPr>
          <p:nvPr/>
        </p:nvSpPr>
        <p:spPr>
          <a:xfrm>
            <a:off x="5449824" y="5001768"/>
            <a:ext cx="1152144" cy="256031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</a:pPr>
            <a:r>
              <a:rPr sz="740" b="1" i="0">
                <a:solidFill>
                  <a:srgbClr val="4A4EB0"/>
                </a:solidFill>
                <a:latin typeface="Noto Sans CJK SC"/>
                <a:ea typeface="Noto Sans CJK SC"/>
                <a:cs typeface="Noto Sans CJK SC"/>
              </a:rPr>
              <a:t>摘要合同</a:t>
            </a:r>
            <a:endParaRPr sz="740" b="1" i="0">
              <a:solidFill>
                <a:srgbClr val="6B6FD8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8" name="Right Arrow 47"/>
          <p:cNvSpPr>
            <a:spLocks noGrp="1"/>
          </p:cNvSpPr>
          <p:nvPr/>
        </p:nvSpPr>
        <p:spPr>
          <a:xfrm>
            <a:off x="7095744" y="3429000"/>
            <a:ext cx="420624" cy="566928"/>
          </a:xfrm>
          <a:prstGeom prst="rightArrow">
            <a:avLst/>
          </a:prstGeom>
          <a:solidFill>
            <a:srgbClr val="00A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49" name="Oval 48"/>
          <p:cNvSpPr>
            <a:spLocks noGrp="1"/>
          </p:cNvSpPr>
          <p:nvPr/>
        </p:nvSpPr>
        <p:spPr>
          <a:xfrm>
            <a:off x="7772400" y="2395728"/>
            <a:ext cx="1298448" cy="1298448"/>
          </a:xfrm>
          <a:prstGeom prst="ellipse">
            <a:avLst/>
          </a:prstGeom>
          <a:solidFill>
            <a:srgbClr val="00A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50" name="TextBox 49"/>
          <p:cNvSpPr>
            <a:spLocks noGrp="1"/>
          </p:cNvSpPr>
          <p:nvPr/>
        </p:nvSpPr>
        <p:spPr>
          <a:xfrm>
            <a:off x="7772400" y="2779776"/>
            <a:ext cx="1298448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1800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FACTS</a:t>
            </a:r>
            <a:endParaRPr sz="1800" b="1" i="0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1" name="TextBox 50"/>
          <p:cNvSpPr>
            <a:spLocks noGrp="1"/>
          </p:cNvSpPr>
          <p:nvPr/>
        </p:nvSpPr>
        <p:spPr>
          <a:xfrm>
            <a:off x="7644383" y="3767328"/>
            <a:ext cx="155448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900" b="1" i="0">
                <a:solidFill>
                  <a:srgbClr val="14383E"/>
                </a:solidFill>
                <a:latin typeface="Noto Sans CJK SC"/>
                <a:ea typeface="Noto Sans CJK SC"/>
                <a:cs typeface="Noto Sans CJK SC"/>
              </a:rPr>
              <a:t>结构化摘要与关键事实</a:t>
            </a:r>
            <a:endParaRPr sz="900" b="1" i="0">
              <a:solidFill>
                <a:srgbClr val="14383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2" name="Right Arrow 51"/>
          <p:cNvSpPr>
            <a:spLocks noGrp="1"/>
          </p:cNvSpPr>
          <p:nvPr/>
        </p:nvSpPr>
        <p:spPr>
          <a:xfrm>
            <a:off x="9217152" y="3429000"/>
            <a:ext cx="384048" cy="566928"/>
          </a:xfrm>
          <a:prstGeom prst="rightArrow">
            <a:avLst/>
          </a:prstGeom>
          <a:solidFill>
            <a:srgbClr val="6B6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53" name="Rounded Rectangle 52"/>
          <p:cNvSpPr>
            <a:spLocks noGrp="1"/>
          </p:cNvSpPr>
          <p:nvPr/>
        </p:nvSpPr>
        <p:spPr>
          <a:xfrm>
            <a:off x="9742932" y="1723644"/>
            <a:ext cx="1792224" cy="4425696"/>
          </a:xfrm>
          <a:prstGeom prst="roundRect">
            <a:avLst/>
          </a:prstGeom>
          <a:solidFill>
            <a:srgbClr val="E3E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54" name="Rounded Rectangle 53"/>
          <p:cNvSpPr>
            <a:spLocks noGrp="1"/>
          </p:cNvSpPr>
          <p:nvPr/>
        </p:nvSpPr>
        <p:spPr>
          <a:xfrm>
            <a:off x="9710928" y="1682496"/>
            <a:ext cx="1792224" cy="44256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B6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56" name="TextBox 55"/>
          <p:cNvSpPr>
            <a:spLocks noGrp="1"/>
          </p:cNvSpPr>
          <p:nvPr/>
        </p:nvSpPr>
        <p:spPr>
          <a:xfrm>
            <a:off x="9930384" y="1901952"/>
            <a:ext cx="1335024" cy="381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1250" b="1" i="0">
                <a:solidFill>
                  <a:srgbClr val="14383E"/>
                </a:solidFill>
                <a:latin typeface="Noto Sans CJK SC"/>
                <a:ea typeface="Noto Sans CJK SC"/>
                <a:cs typeface="Noto Sans CJK SC"/>
              </a:rPr>
              <a:t>进入上下文前校验</a:t>
            </a:r>
            <a:endParaRPr sz="1250" b="1" i="0">
              <a:solidFill>
                <a:srgbClr val="14383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7" name="Rounded Rectangle 56"/>
          <p:cNvSpPr>
            <a:spLocks noGrp="1"/>
          </p:cNvSpPr>
          <p:nvPr/>
        </p:nvSpPr>
        <p:spPr>
          <a:xfrm>
            <a:off x="9948672" y="2505456"/>
            <a:ext cx="1316736" cy="640080"/>
          </a:xfrm>
          <a:prstGeom prst="roundRect">
            <a:avLst/>
          </a:prstGeom>
          <a:solidFill>
            <a:srgbClr val="EFEEFF"/>
          </a:solidFill>
          <a:ln w="10160">
            <a:solidFill>
              <a:srgbClr val="6B6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58" name="TextBox 57"/>
          <p:cNvSpPr>
            <a:spLocks noGrp="1"/>
          </p:cNvSpPr>
          <p:nvPr/>
        </p:nvSpPr>
        <p:spPr>
          <a:xfrm>
            <a:off x="9948672" y="2596896"/>
            <a:ext cx="1316736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790" b="1" i="0">
                <a:solidFill>
                  <a:srgbClr val="4A4EB0"/>
                </a:solidFill>
                <a:latin typeface="Noto Sans CJK SC"/>
                <a:ea typeface="Noto Sans CJK SC"/>
                <a:cs typeface="Noto Sans CJK SC"/>
              </a:rPr>
              <a:t>Skill opt-in</a:t>
            </a:r>
            <a:endParaRPr sz="790" b="1" i="0">
              <a:solidFill>
                <a:srgbClr val="6B6FD8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9" name="TextBox 58"/>
          <p:cNvSpPr>
            <a:spLocks noGrp="1"/>
          </p:cNvSpPr>
          <p:nvPr/>
        </p:nvSpPr>
        <p:spPr>
          <a:xfrm>
            <a:off x="10003536" y="2862072"/>
            <a:ext cx="1207008" cy="18288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</a:pPr>
            <a:r>
              <a:rPr sz="640" b="0" i="0">
                <a:solidFill>
                  <a:srgbClr val="44585C"/>
                </a:solidFill>
                <a:latin typeface="Noto Sans CJK SC"/>
                <a:ea typeface="Noto Sans CJK SC"/>
                <a:cs typeface="Noto Sans CJK SC"/>
              </a:rPr>
              <a:t>只有声明需要附件的场景可用</a:t>
            </a:r>
            <a:endParaRPr sz="640" b="0" i="0">
              <a:solidFill>
                <a:srgbClr val="6B8185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0" name="Rounded Rectangle 59"/>
          <p:cNvSpPr>
            <a:spLocks noGrp="1"/>
          </p:cNvSpPr>
          <p:nvPr/>
        </p:nvSpPr>
        <p:spPr>
          <a:xfrm>
            <a:off x="9948672" y="3337560"/>
            <a:ext cx="1316736" cy="640080"/>
          </a:xfrm>
          <a:prstGeom prst="roundRect">
            <a:avLst/>
          </a:prstGeom>
          <a:solidFill>
            <a:srgbClr val="FFF0E4"/>
          </a:solidFill>
          <a:ln w="10160">
            <a:solidFill>
              <a:srgbClr val="F28B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61" name="TextBox 60"/>
          <p:cNvSpPr>
            <a:spLocks noGrp="1"/>
          </p:cNvSpPr>
          <p:nvPr/>
        </p:nvSpPr>
        <p:spPr>
          <a:xfrm>
            <a:off x="9948672" y="3429000"/>
            <a:ext cx="1316736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790" b="1" i="0">
                <a:solidFill>
                  <a:srgbClr val="9A5210"/>
                </a:solidFill>
                <a:latin typeface="Noto Sans CJK SC"/>
                <a:ea typeface="Noto Sans CJK SC"/>
                <a:cs typeface="Noto Sans CJK SC"/>
              </a:rPr>
              <a:t>事实与出处</a:t>
            </a:r>
            <a:endParaRPr sz="790" b="1" i="0">
              <a:solidFill>
                <a:srgbClr val="F28B36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2" name="TextBox 61"/>
          <p:cNvSpPr>
            <a:spLocks noGrp="1"/>
          </p:cNvSpPr>
          <p:nvPr/>
        </p:nvSpPr>
        <p:spPr>
          <a:xfrm>
            <a:off x="10003536" y="3694176"/>
            <a:ext cx="1207008" cy="18288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</a:pPr>
            <a:r>
              <a:rPr sz="640" b="0" i="0">
                <a:solidFill>
                  <a:srgbClr val="44585C"/>
                </a:solidFill>
                <a:latin typeface="Noto Sans CJK SC"/>
                <a:ea typeface="Noto Sans CJK SC"/>
                <a:cs typeface="Noto Sans CJK SC"/>
              </a:rPr>
              <a:t>来源标识 / 解析方式 / 生成时间</a:t>
            </a:r>
            <a:endParaRPr sz="640" b="0" i="0">
              <a:solidFill>
                <a:srgbClr val="6B8185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3" name="Rounded Rectangle 62"/>
          <p:cNvSpPr>
            <a:spLocks noGrp="1"/>
          </p:cNvSpPr>
          <p:nvPr/>
        </p:nvSpPr>
        <p:spPr>
          <a:xfrm>
            <a:off x="9948672" y="4169664"/>
            <a:ext cx="1316736" cy="640080"/>
          </a:xfrm>
          <a:prstGeom prst="roundRect">
            <a:avLst/>
          </a:prstGeom>
          <a:solidFill>
            <a:srgbClr val="E8F6F0"/>
          </a:solidFill>
          <a:ln w="10160">
            <a:solidFill>
              <a:srgbClr val="0A8F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64" name="TextBox 63"/>
          <p:cNvSpPr>
            <a:spLocks noGrp="1"/>
          </p:cNvSpPr>
          <p:nvPr/>
        </p:nvSpPr>
        <p:spPr>
          <a:xfrm>
            <a:off x="9948672" y="4261104"/>
            <a:ext cx="1316736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790" b="1" i="0">
                <a:solidFill>
                  <a:srgbClr val="076B50"/>
                </a:solidFill>
                <a:latin typeface="Noto Sans CJK SC"/>
                <a:ea typeface="Noto Sans CJK SC"/>
                <a:cs typeface="Noto Sans CJK SC"/>
              </a:rPr>
              <a:t>冲突与出口</a:t>
            </a:r>
            <a:endParaRPr sz="790" b="1" i="0">
              <a:solidFill>
                <a:srgbClr val="0A8F6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5" name="TextBox 64"/>
          <p:cNvSpPr>
            <a:spLocks noGrp="1"/>
          </p:cNvSpPr>
          <p:nvPr/>
        </p:nvSpPr>
        <p:spPr>
          <a:xfrm>
            <a:off x="10003536" y="4526280"/>
            <a:ext cx="1207008" cy="18288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</a:pPr>
            <a:r>
              <a:rPr sz="640" b="0" i="0">
                <a:solidFill>
                  <a:srgbClr val="44585C"/>
                </a:solidFill>
                <a:latin typeface="Noto Sans CJK SC"/>
                <a:ea typeface="Noto Sans CJK SC"/>
                <a:cs typeface="Noto Sans CJK SC"/>
              </a:rPr>
              <a:t>冲突不覆盖；失败补问或转人工</a:t>
            </a:r>
            <a:endParaRPr sz="640" b="0" i="0">
              <a:solidFill>
                <a:srgbClr val="6B8185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6" name="Rounded Rectangle 65"/>
          <p:cNvSpPr>
            <a:spLocks noGrp="1"/>
          </p:cNvSpPr>
          <p:nvPr/>
        </p:nvSpPr>
        <p:spPr>
          <a:xfrm>
            <a:off x="9948672" y="5166360"/>
            <a:ext cx="1316736" cy="438912"/>
          </a:xfrm>
          <a:prstGeom prst="roundRect">
            <a:avLst/>
          </a:prstGeom>
          <a:solidFill>
            <a:srgbClr val="FDECE9"/>
          </a:solidFill>
          <a:ln w="10160">
            <a:solidFill>
              <a:srgbClr val="E257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67" name="TextBox 66"/>
          <p:cNvSpPr>
            <a:spLocks noGrp="1"/>
          </p:cNvSpPr>
          <p:nvPr/>
        </p:nvSpPr>
        <p:spPr>
          <a:xfrm>
            <a:off x="9948672" y="5285232"/>
            <a:ext cx="1316736" cy="192024"/>
          </a:xfrm>
          <a:prstGeom prst="rect">
            <a:avLst/>
          </a:prstGeom>
          <a:noFill/>
        </p:spPr>
        <p:txBody>
          <a:bodyPr wrap="square" lIns="0" tIns="0" rIns="0" bIns="0" anchor="ctr">
            <a:normAutofit fontScale="91304"/>
          </a:bodyPr>
          <a:lstStyle/>
          <a:p>
            <a:pPr algn="ctr">
              <a:buNone/>
            </a:pPr>
            <a:r>
              <a:rPr sz="690" b="1" i="0">
                <a:solidFill>
                  <a:srgbClr val="B8362C"/>
                </a:solidFill>
                <a:latin typeface="Noto Sans CJK SC"/>
                <a:ea typeface="Noto Sans CJK SC"/>
                <a:cs typeface="Noto Sans CJK SC"/>
              </a:rPr>
              <a:t>摘要与关键事实保存快照，可复现、可审计</a:t>
            </a:r>
            <a:endParaRPr sz="690" b="1" i="0">
              <a:solidFill>
                <a:srgbClr val="E2574C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8" name="Rectangle 67"/>
          <p:cNvSpPr>
            <a:spLocks noGrp="1"/>
          </p:cNvSpPr>
          <p:nvPr/>
        </p:nvSpPr>
        <p:spPr>
          <a:xfrm>
            <a:off x="0" y="0"/>
            <a:ext cx="41148" cy="6858000"/>
          </a:xfrm>
          <a:prstGeom prst="rect">
            <a:avLst/>
          </a:prstGeom>
          <a:solidFill>
            <a:srgbClr val="0A8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69" name="圆角矩形 68"/>
          <p:cNvSpPr>
            <a:spLocks noGrp="1"/>
          </p:cNvSpPr>
          <p:nvPr/>
        </p:nvSpPr>
        <p:spPr>
          <a:xfrm>
            <a:off x="6565583" y="127635"/>
            <a:ext cx="4937760" cy="365760"/>
          </a:xfrm>
          <a:prstGeom prst="roundRect">
            <a:avLst>
              <a:gd name="adj" fmla="val 20833"/>
            </a:avLst>
          </a:prstGeom>
          <a:solidFill>
            <a:srgbClr val="F7FBF9"/>
          </a:solidFill>
          <a:ln w="12668">
            <a:solidFill>
              <a:srgbClr val="F7FBF9"/>
            </a:solidFill>
            <a:prstDash val="solid"/>
          </a:ln>
        </p:spPr>
        <p:txBody>
          <a:bodyPr/>
          <a:p/>
        </p:txBody>
      </p:sp>
      <p:sp>
        <p:nvSpPr>
          <p:cNvPr id="70" name="圆角矩形 69"/>
          <p:cNvSpPr>
            <a:spLocks noGrp="1"/>
          </p:cNvSpPr>
          <p:nvPr/>
        </p:nvSpPr>
        <p:spPr>
          <a:xfrm>
            <a:off x="6657023" y="164783"/>
            <a:ext cx="1154430" cy="264795"/>
          </a:xfrm>
          <a:prstGeom prst="roundRect">
            <a:avLst>
              <a:gd name="adj" fmla="val 28777"/>
            </a:avLst>
          </a:prstGeom>
          <a:solidFill>
            <a:srgbClr val="007574"/>
          </a:solidFill>
          <a:ln w="12668">
            <a:solidFill>
              <a:srgbClr val="007574"/>
            </a:solidFill>
            <a:prstDash val="solid"/>
          </a:ln>
        </p:spPr>
        <p:txBody>
          <a:bodyPr/>
          <a:p/>
        </p:txBody>
      </p:sp>
      <p:sp>
        <p:nvSpPr>
          <p:cNvPr id="71" name="矩形 70"/>
          <p:cNvSpPr>
            <a:spLocks noGrp="1"/>
          </p:cNvSpPr>
          <p:nvPr/>
        </p:nvSpPr>
        <p:spPr>
          <a:xfrm>
            <a:off x="6657023" y="187643"/>
            <a:ext cx="1154430" cy="182880"/>
          </a:xfrm>
          <a:prstGeom prst="rect">
            <a:avLst/>
          </a:prstGeom>
        </p:spPr>
        <p:txBody>
          <a:bodyPr anchor="ctr"/>
          <a:lstStyle/>
          <a:p>
            <a:pPr algn="ctr">
              <a:defRPr sz="660" b="1">
                <a:solidFill>
                  <a:srgbClr val="FFFFFF"/>
                </a:solidFill>
              </a:defRPr>
            </a:pPr>
            <a:r>
              <a:t>理解</a:t>
            </a:r>
          </a:p>
        </p:txBody>
      </p:sp>
      <p:sp>
        <p:nvSpPr>
          <p:cNvPr id="72" name="圆角矩形 71"/>
          <p:cNvSpPr>
            <a:spLocks noGrp="1"/>
          </p:cNvSpPr>
          <p:nvPr/>
        </p:nvSpPr>
        <p:spPr>
          <a:xfrm>
            <a:off x="7857173" y="164783"/>
            <a:ext cx="1154430" cy="264795"/>
          </a:xfrm>
          <a:prstGeom prst="roundRect">
            <a:avLst>
              <a:gd name="adj" fmla="val 28777"/>
            </a:avLst>
          </a:prstGeom>
          <a:solidFill>
            <a:srgbClr val="FFFFFF"/>
          </a:solidFill>
          <a:ln w="12668">
            <a:solidFill>
              <a:srgbClr val="C9DCD7"/>
            </a:solidFill>
            <a:prstDash val="solid"/>
          </a:ln>
        </p:spPr>
        <p:txBody>
          <a:bodyPr/>
          <a:p/>
        </p:txBody>
      </p:sp>
      <p:sp>
        <p:nvSpPr>
          <p:cNvPr id="73" name="矩形 72"/>
          <p:cNvSpPr>
            <a:spLocks noGrp="1"/>
          </p:cNvSpPr>
          <p:nvPr/>
        </p:nvSpPr>
        <p:spPr>
          <a:xfrm>
            <a:off x="7857173" y="187643"/>
            <a:ext cx="1154430" cy="182880"/>
          </a:xfrm>
          <a:prstGeom prst="rect">
            <a:avLst/>
          </a:prstGeom>
        </p:spPr>
        <p:txBody>
          <a:bodyPr anchor="ctr"/>
          <a:lstStyle/>
          <a:p>
            <a:pPr algn="ctr">
              <a:defRPr sz="650" b="0">
                <a:solidFill>
                  <a:srgbClr val="44585C"/>
                </a:solidFill>
              </a:defRPr>
            </a:pPr>
            <a:r>
              <a:t>查询</a:t>
            </a:r>
          </a:p>
        </p:txBody>
      </p:sp>
      <p:sp>
        <p:nvSpPr>
          <p:cNvPr id="74" name="圆角矩形 73"/>
          <p:cNvSpPr>
            <a:spLocks noGrp="1"/>
          </p:cNvSpPr>
          <p:nvPr/>
        </p:nvSpPr>
        <p:spPr>
          <a:xfrm>
            <a:off x="9057323" y="164783"/>
            <a:ext cx="1154430" cy="264795"/>
          </a:xfrm>
          <a:prstGeom prst="roundRect">
            <a:avLst>
              <a:gd name="adj" fmla="val 28777"/>
            </a:avLst>
          </a:prstGeom>
          <a:solidFill>
            <a:srgbClr val="FFFFFF"/>
          </a:solidFill>
          <a:ln w="12668">
            <a:solidFill>
              <a:srgbClr val="C9DCD7"/>
            </a:solidFill>
            <a:prstDash val="solid"/>
          </a:ln>
        </p:spPr>
        <p:txBody>
          <a:bodyPr/>
          <a:p/>
        </p:txBody>
      </p:sp>
      <p:sp>
        <p:nvSpPr>
          <p:cNvPr id="75" name="矩形 74"/>
          <p:cNvSpPr>
            <a:spLocks noGrp="1"/>
          </p:cNvSpPr>
          <p:nvPr/>
        </p:nvSpPr>
        <p:spPr>
          <a:xfrm>
            <a:off x="9057323" y="187643"/>
            <a:ext cx="1154430" cy="182880"/>
          </a:xfrm>
          <a:prstGeom prst="rect">
            <a:avLst/>
          </a:prstGeom>
        </p:spPr>
        <p:txBody>
          <a:bodyPr anchor="ctr"/>
          <a:lstStyle/>
          <a:p>
            <a:pPr algn="ctr">
              <a:defRPr sz="650" b="0">
                <a:solidFill>
                  <a:srgbClr val="44585C"/>
                </a:solidFill>
              </a:defRPr>
            </a:pPr>
            <a:r>
              <a:t>决策</a:t>
            </a:r>
          </a:p>
        </p:txBody>
      </p:sp>
      <p:sp>
        <p:nvSpPr>
          <p:cNvPr id="76" name="圆角矩形 75"/>
          <p:cNvSpPr>
            <a:spLocks noGrp="1"/>
          </p:cNvSpPr>
          <p:nvPr/>
        </p:nvSpPr>
        <p:spPr>
          <a:xfrm>
            <a:off x="10257473" y="164783"/>
            <a:ext cx="1154430" cy="264795"/>
          </a:xfrm>
          <a:prstGeom prst="roundRect">
            <a:avLst>
              <a:gd name="adj" fmla="val 28777"/>
            </a:avLst>
          </a:prstGeom>
          <a:solidFill>
            <a:srgbClr val="FFFFFF"/>
          </a:solidFill>
          <a:ln w="12668">
            <a:solidFill>
              <a:srgbClr val="C9DCD7"/>
            </a:solidFill>
            <a:prstDash val="solid"/>
          </a:ln>
        </p:spPr>
        <p:txBody>
          <a:bodyPr/>
          <a:p/>
        </p:txBody>
      </p:sp>
      <p:sp>
        <p:nvSpPr>
          <p:cNvPr id="77" name="矩形 76"/>
          <p:cNvSpPr>
            <a:spLocks noGrp="1"/>
          </p:cNvSpPr>
          <p:nvPr/>
        </p:nvSpPr>
        <p:spPr>
          <a:xfrm>
            <a:off x="10257473" y="187643"/>
            <a:ext cx="1154430" cy="182880"/>
          </a:xfrm>
          <a:prstGeom prst="rect">
            <a:avLst/>
          </a:prstGeom>
        </p:spPr>
        <p:txBody>
          <a:bodyPr anchor="ctr"/>
          <a:lstStyle/>
          <a:p>
            <a:pPr algn="ctr">
              <a:defRPr sz="650" b="0">
                <a:solidFill>
                  <a:srgbClr val="44585C"/>
                </a:solidFill>
              </a:defRPr>
            </a:pPr>
            <a:r>
              <a:t>执行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>
            <a:spLocks noGrp="1"/>
          </p:cNvSpPr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" name="Rectangle 2"/>
          <p:cNvSpPr>
            <a:spLocks noGrp="1"/>
          </p:cNvSpPr>
          <p:nvPr/>
        </p:nvSpPr>
        <p:spPr>
          <a:xfrm>
            <a:off x="0" y="0"/>
            <a:ext cx="41148" cy="6858000"/>
          </a:xfrm>
          <a:prstGeom prst="rect">
            <a:avLst/>
          </a:prstGeom>
          <a:solidFill>
            <a:srgbClr val="0A8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4" name="Oval 3"/>
          <p:cNvSpPr>
            <a:spLocks noGrp="1"/>
          </p:cNvSpPr>
          <p:nvPr/>
        </p:nvSpPr>
        <p:spPr>
          <a:xfrm>
            <a:off x="658368" y="384048"/>
            <a:ext cx="73152" cy="73152"/>
          </a:xfrm>
          <a:prstGeom prst="ellipse">
            <a:avLst/>
          </a:prstGeom>
          <a:solidFill>
            <a:srgbClr val="0A8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5" name="Rectangle 4"/>
          <p:cNvSpPr>
            <a:spLocks noGrp="1"/>
          </p:cNvSpPr>
          <p:nvPr/>
        </p:nvSpPr>
        <p:spPr>
          <a:xfrm>
            <a:off x="768096" y="420624"/>
            <a:ext cx="411480" cy="16459"/>
          </a:xfrm>
          <a:prstGeom prst="rect">
            <a:avLst/>
          </a:prstGeom>
          <a:solidFill>
            <a:srgbClr val="0A8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6" name="TextBox 5"/>
          <p:cNvSpPr>
            <a:spLocks noGrp="1"/>
          </p:cNvSpPr>
          <p:nvPr/>
        </p:nvSpPr>
        <p:spPr>
          <a:xfrm>
            <a:off x="1225296" y="256032"/>
            <a:ext cx="41148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050" b="1">
                <a:solidFill>
                  <a:srgbClr val="076B50"/>
                </a:solidFill>
                <a:latin typeface="Noto Sans CJK SC"/>
                <a:ea typeface="Noto Sans CJK SC"/>
                <a:cs typeface="Noto Sans CJK SC"/>
              </a:rPr>
              <a:t>CHAPTER 4 · 上下文与知识</a:t>
            </a:r>
            <a:endParaRPr sz="1050" b="1">
              <a:solidFill>
                <a:srgbClr val="00A7A7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" name="TextBox 6"/>
          <p:cNvSpPr>
            <a:spLocks noGrp="1"/>
          </p:cNvSpPr>
          <p:nvPr/>
        </p:nvSpPr>
        <p:spPr>
          <a:xfrm>
            <a:off x="658368" y="694944"/>
            <a:ext cx="10652760" cy="47548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</a:pPr>
            <a:r>
              <a:rPr sz="2720" b="1" i="0">
                <a:solidFill>
                  <a:srgbClr val="14383E"/>
                </a:solidFill>
                <a:latin typeface="Noto Sans CJK SC"/>
                <a:ea typeface="Noto Sans CJK SC"/>
                <a:cs typeface="Noto Sans CJK SC"/>
              </a:rPr>
              <a:t>Context 组装与 Prompt 请求</a:t>
            </a:r>
            <a:endParaRPr sz="2720" b="1" i="0">
              <a:solidFill>
                <a:srgbClr val="14383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8" name="TextBox 7"/>
          <p:cNvSpPr>
            <a:spLocks noGrp="1"/>
          </p:cNvSpPr>
          <p:nvPr/>
        </p:nvSpPr>
        <p:spPr>
          <a:xfrm>
            <a:off x="658368" y="1170432"/>
            <a:ext cx="10561320" cy="31089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</a:pPr>
            <a:r>
              <a:rPr sz="1170" b="0" i="0">
                <a:solidFill>
                  <a:srgbClr val="44585C"/>
                </a:solidFill>
                <a:latin typeface="Noto Sans CJK SC"/>
                <a:ea typeface="Noto Sans CJK SC"/>
                <a:cs typeface="Noto Sans CJK SC"/>
              </a:rPr>
              <a:t>稳定指令单独维护，动态事实按工单组装；输出先验结构，再验业务条件。</a:t>
            </a:r>
            <a:endParaRPr sz="1170" b="0" i="0">
              <a:solidFill>
                <a:srgbClr val="6B8185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9" name="Rectangle 8"/>
          <p:cNvSpPr>
            <a:spLocks noGrp="1"/>
          </p:cNvSpPr>
          <p:nvPr/>
        </p:nvSpPr>
        <p:spPr>
          <a:xfrm>
            <a:off x="658368" y="6501384"/>
            <a:ext cx="10835640" cy="10972"/>
          </a:xfrm>
          <a:prstGeom prst="rect">
            <a:avLst/>
          </a:prstGeom>
          <a:solidFill>
            <a:srgbClr val="C9DC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0" name="TextBox 9"/>
          <p:cNvSpPr>
            <a:spLocks noGrp="1"/>
          </p:cNvSpPr>
          <p:nvPr/>
        </p:nvSpPr>
        <p:spPr>
          <a:xfrm>
            <a:off x="658368" y="6547104"/>
            <a:ext cx="237744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780" b="1" i="0">
                <a:solidFill>
                  <a:srgbClr val="5C7276"/>
                </a:solidFill>
                <a:latin typeface="Noto Sans CJK SC"/>
                <a:ea typeface="Noto Sans CJK SC"/>
                <a:cs typeface="Noto Sans CJK SC"/>
              </a:rPr>
              <a:t>CUSTOMER SERVICE AI AGENT</a:t>
            </a:r>
            <a:endParaRPr sz="780" b="1" i="0">
              <a:solidFill>
                <a:srgbClr val="98ACA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1" name="TextBox 10"/>
          <p:cNvSpPr>
            <a:spLocks noGrp="1"/>
          </p:cNvSpPr>
          <p:nvPr/>
        </p:nvSpPr>
        <p:spPr>
          <a:xfrm>
            <a:off x="10680192" y="6519672"/>
            <a:ext cx="82296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buNone/>
            </a:pPr>
            <a:r>
              <a:rPr sz="880" b="1">
                <a:solidFill>
                  <a:srgbClr val="076B50"/>
                </a:solidFill>
                <a:latin typeface="Noto Sans CJK SC"/>
                <a:ea typeface="Noto Sans CJK SC"/>
                <a:cs typeface="Noto Sans CJK SC"/>
              </a:rPr>
              <a:t>33</a:t>
            </a:r>
            <a:endParaRPr sz="880" b="1">
              <a:solidFill>
                <a:srgbClr val="00A7A7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2" name="Rounded Rectangle 11"/>
          <p:cNvSpPr>
            <a:spLocks noGrp="1"/>
          </p:cNvSpPr>
          <p:nvPr/>
        </p:nvSpPr>
        <p:spPr>
          <a:xfrm>
            <a:off x="690372" y="1723644"/>
            <a:ext cx="3749039" cy="4425696"/>
          </a:xfrm>
          <a:prstGeom prst="roundRect">
            <a:avLst/>
          </a:prstGeom>
          <a:solidFill>
            <a:srgbClr val="E3E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3" name="Rounded Rectangle 12"/>
          <p:cNvSpPr>
            <a:spLocks noGrp="1"/>
          </p:cNvSpPr>
          <p:nvPr/>
        </p:nvSpPr>
        <p:spPr>
          <a:xfrm>
            <a:off x="658368" y="1682496"/>
            <a:ext cx="3749039" cy="44256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5" name="TextBox 14"/>
          <p:cNvSpPr>
            <a:spLocks noGrp="1"/>
          </p:cNvSpPr>
          <p:nvPr/>
        </p:nvSpPr>
        <p:spPr>
          <a:xfrm>
            <a:off x="932688" y="1883664"/>
            <a:ext cx="142646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320" b="1" i="0">
                <a:solidFill>
                  <a:srgbClr val="14383E"/>
                </a:solidFill>
                <a:latin typeface="Noto Sans CJK SC"/>
                <a:ea typeface="Noto Sans CJK SC"/>
                <a:cs typeface="Noto Sans CJK SC"/>
              </a:rPr>
              <a:t>任务上下文包</a:t>
            </a:r>
            <a:endParaRPr sz="1320" b="1" i="0">
              <a:solidFill>
                <a:srgbClr val="14383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6" name="Rounded Rectangle 15"/>
          <p:cNvSpPr>
            <a:spLocks noGrp="1"/>
          </p:cNvSpPr>
          <p:nvPr/>
        </p:nvSpPr>
        <p:spPr>
          <a:xfrm>
            <a:off x="2926080" y="1856231"/>
            <a:ext cx="1170432" cy="256032"/>
          </a:xfrm>
          <a:prstGeom prst="roundRect">
            <a:avLst/>
          </a:prstGeom>
          <a:solidFill>
            <a:srgbClr val="1F63C4"/>
          </a:solidFill>
          <a:ln w="10160">
            <a:solidFill>
              <a:srgbClr val="1F63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7" name="TextBox 16"/>
          <p:cNvSpPr>
            <a:spLocks noGrp="1"/>
          </p:cNvSpPr>
          <p:nvPr/>
        </p:nvSpPr>
        <p:spPr>
          <a:xfrm>
            <a:off x="2944368" y="1865375"/>
            <a:ext cx="1133856" cy="23774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</a:pPr>
            <a:r>
              <a:rPr sz="700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DYNAMIC CONTEXT</a:t>
            </a:r>
            <a:endParaRPr sz="700" b="1" i="0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8" name="Rounded Rectangle 17"/>
          <p:cNvSpPr>
            <a:spLocks noGrp="1"/>
          </p:cNvSpPr>
          <p:nvPr/>
        </p:nvSpPr>
        <p:spPr>
          <a:xfrm>
            <a:off x="932688" y="2395728"/>
            <a:ext cx="3182112" cy="457200"/>
          </a:xfrm>
          <a:prstGeom prst="roundRect">
            <a:avLst/>
          </a:prstGeom>
          <a:solidFill>
            <a:srgbClr val="EAF2FF"/>
          </a:solidFill>
          <a:ln w="10160"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9" name="TextBox 18"/>
          <p:cNvSpPr>
            <a:spLocks noGrp="1"/>
          </p:cNvSpPr>
          <p:nvPr/>
        </p:nvSpPr>
        <p:spPr>
          <a:xfrm>
            <a:off x="1115568" y="2496312"/>
            <a:ext cx="1024128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820" b="1" i="0">
                <a:solidFill>
                  <a:srgbClr val="1B5FC4"/>
                </a:solidFill>
                <a:latin typeface="Noto Sans CJK SC"/>
                <a:ea typeface="Noto Sans CJK SC"/>
                <a:cs typeface="Noto Sans CJK SC"/>
              </a:rPr>
              <a:t>客户当前诉求</a:t>
            </a:r>
            <a:endParaRPr sz="820" b="1" i="0">
              <a:solidFill>
                <a:srgbClr val="2F80ED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0" name="TextBox 19"/>
          <p:cNvSpPr>
            <a:spLocks noGrp="1"/>
          </p:cNvSpPr>
          <p:nvPr/>
        </p:nvSpPr>
        <p:spPr>
          <a:xfrm>
            <a:off x="2157984" y="2478024"/>
            <a:ext cx="1737360" cy="25603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</a:pPr>
            <a:r>
              <a:rPr sz="690" b="0" i="0">
                <a:solidFill>
                  <a:srgbClr val="44585C"/>
                </a:solidFill>
                <a:latin typeface="Noto Sans CJK SC"/>
                <a:ea typeface="Noto Sans CJK SC"/>
                <a:cs typeface="Noto Sans CJK SC"/>
              </a:rPr>
              <a:t>原始表达与目标</a:t>
            </a:r>
            <a:endParaRPr sz="690" b="0" i="0">
              <a:solidFill>
                <a:srgbClr val="6B8185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1" name="Rounded Rectangle 20"/>
          <p:cNvSpPr>
            <a:spLocks noGrp="1"/>
          </p:cNvSpPr>
          <p:nvPr/>
        </p:nvSpPr>
        <p:spPr>
          <a:xfrm>
            <a:off x="932688" y="2999232"/>
            <a:ext cx="3182112" cy="457200"/>
          </a:xfrm>
          <a:prstGeom prst="roundRect">
            <a:avLst/>
          </a:prstGeom>
          <a:solidFill>
            <a:srgbClr val="E6F7F6"/>
          </a:solidFill>
          <a:ln w="10160">
            <a:solidFill>
              <a:srgbClr val="00A7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2" name="TextBox 21"/>
          <p:cNvSpPr>
            <a:spLocks noGrp="1"/>
          </p:cNvSpPr>
          <p:nvPr/>
        </p:nvSpPr>
        <p:spPr>
          <a:xfrm>
            <a:off x="1115568" y="3099816"/>
            <a:ext cx="1024128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820" b="1" i="0">
                <a:solidFill>
                  <a:srgbClr val="00706F"/>
                </a:solidFill>
                <a:latin typeface="Noto Sans CJK SC"/>
                <a:ea typeface="Noto Sans CJK SC"/>
                <a:cs typeface="Noto Sans CJK SC"/>
              </a:rPr>
              <a:t>会话与工单摘要</a:t>
            </a:r>
            <a:endParaRPr sz="820" b="1" i="0">
              <a:solidFill>
                <a:srgbClr val="00A7A7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3" name="TextBox 22"/>
          <p:cNvSpPr>
            <a:spLocks noGrp="1"/>
          </p:cNvSpPr>
          <p:nvPr/>
        </p:nvSpPr>
        <p:spPr>
          <a:xfrm>
            <a:off x="2157984" y="3081528"/>
            <a:ext cx="1737360" cy="25603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</a:pPr>
            <a:r>
              <a:rPr sz="690" b="0" i="0">
                <a:solidFill>
                  <a:srgbClr val="44585C"/>
                </a:solidFill>
                <a:latin typeface="Noto Sans CJK SC"/>
                <a:ea typeface="Noto Sans CJK SC"/>
                <a:cs typeface="Noto Sans CJK SC"/>
              </a:rPr>
              <a:t>去除系统噪音和无关历史</a:t>
            </a:r>
            <a:endParaRPr sz="690" b="0" i="0">
              <a:solidFill>
                <a:srgbClr val="6B8185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4" name="Rounded Rectangle 23"/>
          <p:cNvSpPr>
            <a:spLocks noGrp="1"/>
          </p:cNvSpPr>
          <p:nvPr/>
        </p:nvSpPr>
        <p:spPr>
          <a:xfrm>
            <a:off x="932688" y="3602736"/>
            <a:ext cx="3182112" cy="457200"/>
          </a:xfrm>
          <a:prstGeom prst="roundRect">
            <a:avLst/>
          </a:prstGeom>
          <a:solidFill>
            <a:srgbClr val="E8F6F0"/>
          </a:solidFill>
          <a:ln w="10160">
            <a:solidFill>
              <a:srgbClr val="0A8F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5" name="TextBox 24"/>
          <p:cNvSpPr>
            <a:spLocks noGrp="1"/>
          </p:cNvSpPr>
          <p:nvPr/>
        </p:nvSpPr>
        <p:spPr>
          <a:xfrm>
            <a:off x="1115568" y="3703320"/>
            <a:ext cx="1024128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820" b="1" i="0">
                <a:solidFill>
                  <a:srgbClr val="076B50"/>
                </a:solidFill>
                <a:latin typeface="Noto Sans CJK SC"/>
                <a:ea typeface="Noto Sans CJK SC"/>
                <a:cs typeface="Noto Sans CJK SC"/>
              </a:rPr>
              <a:t>实时业务事实</a:t>
            </a:r>
            <a:endParaRPr sz="820" b="1" i="0">
              <a:solidFill>
                <a:srgbClr val="0A8F6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6" name="TextBox 25"/>
          <p:cNvSpPr>
            <a:spLocks noGrp="1"/>
          </p:cNvSpPr>
          <p:nvPr/>
        </p:nvSpPr>
        <p:spPr>
          <a:xfrm>
            <a:off x="2157984" y="3685032"/>
            <a:ext cx="1737360" cy="25603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</a:pPr>
            <a:r>
              <a:rPr sz="690" b="0" i="0">
                <a:solidFill>
                  <a:srgbClr val="44585C"/>
                </a:solidFill>
                <a:latin typeface="Noto Sans CJK SC"/>
                <a:ea typeface="Noto Sans CJK SC"/>
                <a:cs typeface="Noto Sans CJK SC"/>
              </a:rPr>
              <a:t>订单、履约、物流、退款</a:t>
            </a:r>
            <a:endParaRPr sz="690" b="0" i="0">
              <a:solidFill>
                <a:srgbClr val="6B8185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7" name="Rounded Rectangle 26"/>
          <p:cNvSpPr>
            <a:spLocks noGrp="1"/>
          </p:cNvSpPr>
          <p:nvPr/>
        </p:nvSpPr>
        <p:spPr>
          <a:xfrm>
            <a:off x="932688" y="4206240"/>
            <a:ext cx="3182112" cy="457200"/>
          </a:xfrm>
          <a:prstGeom prst="roundRect">
            <a:avLst/>
          </a:prstGeom>
          <a:solidFill>
            <a:srgbClr val="EFEEFF"/>
          </a:solidFill>
          <a:ln w="10160">
            <a:solidFill>
              <a:srgbClr val="6B6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8" name="TextBox 27"/>
          <p:cNvSpPr>
            <a:spLocks noGrp="1"/>
          </p:cNvSpPr>
          <p:nvPr/>
        </p:nvSpPr>
        <p:spPr>
          <a:xfrm>
            <a:off x="1115568" y="4306824"/>
            <a:ext cx="1024128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820" b="1" i="0">
                <a:solidFill>
                  <a:srgbClr val="4A4EB0"/>
                </a:solidFill>
                <a:latin typeface="Noto Sans CJK SC"/>
                <a:ea typeface="Noto Sans CJK SC"/>
                <a:cs typeface="Noto Sans CJK SC"/>
              </a:rPr>
              <a:t>知识证据</a:t>
            </a:r>
            <a:endParaRPr sz="820" b="1" i="0">
              <a:solidFill>
                <a:srgbClr val="6B6FD8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9" name="TextBox 28"/>
          <p:cNvSpPr>
            <a:spLocks noGrp="1"/>
          </p:cNvSpPr>
          <p:nvPr/>
        </p:nvSpPr>
        <p:spPr>
          <a:xfrm>
            <a:off x="2157984" y="4288536"/>
            <a:ext cx="1737360" cy="25603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</a:pPr>
            <a:r>
              <a:rPr sz="690" b="0" i="0">
                <a:solidFill>
                  <a:srgbClr val="44585C"/>
                </a:solidFill>
                <a:latin typeface="Noto Sans CJK SC"/>
                <a:ea typeface="Noto Sans CJK SC"/>
                <a:cs typeface="Noto Sans CJK SC"/>
              </a:rPr>
              <a:t>规则、文章片段与来源</a:t>
            </a:r>
            <a:endParaRPr sz="690" b="0" i="0">
              <a:solidFill>
                <a:srgbClr val="6B8185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0" name="Rounded Rectangle 29"/>
          <p:cNvSpPr>
            <a:spLocks noGrp="1"/>
          </p:cNvSpPr>
          <p:nvPr/>
        </p:nvSpPr>
        <p:spPr>
          <a:xfrm>
            <a:off x="932688" y="4809744"/>
            <a:ext cx="3182112" cy="457200"/>
          </a:xfrm>
          <a:prstGeom prst="roundRect">
            <a:avLst/>
          </a:prstGeom>
          <a:solidFill>
            <a:srgbClr val="FFF0E4"/>
          </a:solidFill>
          <a:ln w="10160">
            <a:solidFill>
              <a:srgbClr val="F28B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1" name="TextBox 30"/>
          <p:cNvSpPr>
            <a:spLocks noGrp="1"/>
          </p:cNvSpPr>
          <p:nvPr/>
        </p:nvSpPr>
        <p:spPr>
          <a:xfrm>
            <a:off x="1115568" y="4910328"/>
            <a:ext cx="1024128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820" b="1" i="0">
                <a:solidFill>
                  <a:srgbClr val="9A5210"/>
                </a:solidFill>
                <a:latin typeface="Noto Sans CJK SC"/>
                <a:ea typeface="Noto Sans CJK SC"/>
                <a:cs typeface="Noto Sans CJK SC"/>
              </a:rPr>
              <a:t>确认与风险状态</a:t>
            </a:r>
            <a:endParaRPr sz="820" b="1" i="0">
              <a:solidFill>
                <a:srgbClr val="F28B36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2" name="TextBox 31"/>
          <p:cNvSpPr>
            <a:spLocks noGrp="1"/>
          </p:cNvSpPr>
          <p:nvPr/>
        </p:nvSpPr>
        <p:spPr>
          <a:xfrm>
            <a:off x="2157984" y="4892040"/>
            <a:ext cx="1737360" cy="25603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</a:pPr>
            <a:r>
              <a:rPr sz="690" b="0" i="0">
                <a:solidFill>
                  <a:srgbClr val="44585C"/>
                </a:solidFill>
                <a:latin typeface="Noto Sans CJK SC"/>
                <a:ea typeface="Noto Sans CJK SC"/>
                <a:cs typeface="Noto Sans CJK SC"/>
              </a:rPr>
              <a:t>客户确认、人工审核、权限</a:t>
            </a:r>
            <a:endParaRPr sz="690" b="0" i="0">
              <a:solidFill>
                <a:srgbClr val="6B8185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3" name="Right Arrow 32"/>
          <p:cNvSpPr>
            <a:spLocks noGrp="1"/>
          </p:cNvSpPr>
          <p:nvPr/>
        </p:nvSpPr>
        <p:spPr>
          <a:xfrm>
            <a:off x="4553712" y="3429000"/>
            <a:ext cx="420624" cy="566928"/>
          </a:xfrm>
          <a:prstGeom prst="rightArrow">
            <a:avLst/>
          </a:prstGeom>
          <a:solidFill>
            <a:srgbClr val="00A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4" name="Rounded Rectangle 33"/>
          <p:cNvSpPr>
            <a:spLocks noGrp="1"/>
          </p:cNvSpPr>
          <p:nvPr/>
        </p:nvSpPr>
        <p:spPr>
          <a:xfrm>
            <a:off x="5134356" y="2052828"/>
            <a:ext cx="1847088" cy="3566160"/>
          </a:xfrm>
          <a:prstGeom prst="roundRect">
            <a:avLst/>
          </a:prstGeom>
          <a:solidFill>
            <a:srgbClr val="E3E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5" name="Rounded Rectangle 34"/>
          <p:cNvSpPr>
            <a:spLocks noGrp="1"/>
          </p:cNvSpPr>
          <p:nvPr/>
        </p:nvSpPr>
        <p:spPr>
          <a:xfrm>
            <a:off x="5102352" y="2011680"/>
            <a:ext cx="1847088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A7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7" name="TextBox 36"/>
          <p:cNvSpPr>
            <a:spLocks noGrp="1"/>
          </p:cNvSpPr>
          <p:nvPr/>
        </p:nvSpPr>
        <p:spPr>
          <a:xfrm>
            <a:off x="5321808" y="2249424"/>
            <a:ext cx="1408176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1230" b="1" i="0">
                <a:solidFill>
                  <a:srgbClr val="14383E"/>
                </a:solidFill>
                <a:latin typeface="Noto Sans CJK SC"/>
                <a:ea typeface="Noto Sans CJK SC"/>
                <a:cs typeface="Noto Sans CJK SC"/>
              </a:rPr>
              <a:t>请求组装器</a:t>
            </a:r>
            <a:endParaRPr sz="1230" b="1" i="0">
              <a:solidFill>
                <a:srgbClr val="14383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8" name="Rounded Rectangle 37"/>
          <p:cNvSpPr>
            <a:spLocks noGrp="1"/>
          </p:cNvSpPr>
          <p:nvPr/>
        </p:nvSpPr>
        <p:spPr>
          <a:xfrm>
            <a:off x="5376672" y="2816352"/>
            <a:ext cx="1298448" cy="640080"/>
          </a:xfrm>
          <a:prstGeom prst="roundRect">
            <a:avLst/>
          </a:prstGeom>
          <a:solidFill>
            <a:srgbClr val="E6F7F6"/>
          </a:solidFill>
          <a:ln w="11430">
            <a:solidFill>
              <a:srgbClr val="00A7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9" name="TextBox 38"/>
          <p:cNvSpPr>
            <a:spLocks noGrp="1"/>
          </p:cNvSpPr>
          <p:nvPr/>
        </p:nvSpPr>
        <p:spPr>
          <a:xfrm>
            <a:off x="5376672" y="2916936"/>
            <a:ext cx="1298448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850" b="1" i="0">
                <a:solidFill>
                  <a:srgbClr val="00706F"/>
                </a:solidFill>
                <a:latin typeface="Noto Sans CJK SC"/>
                <a:ea typeface="Noto Sans CJK SC"/>
                <a:cs typeface="Noto Sans CJK SC"/>
              </a:rPr>
              <a:t>稳定指令</a:t>
            </a:r>
            <a:endParaRPr sz="850" b="1" i="0">
              <a:solidFill>
                <a:srgbClr val="00A7A7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0" name="TextBox 39"/>
          <p:cNvSpPr>
            <a:spLocks noGrp="1"/>
          </p:cNvSpPr>
          <p:nvPr/>
        </p:nvSpPr>
        <p:spPr>
          <a:xfrm>
            <a:off x="5376672" y="3145536"/>
            <a:ext cx="1298448" cy="27432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</a:pPr>
            <a:r>
              <a:rPr sz="670" b="0" i="0">
                <a:solidFill>
                  <a:srgbClr val="44585C"/>
                </a:solidFill>
                <a:latin typeface="Noto Sans CJK SC"/>
                <a:ea typeface="Noto Sans CJK SC"/>
                <a:cs typeface="Noto Sans CJK SC"/>
              </a:rPr>
              <a:t>安全规则
场景任务
能力说明</a:t>
            </a:r>
            <a:endParaRPr sz="670" b="0" i="0">
              <a:solidFill>
                <a:srgbClr val="6B8185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1" name="Oval 40"/>
          <p:cNvSpPr>
            <a:spLocks noGrp="1"/>
          </p:cNvSpPr>
          <p:nvPr/>
        </p:nvSpPr>
        <p:spPr>
          <a:xfrm>
            <a:off x="5879592" y="3611880"/>
            <a:ext cx="292608" cy="292608"/>
          </a:xfrm>
          <a:prstGeom prst="ellipse">
            <a:avLst/>
          </a:prstGeom>
          <a:solidFill>
            <a:srgbClr val="FFFFFF"/>
          </a:solidFill>
          <a:ln w="10160">
            <a:solidFill>
              <a:srgbClr val="C9D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42" name="TextBox 41"/>
          <p:cNvSpPr>
            <a:spLocks noGrp="1"/>
          </p:cNvSpPr>
          <p:nvPr/>
        </p:nvSpPr>
        <p:spPr>
          <a:xfrm>
            <a:off x="5879592" y="3611880"/>
            <a:ext cx="292608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1300" b="1" i="0">
                <a:solidFill>
                  <a:srgbClr val="9A5210"/>
                </a:solidFill>
                <a:latin typeface="Noto Sans CJK SC"/>
                <a:ea typeface="Noto Sans CJK SC"/>
                <a:cs typeface="Noto Sans CJK SC"/>
              </a:rPr>
              <a:t>+</a:t>
            </a:r>
            <a:endParaRPr sz="1300" b="1" i="0">
              <a:solidFill>
                <a:srgbClr val="F28B36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3" name="Rounded Rectangle 42"/>
          <p:cNvSpPr>
            <a:spLocks noGrp="1"/>
          </p:cNvSpPr>
          <p:nvPr/>
        </p:nvSpPr>
        <p:spPr>
          <a:xfrm>
            <a:off x="5376672" y="4050791"/>
            <a:ext cx="1298448" cy="640080"/>
          </a:xfrm>
          <a:prstGeom prst="roundRect">
            <a:avLst/>
          </a:prstGeom>
          <a:solidFill>
            <a:srgbClr val="EAF2FF"/>
          </a:solidFill>
          <a:ln w="11430"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44" name="TextBox 43"/>
          <p:cNvSpPr>
            <a:spLocks noGrp="1"/>
          </p:cNvSpPr>
          <p:nvPr/>
        </p:nvSpPr>
        <p:spPr>
          <a:xfrm>
            <a:off x="5376672" y="4160520"/>
            <a:ext cx="1298448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850" b="1" i="0">
                <a:solidFill>
                  <a:srgbClr val="1B5FC4"/>
                </a:solidFill>
                <a:latin typeface="Noto Sans CJK SC"/>
                <a:ea typeface="Noto Sans CJK SC"/>
                <a:cs typeface="Noto Sans CJK SC"/>
              </a:rPr>
              <a:t>动态上下文</a:t>
            </a:r>
            <a:endParaRPr sz="850" b="1" i="0">
              <a:solidFill>
                <a:srgbClr val="2F80ED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5" name="TextBox 44"/>
          <p:cNvSpPr>
            <a:spLocks noGrp="1"/>
          </p:cNvSpPr>
          <p:nvPr/>
        </p:nvSpPr>
        <p:spPr>
          <a:xfrm>
            <a:off x="5376672" y="4398264"/>
            <a:ext cx="1298448" cy="25603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</a:pPr>
            <a:r>
              <a:rPr sz="670" b="0" i="0">
                <a:solidFill>
                  <a:srgbClr val="44585C"/>
                </a:solidFill>
                <a:latin typeface="Noto Sans CJK SC"/>
                <a:ea typeface="Noto Sans CJK SC"/>
                <a:cs typeface="Noto Sans CJK SC"/>
              </a:rPr>
              <a:t>当前事实
知识证据
确认状态</a:t>
            </a:r>
            <a:endParaRPr sz="670" b="0" i="0">
              <a:solidFill>
                <a:srgbClr val="6B8185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6" name="Rounded Rectangle 45"/>
          <p:cNvSpPr>
            <a:spLocks noGrp="1"/>
          </p:cNvSpPr>
          <p:nvPr/>
        </p:nvSpPr>
        <p:spPr>
          <a:xfrm>
            <a:off x="5431536" y="4992624"/>
            <a:ext cx="1188720" cy="274320"/>
          </a:xfrm>
          <a:prstGeom prst="roundRect">
            <a:avLst/>
          </a:prstGeom>
          <a:solidFill>
            <a:srgbClr val="EFEEFF"/>
          </a:solidFill>
          <a:ln w="10160">
            <a:solidFill>
              <a:srgbClr val="6B6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47" name="TextBox 46"/>
          <p:cNvSpPr>
            <a:spLocks noGrp="1"/>
          </p:cNvSpPr>
          <p:nvPr/>
        </p:nvSpPr>
        <p:spPr>
          <a:xfrm>
            <a:off x="5449824" y="5001768"/>
            <a:ext cx="1152144" cy="256031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</a:pPr>
            <a:r>
              <a:rPr sz="740" b="1" i="0">
                <a:solidFill>
                  <a:srgbClr val="4A4EB0"/>
                </a:solidFill>
                <a:latin typeface="Noto Sans CJK SC"/>
                <a:ea typeface="Noto Sans CJK SC"/>
                <a:cs typeface="Noto Sans CJK SC"/>
              </a:rPr>
              <a:t>输出合同</a:t>
            </a:r>
            <a:endParaRPr sz="740" b="1" i="0">
              <a:solidFill>
                <a:srgbClr val="6B6FD8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8" name="Right Arrow 47"/>
          <p:cNvSpPr>
            <a:spLocks noGrp="1"/>
          </p:cNvSpPr>
          <p:nvPr/>
        </p:nvSpPr>
        <p:spPr>
          <a:xfrm>
            <a:off x="7095744" y="3429000"/>
            <a:ext cx="420624" cy="566928"/>
          </a:xfrm>
          <a:prstGeom prst="rightArrow">
            <a:avLst/>
          </a:prstGeom>
          <a:solidFill>
            <a:srgbClr val="00A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49" name="Oval 48"/>
          <p:cNvSpPr>
            <a:spLocks noGrp="1"/>
          </p:cNvSpPr>
          <p:nvPr/>
        </p:nvSpPr>
        <p:spPr>
          <a:xfrm>
            <a:off x="7772400" y="2395728"/>
            <a:ext cx="1298448" cy="1298448"/>
          </a:xfrm>
          <a:prstGeom prst="ellipse">
            <a:avLst/>
          </a:prstGeom>
          <a:solidFill>
            <a:srgbClr val="00A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50" name="TextBox 49"/>
          <p:cNvSpPr>
            <a:spLocks noGrp="1"/>
          </p:cNvSpPr>
          <p:nvPr/>
        </p:nvSpPr>
        <p:spPr>
          <a:xfrm>
            <a:off x="7772400" y="2779776"/>
            <a:ext cx="1298448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1800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LLM</a:t>
            </a:r>
            <a:endParaRPr sz="1800" b="1" i="0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1" name="TextBox 50"/>
          <p:cNvSpPr>
            <a:spLocks noGrp="1"/>
          </p:cNvSpPr>
          <p:nvPr/>
        </p:nvSpPr>
        <p:spPr>
          <a:xfrm>
            <a:off x="7644383" y="3767328"/>
            <a:ext cx="155448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900" b="1" i="0">
                <a:solidFill>
                  <a:srgbClr val="14383E"/>
                </a:solidFill>
                <a:latin typeface="Noto Sans CJK SC"/>
                <a:ea typeface="Noto Sans CJK SC"/>
                <a:cs typeface="Noto Sans CJK SC"/>
              </a:rPr>
              <a:t>候选结构与回复</a:t>
            </a:r>
            <a:endParaRPr sz="900" b="1" i="0">
              <a:solidFill>
                <a:srgbClr val="14383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2" name="Right Arrow 51"/>
          <p:cNvSpPr>
            <a:spLocks noGrp="1"/>
          </p:cNvSpPr>
          <p:nvPr/>
        </p:nvSpPr>
        <p:spPr>
          <a:xfrm>
            <a:off x="9217152" y="3429000"/>
            <a:ext cx="384048" cy="566928"/>
          </a:xfrm>
          <a:prstGeom prst="rightArrow">
            <a:avLst/>
          </a:prstGeom>
          <a:solidFill>
            <a:srgbClr val="6B6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53" name="Rounded Rectangle 52"/>
          <p:cNvSpPr>
            <a:spLocks noGrp="1"/>
          </p:cNvSpPr>
          <p:nvPr/>
        </p:nvSpPr>
        <p:spPr>
          <a:xfrm>
            <a:off x="9742932" y="1723644"/>
            <a:ext cx="1792224" cy="4425696"/>
          </a:xfrm>
          <a:prstGeom prst="roundRect">
            <a:avLst/>
          </a:prstGeom>
          <a:solidFill>
            <a:srgbClr val="E3E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54" name="Rounded Rectangle 53"/>
          <p:cNvSpPr>
            <a:spLocks noGrp="1"/>
          </p:cNvSpPr>
          <p:nvPr/>
        </p:nvSpPr>
        <p:spPr>
          <a:xfrm>
            <a:off x="9710928" y="1682496"/>
            <a:ext cx="1792224" cy="44256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B6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56" name="TextBox 55"/>
          <p:cNvSpPr>
            <a:spLocks noGrp="1"/>
          </p:cNvSpPr>
          <p:nvPr/>
        </p:nvSpPr>
        <p:spPr>
          <a:xfrm>
            <a:off x="9930384" y="1901952"/>
            <a:ext cx="1335024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1250" b="1" i="0">
                <a:solidFill>
                  <a:srgbClr val="14383E"/>
                </a:solidFill>
                <a:latin typeface="Noto Sans CJK SC"/>
                <a:ea typeface="Noto Sans CJK SC"/>
                <a:cs typeface="Noto Sans CJK SC"/>
              </a:rPr>
              <a:t>验证与分流</a:t>
            </a:r>
            <a:endParaRPr sz="1250" b="1" i="0">
              <a:solidFill>
                <a:srgbClr val="14383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7" name="Rounded Rectangle 56"/>
          <p:cNvSpPr>
            <a:spLocks noGrp="1"/>
          </p:cNvSpPr>
          <p:nvPr/>
        </p:nvSpPr>
        <p:spPr>
          <a:xfrm>
            <a:off x="9948672" y="2505456"/>
            <a:ext cx="1316736" cy="640080"/>
          </a:xfrm>
          <a:prstGeom prst="roundRect">
            <a:avLst/>
          </a:prstGeom>
          <a:solidFill>
            <a:srgbClr val="EFEEFF"/>
          </a:solidFill>
          <a:ln w="10160">
            <a:solidFill>
              <a:srgbClr val="6B6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58" name="TextBox 57"/>
          <p:cNvSpPr>
            <a:spLocks noGrp="1"/>
          </p:cNvSpPr>
          <p:nvPr/>
        </p:nvSpPr>
        <p:spPr>
          <a:xfrm>
            <a:off x="9948672" y="2596896"/>
            <a:ext cx="1316736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790" b="1" i="0">
                <a:solidFill>
                  <a:srgbClr val="4A4EB0"/>
                </a:solidFill>
                <a:latin typeface="Noto Sans CJK SC"/>
                <a:ea typeface="Noto Sans CJK SC"/>
                <a:cs typeface="Noto Sans CJK SC"/>
              </a:rPr>
              <a:t>合同解析</a:t>
            </a:r>
            <a:endParaRPr sz="790" b="1" i="0">
              <a:solidFill>
                <a:srgbClr val="6B6FD8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9" name="TextBox 58"/>
          <p:cNvSpPr>
            <a:spLocks noGrp="1"/>
          </p:cNvSpPr>
          <p:nvPr/>
        </p:nvSpPr>
        <p:spPr>
          <a:xfrm>
            <a:off x="10003536" y="2862072"/>
            <a:ext cx="1207008" cy="18288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</a:pPr>
            <a:r>
              <a:rPr sz="640" b="0" i="0">
                <a:solidFill>
                  <a:srgbClr val="44585C"/>
                </a:solidFill>
                <a:latin typeface="Noto Sans CJK SC"/>
                <a:ea typeface="Noto Sans CJK SC"/>
                <a:cs typeface="Noto Sans CJK SC"/>
              </a:rPr>
              <a:t>正则抽取 + Jackson 类型化</a:t>
            </a:r>
            <a:endParaRPr sz="640" b="0" i="0">
              <a:solidFill>
                <a:srgbClr val="6B8185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0" name="Rounded Rectangle 59"/>
          <p:cNvSpPr>
            <a:spLocks noGrp="1"/>
          </p:cNvSpPr>
          <p:nvPr/>
        </p:nvSpPr>
        <p:spPr>
          <a:xfrm>
            <a:off x="9948672" y="3337560"/>
            <a:ext cx="1316736" cy="640080"/>
          </a:xfrm>
          <a:prstGeom prst="roundRect">
            <a:avLst/>
          </a:prstGeom>
          <a:solidFill>
            <a:srgbClr val="FFF0E4"/>
          </a:solidFill>
          <a:ln w="10160">
            <a:solidFill>
              <a:srgbClr val="F28B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61" name="TextBox 60"/>
          <p:cNvSpPr>
            <a:spLocks noGrp="1"/>
          </p:cNvSpPr>
          <p:nvPr/>
        </p:nvSpPr>
        <p:spPr>
          <a:xfrm>
            <a:off x="9948672" y="3429000"/>
            <a:ext cx="1316736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790" b="1" i="0">
                <a:solidFill>
                  <a:srgbClr val="9A5210"/>
                </a:solidFill>
                <a:latin typeface="Noto Sans CJK SC"/>
                <a:ea typeface="Noto Sans CJK SC"/>
                <a:cs typeface="Noto Sans CJK SC"/>
              </a:rPr>
              <a:t>业务校验</a:t>
            </a:r>
            <a:endParaRPr sz="790" b="1" i="0">
              <a:solidFill>
                <a:srgbClr val="F28B36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2" name="TextBox 61"/>
          <p:cNvSpPr>
            <a:spLocks noGrp="1"/>
          </p:cNvSpPr>
          <p:nvPr/>
        </p:nvSpPr>
        <p:spPr>
          <a:xfrm>
            <a:off x="10003536" y="3694176"/>
            <a:ext cx="1207008" cy="18288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</a:pPr>
            <a:r>
              <a:rPr sz="640" b="0" i="0">
                <a:solidFill>
                  <a:srgbClr val="44585C"/>
                </a:solidFill>
                <a:latin typeface="Noto Sans CJK SC"/>
                <a:ea typeface="Noto Sans CJK SC"/>
                <a:cs typeface="Noto Sans CJK SC"/>
              </a:rPr>
              <a:t>状态 / 权限 / 参数</a:t>
            </a:r>
            <a:endParaRPr sz="640" b="0" i="0">
              <a:solidFill>
                <a:srgbClr val="6B8185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3" name="Rounded Rectangle 62"/>
          <p:cNvSpPr>
            <a:spLocks noGrp="1"/>
          </p:cNvSpPr>
          <p:nvPr/>
        </p:nvSpPr>
        <p:spPr>
          <a:xfrm>
            <a:off x="9948672" y="4169664"/>
            <a:ext cx="1316736" cy="640080"/>
          </a:xfrm>
          <a:prstGeom prst="roundRect">
            <a:avLst/>
          </a:prstGeom>
          <a:solidFill>
            <a:srgbClr val="E8F6F0"/>
          </a:solidFill>
          <a:ln w="10160">
            <a:solidFill>
              <a:srgbClr val="0A8F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64" name="TextBox 63"/>
          <p:cNvSpPr>
            <a:spLocks noGrp="1"/>
          </p:cNvSpPr>
          <p:nvPr/>
        </p:nvSpPr>
        <p:spPr>
          <a:xfrm>
            <a:off x="9948672" y="4261104"/>
            <a:ext cx="1316736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790" b="1" i="0">
                <a:solidFill>
                  <a:srgbClr val="076B50"/>
                </a:solidFill>
                <a:latin typeface="Noto Sans CJK SC"/>
                <a:ea typeface="Noto Sans CJK SC"/>
                <a:cs typeface="Noto Sans CJK SC"/>
              </a:rPr>
              <a:t>动作分流</a:t>
            </a:r>
            <a:endParaRPr sz="790" b="1" i="0">
              <a:solidFill>
                <a:srgbClr val="0A8F6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5" name="TextBox 64"/>
          <p:cNvSpPr>
            <a:spLocks noGrp="1"/>
          </p:cNvSpPr>
          <p:nvPr/>
        </p:nvSpPr>
        <p:spPr>
          <a:xfrm>
            <a:off x="10003536" y="4526280"/>
            <a:ext cx="1207008" cy="18288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</a:pPr>
            <a:r>
              <a:rPr sz="640" b="0" i="0">
                <a:solidFill>
                  <a:srgbClr val="44585C"/>
                </a:solidFill>
                <a:latin typeface="Noto Sans CJK SC"/>
                <a:ea typeface="Noto Sans CJK SC"/>
                <a:cs typeface="Noto Sans CJK SC"/>
              </a:rPr>
              <a:t>调用能力 / 补问 / 人工</a:t>
            </a:r>
            <a:endParaRPr sz="640" b="0" i="0">
              <a:solidFill>
                <a:srgbClr val="6B8185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6" name="Rounded Rectangle 65"/>
          <p:cNvSpPr>
            <a:spLocks noGrp="1"/>
          </p:cNvSpPr>
          <p:nvPr/>
        </p:nvSpPr>
        <p:spPr>
          <a:xfrm>
            <a:off x="9948672" y="5166360"/>
            <a:ext cx="1316736" cy="438912"/>
          </a:xfrm>
          <a:prstGeom prst="roundRect">
            <a:avLst/>
          </a:prstGeom>
          <a:solidFill>
            <a:srgbClr val="FDECE9"/>
          </a:solidFill>
          <a:ln w="10160">
            <a:solidFill>
              <a:srgbClr val="E257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67" name="TextBox 66"/>
          <p:cNvSpPr>
            <a:spLocks noGrp="1"/>
          </p:cNvSpPr>
          <p:nvPr/>
        </p:nvSpPr>
        <p:spPr>
          <a:xfrm>
            <a:off x="9948672" y="5285232"/>
            <a:ext cx="1316736" cy="19202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</a:pPr>
            <a:r>
              <a:rPr sz="690" b="1" i="0">
                <a:solidFill>
                  <a:srgbClr val="B8362C"/>
                </a:solidFill>
                <a:latin typeface="Noto Sans CJK SC"/>
                <a:ea typeface="Noto Sans CJK SC"/>
                <a:cs typeface="Noto Sans CJK SC"/>
              </a:rPr>
              <a:t>失败时确定性兜底</a:t>
            </a:r>
            <a:endParaRPr sz="690" b="1" i="0">
              <a:solidFill>
                <a:srgbClr val="E2574C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8" name="Rectangle 67"/>
          <p:cNvSpPr>
            <a:spLocks noGrp="1"/>
          </p:cNvSpPr>
          <p:nvPr/>
        </p:nvSpPr>
        <p:spPr>
          <a:xfrm>
            <a:off x="0" y="0"/>
            <a:ext cx="41148" cy="6858000"/>
          </a:xfrm>
          <a:prstGeom prst="rect">
            <a:avLst/>
          </a:prstGeom>
          <a:solidFill>
            <a:srgbClr val="0A8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69" name="圆角矩形 68"/>
          <p:cNvSpPr>
            <a:spLocks noGrp="1"/>
          </p:cNvSpPr>
          <p:nvPr/>
        </p:nvSpPr>
        <p:spPr>
          <a:xfrm>
            <a:off x="6565583" y="127635"/>
            <a:ext cx="4937760" cy="365760"/>
          </a:xfrm>
          <a:prstGeom prst="roundRect">
            <a:avLst>
              <a:gd name="adj" fmla="val 20833"/>
            </a:avLst>
          </a:prstGeom>
          <a:solidFill>
            <a:srgbClr val="F7FBF9"/>
          </a:solidFill>
          <a:ln w="12668">
            <a:solidFill>
              <a:srgbClr val="F7FBF9"/>
            </a:solidFill>
            <a:prstDash val="solid"/>
          </a:ln>
        </p:spPr>
        <p:txBody>
          <a:bodyPr/>
          <a:p/>
        </p:txBody>
      </p:sp>
      <p:sp>
        <p:nvSpPr>
          <p:cNvPr id="70" name="圆角矩形 69"/>
          <p:cNvSpPr>
            <a:spLocks noGrp="1"/>
          </p:cNvSpPr>
          <p:nvPr/>
        </p:nvSpPr>
        <p:spPr>
          <a:xfrm>
            <a:off x="6657023" y="164783"/>
            <a:ext cx="1154430" cy="264795"/>
          </a:xfrm>
          <a:prstGeom prst="roundRect">
            <a:avLst>
              <a:gd name="adj" fmla="val 28777"/>
            </a:avLst>
          </a:prstGeom>
          <a:solidFill>
            <a:srgbClr val="007574"/>
          </a:solidFill>
          <a:ln w="12668">
            <a:solidFill>
              <a:srgbClr val="007574"/>
            </a:solidFill>
            <a:prstDash val="solid"/>
          </a:ln>
        </p:spPr>
        <p:txBody>
          <a:bodyPr/>
          <a:p/>
        </p:txBody>
      </p:sp>
      <p:sp>
        <p:nvSpPr>
          <p:cNvPr id="71" name="矩形 70"/>
          <p:cNvSpPr>
            <a:spLocks noGrp="1"/>
          </p:cNvSpPr>
          <p:nvPr/>
        </p:nvSpPr>
        <p:spPr>
          <a:xfrm>
            <a:off x="6657023" y="187643"/>
            <a:ext cx="1154430" cy="182880"/>
          </a:xfrm>
          <a:prstGeom prst="rect">
            <a:avLst/>
          </a:prstGeom>
        </p:spPr>
        <p:txBody>
          <a:bodyPr anchor="ctr"/>
          <a:lstStyle/>
          <a:p>
            <a:pPr algn="ctr">
              <a:defRPr sz="660" b="1">
                <a:solidFill>
                  <a:srgbClr val="FFFFFF"/>
                </a:solidFill>
              </a:defRPr>
            </a:pPr>
            <a:r>
              <a:t>理解</a:t>
            </a:r>
          </a:p>
        </p:txBody>
      </p:sp>
      <p:sp>
        <p:nvSpPr>
          <p:cNvPr id="72" name="圆角矩形 71"/>
          <p:cNvSpPr>
            <a:spLocks noGrp="1"/>
          </p:cNvSpPr>
          <p:nvPr/>
        </p:nvSpPr>
        <p:spPr>
          <a:xfrm>
            <a:off x="7857173" y="164783"/>
            <a:ext cx="1154430" cy="264795"/>
          </a:xfrm>
          <a:prstGeom prst="roundRect">
            <a:avLst>
              <a:gd name="adj" fmla="val 28777"/>
            </a:avLst>
          </a:prstGeom>
          <a:solidFill>
            <a:srgbClr val="FFFFFF"/>
          </a:solidFill>
          <a:ln w="12668">
            <a:solidFill>
              <a:srgbClr val="C9DCD7"/>
            </a:solidFill>
            <a:prstDash val="solid"/>
          </a:ln>
        </p:spPr>
        <p:txBody>
          <a:bodyPr/>
          <a:p/>
        </p:txBody>
      </p:sp>
      <p:sp>
        <p:nvSpPr>
          <p:cNvPr id="73" name="矩形 72"/>
          <p:cNvSpPr>
            <a:spLocks noGrp="1"/>
          </p:cNvSpPr>
          <p:nvPr/>
        </p:nvSpPr>
        <p:spPr>
          <a:xfrm>
            <a:off x="7857173" y="187643"/>
            <a:ext cx="1154430" cy="182880"/>
          </a:xfrm>
          <a:prstGeom prst="rect">
            <a:avLst/>
          </a:prstGeom>
        </p:spPr>
        <p:txBody>
          <a:bodyPr anchor="ctr"/>
          <a:lstStyle/>
          <a:p>
            <a:pPr algn="ctr">
              <a:defRPr sz="650" b="0">
                <a:solidFill>
                  <a:srgbClr val="44585C"/>
                </a:solidFill>
              </a:defRPr>
            </a:pPr>
            <a:r>
              <a:t>查询</a:t>
            </a:r>
          </a:p>
        </p:txBody>
      </p:sp>
      <p:sp>
        <p:nvSpPr>
          <p:cNvPr id="74" name="圆角矩形 73"/>
          <p:cNvSpPr>
            <a:spLocks noGrp="1"/>
          </p:cNvSpPr>
          <p:nvPr/>
        </p:nvSpPr>
        <p:spPr>
          <a:xfrm>
            <a:off x="9057323" y="164783"/>
            <a:ext cx="1154430" cy="264795"/>
          </a:xfrm>
          <a:prstGeom prst="roundRect">
            <a:avLst>
              <a:gd name="adj" fmla="val 28777"/>
            </a:avLst>
          </a:prstGeom>
          <a:solidFill>
            <a:srgbClr val="FFFFFF"/>
          </a:solidFill>
          <a:ln w="12668">
            <a:solidFill>
              <a:srgbClr val="C9DCD7"/>
            </a:solidFill>
            <a:prstDash val="solid"/>
          </a:ln>
        </p:spPr>
        <p:txBody>
          <a:bodyPr/>
          <a:p/>
        </p:txBody>
      </p:sp>
      <p:sp>
        <p:nvSpPr>
          <p:cNvPr id="75" name="矩形 74"/>
          <p:cNvSpPr>
            <a:spLocks noGrp="1"/>
          </p:cNvSpPr>
          <p:nvPr/>
        </p:nvSpPr>
        <p:spPr>
          <a:xfrm>
            <a:off x="9057323" y="187643"/>
            <a:ext cx="1154430" cy="182880"/>
          </a:xfrm>
          <a:prstGeom prst="rect">
            <a:avLst/>
          </a:prstGeom>
        </p:spPr>
        <p:txBody>
          <a:bodyPr anchor="ctr"/>
          <a:lstStyle/>
          <a:p>
            <a:pPr algn="ctr">
              <a:defRPr sz="650" b="0">
                <a:solidFill>
                  <a:srgbClr val="44585C"/>
                </a:solidFill>
              </a:defRPr>
            </a:pPr>
            <a:r>
              <a:t>决策</a:t>
            </a:r>
          </a:p>
        </p:txBody>
      </p:sp>
      <p:sp>
        <p:nvSpPr>
          <p:cNvPr id="76" name="圆角矩形 75"/>
          <p:cNvSpPr>
            <a:spLocks noGrp="1"/>
          </p:cNvSpPr>
          <p:nvPr/>
        </p:nvSpPr>
        <p:spPr>
          <a:xfrm>
            <a:off x="10257473" y="164783"/>
            <a:ext cx="1154430" cy="264795"/>
          </a:xfrm>
          <a:prstGeom prst="roundRect">
            <a:avLst>
              <a:gd name="adj" fmla="val 28777"/>
            </a:avLst>
          </a:prstGeom>
          <a:solidFill>
            <a:srgbClr val="FFFFFF"/>
          </a:solidFill>
          <a:ln w="12668">
            <a:solidFill>
              <a:srgbClr val="C9DCD7"/>
            </a:solidFill>
            <a:prstDash val="solid"/>
          </a:ln>
        </p:spPr>
        <p:txBody>
          <a:bodyPr/>
          <a:p/>
        </p:txBody>
      </p:sp>
      <p:sp>
        <p:nvSpPr>
          <p:cNvPr id="77" name="矩形 76"/>
          <p:cNvSpPr>
            <a:spLocks noGrp="1"/>
          </p:cNvSpPr>
          <p:nvPr/>
        </p:nvSpPr>
        <p:spPr>
          <a:xfrm>
            <a:off x="10257473" y="187643"/>
            <a:ext cx="1154430" cy="182880"/>
          </a:xfrm>
          <a:prstGeom prst="rect">
            <a:avLst/>
          </a:prstGeom>
        </p:spPr>
        <p:txBody>
          <a:bodyPr anchor="ctr"/>
          <a:lstStyle/>
          <a:p>
            <a:pPr algn="ctr">
              <a:defRPr sz="650" b="0">
                <a:solidFill>
                  <a:srgbClr val="44585C"/>
                </a:solidFill>
              </a:defRPr>
            </a:pPr>
            <a:r>
              <a:t>执行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>
            <a:spLocks noGrp="1"/>
          </p:cNvSpPr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" name="Rectangle 2"/>
          <p:cNvSpPr>
            <a:spLocks noGrp="1"/>
          </p:cNvSpPr>
          <p:nvPr/>
        </p:nvSpPr>
        <p:spPr>
          <a:xfrm>
            <a:off x="0" y="0"/>
            <a:ext cx="41148" cy="6858000"/>
          </a:xfrm>
          <a:prstGeom prst="rect">
            <a:avLst/>
          </a:prstGeom>
          <a:solidFill>
            <a:srgbClr val="0A8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4" name="Oval 3"/>
          <p:cNvSpPr>
            <a:spLocks noGrp="1"/>
          </p:cNvSpPr>
          <p:nvPr/>
        </p:nvSpPr>
        <p:spPr>
          <a:xfrm>
            <a:off x="658368" y="384048"/>
            <a:ext cx="73152" cy="73152"/>
          </a:xfrm>
          <a:prstGeom prst="ellipse">
            <a:avLst/>
          </a:prstGeom>
          <a:solidFill>
            <a:srgbClr val="0A8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5" name="Rectangle 4"/>
          <p:cNvSpPr>
            <a:spLocks noGrp="1"/>
          </p:cNvSpPr>
          <p:nvPr/>
        </p:nvSpPr>
        <p:spPr>
          <a:xfrm>
            <a:off x="768096" y="420624"/>
            <a:ext cx="411480" cy="16459"/>
          </a:xfrm>
          <a:prstGeom prst="rect">
            <a:avLst/>
          </a:prstGeom>
          <a:solidFill>
            <a:srgbClr val="0A8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6" name="TextBox 5"/>
          <p:cNvSpPr>
            <a:spLocks noGrp="1"/>
          </p:cNvSpPr>
          <p:nvPr/>
        </p:nvSpPr>
        <p:spPr>
          <a:xfrm>
            <a:off x="1225296" y="256032"/>
            <a:ext cx="41148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050" b="1">
                <a:solidFill>
                  <a:srgbClr val="076B50"/>
                </a:solidFill>
                <a:latin typeface="Noto Sans CJK SC"/>
                <a:ea typeface="Noto Sans CJK SC"/>
                <a:cs typeface="Noto Sans CJK SC"/>
              </a:rPr>
              <a:t>CHAPTER 4 · 上下文与知识</a:t>
            </a:r>
            <a:endParaRPr sz="1050" b="1">
              <a:solidFill>
                <a:srgbClr val="F28B36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" name="TextBox 6"/>
          <p:cNvSpPr>
            <a:spLocks noGrp="1"/>
          </p:cNvSpPr>
          <p:nvPr/>
        </p:nvSpPr>
        <p:spPr>
          <a:xfrm>
            <a:off x="658368" y="694944"/>
            <a:ext cx="10652760" cy="47548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</a:pPr>
            <a:r>
              <a:rPr sz="2720" b="1" i="0">
                <a:solidFill>
                  <a:srgbClr val="14383E"/>
                </a:solidFill>
                <a:latin typeface="Noto Sans CJK SC"/>
                <a:ea typeface="Noto Sans CJK SC"/>
                <a:cs typeface="Noto Sans CJK SC"/>
              </a:rPr>
              <a:t>Prompt 设计：稳定前缀 + 变动后缀</a:t>
            </a:r>
            <a:endParaRPr sz="2720" b="1" i="0">
              <a:solidFill>
                <a:srgbClr val="14383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8" name="TextBox 7"/>
          <p:cNvSpPr>
            <a:spLocks noGrp="1"/>
          </p:cNvSpPr>
          <p:nvPr/>
        </p:nvSpPr>
        <p:spPr>
          <a:xfrm>
            <a:off x="658368" y="1170432"/>
            <a:ext cx="10561320" cy="31089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</a:pPr>
            <a:r>
              <a:rPr sz="1170" b="0" i="0">
                <a:solidFill>
                  <a:srgbClr val="44585C"/>
                </a:solidFill>
                <a:latin typeface="Noto Sans CJK SC"/>
                <a:ea typeface="Noto Sans CJK SC"/>
                <a:cs typeface="Noto Sans CJK SC"/>
              </a:rPr>
              <a:t>稳定前缀便于缓存，订单、会话和检索结果留在消息侧，随工单变化。</a:t>
            </a:r>
            <a:endParaRPr sz="1170" b="0" i="0">
              <a:solidFill>
                <a:srgbClr val="6B8185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9" name="Rectangle 8"/>
          <p:cNvSpPr>
            <a:spLocks noGrp="1"/>
          </p:cNvSpPr>
          <p:nvPr/>
        </p:nvSpPr>
        <p:spPr>
          <a:xfrm>
            <a:off x="658368" y="6501384"/>
            <a:ext cx="10835640" cy="10972"/>
          </a:xfrm>
          <a:prstGeom prst="rect">
            <a:avLst/>
          </a:prstGeom>
          <a:solidFill>
            <a:srgbClr val="C9DC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0" name="TextBox 9"/>
          <p:cNvSpPr>
            <a:spLocks noGrp="1"/>
          </p:cNvSpPr>
          <p:nvPr/>
        </p:nvSpPr>
        <p:spPr>
          <a:xfrm>
            <a:off x="658368" y="6547104"/>
            <a:ext cx="237744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780" b="1" i="0">
                <a:solidFill>
                  <a:srgbClr val="5C7276"/>
                </a:solidFill>
                <a:latin typeface="Noto Sans CJK SC"/>
                <a:ea typeface="Noto Sans CJK SC"/>
                <a:cs typeface="Noto Sans CJK SC"/>
              </a:rPr>
              <a:t>CUSTOMER SERVICE AI AGENT</a:t>
            </a:r>
            <a:endParaRPr sz="780" b="1" i="0">
              <a:solidFill>
                <a:srgbClr val="98ACA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1" name="TextBox 10"/>
          <p:cNvSpPr>
            <a:spLocks noGrp="1"/>
          </p:cNvSpPr>
          <p:nvPr/>
        </p:nvSpPr>
        <p:spPr>
          <a:xfrm>
            <a:off x="10680192" y="6519672"/>
            <a:ext cx="82296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buNone/>
            </a:pPr>
            <a:r>
              <a:rPr sz="880" b="1">
                <a:solidFill>
                  <a:srgbClr val="076B50"/>
                </a:solidFill>
                <a:latin typeface="Noto Sans CJK SC"/>
                <a:ea typeface="Noto Sans CJK SC"/>
                <a:cs typeface="Noto Sans CJK SC"/>
              </a:rPr>
              <a:t>34</a:t>
            </a:r>
            <a:endParaRPr sz="880" b="1">
              <a:solidFill>
                <a:srgbClr val="F28B36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2" name="Rounded Rectangle 11"/>
          <p:cNvSpPr>
            <a:spLocks noGrp="1"/>
          </p:cNvSpPr>
          <p:nvPr/>
        </p:nvSpPr>
        <p:spPr>
          <a:xfrm>
            <a:off x="749808" y="1700784"/>
            <a:ext cx="1975104" cy="1389888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4" name="Oval 13"/>
          <p:cNvSpPr>
            <a:spLocks noGrp="1"/>
          </p:cNvSpPr>
          <p:nvPr/>
        </p:nvSpPr>
        <p:spPr>
          <a:xfrm>
            <a:off x="914400" y="1938528"/>
            <a:ext cx="329184" cy="329184"/>
          </a:xfrm>
          <a:prstGeom prst="ellipse">
            <a:avLst/>
          </a:prstGeom>
          <a:solidFill>
            <a:srgbClr val="1F63C4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5" name="TextBox 14"/>
          <p:cNvSpPr>
            <a:spLocks noGrp="1"/>
          </p:cNvSpPr>
          <p:nvPr/>
        </p:nvSpPr>
        <p:spPr>
          <a:xfrm>
            <a:off x="914400" y="1943100"/>
            <a:ext cx="329184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800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1</a:t>
            </a:r>
            <a:endParaRPr sz="800" b="1" i="0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6" name="TextBox 15"/>
          <p:cNvSpPr>
            <a:spLocks noGrp="1"/>
          </p:cNvSpPr>
          <p:nvPr/>
        </p:nvSpPr>
        <p:spPr>
          <a:xfrm>
            <a:off x="1353312" y="1901952"/>
            <a:ext cx="1133856" cy="25603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buNone/>
            </a:pPr>
            <a:r>
              <a:rPr sz="1010" b="1" i="0">
                <a:solidFill>
                  <a:srgbClr val="14383E"/>
                </a:solidFill>
                <a:latin typeface="Noto Sans CJK SC"/>
                <a:ea typeface="Noto Sans CJK SC"/>
                <a:cs typeface="Noto Sans CJK SC"/>
              </a:rPr>
              <a:t>稳定前缀</a:t>
            </a:r>
            <a:endParaRPr sz="1010" b="1" i="0">
              <a:solidFill>
                <a:srgbClr val="14383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7" name="TextBox 16"/>
          <p:cNvSpPr>
            <a:spLocks noGrp="1"/>
          </p:cNvSpPr>
          <p:nvPr/>
        </p:nvSpPr>
        <p:spPr>
          <a:xfrm>
            <a:off x="914400" y="2377440"/>
            <a:ext cx="1591056" cy="43891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buNone/>
            </a:pPr>
            <a:r>
              <a:rPr sz="720" b="0" i="0">
                <a:solidFill>
                  <a:srgbClr val="44585C"/>
                </a:solidFill>
                <a:latin typeface="Noto Sans CJK SC"/>
                <a:ea typeface="Noto Sans CJK SC"/>
                <a:cs typeface="Noto Sans CJK SC"/>
              </a:rPr>
              <a:t>_guardrails 233 行</a:t>
            </a:r>
            <a:endParaRPr sz="720" b="0" i="0">
              <a:solidFill>
                <a:srgbClr val="6B8185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8" name="Right Arrow 17"/>
          <p:cNvSpPr>
            <a:spLocks noGrp="1"/>
          </p:cNvSpPr>
          <p:nvPr/>
        </p:nvSpPr>
        <p:spPr>
          <a:xfrm>
            <a:off x="2743200" y="2157984"/>
            <a:ext cx="164592" cy="292608"/>
          </a:xfrm>
          <a:prstGeom prst="rightArrow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9" name="Rounded Rectangle 18"/>
          <p:cNvSpPr>
            <a:spLocks noGrp="1"/>
          </p:cNvSpPr>
          <p:nvPr/>
        </p:nvSpPr>
        <p:spPr>
          <a:xfrm>
            <a:off x="2962656" y="1700784"/>
            <a:ext cx="1975104" cy="1389888"/>
          </a:xfrm>
          <a:prstGeom prst="roundRect">
            <a:avLst/>
          </a:prstGeom>
          <a:solidFill>
            <a:srgbClr val="FFF0E4"/>
          </a:solidFill>
          <a:ln w="12700">
            <a:solidFill>
              <a:srgbClr val="F28B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1" name="Oval 20"/>
          <p:cNvSpPr>
            <a:spLocks noGrp="1"/>
          </p:cNvSpPr>
          <p:nvPr/>
        </p:nvSpPr>
        <p:spPr>
          <a:xfrm>
            <a:off x="3127248" y="1938528"/>
            <a:ext cx="329184" cy="329184"/>
          </a:xfrm>
          <a:prstGeom prst="ellipse">
            <a:avLst/>
          </a:prstGeom>
          <a:solidFill>
            <a:srgbClr val="BC6414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2" name="TextBox 21"/>
          <p:cNvSpPr>
            <a:spLocks noGrp="1"/>
          </p:cNvSpPr>
          <p:nvPr/>
        </p:nvSpPr>
        <p:spPr>
          <a:xfrm>
            <a:off x="3127248" y="1943100"/>
            <a:ext cx="329184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800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2</a:t>
            </a:r>
            <a:endParaRPr sz="800" b="1" i="0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3" name="TextBox 22"/>
          <p:cNvSpPr>
            <a:spLocks noGrp="1"/>
          </p:cNvSpPr>
          <p:nvPr/>
        </p:nvSpPr>
        <p:spPr>
          <a:xfrm>
            <a:off x="3566160" y="1901952"/>
            <a:ext cx="1133856" cy="25603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buNone/>
            </a:pPr>
            <a:r>
              <a:rPr sz="1010" b="1" i="0">
                <a:solidFill>
                  <a:srgbClr val="14383E"/>
                </a:solidFill>
                <a:latin typeface="Noto Sans CJK SC"/>
                <a:ea typeface="Noto Sans CJK SC"/>
                <a:cs typeface="Noto Sans CJK SC"/>
              </a:rPr>
              <a:t>+ skill.md 全文</a:t>
            </a:r>
            <a:endParaRPr sz="1010" b="1" i="0">
              <a:solidFill>
                <a:srgbClr val="14383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4" name="TextBox 23"/>
          <p:cNvSpPr>
            <a:spLocks noGrp="1"/>
          </p:cNvSpPr>
          <p:nvPr/>
        </p:nvSpPr>
        <p:spPr>
          <a:xfrm>
            <a:off x="3127248" y="2377440"/>
            <a:ext cx="1591056" cy="43891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buNone/>
            </a:pPr>
            <a:r>
              <a:rPr sz="720" b="0" i="0">
                <a:solidFill>
                  <a:srgbClr val="44585C"/>
                </a:solidFill>
                <a:latin typeface="Noto Sans CJK SC"/>
                <a:ea typeface="Noto Sans CJK SC"/>
                <a:cs typeface="Noto Sans CJK SC"/>
              </a:rPr>
              <a:t>零运行时变量，逐字节稳定</a:t>
            </a:r>
            <a:endParaRPr sz="720" b="0" i="0">
              <a:solidFill>
                <a:srgbClr val="6B8185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5" name="Right Arrow 24"/>
          <p:cNvSpPr>
            <a:spLocks noGrp="1"/>
          </p:cNvSpPr>
          <p:nvPr/>
        </p:nvSpPr>
        <p:spPr>
          <a:xfrm>
            <a:off x="4956048" y="2157984"/>
            <a:ext cx="164592" cy="292608"/>
          </a:xfrm>
          <a:prstGeom prst="rightArrow">
            <a:avLst/>
          </a:prstGeom>
          <a:solidFill>
            <a:srgbClr val="F28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6" name="Rounded Rectangle 25"/>
          <p:cNvSpPr>
            <a:spLocks noGrp="1"/>
          </p:cNvSpPr>
          <p:nvPr/>
        </p:nvSpPr>
        <p:spPr>
          <a:xfrm>
            <a:off x="5175504" y="1700784"/>
            <a:ext cx="1975104" cy="1389888"/>
          </a:xfrm>
          <a:prstGeom prst="roundRect">
            <a:avLst/>
          </a:prstGeom>
          <a:solidFill>
            <a:srgbClr val="E6F7F6"/>
          </a:solidFill>
          <a:ln w="12700">
            <a:solidFill>
              <a:srgbClr val="00A7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8" name="Oval 27"/>
          <p:cNvSpPr>
            <a:spLocks noGrp="1"/>
          </p:cNvSpPr>
          <p:nvPr/>
        </p:nvSpPr>
        <p:spPr>
          <a:xfrm>
            <a:off x="5340096" y="1938528"/>
            <a:ext cx="329184" cy="329184"/>
          </a:xfrm>
          <a:prstGeom prst="ellipse">
            <a:avLst/>
          </a:prstGeom>
          <a:solidFill>
            <a:srgbClr val="007574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9" name="TextBox 28"/>
          <p:cNvSpPr>
            <a:spLocks noGrp="1"/>
          </p:cNvSpPr>
          <p:nvPr/>
        </p:nvSpPr>
        <p:spPr>
          <a:xfrm>
            <a:off x="5340096" y="1943100"/>
            <a:ext cx="329184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800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3</a:t>
            </a:r>
            <a:endParaRPr sz="800" b="1" i="0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0" name="TextBox 29"/>
          <p:cNvSpPr>
            <a:spLocks noGrp="1"/>
          </p:cNvSpPr>
          <p:nvPr/>
        </p:nvSpPr>
        <p:spPr>
          <a:xfrm>
            <a:off x="5779008" y="1901952"/>
            <a:ext cx="1133856" cy="25603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buNone/>
            </a:pPr>
            <a:r>
              <a:rPr sz="1010" b="1" i="0">
                <a:solidFill>
                  <a:srgbClr val="14383E"/>
                </a:solidFill>
                <a:latin typeface="Noto Sans CJK SC"/>
                <a:ea typeface="Noto Sans CJK SC"/>
                <a:cs typeface="Noto Sans CJK SC"/>
              </a:rPr>
              <a:t>变动后缀</a:t>
            </a:r>
            <a:endParaRPr sz="1010" b="1" i="0">
              <a:solidFill>
                <a:srgbClr val="14383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1" name="TextBox 30"/>
          <p:cNvSpPr>
            <a:spLocks noGrp="1"/>
          </p:cNvSpPr>
          <p:nvPr/>
        </p:nvSpPr>
        <p:spPr>
          <a:xfrm>
            <a:off x="5340096" y="2377440"/>
            <a:ext cx="1591056" cy="43891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buNone/>
            </a:pPr>
            <a:r>
              <a:rPr sz="720" b="0" i="0">
                <a:solidFill>
                  <a:srgbClr val="44585C"/>
                </a:solidFill>
                <a:latin typeface="Noto Sans CJK SC"/>
                <a:ea typeface="Noto Sans CJK SC"/>
                <a:cs typeface="Noto Sans CJK SC"/>
              </a:rPr>
              <a:t>工单事实、日期走消息侧</a:t>
            </a:r>
            <a:endParaRPr sz="720" b="0" i="0">
              <a:solidFill>
                <a:srgbClr val="6B8185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2" name="Right Arrow 31"/>
          <p:cNvSpPr>
            <a:spLocks noGrp="1"/>
          </p:cNvSpPr>
          <p:nvPr/>
        </p:nvSpPr>
        <p:spPr>
          <a:xfrm>
            <a:off x="7168896" y="2157984"/>
            <a:ext cx="164592" cy="292608"/>
          </a:xfrm>
          <a:prstGeom prst="rightArrow">
            <a:avLst/>
          </a:prstGeom>
          <a:solidFill>
            <a:srgbClr val="00A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3" name="Rounded Rectangle 32"/>
          <p:cNvSpPr>
            <a:spLocks noGrp="1"/>
          </p:cNvSpPr>
          <p:nvPr/>
        </p:nvSpPr>
        <p:spPr>
          <a:xfrm>
            <a:off x="7388352" y="1700784"/>
            <a:ext cx="1975104" cy="1389888"/>
          </a:xfrm>
          <a:prstGeom prst="roundRect">
            <a:avLst/>
          </a:prstGeom>
          <a:solidFill>
            <a:srgbClr val="FDECE9"/>
          </a:solidFill>
          <a:ln w="12700">
            <a:solidFill>
              <a:srgbClr val="E257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5" name="Oval 34"/>
          <p:cNvSpPr>
            <a:spLocks noGrp="1"/>
          </p:cNvSpPr>
          <p:nvPr/>
        </p:nvSpPr>
        <p:spPr>
          <a:xfrm>
            <a:off x="7552944" y="1938528"/>
            <a:ext cx="329184" cy="329184"/>
          </a:xfrm>
          <a:prstGeom prst="ellipse">
            <a:avLst/>
          </a:prstGeom>
          <a:solidFill>
            <a:srgbClr val="C23B3B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6" name="TextBox 35"/>
          <p:cNvSpPr>
            <a:spLocks noGrp="1"/>
          </p:cNvSpPr>
          <p:nvPr/>
        </p:nvSpPr>
        <p:spPr>
          <a:xfrm>
            <a:off x="7552944" y="1943100"/>
            <a:ext cx="329184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800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4</a:t>
            </a:r>
            <a:endParaRPr sz="800" b="1" i="0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7" name="TextBox 36"/>
          <p:cNvSpPr>
            <a:spLocks noGrp="1"/>
          </p:cNvSpPr>
          <p:nvPr/>
        </p:nvSpPr>
        <p:spPr>
          <a:xfrm>
            <a:off x="7991856" y="1901952"/>
            <a:ext cx="1133856" cy="25603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buNone/>
            </a:pPr>
            <a:r>
              <a:rPr sz="1010" b="1" i="0">
                <a:solidFill>
                  <a:srgbClr val="14383E"/>
                </a:solidFill>
                <a:latin typeface="Noto Sans CJK SC"/>
                <a:ea typeface="Noto Sans CJK SC"/>
                <a:cs typeface="Noto Sans CJK SC"/>
              </a:rPr>
              <a:t>输出合同</a:t>
            </a:r>
            <a:endParaRPr sz="1010" b="1" i="0">
              <a:solidFill>
                <a:srgbClr val="14383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8" name="TextBox 37"/>
          <p:cNvSpPr>
            <a:spLocks noGrp="1"/>
          </p:cNvSpPr>
          <p:nvPr/>
        </p:nvSpPr>
        <p:spPr>
          <a:xfrm>
            <a:off x="7552944" y="2377440"/>
            <a:ext cx="1591056" cy="43891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buNone/>
            </a:pPr>
            <a:r>
              <a:rPr sz="720" b="0" i="0">
                <a:solidFill>
                  <a:srgbClr val="44585C"/>
                </a:solidFill>
                <a:latin typeface="Noto Sans CJK SC"/>
                <a:ea typeface="Noto Sans CJK SC"/>
                <a:cs typeface="Noto Sans CJK SC"/>
              </a:rPr>
              <a:t>Return ONE raw JSON object</a:t>
            </a:r>
            <a:endParaRPr sz="720" b="0" i="0">
              <a:solidFill>
                <a:srgbClr val="6B8185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9" name="Right Arrow 38"/>
          <p:cNvSpPr>
            <a:spLocks noGrp="1"/>
          </p:cNvSpPr>
          <p:nvPr/>
        </p:nvSpPr>
        <p:spPr>
          <a:xfrm>
            <a:off x="9381744" y="2157984"/>
            <a:ext cx="164592" cy="292608"/>
          </a:xfrm>
          <a:prstGeom prst="rightArrow">
            <a:avLst/>
          </a:prstGeom>
          <a:solidFill>
            <a:srgbClr val="E257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40" name="Rounded Rectangle 39"/>
          <p:cNvSpPr>
            <a:spLocks noGrp="1"/>
          </p:cNvSpPr>
          <p:nvPr/>
        </p:nvSpPr>
        <p:spPr>
          <a:xfrm>
            <a:off x="9601200" y="1700784"/>
            <a:ext cx="1975104" cy="1389888"/>
          </a:xfrm>
          <a:prstGeom prst="roundRect">
            <a:avLst/>
          </a:prstGeom>
          <a:solidFill>
            <a:srgbClr val="EFEEFF"/>
          </a:solidFill>
          <a:ln w="12700">
            <a:solidFill>
              <a:srgbClr val="6B6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42" name="Oval 41"/>
          <p:cNvSpPr>
            <a:spLocks noGrp="1"/>
          </p:cNvSpPr>
          <p:nvPr/>
        </p:nvSpPr>
        <p:spPr>
          <a:xfrm>
            <a:off x="9765792" y="1938528"/>
            <a:ext cx="329184" cy="329184"/>
          </a:xfrm>
          <a:prstGeom prst="ellipse">
            <a:avLst/>
          </a:prstGeom>
          <a:solidFill>
            <a:srgbClr val="5356BE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43" name="TextBox 42"/>
          <p:cNvSpPr>
            <a:spLocks noGrp="1"/>
          </p:cNvSpPr>
          <p:nvPr/>
        </p:nvSpPr>
        <p:spPr>
          <a:xfrm>
            <a:off x="9765792" y="1943100"/>
            <a:ext cx="329184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800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5</a:t>
            </a:r>
            <a:endParaRPr sz="800" b="1" i="0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4" name="TextBox 43"/>
          <p:cNvSpPr>
            <a:spLocks noGrp="1"/>
          </p:cNvSpPr>
          <p:nvPr/>
        </p:nvSpPr>
        <p:spPr>
          <a:xfrm>
            <a:off x="10204704" y="1901952"/>
            <a:ext cx="1133856" cy="25603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buNone/>
            </a:pPr>
            <a:r>
              <a:rPr sz="1010" b="1" i="0">
                <a:solidFill>
                  <a:srgbClr val="14383E"/>
                </a:solidFill>
                <a:latin typeface="Noto Sans CJK SC"/>
                <a:ea typeface="Noto Sans CJK SC"/>
                <a:cs typeface="Noto Sans CJK SC"/>
              </a:rPr>
              <a:t>解析与兜底</a:t>
            </a:r>
            <a:endParaRPr sz="1010" b="1" i="0">
              <a:solidFill>
                <a:srgbClr val="14383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5" name="TextBox 44"/>
          <p:cNvSpPr>
            <a:spLocks noGrp="1"/>
          </p:cNvSpPr>
          <p:nvPr/>
        </p:nvSpPr>
        <p:spPr>
          <a:xfrm>
            <a:off x="9765792" y="2377440"/>
            <a:ext cx="1591056" cy="43891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buNone/>
            </a:pPr>
            <a:r>
              <a:rPr sz="720" b="0" i="0">
                <a:solidFill>
                  <a:srgbClr val="44585C"/>
                </a:solidFill>
                <a:latin typeface="Noto Sans CJK SC"/>
                <a:ea typeface="Noto Sans CJK SC"/>
                <a:cs typeface="Noto Sans CJK SC"/>
              </a:rPr>
              <a:t>正则 + Jackson + 确定性降级</a:t>
            </a:r>
            <a:endParaRPr sz="720" b="0" i="0">
              <a:solidFill>
                <a:srgbClr val="6B8185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6" name="Rounded Rectangle 45"/>
          <p:cNvSpPr>
            <a:spLocks noGrp="1"/>
          </p:cNvSpPr>
          <p:nvPr/>
        </p:nvSpPr>
        <p:spPr>
          <a:xfrm>
            <a:off x="749808" y="3657600"/>
            <a:ext cx="4425696" cy="4937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8B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47" name="Rounded Rectangle 46"/>
          <p:cNvSpPr>
            <a:spLocks noGrp="1"/>
          </p:cNvSpPr>
          <p:nvPr/>
        </p:nvSpPr>
        <p:spPr>
          <a:xfrm>
            <a:off x="896112" y="3776472"/>
            <a:ext cx="804672" cy="256032"/>
          </a:xfrm>
          <a:prstGeom prst="roundRect">
            <a:avLst/>
          </a:prstGeom>
          <a:solidFill>
            <a:srgbClr val="BC6414"/>
          </a:solidFill>
          <a:ln w="10160">
            <a:solidFill>
              <a:srgbClr val="BC6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48" name="TextBox 47"/>
          <p:cNvSpPr>
            <a:spLocks noGrp="1"/>
          </p:cNvSpPr>
          <p:nvPr/>
        </p:nvSpPr>
        <p:spPr>
          <a:xfrm>
            <a:off x="914400" y="3785615"/>
            <a:ext cx="768096" cy="23774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</a:pPr>
            <a:r>
              <a:rPr sz="710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缓存现状</a:t>
            </a:r>
            <a:endParaRPr sz="710" b="1" i="0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9" name="TextBox 48"/>
          <p:cNvSpPr>
            <a:spLocks noGrp="1"/>
          </p:cNvSpPr>
          <p:nvPr/>
        </p:nvSpPr>
        <p:spPr>
          <a:xfrm>
            <a:off x="1865376" y="3758184"/>
            <a:ext cx="3145536" cy="25603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</a:pPr>
            <a:r>
              <a:rPr sz="750" b="0" i="0">
                <a:solidFill>
                  <a:srgbClr val="14383E"/>
                </a:solidFill>
                <a:latin typeface="Noto Sans CJK SC"/>
                <a:ea typeface="Noto Sans CJK SC"/>
                <a:cs typeface="Noto Sans CJK SC"/>
              </a:rPr>
              <a:t>未显式配置 cache_control，依赖供应商自动前缀缓存</a:t>
            </a:r>
            <a:endParaRPr sz="750" b="0" i="0">
              <a:solidFill>
                <a:srgbClr val="14383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0" name="Rounded Rectangle 49"/>
          <p:cNvSpPr>
            <a:spLocks noGrp="1"/>
          </p:cNvSpPr>
          <p:nvPr/>
        </p:nvSpPr>
        <p:spPr>
          <a:xfrm>
            <a:off x="2962656" y="4343400"/>
            <a:ext cx="4425696" cy="4937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A7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51" name="Rounded Rectangle 50"/>
          <p:cNvSpPr>
            <a:spLocks noGrp="1"/>
          </p:cNvSpPr>
          <p:nvPr/>
        </p:nvSpPr>
        <p:spPr>
          <a:xfrm>
            <a:off x="3108960" y="4462272"/>
            <a:ext cx="804672" cy="256032"/>
          </a:xfrm>
          <a:prstGeom prst="roundRect">
            <a:avLst/>
          </a:prstGeom>
          <a:solidFill>
            <a:srgbClr val="007574"/>
          </a:solidFill>
          <a:ln w="10160">
            <a:solidFill>
              <a:srgbClr val="0075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52" name="TextBox 51"/>
          <p:cNvSpPr>
            <a:spLocks noGrp="1"/>
          </p:cNvSpPr>
          <p:nvPr/>
        </p:nvSpPr>
        <p:spPr>
          <a:xfrm>
            <a:off x="3127248" y="4471416"/>
            <a:ext cx="768096" cy="23774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</a:pPr>
            <a:r>
              <a:rPr sz="710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常见事故：时间戳</a:t>
            </a:r>
            <a:endParaRPr sz="710" b="1" i="0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3" name="TextBox 52"/>
          <p:cNvSpPr>
            <a:spLocks noGrp="1"/>
          </p:cNvSpPr>
          <p:nvPr/>
        </p:nvSpPr>
        <p:spPr>
          <a:xfrm>
            <a:off x="4078224" y="4443984"/>
            <a:ext cx="3145536" cy="25603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</a:pPr>
            <a:r>
              <a:rPr sz="750" b="0" i="0">
                <a:solidFill>
                  <a:srgbClr val="14383E"/>
                </a:solidFill>
                <a:latin typeface="Noto Sans CJK SC"/>
                <a:ea typeface="Noto Sans CJK SC"/>
                <a:cs typeface="Noto Sans CJK SC"/>
              </a:rPr>
              <a:t>日期写入 system prompt 会在每天零点使缓存全量失效；本系统日期在消息侧</a:t>
            </a:r>
            <a:endParaRPr sz="750" b="0" i="0">
              <a:solidFill>
                <a:srgbClr val="14383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4" name="Rounded Rectangle 53"/>
          <p:cNvSpPr>
            <a:spLocks noGrp="1"/>
          </p:cNvSpPr>
          <p:nvPr/>
        </p:nvSpPr>
        <p:spPr>
          <a:xfrm>
            <a:off x="749808" y="5029200"/>
            <a:ext cx="10405872" cy="4937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B6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55" name="Rounded Rectangle 54"/>
          <p:cNvSpPr>
            <a:spLocks noGrp="1"/>
          </p:cNvSpPr>
          <p:nvPr/>
        </p:nvSpPr>
        <p:spPr>
          <a:xfrm>
            <a:off x="896112" y="5148072"/>
            <a:ext cx="804672" cy="256032"/>
          </a:xfrm>
          <a:prstGeom prst="roundRect">
            <a:avLst/>
          </a:prstGeom>
          <a:solidFill>
            <a:srgbClr val="5356BE"/>
          </a:solidFill>
          <a:ln w="10160">
            <a:solidFill>
              <a:srgbClr val="535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56" name="TextBox 55"/>
          <p:cNvSpPr>
            <a:spLocks noGrp="1"/>
          </p:cNvSpPr>
          <p:nvPr/>
        </p:nvSpPr>
        <p:spPr>
          <a:xfrm>
            <a:off x="914400" y="5157216"/>
            <a:ext cx="768096" cy="23774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</a:pPr>
            <a:r>
              <a:rPr sz="710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当前边界</a:t>
            </a:r>
            <a:endParaRPr sz="710" b="1" i="0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7" name="TextBox 56"/>
          <p:cNvSpPr>
            <a:spLocks noGrp="1"/>
          </p:cNvSpPr>
          <p:nvPr/>
        </p:nvSpPr>
        <p:spPr>
          <a:xfrm>
            <a:off x="1865376" y="5129784"/>
            <a:ext cx="9125712" cy="25603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</a:pPr>
            <a:r>
              <a:rPr sz="750" b="0" i="0">
                <a:solidFill>
                  <a:srgbClr val="14383E"/>
                </a:solidFill>
                <a:latin typeface="Noto Sans CJK SC"/>
                <a:ea typeface="Noto Sans CJK SC"/>
                <a:cs typeface="Noto Sans CJK SC"/>
              </a:rPr>
              <a:t>未使用 tool-use 强制模式 / response_format；解析失败率上升时再评估</a:t>
            </a:r>
            <a:endParaRPr sz="750" b="0" i="0">
              <a:solidFill>
                <a:srgbClr val="14383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8" name="Rounded Rectangle 57"/>
          <p:cNvSpPr>
            <a:spLocks noGrp="1"/>
          </p:cNvSpPr>
          <p:nvPr/>
        </p:nvSpPr>
        <p:spPr>
          <a:xfrm>
            <a:off x="7571231" y="3657600"/>
            <a:ext cx="3584448" cy="1179576"/>
          </a:xfrm>
          <a:prstGeom prst="roundRect">
            <a:avLst/>
          </a:prstGeom>
          <a:solidFill>
            <a:srgbClr val="FDECE9"/>
          </a:solidFill>
          <a:ln w="11430">
            <a:solidFill>
              <a:srgbClr val="E257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59" name="TextBox 58"/>
          <p:cNvSpPr>
            <a:spLocks noGrp="1"/>
          </p:cNvSpPr>
          <p:nvPr/>
        </p:nvSpPr>
        <p:spPr>
          <a:xfrm>
            <a:off x="7818120" y="3849624"/>
            <a:ext cx="3072384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1000" b="1" i="0">
                <a:solidFill>
                  <a:srgbClr val="B8362C"/>
                </a:solidFill>
                <a:latin typeface="Noto Sans CJK SC"/>
                <a:ea typeface="Noto Sans CJK SC"/>
                <a:cs typeface="Noto Sans CJK SC"/>
              </a:rPr>
              <a:t>Prompt 按固定顺序拼装，每段内容有明确用途</a:t>
            </a:r>
            <a:endParaRPr sz="1000" b="1" i="0">
              <a:solidFill>
                <a:srgbClr val="E2574C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0" name="TextBox 59"/>
          <p:cNvSpPr>
            <a:spLocks noGrp="1"/>
          </p:cNvSpPr>
          <p:nvPr/>
        </p:nvSpPr>
        <p:spPr>
          <a:xfrm>
            <a:off x="7818120" y="4224528"/>
            <a:ext cx="3072384" cy="36576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</a:pPr>
            <a:r>
              <a:rPr sz="720" b="0" i="0">
                <a:solidFill>
                  <a:srgbClr val="14383E"/>
                </a:solidFill>
                <a:latin typeface="Noto Sans CJK SC"/>
                <a:ea typeface="Noto Sans CJK SC"/>
                <a:cs typeface="Noto Sans CJK SC"/>
              </a:rPr>
              <a:t>稳定内容进前缀 · 动态内容进消息侧</a:t>
            </a:r>
            <a:endParaRPr sz="720" b="0" i="0">
              <a:solidFill>
                <a:srgbClr val="14383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1" name="Rectangle 60"/>
          <p:cNvSpPr>
            <a:spLocks noGrp="1"/>
          </p:cNvSpPr>
          <p:nvPr/>
        </p:nvSpPr>
        <p:spPr>
          <a:xfrm>
            <a:off x="0" y="0"/>
            <a:ext cx="41148" cy="6858000"/>
          </a:xfrm>
          <a:prstGeom prst="rect">
            <a:avLst/>
          </a:prstGeom>
          <a:solidFill>
            <a:srgbClr val="0A8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62" name="圆角矩形 61"/>
          <p:cNvSpPr>
            <a:spLocks noGrp="1"/>
          </p:cNvSpPr>
          <p:nvPr/>
        </p:nvSpPr>
        <p:spPr>
          <a:xfrm>
            <a:off x="6565583" y="127635"/>
            <a:ext cx="4937760" cy="365760"/>
          </a:xfrm>
          <a:prstGeom prst="roundRect">
            <a:avLst>
              <a:gd name="adj" fmla="val 20833"/>
            </a:avLst>
          </a:prstGeom>
          <a:solidFill>
            <a:srgbClr val="F7FBF9"/>
          </a:solidFill>
          <a:ln w="12668">
            <a:solidFill>
              <a:srgbClr val="F7FBF9"/>
            </a:solidFill>
            <a:prstDash val="solid"/>
          </a:ln>
        </p:spPr>
        <p:txBody>
          <a:bodyPr/>
          <a:p/>
        </p:txBody>
      </p:sp>
      <p:sp>
        <p:nvSpPr>
          <p:cNvPr id="63" name="圆角矩形 62"/>
          <p:cNvSpPr>
            <a:spLocks noGrp="1"/>
          </p:cNvSpPr>
          <p:nvPr/>
        </p:nvSpPr>
        <p:spPr>
          <a:xfrm>
            <a:off x="6657023" y="164783"/>
            <a:ext cx="1154430" cy="264795"/>
          </a:xfrm>
          <a:prstGeom prst="roundRect">
            <a:avLst>
              <a:gd name="adj" fmla="val 28777"/>
            </a:avLst>
          </a:prstGeom>
          <a:solidFill>
            <a:srgbClr val="007574"/>
          </a:solidFill>
          <a:ln w="12668">
            <a:solidFill>
              <a:srgbClr val="007574"/>
            </a:solidFill>
            <a:prstDash val="solid"/>
          </a:ln>
        </p:spPr>
        <p:txBody>
          <a:bodyPr/>
          <a:p/>
        </p:txBody>
      </p:sp>
      <p:sp>
        <p:nvSpPr>
          <p:cNvPr id="64" name="矩形 63"/>
          <p:cNvSpPr>
            <a:spLocks noGrp="1"/>
          </p:cNvSpPr>
          <p:nvPr/>
        </p:nvSpPr>
        <p:spPr>
          <a:xfrm>
            <a:off x="6657023" y="187643"/>
            <a:ext cx="1154430" cy="182880"/>
          </a:xfrm>
          <a:prstGeom prst="rect">
            <a:avLst/>
          </a:prstGeom>
        </p:spPr>
        <p:txBody>
          <a:bodyPr anchor="ctr"/>
          <a:lstStyle/>
          <a:p>
            <a:pPr algn="ctr">
              <a:defRPr sz="660" b="1">
                <a:solidFill>
                  <a:srgbClr val="FFFFFF"/>
                </a:solidFill>
              </a:defRPr>
            </a:pPr>
            <a:r>
              <a:t>理解</a:t>
            </a:r>
          </a:p>
        </p:txBody>
      </p:sp>
      <p:sp>
        <p:nvSpPr>
          <p:cNvPr id="65" name="圆角矩形 64"/>
          <p:cNvSpPr>
            <a:spLocks noGrp="1"/>
          </p:cNvSpPr>
          <p:nvPr/>
        </p:nvSpPr>
        <p:spPr>
          <a:xfrm>
            <a:off x="7857173" y="164783"/>
            <a:ext cx="1154430" cy="264795"/>
          </a:xfrm>
          <a:prstGeom prst="roundRect">
            <a:avLst>
              <a:gd name="adj" fmla="val 28777"/>
            </a:avLst>
          </a:prstGeom>
          <a:solidFill>
            <a:srgbClr val="FFFFFF"/>
          </a:solidFill>
          <a:ln w="12668">
            <a:solidFill>
              <a:srgbClr val="C9DCD7"/>
            </a:solidFill>
            <a:prstDash val="solid"/>
          </a:ln>
        </p:spPr>
        <p:txBody>
          <a:bodyPr/>
          <a:p/>
        </p:txBody>
      </p:sp>
      <p:sp>
        <p:nvSpPr>
          <p:cNvPr id="66" name="矩形 65"/>
          <p:cNvSpPr>
            <a:spLocks noGrp="1"/>
          </p:cNvSpPr>
          <p:nvPr/>
        </p:nvSpPr>
        <p:spPr>
          <a:xfrm>
            <a:off x="7857173" y="187643"/>
            <a:ext cx="1154430" cy="182880"/>
          </a:xfrm>
          <a:prstGeom prst="rect">
            <a:avLst/>
          </a:prstGeom>
        </p:spPr>
        <p:txBody>
          <a:bodyPr anchor="ctr"/>
          <a:lstStyle/>
          <a:p>
            <a:pPr algn="ctr">
              <a:defRPr sz="650" b="0">
                <a:solidFill>
                  <a:srgbClr val="44585C"/>
                </a:solidFill>
              </a:defRPr>
            </a:pPr>
            <a:r>
              <a:t>查询</a:t>
            </a:r>
          </a:p>
        </p:txBody>
      </p:sp>
      <p:sp>
        <p:nvSpPr>
          <p:cNvPr id="67" name="圆角矩形 66"/>
          <p:cNvSpPr>
            <a:spLocks noGrp="1"/>
          </p:cNvSpPr>
          <p:nvPr/>
        </p:nvSpPr>
        <p:spPr>
          <a:xfrm>
            <a:off x="9057323" y="164783"/>
            <a:ext cx="1154430" cy="264795"/>
          </a:xfrm>
          <a:prstGeom prst="roundRect">
            <a:avLst>
              <a:gd name="adj" fmla="val 28777"/>
            </a:avLst>
          </a:prstGeom>
          <a:solidFill>
            <a:srgbClr val="FFFFFF"/>
          </a:solidFill>
          <a:ln w="12668">
            <a:solidFill>
              <a:srgbClr val="C9DCD7"/>
            </a:solidFill>
            <a:prstDash val="solid"/>
          </a:ln>
        </p:spPr>
        <p:txBody>
          <a:bodyPr/>
          <a:p/>
        </p:txBody>
      </p:sp>
      <p:sp>
        <p:nvSpPr>
          <p:cNvPr id="68" name="矩形 67"/>
          <p:cNvSpPr>
            <a:spLocks noGrp="1"/>
          </p:cNvSpPr>
          <p:nvPr/>
        </p:nvSpPr>
        <p:spPr>
          <a:xfrm>
            <a:off x="9057323" y="187643"/>
            <a:ext cx="1154430" cy="182880"/>
          </a:xfrm>
          <a:prstGeom prst="rect">
            <a:avLst/>
          </a:prstGeom>
        </p:spPr>
        <p:txBody>
          <a:bodyPr anchor="ctr"/>
          <a:lstStyle/>
          <a:p>
            <a:pPr algn="ctr">
              <a:defRPr sz="650" b="0">
                <a:solidFill>
                  <a:srgbClr val="44585C"/>
                </a:solidFill>
              </a:defRPr>
            </a:pPr>
            <a:r>
              <a:t>决策</a:t>
            </a:r>
          </a:p>
        </p:txBody>
      </p:sp>
      <p:sp>
        <p:nvSpPr>
          <p:cNvPr id="69" name="圆角矩形 68"/>
          <p:cNvSpPr>
            <a:spLocks noGrp="1"/>
          </p:cNvSpPr>
          <p:nvPr/>
        </p:nvSpPr>
        <p:spPr>
          <a:xfrm>
            <a:off x="10257473" y="164783"/>
            <a:ext cx="1154430" cy="264795"/>
          </a:xfrm>
          <a:prstGeom prst="roundRect">
            <a:avLst>
              <a:gd name="adj" fmla="val 28777"/>
            </a:avLst>
          </a:prstGeom>
          <a:solidFill>
            <a:srgbClr val="FFFFFF"/>
          </a:solidFill>
          <a:ln w="12668">
            <a:solidFill>
              <a:srgbClr val="C9DCD7"/>
            </a:solidFill>
            <a:prstDash val="solid"/>
          </a:ln>
        </p:spPr>
        <p:txBody>
          <a:bodyPr/>
          <a:p/>
        </p:txBody>
      </p:sp>
      <p:sp>
        <p:nvSpPr>
          <p:cNvPr id="70" name="矩形 69"/>
          <p:cNvSpPr>
            <a:spLocks noGrp="1"/>
          </p:cNvSpPr>
          <p:nvPr/>
        </p:nvSpPr>
        <p:spPr>
          <a:xfrm>
            <a:off x="10257473" y="187643"/>
            <a:ext cx="1154430" cy="182880"/>
          </a:xfrm>
          <a:prstGeom prst="rect">
            <a:avLst/>
          </a:prstGeom>
        </p:spPr>
        <p:txBody>
          <a:bodyPr anchor="ctr"/>
          <a:lstStyle/>
          <a:p>
            <a:pPr algn="ctr">
              <a:defRPr sz="650" b="0">
                <a:solidFill>
                  <a:srgbClr val="44585C"/>
                </a:solidFill>
              </a:defRPr>
            </a:pPr>
            <a:r>
              <a:t>执行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hape 0"/>
          <p:cNvSpPr>
            <a:spLocks noGrp="1"/>
          </p:cNvSpPr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A"/>
          </a:solidFill>
          <a:ln w="12700">
            <a:solidFill>
              <a:srgbClr val="F7FBFA"/>
            </a:solidFill>
            <a:prstDash val="solid"/>
          </a:ln>
        </p:spPr>
        <p:txBody>
          <a:bodyPr/>
          <a:lstStyle/>
          <a:p/>
        </p:txBody>
      </p:sp>
      <p:sp>
        <p:nvSpPr>
          <p:cNvPr id="3" name="Shape 1"/>
          <p:cNvSpPr>
            <a:spLocks noGrp="1"/>
          </p:cNvSpPr>
          <p:nvPr/>
        </p:nvSpPr>
        <p:spPr>
          <a:xfrm>
            <a:off x="0" y="0"/>
            <a:ext cx="50292" cy="6858000"/>
          </a:xfrm>
          <a:prstGeom prst="rect">
            <a:avLst/>
          </a:prstGeom>
          <a:solidFill>
            <a:srgbClr val="0A8F6A"/>
          </a:solidFill>
          <a:ln w="12700">
            <a:solidFill>
              <a:srgbClr val="07966F"/>
            </a:solidFill>
            <a:prstDash val="solid"/>
          </a:ln>
        </p:spPr>
        <p:txBody>
          <a:bodyPr/>
          <a:lstStyle/>
          <a:p/>
        </p:txBody>
      </p:sp>
      <p:sp>
        <p:nvSpPr>
          <p:cNvPr id="4" name="Shape 2"/>
          <p:cNvSpPr>
            <a:spLocks noGrp="1"/>
          </p:cNvSpPr>
          <p:nvPr/>
        </p:nvSpPr>
        <p:spPr>
          <a:xfrm>
            <a:off x="10716768" y="45720"/>
            <a:ext cx="1170432" cy="658368"/>
          </a:xfrm>
          <a:prstGeom prst="ellipse">
            <a:avLst/>
          </a:prstGeom>
          <a:solidFill>
            <a:srgbClr val="E8F4F1"/>
          </a:solidFill>
          <a:ln w="12700">
            <a:solidFill>
              <a:srgbClr val="E8F4F1"/>
            </a:solidFill>
            <a:prstDash val="solid"/>
          </a:ln>
        </p:spPr>
        <p:txBody>
          <a:bodyPr/>
          <a:lstStyle/>
          <a:p/>
        </p:txBody>
      </p:sp>
      <p:sp>
        <p:nvSpPr>
          <p:cNvPr id="5" name="Shape 3"/>
          <p:cNvSpPr>
            <a:spLocks noGrp="1"/>
          </p:cNvSpPr>
          <p:nvPr/>
        </p:nvSpPr>
        <p:spPr>
          <a:xfrm>
            <a:off x="9948672" y="274320"/>
            <a:ext cx="64008" cy="64008"/>
          </a:xfrm>
          <a:prstGeom prst="ellipse">
            <a:avLst/>
          </a:prstGeom>
          <a:solidFill>
            <a:srgbClr val="C7DAD6"/>
          </a:solidFill>
          <a:ln w="12700">
            <a:solidFill>
              <a:srgbClr val="C7DAD6"/>
            </a:solidFill>
            <a:prstDash val="solid"/>
          </a:ln>
        </p:spPr>
        <p:txBody>
          <a:bodyPr/>
          <a:lstStyle/>
          <a:p/>
        </p:txBody>
      </p:sp>
      <p:sp>
        <p:nvSpPr>
          <p:cNvPr id="6" name="Text 4"/>
          <p:cNvSpPr>
            <a:spLocks noGrp="1"/>
          </p:cNvSpPr>
          <p:nvPr/>
        </p:nvSpPr>
        <p:spPr>
          <a:xfrm>
            <a:off x="9948672" y="274320"/>
            <a:ext cx="64008" cy="6400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endParaRPr sz="100"/>
          </a:p>
        </p:txBody>
      </p:sp>
      <p:sp>
        <p:nvSpPr>
          <p:cNvPr id="7" name="Shape 5"/>
          <p:cNvSpPr>
            <a:spLocks noGrp="1"/>
          </p:cNvSpPr>
          <p:nvPr/>
        </p:nvSpPr>
        <p:spPr>
          <a:xfrm>
            <a:off x="10158984" y="274320"/>
            <a:ext cx="64008" cy="64008"/>
          </a:xfrm>
          <a:prstGeom prst="ellipse">
            <a:avLst/>
          </a:prstGeom>
          <a:solidFill>
            <a:srgbClr val="C7DAD6"/>
          </a:solidFill>
          <a:ln w="12700">
            <a:solidFill>
              <a:srgbClr val="C7DAD6"/>
            </a:solidFill>
            <a:prstDash val="solid"/>
          </a:ln>
        </p:spPr>
        <p:txBody>
          <a:bodyPr/>
          <a:lstStyle/>
          <a:p/>
        </p:txBody>
      </p:sp>
      <p:sp>
        <p:nvSpPr>
          <p:cNvPr id="8" name="Text 6"/>
          <p:cNvSpPr>
            <a:spLocks noGrp="1"/>
          </p:cNvSpPr>
          <p:nvPr/>
        </p:nvSpPr>
        <p:spPr>
          <a:xfrm>
            <a:off x="10158984" y="274320"/>
            <a:ext cx="64008" cy="6400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endParaRPr sz="100"/>
          </a:p>
        </p:txBody>
      </p:sp>
      <p:sp>
        <p:nvSpPr>
          <p:cNvPr id="9" name="Shape 7"/>
          <p:cNvSpPr>
            <a:spLocks noGrp="1"/>
          </p:cNvSpPr>
          <p:nvPr/>
        </p:nvSpPr>
        <p:spPr>
          <a:xfrm>
            <a:off x="10369296" y="274320"/>
            <a:ext cx="64008" cy="64008"/>
          </a:xfrm>
          <a:prstGeom prst="ellipse">
            <a:avLst/>
          </a:prstGeom>
          <a:solidFill>
            <a:srgbClr val="07966F"/>
          </a:solidFill>
          <a:ln w="12700">
            <a:solidFill>
              <a:srgbClr val="07966F"/>
            </a:solidFill>
            <a:prstDash val="solid"/>
          </a:ln>
        </p:spPr>
        <p:txBody>
          <a:bodyPr/>
          <a:lstStyle/>
          <a:p/>
        </p:txBody>
      </p:sp>
      <p:sp>
        <p:nvSpPr>
          <p:cNvPr id="10" name="Text 8"/>
          <p:cNvSpPr>
            <a:spLocks noGrp="1"/>
          </p:cNvSpPr>
          <p:nvPr/>
        </p:nvSpPr>
        <p:spPr>
          <a:xfrm>
            <a:off x="10369296" y="274320"/>
            <a:ext cx="64008" cy="6400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endParaRPr sz="100"/>
          </a:p>
        </p:txBody>
      </p:sp>
      <p:sp>
        <p:nvSpPr>
          <p:cNvPr id="11" name="Shape 9"/>
          <p:cNvSpPr>
            <a:spLocks noGrp="1"/>
          </p:cNvSpPr>
          <p:nvPr/>
        </p:nvSpPr>
        <p:spPr>
          <a:xfrm>
            <a:off x="10579608" y="274320"/>
            <a:ext cx="64008" cy="64008"/>
          </a:xfrm>
          <a:prstGeom prst="ellipse">
            <a:avLst/>
          </a:prstGeom>
          <a:solidFill>
            <a:srgbClr val="C7DAD6"/>
          </a:solidFill>
          <a:ln w="12700">
            <a:solidFill>
              <a:srgbClr val="C7DAD6"/>
            </a:solidFill>
            <a:prstDash val="solid"/>
          </a:ln>
        </p:spPr>
        <p:txBody>
          <a:bodyPr/>
          <a:lstStyle/>
          <a:p/>
        </p:txBody>
      </p:sp>
      <p:sp>
        <p:nvSpPr>
          <p:cNvPr id="12" name="Text 10"/>
          <p:cNvSpPr>
            <a:spLocks noGrp="1"/>
          </p:cNvSpPr>
          <p:nvPr/>
        </p:nvSpPr>
        <p:spPr>
          <a:xfrm>
            <a:off x="10579608" y="274320"/>
            <a:ext cx="64008" cy="6400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endParaRPr sz="100"/>
          </a:p>
        </p:txBody>
      </p:sp>
      <p:sp>
        <p:nvSpPr>
          <p:cNvPr id="13" name="Shape 11"/>
          <p:cNvSpPr>
            <a:spLocks noGrp="1"/>
          </p:cNvSpPr>
          <p:nvPr/>
        </p:nvSpPr>
        <p:spPr>
          <a:xfrm>
            <a:off x="10789920" y="274320"/>
            <a:ext cx="64008" cy="64008"/>
          </a:xfrm>
          <a:prstGeom prst="ellipse">
            <a:avLst/>
          </a:prstGeom>
          <a:solidFill>
            <a:srgbClr val="C7DAD6"/>
          </a:solidFill>
          <a:ln w="12700">
            <a:solidFill>
              <a:srgbClr val="C7DAD6"/>
            </a:solidFill>
            <a:prstDash val="solid"/>
          </a:ln>
        </p:spPr>
        <p:txBody>
          <a:bodyPr/>
          <a:lstStyle/>
          <a:p/>
        </p:txBody>
      </p:sp>
      <p:sp>
        <p:nvSpPr>
          <p:cNvPr id="14" name="Text 12"/>
          <p:cNvSpPr>
            <a:spLocks noGrp="1"/>
          </p:cNvSpPr>
          <p:nvPr/>
        </p:nvSpPr>
        <p:spPr>
          <a:xfrm>
            <a:off x="10789920" y="274320"/>
            <a:ext cx="64008" cy="6400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endParaRPr sz="100"/>
          </a:p>
        </p:txBody>
      </p:sp>
      <p:sp>
        <p:nvSpPr>
          <p:cNvPr id="15" name="Shape 13"/>
          <p:cNvSpPr>
            <a:spLocks noGrp="1"/>
          </p:cNvSpPr>
          <p:nvPr/>
        </p:nvSpPr>
        <p:spPr>
          <a:xfrm>
            <a:off x="11000232" y="274320"/>
            <a:ext cx="64008" cy="64008"/>
          </a:xfrm>
          <a:prstGeom prst="ellipse">
            <a:avLst/>
          </a:prstGeom>
          <a:solidFill>
            <a:srgbClr val="C7DAD6"/>
          </a:solidFill>
          <a:ln w="12700">
            <a:solidFill>
              <a:srgbClr val="C7DAD6"/>
            </a:solidFill>
            <a:prstDash val="solid"/>
          </a:ln>
        </p:spPr>
        <p:txBody>
          <a:bodyPr/>
          <a:lstStyle/>
          <a:p/>
        </p:txBody>
      </p:sp>
      <p:sp>
        <p:nvSpPr>
          <p:cNvPr id="16" name="Text 14"/>
          <p:cNvSpPr>
            <a:spLocks noGrp="1"/>
          </p:cNvSpPr>
          <p:nvPr/>
        </p:nvSpPr>
        <p:spPr>
          <a:xfrm>
            <a:off x="11000232" y="274320"/>
            <a:ext cx="64008" cy="6400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endParaRPr sz="100"/>
          </a:p>
        </p:txBody>
      </p:sp>
      <p:sp>
        <p:nvSpPr>
          <p:cNvPr id="17" name="Shape 15"/>
          <p:cNvSpPr>
            <a:spLocks noGrp="1"/>
          </p:cNvSpPr>
          <p:nvPr/>
        </p:nvSpPr>
        <p:spPr>
          <a:xfrm>
            <a:off x="11210544" y="274320"/>
            <a:ext cx="64008" cy="64008"/>
          </a:xfrm>
          <a:prstGeom prst="ellipse">
            <a:avLst/>
          </a:prstGeom>
          <a:solidFill>
            <a:srgbClr val="C7DAD6"/>
          </a:solidFill>
          <a:ln w="12700">
            <a:solidFill>
              <a:srgbClr val="C7DAD6"/>
            </a:solidFill>
            <a:prstDash val="solid"/>
          </a:ln>
        </p:spPr>
        <p:txBody>
          <a:bodyPr/>
          <a:lstStyle/>
          <a:p/>
        </p:txBody>
      </p:sp>
      <p:sp>
        <p:nvSpPr>
          <p:cNvPr id="18" name="Text 16"/>
          <p:cNvSpPr>
            <a:spLocks noGrp="1"/>
          </p:cNvSpPr>
          <p:nvPr/>
        </p:nvSpPr>
        <p:spPr>
          <a:xfrm>
            <a:off x="11210544" y="274320"/>
            <a:ext cx="64008" cy="6400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endParaRPr sz="100"/>
          </a:p>
        </p:txBody>
      </p:sp>
      <p:sp>
        <p:nvSpPr>
          <p:cNvPr id="19" name="Shape 17"/>
          <p:cNvSpPr>
            <a:spLocks noGrp="1"/>
          </p:cNvSpPr>
          <p:nvPr/>
        </p:nvSpPr>
        <p:spPr>
          <a:xfrm>
            <a:off x="658368" y="420624"/>
            <a:ext cx="237744" cy="0"/>
          </a:xfrm>
          <a:prstGeom prst="line">
            <a:avLst/>
          </a:prstGeom>
          <a:noFill/>
          <a:ln w="15875">
            <a:solidFill>
              <a:srgbClr val="0A8F6A"/>
            </a:solidFill>
            <a:prstDash val="solid"/>
          </a:ln>
        </p:spPr>
        <p:txBody>
          <a:bodyPr/>
          <a:lstStyle/>
          <a:p/>
        </p:txBody>
      </p:sp>
      <p:sp>
        <p:nvSpPr>
          <p:cNvPr id="20" name="Text 18"/>
          <p:cNvSpPr>
            <a:spLocks noGrp="1"/>
          </p:cNvSpPr>
          <p:nvPr/>
        </p:nvSpPr>
        <p:spPr>
          <a:xfrm>
            <a:off x="950976" y="274320"/>
            <a:ext cx="3931920" cy="25603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r>
              <a:rPr sz="1050" b="1">
                <a:solidFill>
                  <a:srgbClr val="076B50"/>
                </a:solidFill>
                <a:latin typeface="Noto Sans CJK SC"/>
                <a:ea typeface="Noto Sans CJK SC"/>
                <a:cs typeface="Noto Sans CJK SC"/>
              </a:rPr>
              <a:t>CHAPTER 4 · 上下文与知识</a:t>
            </a:r>
            <a:endParaRPr sz="1050" b="1">
              <a:solidFill>
                <a:srgbClr val="00A7A7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1" name="Text 19"/>
          <p:cNvSpPr>
            <a:spLocks noGrp="1"/>
          </p:cNvSpPr>
          <p:nvPr/>
        </p:nvSpPr>
        <p:spPr>
          <a:xfrm>
            <a:off x="658368" y="658368"/>
            <a:ext cx="10607040" cy="457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buNone/>
            </a:pPr>
            <a:r>
              <a:rPr sz="2900" b="1">
                <a:solidFill>
                  <a:srgbClr val="153D39"/>
                </a:solidFill>
                <a:latin typeface="Noto Sans CJK SC"/>
                <a:ea typeface="Noto Sans CJK SC"/>
                <a:cs typeface="Noto Sans CJK SC"/>
              </a:rPr>
              <a:t>路由治理：正例、负例与 Badcase 回流</a:t>
            </a:r>
            <a:endParaRPr sz="2900"/>
          </a:p>
        </p:txBody>
      </p:sp>
      <p:sp>
        <p:nvSpPr>
          <p:cNvPr id="22" name="Text 20"/>
          <p:cNvSpPr>
            <a:spLocks noGrp="1"/>
          </p:cNvSpPr>
          <p:nvPr/>
        </p:nvSpPr>
        <p:spPr>
          <a:xfrm>
            <a:off x="658368" y="1143000"/>
            <a:ext cx="10561320" cy="31089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r>
              <a:rPr sz="1170">
                <a:solidFill>
                  <a:srgbClr val="44585C"/>
                </a:solidFill>
                <a:latin typeface="Noto Sans CJK SC"/>
                <a:ea typeface="Noto Sans CJK SC"/>
                <a:cs typeface="Noto Sans CJK SC"/>
              </a:rPr>
              <a:t>每次错分都补成新的边界样本，再回到冻结评测集复跑。</a:t>
            </a:r>
            <a:endParaRPr sz="1170">
              <a:solidFill>
                <a:srgbClr val="6B8185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3" name="Shape 21"/>
          <p:cNvSpPr>
            <a:spLocks noGrp="1"/>
          </p:cNvSpPr>
          <p:nvPr/>
        </p:nvSpPr>
        <p:spPr>
          <a:xfrm>
            <a:off x="658368" y="6519672"/>
            <a:ext cx="11064240" cy="0"/>
          </a:xfrm>
          <a:prstGeom prst="line">
            <a:avLst/>
          </a:prstGeom>
          <a:noFill/>
          <a:ln w="12700">
            <a:solidFill>
              <a:srgbClr val="D7E7E3"/>
            </a:solidFill>
            <a:prstDash val="solid"/>
          </a:ln>
        </p:spPr>
        <p:txBody>
          <a:bodyPr/>
          <a:lstStyle/>
          <a:p/>
        </p:txBody>
      </p:sp>
      <p:sp>
        <p:nvSpPr>
          <p:cNvPr id="24" name="Text 22"/>
          <p:cNvSpPr>
            <a:spLocks noGrp="1"/>
          </p:cNvSpPr>
          <p:nvPr/>
        </p:nvSpPr>
        <p:spPr>
          <a:xfrm>
            <a:off x="658368" y="6583680"/>
            <a:ext cx="3931920" cy="14630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buNone/>
            </a:pPr>
            <a:r>
              <a:rPr sz="850">
                <a:solidFill>
                  <a:srgbClr val="55696A"/>
                </a:solidFill>
                <a:latin typeface="Noto Sans CJK SC"/>
                <a:ea typeface="Noto Sans CJK SC"/>
                <a:cs typeface="Noto Sans CJK SC"/>
              </a:rPr>
              <a:t>CUSTOMER SERVICE AI AGENT</a:t>
            </a:r>
            <a:endParaRPr sz="850"/>
          </a:p>
        </p:txBody>
      </p:sp>
      <p:sp>
        <p:nvSpPr>
          <p:cNvPr id="25" name="Text 23"/>
          <p:cNvSpPr>
            <a:spLocks noGrp="1"/>
          </p:cNvSpPr>
          <p:nvPr/>
        </p:nvSpPr>
        <p:spPr>
          <a:xfrm>
            <a:off x="10927080" y="6565392"/>
            <a:ext cx="777240" cy="16459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</a:pPr>
            <a:r>
              <a:rPr sz="880" b="1">
                <a:solidFill>
                  <a:srgbClr val="076B50"/>
                </a:solidFill>
                <a:latin typeface="Noto Sans CJK SC"/>
                <a:ea typeface="Noto Sans CJK SC"/>
                <a:cs typeface="Noto Sans CJK SC"/>
              </a:rPr>
              <a:t>35</a:t>
            </a:r>
            <a:endParaRPr sz="880" b="1">
              <a:solidFill>
                <a:srgbClr val="00A7A7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6" name="Shape 24"/>
          <p:cNvSpPr>
            <a:spLocks noGrp="1"/>
          </p:cNvSpPr>
          <p:nvPr/>
        </p:nvSpPr>
        <p:spPr>
          <a:xfrm>
            <a:off x="1929384" y="2880360"/>
            <a:ext cx="210312" cy="0"/>
          </a:xfrm>
          <a:prstGeom prst="line">
            <a:avLst/>
          </a:prstGeom>
          <a:noFill/>
          <a:ln w="20320">
            <a:solidFill>
              <a:srgbClr val="2F80ED"/>
            </a:solidFill>
            <a:prstDash val="solid"/>
            <a:tailEnd type="triangle"/>
          </a:ln>
        </p:spPr>
        <p:txBody>
          <a:bodyPr/>
          <a:lstStyle/>
          <a:p/>
        </p:txBody>
      </p:sp>
      <p:sp>
        <p:nvSpPr>
          <p:cNvPr id="27" name="Shape 25"/>
          <p:cNvSpPr>
            <a:spLocks noGrp="1"/>
          </p:cNvSpPr>
          <p:nvPr/>
        </p:nvSpPr>
        <p:spPr>
          <a:xfrm>
            <a:off x="3447288" y="2880360"/>
            <a:ext cx="210312" cy="0"/>
          </a:xfrm>
          <a:prstGeom prst="line">
            <a:avLst/>
          </a:prstGeom>
          <a:noFill/>
          <a:ln w="20320">
            <a:solidFill>
              <a:srgbClr val="00A7A7"/>
            </a:solidFill>
            <a:prstDash val="solid"/>
            <a:tailEnd type="triangle"/>
          </a:ln>
        </p:spPr>
        <p:txBody>
          <a:bodyPr/>
          <a:lstStyle/>
          <a:p/>
        </p:txBody>
      </p:sp>
      <p:sp>
        <p:nvSpPr>
          <p:cNvPr id="28" name="Shape 26"/>
          <p:cNvSpPr>
            <a:spLocks noGrp="1"/>
          </p:cNvSpPr>
          <p:nvPr/>
        </p:nvSpPr>
        <p:spPr>
          <a:xfrm>
            <a:off x="4965192" y="2880360"/>
            <a:ext cx="210312" cy="0"/>
          </a:xfrm>
          <a:prstGeom prst="line">
            <a:avLst/>
          </a:prstGeom>
          <a:noFill/>
          <a:ln w="20320">
            <a:solidFill>
              <a:srgbClr val="6B6FD8"/>
            </a:solidFill>
            <a:prstDash val="solid"/>
            <a:tailEnd type="triangle"/>
          </a:ln>
        </p:spPr>
        <p:txBody>
          <a:bodyPr/>
          <a:lstStyle/>
          <a:p/>
        </p:txBody>
      </p:sp>
      <p:sp>
        <p:nvSpPr>
          <p:cNvPr id="29" name="Shape 27"/>
          <p:cNvSpPr>
            <a:spLocks noGrp="1"/>
          </p:cNvSpPr>
          <p:nvPr/>
        </p:nvSpPr>
        <p:spPr>
          <a:xfrm>
            <a:off x="6483096" y="2880360"/>
            <a:ext cx="210312" cy="0"/>
          </a:xfrm>
          <a:prstGeom prst="line">
            <a:avLst/>
          </a:prstGeom>
          <a:noFill/>
          <a:ln w="20320">
            <a:solidFill>
              <a:srgbClr val="07966F"/>
            </a:solidFill>
            <a:prstDash val="solid"/>
            <a:tailEnd type="triangle"/>
          </a:ln>
        </p:spPr>
        <p:txBody>
          <a:bodyPr/>
          <a:lstStyle/>
          <a:p/>
        </p:txBody>
      </p:sp>
      <p:sp>
        <p:nvSpPr>
          <p:cNvPr id="30" name="Shape 28"/>
          <p:cNvSpPr>
            <a:spLocks noGrp="1"/>
          </p:cNvSpPr>
          <p:nvPr/>
        </p:nvSpPr>
        <p:spPr>
          <a:xfrm>
            <a:off x="8001000" y="2880360"/>
            <a:ext cx="210312" cy="0"/>
          </a:xfrm>
          <a:prstGeom prst="line">
            <a:avLst/>
          </a:prstGeom>
          <a:noFill/>
          <a:ln w="20320">
            <a:solidFill>
              <a:srgbClr val="F28B36"/>
            </a:solidFill>
            <a:prstDash val="solid"/>
            <a:tailEnd type="triangle"/>
          </a:ln>
        </p:spPr>
        <p:txBody>
          <a:bodyPr/>
          <a:lstStyle/>
          <a:p/>
        </p:txBody>
      </p:sp>
      <p:sp>
        <p:nvSpPr>
          <p:cNvPr id="31" name="Shape 29"/>
          <p:cNvSpPr>
            <a:spLocks noGrp="1"/>
          </p:cNvSpPr>
          <p:nvPr/>
        </p:nvSpPr>
        <p:spPr>
          <a:xfrm>
            <a:off x="9518904" y="2880360"/>
            <a:ext cx="210312" cy="0"/>
          </a:xfrm>
          <a:prstGeom prst="line">
            <a:avLst/>
          </a:prstGeom>
          <a:noFill/>
          <a:ln w="20320">
            <a:solidFill>
              <a:srgbClr val="07966F"/>
            </a:solidFill>
            <a:prstDash val="solid"/>
            <a:tailEnd type="triangle"/>
          </a:ln>
        </p:spPr>
        <p:txBody>
          <a:bodyPr/>
          <a:lstStyle/>
          <a:p/>
        </p:txBody>
      </p:sp>
      <p:sp>
        <p:nvSpPr>
          <p:cNvPr id="32" name="Shape 30"/>
          <p:cNvSpPr>
            <a:spLocks noGrp="1"/>
          </p:cNvSpPr>
          <p:nvPr/>
        </p:nvSpPr>
        <p:spPr>
          <a:xfrm>
            <a:off x="713232" y="2130552"/>
            <a:ext cx="1216152" cy="1490472"/>
          </a:xfrm>
          <a:prstGeom prst="roundRect">
            <a:avLst/>
          </a:prstGeom>
          <a:solidFill>
            <a:srgbClr val="EAF3FF"/>
          </a:solidFill>
          <a:ln w="11430">
            <a:solidFill>
              <a:srgbClr val="2F80ED"/>
            </a:solidFill>
            <a:prstDash val="solid"/>
          </a:ln>
        </p:spPr>
        <p:txBody>
          <a:bodyPr/>
          <a:lstStyle/>
          <a:p/>
        </p:txBody>
      </p:sp>
      <p:sp>
        <p:nvSpPr>
          <p:cNvPr id="33" name="Shape 31"/>
          <p:cNvSpPr>
            <a:spLocks noGrp="1"/>
          </p:cNvSpPr>
          <p:nvPr/>
        </p:nvSpPr>
        <p:spPr>
          <a:xfrm>
            <a:off x="1143000" y="2331720"/>
            <a:ext cx="356616" cy="356616"/>
          </a:xfrm>
          <a:prstGeom prst="ellipse">
            <a:avLst/>
          </a:prstGeom>
          <a:solidFill>
            <a:srgbClr val="1F63C4"/>
          </a:solidFill>
          <a:ln w="12700">
            <a:solidFill>
              <a:srgbClr val="1F63C4"/>
            </a:solidFill>
            <a:prstDash val="solid"/>
          </a:ln>
        </p:spPr>
        <p:txBody>
          <a:bodyPr/>
          <a:lstStyle/>
          <a:p/>
        </p:txBody>
      </p:sp>
      <p:sp>
        <p:nvSpPr>
          <p:cNvPr id="34" name="Text 32"/>
          <p:cNvSpPr>
            <a:spLocks noGrp="1"/>
          </p:cNvSpPr>
          <p:nvPr/>
        </p:nvSpPr>
        <p:spPr>
          <a:xfrm>
            <a:off x="1143000" y="2331720"/>
            <a:ext cx="356616" cy="35661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9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1</a:t>
            </a:r>
            <a:endParaRPr sz="900"/>
          </a:p>
        </p:txBody>
      </p:sp>
      <p:sp>
        <p:nvSpPr>
          <p:cNvPr id="35" name="Text 33"/>
          <p:cNvSpPr>
            <a:spLocks noGrp="1"/>
          </p:cNvSpPr>
          <p:nvPr/>
        </p:nvSpPr>
        <p:spPr>
          <a:xfrm>
            <a:off x="777240" y="2788920"/>
            <a:ext cx="1088136" cy="21945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1040" b="1">
                <a:solidFill>
                  <a:srgbClr val="153D39"/>
                </a:solidFill>
                <a:latin typeface="Noto Sans CJK SC"/>
                <a:ea typeface="Noto Sans CJK SC"/>
                <a:cs typeface="Noto Sans CJK SC"/>
              </a:rPr>
              <a:t>客户原文进入</a:t>
            </a:r>
            <a:endParaRPr sz="1040"/>
          </a:p>
        </p:txBody>
      </p:sp>
      <p:sp>
        <p:nvSpPr>
          <p:cNvPr id="36" name="Text 34"/>
          <p:cNvSpPr>
            <a:spLocks noGrp="1"/>
          </p:cNvSpPr>
          <p:nvPr/>
        </p:nvSpPr>
        <p:spPr>
          <a:xfrm>
            <a:off x="786384" y="3099816"/>
            <a:ext cx="1069848" cy="31089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780">
                <a:solidFill>
                  <a:srgbClr val="44585C"/>
                </a:solidFill>
                <a:latin typeface="Noto Sans CJK SC"/>
                <a:ea typeface="Noto Sans CJK SC"/>
                <a:cs typeface="Noto Sans CJK SC"/>
              </a:rPr>
              <a:t>只认客户真实输入</a:t>
            </a:r>
            <a:endParaRPr sz="780"/>
          </a:p>
        </p:txBody>
      </p:sp>
      <p:sp>
        <p:nvSpPr>
          <p:cNvPr id="37" name="Shape 35"/>
          <p:cNvSpPr>
            <a:spLocks noGrp="1"/>
          </p:cNvSpPr>
          <p:nvPr/>
        </p:nvSpPr>
        <p:spPr>
          <a:xfrm>
            <a:off x="2231136" y="2130552"/>
            <a:ext cx="1216152" cy="1490472"/>
          </a:xfrm>
          <a:prstGeom prst="roundRect">
            <a:avLst/>
          </a:prstGeom>
          <a:solidFill>
            <a:srgbClr val="E7F7F7"/>
          </a:solidFill>
          <a:ln w="11430">
            <a:solidFill>
              <a:srgbClr val="00A7A7"/>
            </a:solidFill>
            <a:prstDash val="solid"/>
          </a:ln>
        </p:spPr>
        <p:txBody>
          <a:bodyPr/>
          <a:lstStyle/>
          <a:p/>
        </p:txBody>
      </p:sp>
      <p:sp>
        <p:nvSpPr>
          <p:cNvPr id="38" name="Shape 36"/>
          <p:cNvSpPr>
            <a:spLocks noGrp="1"/>
          </p:cNvSpPr>
          <p:nvPr/>
        </p:nvSpPr>
        <p:spPr>
          <a:xfrm>
            <a:off x="2660904" y="2331720"/>
            <a:ext cx="356616" cy="356616"/>
          </a:xfrm>
          <a:prstGeom prst="ellipse">
            <a:avLst/>
          </a:prstGeom>
          <a:solidFill>
            <a:srgbClr val="007574"/>
          </a:solidFill>
          <a:ln w="12700">
            <a:solidFill>
              <a:srgbClr val="007574"/>
            </a:solidFill>
            <a:prstDash val="solid"/>
          </a:ln>
        </p:spPr>
        <p:txBody>
          <a:bodyPr/>
          <a:lstStyle/>
          <a:p/>
        </p:txBody>
      </p:sp>
      <p:sp>
        <p:nvSpPr>
          <p:cNvPr id="39" name="Text 37"/>
          <p:cNvSpPr>
            <a:spLocks noGrp="1"/>
          </p:cNvSpPr>
          <p:nvPr/>
        </p:nvSpPr>
        <p:spPr>
          <a:xfrm>
            <a:off x="2660904" y="2331720"/>
            <a:ext cx="356616" cy="35661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9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2</a:t>
            </a:r>
            <a:endParaRPr sz="900"/>
          </a:p>
        </p:txBody>
      </p:sp>
      <p:sp>
        <p:nvSpPr>
          <p:cNvPr id="40" name="Text 38"/>
          <p:cNvSpPr>
            <a:spLocks noGrp="1"/>
          </p:cNvSpPr>
          <p:nvPr/>
        </p:nvSpPr>
        <p:spPr>
          <a:xfrm>
            <a:off x="2295144" y="2788920"/>
            <a:ext cx="1088136" cy="21945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1040" b="1">
                <a:solidFill>
                  <a:srgbClr val="153D39"/>
                </a:solidFill>
                <a:latin typeface="Noto Sans CJK SC"/>
                <a:ea typeface="Noto Sans CJK SC"/>
                <a:cs typeface="Noto Sans CJK SC"/>
              </a:rPr>
              <a:t>匹配正例</a:t>
            </a:r>
            <a:endParaRPr sz="1040"/>
          </a:p>
        </p:txBody>
      </p:sp>
      <p:sp>
        <p:nvSpPr>
          <p:cNvPr id="41" name="Text 39"/>
          <p:cNvSpPr>
            <a:spLocks noGrp="1"/>
          </p:cNvSpPr>
          <p:nvPr/>
        </p:nvSpPr>
        <p:spPr>
          <a:xfrm>
            <a:off x="2304288" y="3099816"/>
            <a:ext cx="1069848" cy="31089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780">
                <a:solidFill>
                  <a:srgbClr val="44585C"/>
                </a:solidFill>
                <a:latin typeface="Noto Sans CJK SC"/>
                <a:ea typeface="Noto Sans CJK SC"/>
                <a:cs typeface="Noto Sans CJK SC"/>
              </a:rPr>
              <a:t>routeHere：该进的原话</a:t>
            </a:r>
            <a:endParaRPr sz="780"/>
          </a:p>
        </p:txBody>
      </p:sp>
      <p:sp>
        <p:nvSpPr>
          <p:cNvPr id="42" name="Shape 40"/>
          <p:cNvSpPr>
            <a:spLocks noGrp="1"/>
          </p:cNvSpPr>
          <p:nvPr/>
        </p:nvSpPr>
        <p:spPr>
          <a:xfrm>
            <a:off x="3749040" y="2130552"/>
            <a:ext cx="1216152" cy="1490472"/>
          </a:xfrm>
          <a:prstGeom prst="roundRect">
            <a:avLst/>
          </a:prstGeom>
          <a:solidFill>
            <a:srgbClr val="EEF0FF"/>
          </a:solidFill>
          <a:ln w="11430">
            <a:solidFill>
              <a:srgbClr val="6B6FD8"/>
            </a:solidFill>
            <a:prstDash val="solid"/>
          </a:ln>
        </p:spPr>
        <p:txBody>
          <a:bodyPr/>
          <a:lstStyle/>
          <a:p/>
        </p:txBody>
      </p:sp>
      <p:sp>
        <p:nvSpPr>
          <p:cNvPr id="43" name="Shape 41"/>
          <p:cNvSpPr>
            <a:spLocks noGrp="1"/>
          </p:cNvSpPr>
          <p:nvPr/>
        </p:nvSpPr>
        <p:spPr>
          <a:xfrm>
            <a:off x="4178808" y="2331720"/>
            <a:ext cx="356616" cy="356616"/>
          </a:xfrm>
          <a:prstGeom prst="ellipse">
            <a:avLst/>
          </a:prstGeom>
          <a:solidFill>
            <a:srgbClr val="5356BE"/>
          </a:solidFill>
          <a:ln w="12700">
            <a:solidFill>
              <a:srgbClr val="5356BE"/>
            </a:solidFill>
            <a:prstDash val="solid"/>
          </a:ln>
        </p:spPr>
        <p:txBody>
          <a:bodyPr/>
          <a:lstStyle/>
          <a:p/>
        </p:txBody>
      </p:sp>
      <p:sp>
        <p:nvSpPr>
          <p:cNvPr id="44" name="Text 42"/>
          <p:cNvSpPr>
            <a:spLocks noGrp="1"/>
          </p:cNvSpPr>
          <p:nvPr/>
        </p:nvSpPr>
        <p:spPr>
          <a:xfrm>
            <a:off x="4178808" y="2331720"/>
            <a:ext cx="356616" cy="35661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9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3</a:t>
            </a:r>
            <a:endParaRPr sz="900"/>
          </a:p>
        </p:txBody>
      </p:sp>
      <p:sp>
        <p:nvSpPr>
          <p:cNvPr id="45" name="Text 43"/>
          <p:cNvSpPr>
            <a:spLocks noGrp="1"/>
          </p:cNvSpPr>
          <p:nvPr/>
        </p:nvSpPr>
        <p:spPr>
          <a:xfrm>
            <a:off x="3813048" y="2788920"/>
            <a:ext cx="1088136" cy="21945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1040" b="1">
                <a:solidFill>
                  <a:srgbClr val="153D39"/>
                </a:solidFill>
                <a:latin typeface="Noto Sans CJK SC"/>
                <a:ea typeface="Noto Sans CJK SC"/>
                <a:cs typeface="Noto Sans CJK SC"/>
              </a:rPr>
              <a:t>检查负例</a:t>
            </a:r>
            <a:endParaRPr sz="1040"/>
          </a:p>
        </p:txBody>
      </p:sp>
      <p:sp>
        <p:nvSpPr>
          <p:cNvPr id="46" name="Text 44"/>
          <p:cNvSpPr>
            <a:spLocks noGrp="1"/>
          </p:cNvSpPr>
          <p:nvPr/>
        </p:nvSpPr>
        <p:spPr>
          <a:xfrm>
            <a:off x="3822192" y="3099816"/>
            <a:ext cx="1069848" cy="31089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780">
                <a:solidFill>
                  <a:srgbClr val="44585C"/>
                </a:solidFill>
                <a:latin typeface="Noto Sans CJK SC"/>
                <a:ea typeface="Noto Sans CJK SC"/>
                <a:cs typeface="Noto Sans CJK SC"/>
              </a:rPr>
              <a:t>doNotRouteHere 显式排除</a:t>
            </a:r>
            <a:endParaRPr sz="780"/>
          </a:p>
        </p:txBody>
      </p:sp>
      <p:sp>
        <p:nvSpPr>
          <p:cNvPr id="47" name="Shape 45"/>
          <p:cNvSpPr>
            <a:spLocks noGrp="1"/>
          </p:cNvSpPr>
          <p:nvPr/>
        </p:nvSpPr>
        <p:spPr>
          <a:xfrm>
            <a:off x="5266944" y="2130552"/>
            <a:ext cx="1216152" cy="1490472"/>
          </a:xfrm>
          <a:prstGeom prst="roundRect">
            <a:avLst/>
          </a:prstGeom>
          <a:solidFill>
            <a:srgbClr val="E8F7F1"/>
          </a:solidFill>
          <a:ln w="11430">
            <a:solidFill>
              <a:srgbClr val="07966F"/>
            </a:solidFill>
            <a:prstDash val="solid"/>
          </a:ln>
        </p:spPr>
        <p:txBody>
          <a:bodyPr/>
          <a:lstStyle/>
          <a:p/>
        </p:txBody>
      </p:sp>
      <p:sp>
        <p:nvSpPr>
          <p:cNvPr id="48" name="Shape 46"/>
          <p:cNvSpPr>
            <a:spLocks noGrp="1"/>
          </p:cNvSpPr>
          <p:nvPr/>
        </p:nvSpPr>
        <p:spPr>
          <a:xfrm>
            <a:off x="5696712" y="2331720"/>
            <a:ext cx="356616" cy="356616"/>
          </a:xfrm>
          <a:prstGeom prst="ellipse">
            <a:avLst/>
          </a:prstGeom>
          <a:solidFill>
            <a:srgbClr val="07714F"/>
          </a:solidFill>
          <a:ln w="12700">
            <a:solidFill>
              <a:srgbClr val="07714F"/>
            </a:solidFill>
            <a:prstDash val="solid"/>
          </a:ln>
        </p:spPr>
        <p:txBody>
          <a:bodyPr/>
          <a:lstStyle/>
          <a:p/>
        </p:txBody>
      </p:sp>
      <p:sp>
        <p:nvSpPr>
          <p:cNvPr id="49" name="Text 47"/>
          <p:cNvSpPr>
            <a:spLocks noGrp="1"/>
          </p:cNvSpPr>
          <p:nvPr/>
        </p:nvSpPr>
        <p:spPr>
          <a:xfrm>
            <a:off x="5696712" y="2331720"/>
            <a:ext cx="356616" cy="35661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9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4</a:t>
            </a:r>
            <a:endParaRPr sz="900"/>
          </a:p>
        </p:txBody>
      </p:sp>
      <p:sp>
        <p:nvSpPr>
          <p:cNvPr id="50" name="Text 48"/>
          <p:cNvSpPr>
            <a:spLocks noGrp="1"/>
          </p:cNvSpPr>
          <p:nvPr/>
        </p:nvSpPr>
        <p:spPr>
          <a:xfrm>
            <a:off x="5330952" y="2788920"/>
            <a:ext cx="1088136" cy="21945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1040" b="1">
                <a:solidFill>
                  <a:srgbClr val="153D39"/>
                </a:solidFill>
                <a:latin typeface="Noto Sans CJK SC"/>
                <a:ea typeface="Noto Sans CJK SC"/>
                <a:cs typeface="Noto Sans CJK SC"/>
              </a:rPr>
              <a:t>不确定→兜底</a:t>
            </a:r>
            <a:endParaRPr sz="1040"/>
          </a:p>
        </p:txBody>
      </p:sp>
      <p:sp>
        <p:nvSpPr>
          <p:cNvPr id="51" name="Text 49"/>
          <p:cNvSpPr>
            <a:spLocks noGrp="1"/>
          </p:cNvSpPr>
          <p:nvPr/>
        </p:nvSpPr>
        <p:spPr>
          <a:xfrm>
            <a:off x="5340096" y="3099816"/>
            <a:ext cx="1069848" cy="31089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780">
                <a:solidFill>
                  <a:srgbClr val="44585C"/>
                </a:solidFill>
                <a:latin typeface="Noto Sans CJK SC"/>
                <a:ea typeface="Noto Sans CJK SC"/>
                <a:cs typeface="Noto Sans CJK SC"/>
              </a:rPr>
              <a:t>进 other/default 兜底</a:t>
            </a:r>
            <a:endParaRPr sz="780"/>
          </a:p>
        </p:txBody>
      </p:sp>
      <p:sp>
        <p:nvSpPr>
          <p:cNvPr id="52" name="Shape 50"/>
          <p:cNvSpPr>
            <a:spLocks noGrp="1"/>
          </p:cNvSpPr>
          <p:nvPr/>
        </p:nvSpPr>
        <p:spPr>
          <a:xfrm>
            <a:off x="6784848" y="2130552"/>
            <a:ext cx="1216152" cy="1490472"/>
          </a:xfrm>
          <a:prstGeom prst="roundRect">
            <a:avLst/>
          </a:prstGeom>
          <a:solidFill>
            <a:srgbClr val="FFF2E8"/>
          </a:solidFill>
          <a:ln w="11430">
            <a:solidFill>
              <a:srgbClr val="F28B36"/>
            </a:solidFill>
            <a:prstDash val="solid"/>
          </a:ln>
        </p:spPr>
        <p:txBody>
          <a:bodyPr/>
          <a:lstStyle/>
          <a:p/>
        </p:txBody>
      </p:sp>
      <p:sp>
        <p:nvSpPr>
          <p:cNvPr id="53" name="Shape 51"/>
          <p:cNvSpPr>
            <a:spLocks noGrp="1"/>
          </p:cNvSpPr>
          <p:nvPr/>
        </p:nvSpPr>
        <p:spPr>
          <a:xfrm>
            <a:off x="7214616" y="2331720"/>
            <a:ext cx="356616" cy="356616"/>
          </a:xfrm>
          <a:prstGeom prst="ellipse">
            <a:avLst/>
          </a:prstGeom>
          <a:solidFill>
            <a:srgbClr val="BC6414"/>
          </a:solidFill>
          <a:ln w="12700">
            <a:solidFill>
              <a:srgbClr val="BC6414"/>
            </a:solidFill>
            <a:prstDash val="solid"/>
          </a:ln>
        </p:spPr>
        <p:txBody>
          <a:bodyPr/>
          <a:lstStyle/>
          <a:p/>
        </p:txBody>
      </p:sp>
      <p:sp>
        <p:nvSpPr>
          <p:cNvPr id="54" name="Text 52"/>
          <p:cNvSpPr>
            <a:spLocks noGrp="1"/>
          </p:cNvSpPr>
          <p:nvPr/>
        </p:nvSpPr>
        <p:spPr>
          <a:xfrm>
            <a:off x="7214616" y="2331720"/>
            <a:ext cx="356616" cy="35661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9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5</a:t>
            </a:r>
            <a:endParaRPr sz="900"/>
          </a:p>
        </p:txBody>
      </p:sp>
      <p:sp>
        <p:nvSpPr>
          <p:cNvPr id="55" name="Text 53"/>
          <p:cNvSpPr>
            <a:spLocks noGrp="1"/>
          </p:cNvSpPr>
          <p:nvPr/>
        </p:nvSpPr>
        <p:spPr>
          <a:xfrm>
            <a:off x="6848856" y="2788920"/>
            <a:ext cx="1088136" cy="21945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1040" b="1">
                <a:solidFill>
                  <a:srgbClr val="153D39"/>
                </a:solidFill>
                <a:latin typeface="Noto Sans CJK SC"/>
                <a:ea typeface="Noto Sans CJK SC"/>
                <a:cs typeface="Noto Sans CJK SC"/>
              </a:rPr>
              <a:t>命中→进 skill</a:t>
            </a:r>
            <a:endParaRPr sz="1040"/>
          </a:p>
        </p:txBody>
      </p:sp>
      <p:sp>
        <p:nvSpPr>
          <p:cNvPr id="56" name="Text 54"/>
          <p:cNvSpPr>
            <a:spLocks noGrp="1"/>
          </p:cNvSpPr>
          <p:nvPr/>
        </p:nvSpPr>
        <p:spPr>
          <a:xfrm>
            <a:off x="6858000" y="3099816"/>
            <a:ext cx="1069848" cy="31089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780">
                <a:solidFill>
                  <a:srgbClr val="44585C"/>
                </a:solidFill>
                <a:latin typeface="Noto Sans CJK SC"/>
                <a:ea typeface="Noto Sans CJK SC"/>
                <a:cs typeface="Noto Sans CJK SC"/>
              </a:rPr>
              <a:t>skillPath 精确匹配</a:t>
            </a:r>
            <a:endParaRPr sz="780"/>
          </a:p>
        </p:txBody>
      </p:sp>
      <p:sp>
        <p:nvSpPr>
          <p:cNvPr id="57" name="Shape 55"/>
          <p:cNvSpPr>
            <a:spLocks noGrp="1"/>
          </p:cNvSpPr>
          <p:nvPr/>
        </p:nvSpPr>
        <p:spPr>
          <a:xfrm>
            <a:off x="8302752" y="2130552"/>
            <a:ext cx="1216152" cy="1490472"/>
          </a:xfrm>
          <a:prstGeom prst="roundRect">
            <a:avLst/>
          </a:prstGeom>
          <a:solidFill>
            <a:srgbClr val="E8F7F1"/>
          </a:solidFill>
          <a:ln w="11430">
            <a:solidFill>
              <a:srgbClr val="12B07D"/>
            </a:solidFill>
            <a:prstDash val="solid"/>
          </a:ln>
        </p:spPr>
        <p:txBody>
          <a:bodyPr/>
          <a:lstStyle/>
          <a:p/>
        </p:txBody>
      </p:sp>
      <p:sp>
        <p:nvSpPr>
          <p:cNvPr id="58" name="Shape 56"/>
          <p:cNvSpPr>
            <a:spLocks noGrp="1"/>
          </p:cNvSpPr>
          <p:nvPr/>
        </p:nvSpPr>
        <p:spPr>
          <a:xfrm>
            <a:off x="8732520" y="2331720"/>
            <a:ext cx="356616" cy="356616"/>
          </a:xfrm>
          <a:prstGeom prst="ellipse">
            <a:avLst/>
          </a:prstGeom>
          <a:solidFill>
            <a:srgbClr val="0A7A57"/>
          </a:solidFill>
          <a:ln w="12700">
            <a:solidFill>
              <a:srgbClr val="0A7A57"/>
            </a:solidFill>
            <a:prstDash val="solid"/>
          </a:ln>
        </p:spPr>
        <p:txBody>
          <a:bodyPr/>
          <a:lstStyle/>
          <a:p/>
        </p:txBody>
      </p:sp>
      <p:sp>
        <p:nvSpPr>
          <p:cNvPr id="59" name="Text 57"/>
          <p:cNvSpPr>
            <a:spLocks noGrp="1"/>
          </p:cNvSpPr>
          <p:nvPr/>
        </p:nvSpPr>
        <p:spPr>
          <a:xfrm>
            <a:off x="8732520" y="2331720"/>
            <a:ext cx="356616" cy="35661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9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6</a:t>
            </a:r>
            <a:endParaRPr sz="900"/>
          </a:p>
        </p:txBody>
      </p:sp>
      <p:sp>
        <p:nvSpPr>
          <p:cNvPr id="60" name="Text 58"/>
          <p:cNvSpPr>
            <a:spLocks noGrp="1"/>
          </p:cNvSpPr>
          <p:nvPr/>
        </p:nvSpPr>
        <p:spPr>
          <a:xfrm>
            <a:off x="8366760" y="2788920"/>
            <a:ext cx="1088136" cy="21945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1040" b="1">
                <a:solidFill>
                  <a:srgbClr val="153D39"/>
                </a:solidFill>
                <a:latin typeface="Noto Sans CJK SC"/>
                <a:ea typeface="Noto Sans CJK SC"/>
                <a:cs typeface="Noto Sans CJK SC"/>
              </a:rPr>
              <a:t>线上路由错误</a:t>
            </a:r>
            <a:endParaRPr sz="1040"/>
          </a:p>
        </p:txBody>
      </p:sp>
      <p:sp>
        <p:nvSpPr>
          <p:cNvPr id="61" name="Text 59"/>
          <p:cNvSpPr>
            <a:spLocks noGrp="1"/>
          </p:cNvSpPr>
          <p:nvPr/>
        </p:nvSpPr>
        <p:spPr>
          <a:xfrm>
            <a:off x="8375904" y="3099816"/>
            <a:ext cx="1069848" cy="31089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780">
                <a:solidFill>
                  <a:srgbClr val="44585C"/>
                </a:solidFill>
                <a:latin typeface="Noto Sans CJK SC"/>
                <a:ea typeface="Noto Sans CJK SC"/>
                <a:cs typeface="Noto Sans CJK SC"/>
              </a:rPr>
              <a:t>Badcase 采集</a:t>
            </a:r>
            <a:endParaRPr sz="780"/>
          </a:p>
        </p:txBody>
      </p:sp>
      <p:sp>
        <p:nvSpPr>
          <p:cNvPr id="62" name="Shape 60"/>
          <p:cNvSpPr>
            <a:spLocks noGrp="1"/>
          </p:cNvSpPr>
          <p:nvPr/>
        </p:nvSpPr>
        <p:spPr>
          <a:xfrm>
            <a:off x="9820656" y="2130552"/>
            <a:ext cx="1216152" cy="1490472"/>
          </a:xfrm>
          <a:prstGeom prst="roundRect">
            <a:avLst/>
          </a:prstGeom>
          <a:solidFill>
            <a:srgbClr val="EAF3FF"/>
          </a:solidFill>
          <a:ln w="11430">
            <a:solidFill>
              <a:srgbClr val="2F80ED"/>
            </a:solidFill>
            <a:prstDash val="solid"/>
          </a:ln>
        </p:spPr>
        <p:txBody>
          <a:bodyPr/>
          <a:lstStyle/>
          <a:p/>
        </p:txBody>
      </p:sp>
      <p:sp>
        <p:nvSpPr>
          <p:cNvPr id="63" name="Shape 61"/>
          <p:cNvSpPr>
            <a:spLocks noGrp="1"/>
          </p:cNvSpPr>
          <p:nvPr/>
        </p:nvSpPr>
        <p:spPr>
          <a:xfrm>
            <a:off x="10250424" y="2331720"/>
            <a:ext cx="356616" cy="356616"/>
          </a:xfrm>
          <a:prstGeom prst="ellipse">
            <a:avLst/>
          </a:prstGeom>
          <a:solidFill>
            <a:srgbClr val="1F63C4"/>
          </a:solidFill>
          <a:ln w="12700">
            <a:solidFill>
              <a:srgbClr val="1F63C4"/>
            </a:solidFill>
            <a:prstDash val="solid"/>
          </a:ln>
        </p:spPr>
        <p:txBody>
          <a:bodyPr/>
          <a:lstStyle/>
          <a:p/>
        </p:txBody>
      </p:sp>
      <p:sp>
        <p:nvSpPr>
          <p:cNvPr id="64" name="Text 62"/>
          <p:cNvSpPr>
            <a:spLocks noGrp="1"/>
          </p:cNvSpPr>
          <p:nvPr/>
        </p:nvSpPr>
        <p:spPr>
          <a:xfrm>
            <a:off x="10250424" y="2331720"/>
            <a:ext cx="356616" cy="35661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9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7</a:t>
            </a:r>
            <a:endParaRPr sz="900"/>
          </a:p>
        </p:txBody>
      </p:sp>
      <p:sp>
        <p:nvSpPr>
          <p:cNvPr id="65" name="Text 63"/>
          <p:cNvSpPr>
            <a:spLocks noGrp="1"/>
          </p:cNvSpPr>
          <p:nvPr/>
        </p:nvSpPr>
        <p:spPr>
          <a:xfrm>
            <a:off x="9884664" y="2788920"/>
            <a:ext cx="1088136" cy="21945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1040" b="1">
                <a:solidFill>
                  <a:srgbClr val="153D39"/>
                </a:solidFill>
                <a:latin typeface="Noto Sans CJK SC"/>
                <a:ea typeface="Noto Sans CJK SC"/>
                <a:cs typeface="Noto Sans CJK SC"/>
              </a:rPr>
              <a:t>负例回流</a:t>
            </a:r>
            <a:endParaRPr sz="1040"/>
          </a:p>
        </p:txBody>
      </p:sp>
      <p:sp>
        <p:nvSpPr>
          <p:cNvPr id="66" name="Text 64"/>
          <p:cNvSpPr>
            <a:spLocks noGrp="1"/>
          </p:cNvSpPr>
          <p:nvPr/>
        </p:nvSpPr>
        <p:spPr>
          <a:xfrm>
            <a:off x="9893808" y="3099816"/>
            <a:ext cx="1069848" cy="31089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780">
                <a:solidFill>
                  <a:srgbClr val="44585C"/>
                </a:solidFill>
                <a:latin typeface="Noto Sans CJK SC"/>
                <a:ea typeface="Noto Sans CJK SC"/>
                <a:cs typeface="Noto Sans CJK SC"/>
              </a:rPr>
              <a:t>带日期注释进评测集</a:t>
            </a:r>
            <a:endParaRPr sz="780"/>
          </a:p>
        </p:txBody>
      </p:sp>
      <p:sp>
        <p:nvSpPr>
          <p:cNvPr id="67" name="Shape 65"/>
          <p:cNvSpPr>
            <a:spLocks noGrp="1"/>
          </p:cNvSpPr>
          <p:nvPr/>
        </p:nvSpPr>
        <p:spPr>
          <a:xfrm>
            <a:off x="4361688" y="3621024"/>
            <a:ext cx="0" cy="475488"/>
          </a:xfrm>
          <a:prstGeom prst="line">
            <a:avLst/>
          </a:prstGeom>
          <a:noFill/>
          <a:ln w="16510">
            <a:solidFill>
              <a:srgbClr val="6B6FD8"/>
            </a:solidFill>
            <a:prstDash val="solid"/>
            <a:tailEnd type="triangle"/>
          </a:ln>
        </p:spPr>
        <p:txBody>
          <a:bodyPr/>
          <a:lstStyle/>
          <a:p/>
        </p:txBody>
      </p:sp>
      <p:sp>
        <p:nvSpPr>
          <p:cNvPr id="68" name="Shape 66"/>
          <p:cNvSpPr>
            <a:spLocks noGrp="1"/>
          </p:cNvSpPr>
          <p:nvPr/>
        </p:nvSpPr>
        <p:spPr>
          <a:xfrm>
            <a:off x="960120" y="4160520"/>
            <a:ext cx="10076688" cy="13441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8DED8"/>
            </a:solidFill>
            <a:prstDash val="solid"/>
          </a:ln>
        </p:spPr>
        <p:txBody>
          <a:bodyPr/>
          <a:lstStyle/>
          <a:p/>
        </p:txBody>
      </p:sp>
      <p:sp>
        <p:nvSpPr>
          <p:cNvPr id="69" name="Text 67"/>
          <p:cNvSpPr>
            <a:spLocks noGrp="1"/>
          </p:cNvSpPr>
          <p:nvPr/>
        </p:nvSpPr>
        <p:spPr>
          <a:xfrm>
            <a:off x="1188720" y="4370832"/>
            <a:ext cx="2057400" cy="2286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buNone/>
            </a:pPr>
            <a:r>
              <a:rPr sz="1100" b="1">
                <a:solidFill>
                  <a:srgbClr val="315A55"/>
                </a:solidFill>
                <a:latin typeface="Noto Sans CJK SC"/>
                <a:ea typeface="Noto Sans CJK SC"/>
                <a:cs typeface="Noto Sans CJK SC"/>
              </a:rPr>
              <a:t>路由边界的三类资产</a:t>
            </a:r>
            <a:endParaRPr sz="1100"/>
          </a:p>
        </p:txBody>
      </p:sp>
      <p:sp>
        <p:nvSpPr>
          <p:cNvPr id="70" name="Shape 68"/>
          <p:cNvSpPr>
            <a:spLocks noGrp="1"/>
          </p:cNvSpPr>
          <p:nvPr/>
        </p:nvSpPr>
        <p:spPr>
          <a:xfrm>
            <a:off x="3401568" y="4315968"/>
            <a:ext cx="1920240" cy="832104"/>
          </a:xfrm>
          <a:prstGeom prst="roundRect">
            <a:avLst/>
          </a:prstGeom>
          <a:solidFill>
            <a:srgbClr val="E8F7F1"/>
          </a:solidFill>
          <a:ln w="11430">
            <a:solidFill>
              <a:srgbClr val="07966F"/>
            </a:solidFill>
            <a:prstDash val="solid"/>
          </a:ln>
        </p:spPr>
        <p:txBody>
          <a:bodyPr/>
          <a:lstStyle/>
          <a:p/>
        </p:txBody>
      </p:sp>
      <p:sp>
        <p:nvSpPr>
          <p:cNvPr id="71" name="Shape 69"/>
          <p:cNvSpPr>
            <a:spLocks noGrp="1"/>
          </p:cNvSpPr>
          <p:nvPr/>
        </p:nvSpPr>
        <p:spPr>
          <a:xfrm>
            <a:off x="3538728" y="4544568"/>
            <a:ext cx="283464" cy="283464"/>
          </a:xfrm>
          <a:prstGeom prst="ellipse">
            <a:avLst/>
          </a:prstGeom>
          <a:solidFill>
            <a:srgbClr val="07714F"/>
          </a:solidFill>
          <a:ln w="12700">
            <a:solidFill>
              <a:srgbClr val="07714F"/>
            </a:solidFill>
            <a:prstDash val="solid"/>
          </a:ln>
        </p:spPr>
        <p:txBody>
          <a:bodyPr/>
          <a:lstStyle/>
          <a:p/>
        </p:txBody>
      </p:sp>
      <p:sp>
        <p:nvSpPr>
          <p:cNvPr id="72" name="Text 70"/>
          <p:cNvSpPr>
            <a:spLocks noGrp="1"/>
          </p:cNvSpPr>
          <p:nvPr/>
        </p:nvSpPr>
        <p:spPr>
          <a:xfrm>
            <a:off x="3538728" y="4544568"/>
            <a:ext cx="283464" cy="28346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1</a:t>
            </a:r>
            <a:endParaRPr sz="850"/>
          </a:p>
        </p:txBody>
      </p:sp>
      <p:sp>
        <p:nvSpPr>
          <p:cNvPr id="73" name="Text 71"/>
          <p:cNvSpPr>
            <a:spLocks noGrp="1"/>
          </p:cNvSpPr>
          <p:nvPr/>
        </p:nvSpPr>
        <p:spPr>
          <a:xfrm>
            <a:off x="3913632" y="4370832"/>
            <a:ext cx="694944" cy="21031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buNone/>
            </a:pPr>
            <a:r>
              <a:rPr sz="1060" b="1">
                <a:solidFill>
                  <a:srgbClr val="153D39"/>
                </a:solidFill>
                <a:latin typeface="Noto Sans CJK SC"/>
                <a:ea typeface="Noto Sans CJK SC"/>
                <a:cs typeface="Noto Sans CJK SC"/>
              </a:rPr>
              <a:t>正例 routeHere</a:t>
            </a:r>
            <a:endParaRPr sz="1060"/>
          </a:p>
        </p:txBody>
      </p:sp>
      <p:sp>
        <p:nvSpPr>
          <p:cNvPr id="74" name="Text 72"/>
          <p:cNvSpPr>
            <a:spLocks noGrp="1"/>
          </p:cNvSpPr>
          <p:nvPr/>
        </p:nvSpPr>
        <p:spPr>
          <a:xfrm>
            <a:off x="3913632" y="4645152"/>
            <a:ext cx="1225296" cy="28346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buNone/>
            </a:pPr>
            <a:r>
              <a:rPr sz="800">
                <a:solidFill>
                  <a:srgbClr val="44585C"/>
                </a:solidFill>
                <a:latin typeface="Noto Sans CJK SC"/>
                <a:ea typeface="Noto Sans CJK SC"/>
                <a:cs typeface="Noto Sans CJK SC"/>
              </a:rPr>
              <a:t>什么样的原话该进这个场景</a:t>
            </a:r>
            <a:endParaRPr sz="800"/>
          </a:p>
        </p:txBody>
      </p:sp>
      <p:sp>
        <p:nvSpPr>
          <p:cNvPr id="75" name="Shape 73"/>
          <p:cNvSpPr>
            <a:spLocks noGrp="1"/>
          </p:cNvSpPr>
          <p:nvPr/>
        </p:nvSpPr>
        <p:spPr>
          <a:xfrm>
            <a:off x="5632704" y="4315968"/>
            <a:ext cx="1920240" cy="832104"/>
          </a:xfrm>
          <a:prstGeom prst="roundRect">
            <a:avLst/>
          </a:prstGeom>
          <a:solidFill>
            <a:srgbClr val="FFF2E8"/>
          </a:solidFill>
          <a:ln w="11430">
            <a:solidFill>
              <a:srgbClr val="F28B36"/>
            </a:solidFill>
            <a:prstDash val="solid"/>
          </a:ln>
        </p:spPr>
        <p:txBody>
          <a:bodyPr/>
          <a:lstStyle/>
          <a:p/>
        </p:txBody>
      </p:sp>
      <p:sp>
        <p:nvSpPr>
          <p:cNvPr id="76" name="Shape 74"/>
          <p:cNvSpPr>
            <a:spLocks noGrp="1"/>
          </p:cNvSpPr>
          <p:nvPr/>
        </p:nvSpPr>
        <p:spPr>
          <a:xfrm>
            <a:off x="5769864" y="4544568"/>
            <a:ext cx="283464" cy="283464"/>
          </a:xfrm>
          <a:prstGeom prst="ellipse">
            <a:avLst/>
          </a:prstGeom>
          <a:solidFill>
            <a:srgbClr val="BC6414"/>
          </a:solidFill>
          <a:ln w="12700">
            <a:solidFill>
              <a:srgbClr val="BC6414"/>
            </a:solidFill>
            <a:prstDash val="solid"/>
          </a:ln>
        </p:spPr>
        <p:txBody>
          <a:bodyPr/>
          <a:lstStyle/>
          <a:p/>
        </p:txBody>
      </p:sp>
      <p:sp>
        <p:nvSpPr>
          <p:cNvPr id="77" name="Text 75"/>
          <p:cNvSpPr>
            <a:spLocks noGrp="1"/>
          </p:cNvSpPr>
          <p:nvPr/>
        </p:nvSpPr>
        <p:spPr>
          <a:xfrm>
            <a:off x="5769864" y="4544568"/>
            <a:ext cx="283464" cy="28346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2</a:t>
            </a:r>
            <a:endParaRPr sz="850"/>
          </a:p>
        </p:txBody>
      </p:sp>
      <p:sp>
        <p:nvSpPr>
          <p:cNvPr id="78" name="Text 76"/>
          <p:cNvSpPr>
            <a:spLocks noGrp="1"/>
          </p:cNvSpPr>
          <p:nvPr/>
        </p:nvSpPr>
        <p:spPr>
          <a:xfrm>
            <a:off x="6144895" y="4370705"/>
            <a:ext cx="1078865" cy="283210"/>
          </a:xfrm>
          <a:prstGeom prst="rect">
            <a:avLst/>
          </a:prstGeom>
          <a:noFill/>
        </p:spPr>
        <p:txBody>
          <a:bodyPr wrap="square" lIns="0" tIns="0" rIns="0" bIns="0" anchor="ctr">
            <a:normAutofit fontScale="80000"/>
          </a:bodyPr>
          <a:lstStyle/>
          <a:p>
            <a:pPr marL="0" indent="0" algn="l">
              <a:buNone/>
            </a:pPr>
            <a:r>
              <a:rPr sz="1060" b="1">
                <a:solidFill>
                  <a:srgbClr val="153D39"/>
                </a:solidFill>
                <a:latin typeface="Noto Sans CJK SC"/>
                <a:ea typeface="Noto Sans CJK SC"/>
                <a:cs typeface="Noto Sans CJK SC"/>
              </a:rPr>
              <a:t>负例 doNotRouteHere</a:t>
            </a:r>
            <a:endParaRPr sz="1060"/>
          </a:p>
        </p:txBody>
      </p:sp>
      <p:sp>
        <p:nvSpPr>
          <p:cNvPr id="79" name="Text 77"/>
          <p:cNvSpPr>
            <a:spLocks noGrp="1"/>
          </p:cNvSpPr>
          <p:nvPr/>
        </p:nvSpPr>
        <p:spPr>
          <a:xfrm>
            <a:off x="6144768" y="4645152"/>
            <a:ext cx="1225296" cy="28346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buNone/>
            </a:pPr>
            <a:r>
              <a:rPr sz="800">
                <a:solidFill>
                  <a:srgbClr val="44585C"/>
                </a:solidFill>
                <a:latin typeface="Noto Sans CJK SC"/>
                <a:ea typeface="Noto Sans CJK SC"/>
                <a:cs typeface="Noto Sans CJK SC"/>
              </a:rPr>
              <a:t>相邻场景的显式排除条目</a:t>
            </a:r>
            <a:endParaRPr sz="800"/>
          </a:p>
        </p:txBody>
      </p:sp>
      <p:sp>
        <p:nvSpPr>
          <p:cNvPr id="80" name="Shape 78"/>
          <p:cNvSpPr>
            <a:spLocks noGrp="1"/>
          </p:cNvSpPr>
          <p:nvPr/>
        </p:nvSpPr>
        <p:spPr>
          <a:xfrm>
            <a:off x="8101584" y="4315968"/>
            <a:ext cx="1920240" cy="832104"/>
          </a:xfrm>
          <a:prstGeom prst="roundRect">
            <a:avLst/>
          </a:prstGeom>
          <a:solidFill>
            <a:srgbClr val="FDEEEE"/>
          </a:solidFill>
          <a:ln w="11430">
            <a:solidFill>
              <a:srgbClr val="E45858"/>
            </a:solidFill>
            <a:prstDash val="solid"/>
          </a:ln>
        </p:spPr>
        <p:txBody>
          <a:bodyPr/>
          <a:lstStyle/>
          <a:p/>
        </p:txBody>
      </p:sp>
      <p:sp>
        <p:nvSpPr>
          <p:cNvPr id="81" name="Shape 79"/>
          <p:cNvSpPr>
            <a:spLocks noGrp="1"/>
          </p:cNvSpPr>
          <p:nvPr/>
        </p:nvSpPr>
        <p:spPr>
          <a:xfrm>
            <a:off x="8238744" y="4544568"/>
            <a:ext cx="283464" cy="283464"/>
          </a:xfrm>
          <a:prstGeom prst="ellipse">
            <a:avLst/>
          </a:prstGeom>
          <a:solidFill>
            <a:srgbClr val="C23B3B"/>
          </a:solidFill>
          <a:ln w="12700">
            <a:solidFill>
              <a:srgbClr val="C23B3B"/>
            </a:solidFill>
            <a:prstDash val="solid"/>
          </a:ln>
        </p:spPr>
        <p:txBody>
          <a:bodyPr/>
          <a:lstStyle/>
          <a:p/>
        </p:txBody>
      </p:sp>
      <p:sp>
        <p:nvSpPr>
          <p:cNvPr id="82" name="Text 80"/>
          <p:cNvSpPr>
            <a:spLocks noGrp="1"/>
          </p:cNvSpPr>
          <p:nvPr/>
        </p:nvSpPr>
        <p:spPr>
          <a:xfrm>
            <a:off x="8238744" y="4544568"/>
            <a:ext cx="283464" cy="28346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3</a:t>
            </a:r>
            <a:endParaRPr sz="850"/>
          </a:p>
        </p:txBody>
      </p:sp>
      <p:sp>
        <p:nvSpPr>
          <p:cNvPr id="83" name="Text 81"/>
          <p:cNvSpPr>
            <a:spLocks noGrp="1"/>
          </p:cNvSpPr>
          <p:nvPr/>
        </p:nvSpPr>
        <p:spPr>
          <a:xfrm>
            <a:off x="8613648" y="4370832"/>
            <a:ext cx="694944" cy="21031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buNone/>
            </a:pPr>
            <a:r>
              <a:rPr sz="1060" b="1">
                <a:solidFill>
                  <a:srgbClr val="153D39"/>
                </a:solidFill>
                <a:latin typeface="Noto Sans CJK SC"/>
                <a:ea typeface="Noto Sans CJK SC"/>
                <a:cs typeface="Noto Sans CJK SC"/>
              </a:rPr>
              <a:t>Badcase 回流</a:t>
            </a:r>
            <a:endParaRPr sz="1060"/>
          </a:p>
        </p:txBody>
      </p:sp>
      <p:sp>
        <p:nvSpPr>
          <p:cNvPr id="84" name="Text 82"/>
          <p:cNvSpPr>
            <a:spLocks noGrp="1"/>
          </p:cNvSpPr>
          <p:nvPr/>
        </p:nvSpPr>
        <p:spPr>
          <a:xfrm>
            <a:off x="8613648" y="4645152"/>
            <a:ext cx="1225296" cy="28346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buNone/>
            </a:pPr>
            <a:r>
              <a:rPr sz="800">
                <a:solidFill>
                  <a:srgbClr val="44585C"/>
                </a:solidFill>
                <a:latin typeface="Noto Sans CJK SC"/>
                <a:ea typeface="Noto Sans CJK SC"/>
                <a:cs typeface="Noto Sans CJK SC"/>
              </a:rPr>
              <a:t>错误案例进冻结评测集，防止复发</a:t>
            </a:r>
            <a:endParaRPr sz="800"/>
          </a:p>
        </p:txBody>
      </p:sp>
      <p:sp>
        <p:nvSpPr>
          <p:cNvPr id="85" name="Shape 83"/>
          <p:cNvSpPr>
            <a:spLocks noGrp="1"/>
          </p:cNvSpPr>
          <p:nvPr/>
        </p:nvSpPr>
        <p:spPr>
          <a:xfrm>
            <a:off x="2002536" y="5760720"/>
            <a:ext cx="8193024" cy="310896"/>
          </a:xfrm>
          <a:prstGeom prst="roundRect">
            <a:avLst/>
          </a:prstGeom>
          <a:solidFill>
            <a:srgbClr val="EFF5F3"/>
          </a:solidFill>
          <a:ln w="10160">
            <a:solidFill>
              <a:srgbClr val="D7E7E3"/>
            </a:solidFill>
            <a:prstDash val="solid"/>
          </a:ln>
        </p:spPr>
        <p:txBody>
          <a:bodyPr/>
          <a:lstStyle/>
          <a:p/>
        </p:txBody>
      </p:sp>
      <p:sp>
        <p:nvSpPr>
          <p:cNvPr id="86" name="Text 84"/>
          <p:cNvSpPr>
            <a:spLocks noGrp="1"/>
          </p:cNvSpPr>
          <p:nvPr/>
        </p:nvSpPr>
        <p:spPr>
          <a:xfrm>
            <a:off x="2002536" y="5760720"/>
            <a:ext cx="8193024" cy="31089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930" b="1">
                <a:solidFill>
                  <a:srgbClr val="315A55"/>
                </a:solidFill>
                <a:latin typeface="Noto Sans CJK SC"/>
                <a:ea typeface="Noto Sans CJK SC"/>
                <a:cs typeface="Noto Sans CJK SC"/>
              </a:rPr>
              <a:t>评测按 skillPath 精确匹配；abstain 记失败，兜底不算答对。</a:t>
            </a:r>
            <a:endParaRPr sz="930"/>
          </a:p>
        </p:txBody>
      </p:sp>
      <p:sp>
        <p:nvSpPr>
          <p:cNvPr id="87" name="Rectangle 86"/>
          <p:cNvSpPr>
            <a:spLocks noGrp="1"/>
          </p:cNvSpPr>
          <p:nvPr/>
        </p:nvSpPr>
        <p:spPr>
          <a:xfrm>
            <a:off x="0" y="0"/>
            <a:ext cx="41148" cy="6858000"/>
          </a:xfrm>
          <a:prstGeom prst="rect">
            <a:avLst/>
          </a:prstGeom>
          <a:solidFill>
            <a:srgbClr val="0A8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88" name="圆角矩形 87"/>
          <p:cNvSpPr>
            <a:spLocks noGrp="1"/>
          </p:cNvSpPr>
          <p:nvPr/>
        </p:nvSpPr>
        <p:spPr>
          <a:xfrm>
            <a:off x="6565583" y="127635"/>
            <a:ext cx="4937760" cy="365760"/>
          </a:xfrm>
          <a:prstGeom prst="roundRect">
            <a:avLst>
              <a:gd name="adj" fmla="val 20833"/>
            </a:avLst>
          </a:prstGeom>
          <a:solidFill>
            <a:srgbClr val="F7FBF9"/>
          </a:solidFill>
          <a:ln w="12668">
            <a:solidFill>
              <a:srgbClr val="F7FBF9"/>
            </a:solidFill>
            <a:prstDash val="solid"/>
          </a:ln>
        </p:spPr>
        <p:txBody>
          <a:bodyPr/>
          <a:p/>
        </p:txBody>
      </p:sp>
      <p:sp>
        <p:nvSpPr>
          <p:cNvPr id="89" name="圆角矩形 88"/>
          <p:cNvSpPr>
            <a:spLocks noGrp="1"/>
          </p:cNvSpPr>
          <p:nvPr/>
        </p:nvSpPr>
        <p:spPr>
          <a:xfrm>
            <a:off x="6657023" y="164783"/>
            <a:ext cx="1154430" cy="264795"/>
          </a:xfrm>
          <a:prstGeom prst="roundRect">
            <a:avLst>
              <a:gd name="adj" fmla="val 28777"/>
            </a:avLst>
          </a:prstGeom>
          <a:solidFill>
            <a:srgbClr val="007574"/>
          </a:solidFill>
          <a:ln w="12668">
            <a:solidFill>
              <a:srgbClr val="007574"/>
            </a:solidFill>
            <a:prstDash val="solid"/>
          </a:ln>
        </p:spPr>
        <p:txBody>
          <a:bodyPr/>
          <a:p/>
        </p:txBody>
      </p:sp>
      <p:sp>
        <p:nvSpPr>
          <p:cNvPr id="90" name="矩形 89"/>
          <p:cNvSpPr>
            <a:spLocks noGrp="1"/>
          </p:cNvSpPr>
          <p:nvPr/>
        </p:nvSpPr>
        <p:spPr>
          <a:xfrm>
            <a:off x="6657023" y="187643"/>
            <a:ext cx="1154430" cy="182880"/>
          </a:xfrm>
          <a:prstGeom prst="rect">
            <a:avLst/>
          </a:prstGeom>
        </p:spPr>
        <p:txBody>
          <a:bodyPr anchor="ctr"/>
          <a:lstStyle/>
          <a:p>
            <a:pPr algn="ctr">
              <a:defRPr sz="660" b="1">
                <a:solidFill>
                  <a:srgbClr val="FFFFFF"/>
                </a:solidFill>
              </a:defRPr>
            </a:pPr>
            <a:r>
              <a:t>理解</a:t>
            </a:r>
          </a:p>
        </p:txBody>
      </p:sp>
      <p:sp>
        <p:nvSpPr>
          <p:cNvPr id="91" name="圆角矩形 90"/>
          <p:cNvSpPr>
            <a:spLocks noGrp="1"/>
          </p:cNvSpPr>
          <p:nvPr/>
        </p:nvSpPr>
        <p:spPr>
          <a:xfrm>
            <a:off x="7857173" y="164783"/>
            <a:ext cx="1154430" cy="264795"/>
          </a:xfrm>
          <a:prstGeom prst="roundRect">
            <a:avLst>
              <a:gd name="adj" fmla="val 28777"/>
            </a:avLst>
          </a:prstGeom>
          <a:solidFill>
            <a:srgbClr val="FFFFFF"/>
          </a:solidFill>
          <a:ln w="12668">
            <a:solidFill>
              <a:srgbClr val="C9DCD7"/>
            </a:solidFill>
            <a:prstDash val="solid"/>
          </a:ln>
        </p:spPr>
        <p:txBody>
          <a:bodyPr/>
          <a:p/>
        </p:txBody>
      </p:sp>
      <p:sp>
        <p:nvSpPr>
          <p:cNvPr id="92" name="矩形 91"/>
          <p:cNvSpPr>
            <a:spLocks noGrp="1"/>
          </p:cNvSpPr>
          <p:nvPr/>
        </p:nvSpPr>
        <p:spPr>
          <a:xfrm>
            <a:off x="7857173" y="187643"/>
            <a:ext cx="1154430" cy="182880"/>
          </a:xfrm>
          <a:prstGeom prst="rect">
            <a:avLst/>
          </a:prstGeom>
        </p:spPr>
        <p:txBody>
          <a:bodyPr anchor="ctr"/>
          <a:lstStyle/>
          <a:p>
            <a:pPr algn="ctr">
              <a:defRPr sz="650" b="0">
                <a:solidFill>
                  <a:srgbClr val="44585C"/>
                </a:solidFill>
              </a:defRPr>
            </a:pPr>
            <a:r>
              <a:t>查询</a:t>
            </a:r>
          </a:p>
        </p:txBody>
      </p:sp>
      <p:sp>
        <p:nvSpPr>
          <p:cNvPr id="93" name="圆角矩形 92"/>
          <p:cNvSpPr>
            <a:spLocks noGrp="1"/>
          </p:cNvSpPr>
          <p:nvPr/>
        </p:nvSpPr>
        <p:spPr>
          <a:xfrm>
            <a:off x="9057323" y="164783"/>
            <a:ext cx="1154430" cy="264795"/>
          </a:xfrm>
          <a:prstGeom prst="roundRect">
            <a:avLst>
              <a:gd name="adj" fmla="val 28777"/>
            </a:avLst>
          </a:prstGeom>
          <a:solidFill>
            <a:srgbClr val="FFFFFF"/>
          </a:solidFill>
          <a:ln w="12668">
            <a:solidFill>
              <a:srgbClr val="C9DCD7"/>
            </a:solidFill>
            <a:prstDash val="solid"/>
          </a:ln>
        </p:spPr>
        <p:txBody>
          <a:bodyPr/>
          <a:p/>
        </p:txBody>
      </p:sp>
      <p:sp>
        <p:nvSpPr>
          <p:cNvPr id="94" name="矩形 93"/>
          <p:cNvSpPr>
            <a:spLocks noGrp="1"/>
          </p:cNvSpPr>
          <p:nvPr/>
        </p:nvSpPr>
        <p:spPr>
          <a:xfrm>
            <a:off x="9057323" y="187643"/>
            <a:ext cx="1154430" cy="182880"/>
          </a:xfrm>
          <a:prstGeom prst="rect">
            <a:avLst/>
          </a:prstGeom>
        </p:spPr>
        <p:txBody>
          <a:bodyPr anchor="ctr"/>
          <a:lstStyle/>
          <a:p>
            <a:pPr algn="ctr">
              <a:defRPr sz="650" b="0">
                <a:solidFill>
                  <a:srgbClr val="44585C"/>
                </a:solidFill>
              </a:defRPr>
            </a:pPr>
            <a:r>
              <a:t>决策</a:t>
            </a:r>
          </a:p>
        </p:txBody>
      </p:sp>
      <p:sp>
        <p:nvSpPr>
          <p:cNvPr id="95" name="圆角矩形 94"/>
          <p:cNvSpPr>
            <a:spLocks noGrp="1"/>
          </p:cNvSpPr>
          <p:nvPr/>
        </p:nvSpPr>
        <p:spPr>
          <a:xfrm>
            <a:off x="10257473" y="164783"/>
            <a:ext cx="1154430" cy="264795"/>
          </a:xfrm>
          <a:prstGeom prst="roundRect">
            <a:avLst>
              <a:gd name="adj" fmla="val 28777"/>
            </a:avLst>
          </a:prstGeom>
          <a:solidFill>
            <a:srgbClr val="FFFFFF"/>
          </a:solidFill>
          <a:ln w="12668">
            <a:solidFill>
              <a:srgbClr val="C9DCD7"/>
            </a:solidFill>
            <a:prstDash val="solid"/>
          </a:ln>
        </p:spPr>
        <p:txBody>
          <a:bodyPr/>
          <a:p/>
        </p:txBody>
      </p:sp>
      <p:sp>
        <p:nvSpPr>
          <p:cNvPr id="96" name="矩形 95"/>
          <p:cNvSpPr>
            <a:spLocks noGrp="1"/>
          </p:cNvSpPr>
          <p:nvPr/>
        </p:nvSpPr>
        <p:spPr>
          <a:xfrm>
            <a:off x="10257473" y="187643"/>
            <a:ext cx="1154430" cy="182880"/>
          </a:xfrm>
          <a:prstGeom prst="rect">
            <a:avLst/>
          </a:prstGeom>
        </p:spPr>
        <p:txBody>
          <a:bodyPr anchor="ctr"/>
          <a:lstStyle/>
          <a:p>
            <a:pPr algn="ctr">
              <a:defRPr sz="650" b="0">
                <a:solidFill>
                  <a:srgbClr val="44585C"/>
                </a:solidFill>
              </a:defRPr>
            </a:pPr>
            <a:r>
              <a:t>执行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hape 0"/>
          <p:cNvSpPr>
            <a:spLocks noGrp="1"/>
          </p:cNvSpPr>
          <p:nvPr/>
        </p:nvSpPr>
        <p:spPr>
          <a:xfrm>
            <a:off x="16459" y="16459"/>
            <a:ext cx="38405" cy="6825082"/>
          </a:xfrm>
          <a:prstGeom prst="rect">
            <a:avLst/>
          </a:prstGeom>
          <a:solidFill>
            <a:srgbClr val="0A8F6A"/>
          </a:solidFill>
          <a:ln w="12700">
            <a:solidFill>
              <a:srgbClr val="12B07D"/>
            </a:solidFill>
            <a:prstDash val="solid"/>
          </a:ln>
        </p:spPr>
        <p:txBody>
          <a:bodyPr/>
          <a:lstStyle/>
          <a:p/>
        </p:txBody>
      </p:sp>
      <p:sp>
        <p:nvSpPr>
          <p:cNvPr id="4" name="Shape 2"/>
          <p:cNvSpPr>
            <a:spLocks noGrp="1"/>
          </p:cNvSpPr>
          <p:nvPr/>
        </p:nvSpPr>
        <p:spPr>
          <a:xfrm>
            <a:off x="10104120" y="73152"/>
            <a:ext cx="1874520" cy="1353312"/>
          </a:xfrm>
          <a:prstGeom prst="ellipse">
            <a:avLst/>
          </a:prstGeom>
          <a:solidFill>
            <a:srgbClr val="E8F7F1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/>
        </p:txBody>
      </p:sp>
      <p:sp>
        <p:nvSpPr>
          <p:cNvPr id="5" name="Shape 3"/>
          <p:cNvSpPr>
            <a:spLocks noGrp="1"/>
          </p:cNvSpPr>
          <p:nvPr/>
        </p:nvSpPr>
        <p:spPr>
          <a:xfrm>
            <a:off x="91440" y="5596128"/>
            <a:ext cx="1719072" cy="1051560"/>
          </a:xfrm>
          <a:prstGeom prst="ellipse">
            <a:avLst/>
          </a:prstGeom>
          <a:solidFill>
            <a:srgbClr val="FFF2E8">
              <a:alpha val="68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/>
        </p:txBody>
      </p:sp>
      <p:sp>
        <p:nvSpPr>
          <p:cNvPr id="6" name="Shape 4"/>
          <p:cNvSpPr>
            <a:spLocks noGrp="1"/>
          </p:cNvSpPr>
          <p:nvPr/>
        </p:nvSpPr>
        <p:spPr>
          <a:xfrm>
            <a:off x="658368" y="393192"/>
            <a:ext cx="68580" cy="68580"/>
          </a:xfrm>
          <a:prstGeom prst="ellipse">
            <a:avLst/>
          </a:prstGeom>
          <a:solidFill>
            <a:srgbClr val="0A8F6A"/>
          </a:solidFill>
          <a:ln w="12700">
            <a:solidFill>
              <a:srgbClr val="12B07D"/>
            </a:solidFill>
            <a:prstDash val="solid"/>
          </a:ln>
        </p:spPr>
        <p:txBody>
          <a:bodyPr/>
          <a:lstStyle/>
          <a:p/>
        </p:txBody>
      </p:sp>
      <p:sp>
        <p:nvSpPr>
          <p:cNvPr id="7" name="Shape 5"/>
          <p:cNvSpPr>
            <a:spLocks noGrp="1"/>
          </p:cNvSpPr>
          <p:nvPr/>
        </p:nvSpPr>
        <p:spPr>
          <a:xfrm>
            <a:off x="768096" y="427939"/>
            <a:ext cx="411480" cy="0"/>
          </a:xfrm>
          <a:prstGeom prst="line">
            <a:avLst/>
          </a:prstGeom>
          <a:noFill/>
          <a:ln w="15875">
            <a:solidFill>
              <a:srgbClr val="0A8F6A"/>
            </a:solidFill>
            <a:prstDash val="solid"/>
          </a:ln>
        </p:spPr>
        <p:txBody>
          <a:bodyPr/>
          <a:lstStyle/>
          <a:p/>
        </p:txBody>
      </p:sp>
      <p:sp>
        <p:nvSpPr>
          <p:cNvPr id="8" name="Text 6"/>
          <p:cNvSpPr>
            <a:spLocks noGrp="1"/>
          </p:cNvSpPr>
          <p:nvPr/>
        </p:nvSpPr>
        <p:spPr>
          <a:xfrm>
            <a:off x="1234440" y="265176"/>
            <a:ext cx="2331720" cy="31089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r>
              <a:rPr sz="1050" b="1">
                <a:solidFill>
                  <a:srgbClr val="076B50"/>
                </a:solidFill>
                <a:latin typeface="Noto Sans CJK SC"/>
                <a:ea typeface="Noto Sans CJK SC"/>
                <a:cs typeface="Noto Sans CJK SC"/>
              </a:rPr>
              <a:t>CHAPTER 5 · 能力与编排</a:t>
            </a:r>
            <a:endParaRPr sz="1050" b="1">
              <a:solidFill>
                <a:srgbClr val="0A8F6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9" name="Shape 7"/>
          <p:cNvSpPr>
            <a:spLocks noGrp="1"/>
          </p:cNvSpPr>
          <p:nvPr/>
        </p:nvSpPr>
        <p:spPr>
          <a:xfrm>
            <a:off x="9829800" y="301752"/>
            <a:ext cx="68580" cy="68580"/>
          </a:xfrm>
          <a:prstGeom prst="ellipse">
            <a:avLst/>
          </a:prstGeom>
          <a:solidFill>
            <a:srgbClr val="C7DAD6"/>
          </a:solidFill>
          <a:ln w="12700">
            <a:solidFill>
              <a:srgbClr val="C7DAD6"/>
            </a:solidFill>
            <a:prstDash val="solid"/>
          </a:ln>
        </p:spPr>
        <p:txBody>
          <a:bodyPr/>
          <a:lstStyle/>
          <a:p/>
        </p:txBody>
      </p:sp>
      <p:sp>
        <p:nvSpPr>
          <p:cNvPr id="10" name="Shape 8"/>
          <p:cNvSpPr>
            <a:spLocks noGrp="1"/>
          </p:cNvSpPr>
          <p:nvPr/>
        </p:nvSpPr>
        <p:spPr>
          <a:xfrm>
            <a:off x="10040112" y="301752"/>
            <a:ext cx="68580" cy="68580"/>
          </a:xfrm>
          <a:prstGeom prst="ellipse">
            <a:avLst/>
          </a:prstGeom>
          <a:solidFill>
            <a:srgbClr val="C7DAD6"/>
          </a:solidFill>
          <a:ln w="12700">
            <a:solidFill>
              <a:srgbClr val="C7DAD6"/>
            </a:solidFill>
            <a:prstDash val="solid"/>
          </a:ln>
        </p:spPr>
        <p:txBody>
          <a:bodyPr/>
          <a:lstStyle/>
          <a:p/>
        </p:txBody>
      </p:sp>
      <p:sp>
        <p:nvSpPr>
          <p:cNvPr id="11" name="Shape 9"/>
          <p:cNvSpPr>
            <a:spLocks noGrp="1"/>
          </p:cNvSpPr>
          <p:nvPr/>
        </p:nvSpPr>
        <p:spPr>
          <a:xfrm>
            <a:off x="10250424" y="301752"/>
            <a:ext cx="68580" cy="68580"/>
          </a:xfrm>
          <a:prstGeom prst="ellipse">
            <a:avLst/>
          </a:prstGeom>
          <a:solidFill>
            <a:srgbClr val="C7DAD6"/>
          </a:solidFill>
          <a:ln w="12700">
            <a:solidFill>
              <a:srgbClr val="C7DAD6"/>
            </a:solidFill>
            <a:prstDash val="solid"/>
          </a:ln>
        </p:spPr>
        <p:txBody>
          <a:bodyPr/>
          <a:lstStyle/>
          <a:p/>
        </p:txBody>
      </p:sp>
      <p:sp>
        <p:nvSpPr>
          <p:cNvPr id="12" name="Shape 10"/>
          <p:cNvSpPr>
            <a:spLocks noGrp="1"/>
          </p:cNvSpPr>
          <p:nvPr/>
        </p:nvSpPr>
        <p:spPr>
          <a:xfrm>
            <a:off x="10460736" y="301752"/>
            <a:ext cx="68580" cy="68580"/>
          </a:xfrm>
          <a:prstGeom prst="ellipse">
            <a:avLst/>
          </a:prstGeom>
          <a:solidFill>
            <a:srgbClr val="12B07D"/>
          </a:solidFill>
          <a:ln w="12700">
            <a:solidFill>
              <a:srgbClr val="12B07D"/>
            </a:solidFill>
            <a:prstDash val="solid"/>
          </a:ln>
        </p:spPr>
        <p:txBody>
          <a:bodyPr/>
          <a:lstStyle/>
          <a:p/>
        </p:txBody>
      </p:sp>
      <p:sp>
        <p:nvSpPr>
          <p:cNvPr id="13" name="Shape 11"/>
          <p:cNvSpPr>
            <a:spLocks noGrp="1"/>
          </p:cNvSpPr>
          <p:nvPr/>
        </p:nvSpPr>
        <p:spPr>
          <a:xfrm>
            <a:off x="10671048" y="301752"/>
            <a:ext cx="68580" cy="68580"/>
          </a:xfrm>
          <a:prstGeom prst="ellipse">
            <a:avLst/>
          </a:prstGeom>
          <a:solidFill>
            <a:srgbClr val="C7DAD6"/>
          </a:solidFill>
          <a:ln w="12700">
            <a:solidFill>
              <a:srgbClr val="C7DAD6"/>
            </a:solidFill>
            <a:prstDash val="solid"/>
          </a:ln>
        </p:spPr>
        <p:txBody>
          <a:bodyPr/>
          <a:lstStyle/>
          <a:p/>
        </p:txBody>
      </p:sp>
      <p:sp>
        <p:nvSpPr>
          <p:cNvPr id="14" name="Shape 12"/>
          <p:cNvSpPr>
            <a:spLocks noGrp="1"/>
          </p:cNvSpPr>
          <p:nvPr/>
        </p:nvSpPr>
        <p:spPr>
          <a:xfrm>
            <a:off x="10881360" y="301752"/>
            <a:ext cx="68580" cy="68580"/>
          </a:xfrm>
          <a:prstGeom prst="ellipse">
            <a:avLst/>
          </a:prstGeom>
          <a:solidFill>
            <a:srgbClr val="C7DAD6"/>
          </a:solidFill>
          <a:ln w="12700">
            <a:solidFill>
              <a:srgbClr val="C7DAD6"/>
            </a:solidFill>
            <a:prstDash val="solid"/>
          </a:ln>
        </p:spPr>
        <p:txBody>
          <a:bodyPr/>
          <a:lstStyle/>
          <a:p/>
        </p:txBody>
      </p:sp>
      <p:sp>
        <p:nvSpPr>
          <p:cNvPr id="15" name="Shape 13"/>
          <p:cNvSpPr>
            <a:spLocks noGrp="1"/>
          </p:cNvSpPr>
          <p:nvPr/>
        </p:nvSpPr>
        <p:spPr>
          <a:xfrm>
            <a:off x="11091672" y="301752"/>
            <a:ext cx="68580" cy="68580"/>
          </a:xfrm>
          <a:prstGeom prst="ellipse">
            <a:avLst/>
          </a:prstGeom>
          <a:solidFill>
            <a:srgbClr val="C7DAD6"/>
          </a:solidFill>
          <a:ln w="12700">
            <a:solidFill>
              <a:srgbClr val="C7DAD6"/>
            </a:solidFill>
            <a:prstDash val="solid"/>
          </a:ln>
        </p:spPr>
        <p:txBody>
          <a:bodyPr/>
          <a:lstStyle/>
          <a:p/>
        </p:txBody>
      </p:sp>
      <p:sp>
        <p:nvSpPr>
          <p:cNvPr id="16" name="Shape 14"/>
          <p:cNvSpPr>
            <a:spLocks noGrp="1"/>
          </p:cNvSpPr>
          <p:nvPr/>
        </p:nvSpPr>
        <p:spPr>
          <a:xfrm>
            <a:off x="11301984" y="301752"/>
            <a:ext cx="68580" cy="68580"/>
          </a:xfrm>
          <a:prstGeom prst="ellipse">
            <a:avLst/>
          </a:prstGeom>
          <a:solidFill>
            <a:srgbClr val="C7DAD6"/>
          </a:solidFill>
          <a:ln w="12700">
            <a:solidFill>
              <a:srgbClr val="C7DAD6"/>
            </a:solidFill>
            <a:prstDash val="solid"/>
          </a:ln>
        </p:spPr>
        <p:txBody>
          <a:bodyPr/>
          <a:lstStyle/>
          <a:p/>
        </p:txBody>
      </p:sp>
      <p:sp>
        <p:nvSpPr>
          <p:cNvPr id="17" name="Text 15"/>
          <p:cNvSpPr>
            <a:spLocks noGrp="1"/>
          </p:cNvSpPr>
          <p:nvPr/>
        </p:nvSpPr>
        <p:spPr>
          <a:xfrm>
            <a:off x="658368" y="713232"/>
            <a:ext cx="10652760" cy="49377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2550" b="1">
                <a:solidFill>
                  <a:srgbClr val="14383E"/>
                </a:solidFill>
                <a:latin typeface="Noto Sans CJK SC"/>
                <a:ea typeface="Noto Sans CJK SC"/>
                <a:cs typeface="Noto Sans CJK SC"/>
              </a:rPr>
              <a:t>第五章 · 能力与编排</a:t>
            </a:r>
            <a:endParaRPr sz="2550"/>
          </a:p>
        </p:txBody>
      </p:sp>
      <p:sp>
        <p:nvSpPr>
          <p:cNvPr id="18" name="Text 16"/>
          <p:cNvSpPr>
            <a:spLocks noGrp="1"/>
          </p:cNvSpPr>
          <p:nvPr/>
        </p:nvSpPr>
        <p:spPr>
          <a:xfrm>
            <a:off x="658368" y="1197864"/>
            <a:ext cx="10469880" cy="29260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r>
              <a:rPr sz="1170">
                <a:solidFill>
                  <a:srgbClr val="44585C"/>
                </a:solidFill>
                <a:latin typeface="Noto Sans CJK SC"/>
                <a:ea typeface="Noto Sans CJK SC"/>
                <a:cs typeface="Noto Sans CJK SC"/>
              </a:rPr>
              <a:t>这一块回答：系统能做什么，多件事怎么排。共 8 页，约 21 分钟。</a:t>
            </a:r>
            <a:endParaRPr sz="1170">
              <a:solidFill>
                <a:srgbClr val="6B8185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9" name="Shape 17"/>
          <p:cNvSpPr>
            <a:spLocks noGrp="1"/>
          </p:cNvSpPr>
          <p:nvPr/>
        </p:nvSpPr>
        <p:spPr>
          <a:xfrm>
            <a:off x="658368" y="6510528"/>
            <a:ext cx="10835640" cy="0"/>
          </a:xfrm>
          <a:prstGeom prst="line">
            <a:avLst/>
          </a:prstGeom>
          <a:noFill/>
          <a:ln w="11430">
            <a:solidFill>
              <a:srgbClr val="D7E7E3"/>
            </a:solidFill>
            <a:prstDash val="solid"/>
          </a:ln>
        </p:spPr>
        <p:txBody>
          <a:bodyPr/>
          <a:lstStyle/>
          <a:p/>
        </p:txBody>
      </p:sp>
      <p:sp>
        <p:nvSpPr>
          <p:cNvPr id="20" name="Text 18"/>
          <p:cNvSpPr>
            <a:spLocks noGrp="1"/>
          </p:cNvSpPr>
          <p:nvPr/>
        </p:nvSpPr>
        <p:spPr>
          <a:xfrm>
            <a:off x="658368" y="6556248"/>
            <a:ext cx="2103120" cy="16459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750" b="1" spc="40">
                <a:solidFill>
                  <a:srgbClr val="5C7276"/>
                </a:solidFill>
                <a:latin typeface="Noto Sans CJK SC"/>
                <a:ea typeface="Noto Sans CJK SC"/>
                <a:cs typeface="Noto Sans CJK SC"/>
              </a:rPr>
              <a:t>CUSTOMER SERVICE AI AGENT</a:t>
            </a:r>
            <a:endParaRPr sz="750"/>
          </a:p>
        </p:txBody>
      </p:sp>
      <p:sp>
        <p:nvSpPr>
          <p:cNvPr id="63" name="Rectangle 62"/>
          <p:cNvSpPr>
            <a:spLocks noGrp="1"/>
          </p:cNvSpPr>
          <p:nvPr/>
        </p:nvSpPr>
        <p:spPr>
          <a:xfrm>
            <a:off x="0" y="0"/>
            <a:ext cx="41148" cy="6858000"/>
          </a:xfrm>
          <a:prstGeom prst="rect">
            <a:avLst/>
          </a:prstGeom>
          <a:solidFill>
            <a:srgbClr val="0A8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64" name="圆角矩形 63"/>
          <p:cNvSpPr>
            <a:spLocks noGrp="1"/>
          </p:cNvSpPr>
          <p:nvPr/>
        </p:nvSpPr>
        <p:spPr>
          <a:xfrm>
            <a:off x="657225" y="2362200"/>
            <a:ext cx="10877550" cy="2419350"/>
          </a:xfrm>
          <a:prstGeom prst="roundRect">
            <a:avLst>
              <a:gd name="adj" fmla="val 3150"/>
            </a:avLst>
          </a:prstGeom>
          <a:solidFill>
            <a:srgbClr val="FFF0E4"/>
          </a:solidFill>
          <a:ln w="12668">
            <a:solidFill>
              <a:srgbClr val="F28B36"/>
            </a:solidFill>
            <a:prstDash val="solid"/>
          </a:ln>
        </p:spPr>
        <p:txBody>
          <a:bodyPr/>
          <a:p/>
        </p:txBody>
      </p:sp>
      <p:sp>
        <p:nvSpPr>
          <p:cNvPr id="65" name="圆角矩形 64"/>
          <p:cNvSpPr>
            <a:spLocks noGrp="1"/>
          </p:cNvSpPr>
          <p:nvPr/>
        </p:nvSpPr>
        <p:spPr>
          <a:xfrm>
            <a:off x="947738" y="2628900"/>
            <a:ext cx="1628775" cy="87630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668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67" name="矩形 66"/>
          <p:cNvSpPr>
            <a:spLocks noGrp="1"/>
          </p:cNvSpPr>
          <p:nvPr/>
        </p:nvSpPr>
        <p:spPr>
          <a:xfrm>
            <a:off x="1042988" y="2743200"/>
            <a:ext cx="1438275" cy="647700"/>
          </a:xfrm>
          <a:prstGeom prst="rect">
            <a:avLst/>
          </a:prstGeom>
        </p:spPr>
        <p:txBody>
          <a:bodyPr anchor="ctr"/>
          <a:lstStyle/>
          <a:p>
            <a:pPr algn="ctr">
              <a:defRPr sz="740" b="0">
                <a:solidFill>
                  <a:srgbClr val="14383E"/>
                </a:solidFill>
              </a:defRPr>
            </a:pPr>
            <a:r>
              <a:t>Skill：可复用的业务能力单元</a:t>
            </a:r>
          </a:p>
        </p:txBody>
      </p:sp>
      <p:sp>
        <p:nvSpPr>
          <p:cNvPr id="68" name="圆角矩形 67"/>
          <p:cNvSpPr>
            <a:spLocks noGrp="1"/>
          </p:cNvSpPr>
          <p:nvPr/>
        </p:nvSpPr>
        <p:spPr>
          <a:xfrm>
            <a:off x="2681288" y="2628900"/>
            <a:ext cx="1628775" cy="87630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668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70" name="矩形 69"/>
          <p:cNvSpPr>
            <a:spLocks noGrp="1"/>
          </p:cNvSpPr>
          <p:nvPr/>
        </p:nvSpPr>
        <p:spPr>
          <a:xfrm>
            <a:off x="2776538" y="2743200"/>
            <a:ext cx="1438275" cy="647700"/>
          </a:xfrm>
          <a:prstGeom prst="rect">
            <a:avLst/>
          </a:prstGeom>
        </p:spPr>
        <p:txBody>
          <a:bodyPr anchor="ctr"/>
          <a:lstStyle/>
          <a:p>
            <a:pPr algn="ctr">
              <a:defRPr sz="740" b="0">
                <a:solidFill>
                  <a:srgbClr val="14383E"/>
                </a:solidFill>
              </a:defRPr>
            </a:pPr>
            <a:r>
              <a:t>一个 Skill 的完整定义</a:t>
            </a:r>
          </a:p>
        </p:txBody>
      </p:sp>
      <p:sp>
        <p:nvSpPr>
          <p:cNvPr id="71" name="圆角矩形 70"/>
          <p:cNvSpPr>
            <a:spLocks noGrp="1"/>
          </p:cNvSpPr>
          <p:nvPr/>
        </p:nvSpPr>
        <p:spPr>
          <a:xfrm>
            <a:off x="4414838" y="2628900"/>
            <a:ext cx="1628775" cy="87630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668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73" name="矩形 72"/>
          <p:cNvSpPr>
            <a:spLocks noGrp="1"/>
          </p:cNvSpPr>
          <p:nvPr/>
        </p:nvSpPr>
        <p:spPr>
          <a:xfrm>
            <a:off x="4510088" y="2743200"/>
            <a:ext cx="1438275" cy="647700"/>
          </a:xfrm>
          <a:prstGeom prst="rect">
            <a:avLst/>
          </a:prstGeom>
        </p:spPr>
        <p:txBody>
          <a:bodyPr anchor="ctr"/>
          <a:lstStyle/>
          <a:p>
            <a:pPr algn="ctr">
              <a:defRPr sz="740" b="0">
                <a:solidFill>
                  <a:srgbClr val="14383E"/>
                </a:solidFill>
              </a:defRPr>
            </a:pPr>
            <a:r>
              <a:t>地址变更 Skill 的实际写法</a:t>
            </a:r>
          </a:p>
        </p:txBody>
      </p:sp>
      <p:sp>
        <p:nvSpPr>
          <p:cNvPr id="74" name="圆角矩形 73"/>
          <p:cNvSpPr>
            <a:spLocks noGrp="1"/>
          </p:cNvSpPr>
          <p:nvPr/>
        </p:nvSpPr>
        <p:spPr>
          <a:xfrm>
            <a:off x="6148388" y="2628900"/>
            <a:ext cx="1628775" cy="87630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668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76" name="矩形 75"/>
          <p:cNvSpPr>
            <a:spLocks noGrp="1"/>
          </p:cNvSpPr>
          <p:nvPr/>
        </p:nvSpPr>
        <p:spPr>
          <a:xfrm>
            <a:off x="6243638" y="2743200"/>
            <a:ext cx="1438275" cy="647700"/>
          </a:xfrm>
          <a:prstGeom prst="rect">
            <a:avLst/>
          </a:prstGeom>
        </p:spPr>
        <p:txBody>
          <a:bodyPr anchor="ctr"/>
          <a:lstStyle/>
          <a:p>
            <a:pPr algn="ctr">
              <a:defRPr sz="740" b="0">
                <a:solidFill>
                  <a:srgbClr val="14383E"/>
                </a:solidFill>
              </a:defRPr>
            </a:pPr>
            <a:r>
              <a:t>Workflow：已迁走的七条与四条判据</a:t>
            </a:r>
          </a:p>
        </p:txBody>
      </p:sp>
      <p:sp>
        <p:nvSpPr>
          <p:cNvPr id="77" name="圆角矩形 76"/>
          <p:cNvSpPr>
            <a:spLocks noGrp="1"/>
          </p:cNvSpPr>
          <p:nvPr/>
        </p:nvSpPr>
        <p:spPr>
          <a:xfrm>
            <a:off x="7881938" y="2628900"/>
            <a:ext cx="1628775" cy="87630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668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79" name="矩形 78"/>
          <p:cNvSpPr>
            <a:spLocks noGrp="1"/>
          </p:cNvSpPr>
          <p:nvPr/>
        </p:nvSpPr>
        <p:spPr>
          <a:xfrm>
            <a:off x="7977188" y="2743200"/>
            <a:ext cx="1438275" cy="647700"/>
          </a:xfrm>
          <a:prstGeom prst="rect">
            <a:avLst/>
          </a:prstGeom>
        </p:spPr>
        <p:txBody>
          <a:bodyPr anchor="ctr"/>
          <a:lstStyle/>
          <a:p>
            <a:pPr algn="ctr">
              <a:defRPr sz="740" b="0">
                <a:solidFill>
                  <a:srgbClr val="14383E"/>
                </a:solidFill>
              </a:defRPr>
            </a:pPr>
            <a:r>
              <a:t>Plan–Execute：计划与执行分开</a:t>
            </a:r>
          </a:p>
        </p:txBody>
      </p:sp>
      <p:sp>
        <p:nvSpPr>
          <p:cNvPr id="80" name="圆角矩形 79"/>
          <p:cNvSpPr>
            <a:spLocks noGrp="1"/>
          </p:cNvSpPr>
          <p:nvPr/>
        </p:nvSpPr>
        <p:spPr>
          <a:xfrm>
            <a:off x="9615488" y="2628900"/>
            <a:ext cx="1628775" cy="87630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668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82" name="矩形 81"/>
          <p:cNvSpPr>
            <a:spLocks noGrp="1"/>
          </p:cNvSpPr>
          <p:nvPr/>
        </p:nvSpPr>
        <p:spPr>
          <a:xfrm>
            <a:off x="9710738" y="2743200"/>
            <a:ext cx="1438275" cy="647700"/>
          </a:xfrm>
          <a:prstGeom prst="rect">
            <a:avLst/>
          </a:prstGeom>
        </p:spPr>
        <p:txBody>
          <a:bodyPr anchor="ctr"/>
          <a:lstStyle/>
          <a:p>
            <a:pPr algn="ctr">
              <a:defRPr sz="740" b="0">
                <a:solidFill>
                  <a:srgbClr val="14383E"/>
                </a:solidFill>
              </a:defRPr>
            </a:pPr>
            <a:r>
              <a:t>一次真实的 Plan–Execute：改地址走了 12 步</a:t>
            </a:r>
          </a:p>
        </p:txBody>
      </p:sp>
      <p:sp>
        <p:nvSpPr>
          <p:cNvPr id="83" name="圆角矩形 82"/>
          <p:cNvSpPr>
            <a:spLocks noGrp="1"/>
          </p:cNvSpPr>
          <p:nvPr/>
        </p:nvSpPr>
        <p:spPr>
          <a:xfrm>
            <a:off x="4414838" y="3638550"/>
            <a:ext cx="1628775" cy="87630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668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85" name="矩形 84"/>
          <p:cNvSpPr>
            <a:spLocks noGrp="1"/>
          </p:cNvSpPr>
          <p:nvPr/>
        </p:nvSpPr>
        <p:spPr>
          <a:xfrm>
            <a:off x="4510088" y="3752850"/>
            <a:ext cx="1438275" cy="647700"/>
          </a:xfrm>
          <a:prstGeom prst="rect">
            <a:avLst/>
          </a:prstGeom>
        </p:spPr>
        <p:txBody>
          <a:bodyPr anchor="ctr"/>
          <a:lstStyle/>
          <a:p>
            <a:pPr algn="ctr">
              <a:defRPr sz="740" b="0">
                <a:solidFill>
                  <a:srgbClr val="14383E"/>
                </a:solidFill>
              </a:defRPr>
            </a:pPr>
            <a:r>
              <a:t>多意图编排流程</a:t>
            </a:r>
          </a:p>
        </p:txBody>
      </p:sp>
      <p:sp>
        <p:nvSpPr>
          <p:cNvPr id="86" name="圆角矩形 85"/>
          <p:cNvSpPr>
            <a:spLocks noGrp="1"/>
          </p:cNvSpPr>
          <p:nvPr/>
        </p:nvSpPr>
        <p:spPr>
          <a:xfrm>
            <a:off x="6148388" y="3638550"/>
            <a:ext cx="1628775" cy="87630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668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88" name="矩形 87"/>
          <p:cNvSpPr>
            <a:spLocks noGrp="1"/>
          </p:cNvSpPr>
          <p:nvPr/>
        </p:nvSpPr>
        <p:spPr>
          <a:xfrm>
            <a:off x="6243638" y="3752850"/>
            <a:ext cx="1438275" cy="647700"/>
          </a:xfrm>
          <a:prstGeom prst="rect">
            <a:avLst/>
          </a:prstGeom>
        </p:spPr>
        <p:txBody>
          <a:bodyPr anchor="ctr"/>
          <a:lstStyle/>
          <a:p>
            <a:pPr algn="ctr">
              <a:defRPr sz="740" b="0">
                <a:solidFill>
                  <a:srgbClr val="14383E"/>
                </a:solidFill>
              </a:defRPr>
            </a:pPr>
            <a:r>
              <a:t>多意图实例：一封邮件，两个诉求</a:t>
            </a:r>
          </a:p>
        </p:txBody>
      </p:sp>
      <p:sp>
        <p:nvSpPr>
          <p:cNvPr id="89" name="圆角矩形 88"/>
          <p:cNvSpPr>
            <a:spLocks noGrp="1"/>
          </p:cNvSpPr>
          <p:nvPr/>
        </p:nvSpPr>
        <p:spPr>
          <a:xfrm>
            <a:off x="657225" y="5486400"/>
            <a:ext cx="10877550" cy="609600"/>
          </a:xfrm>
          <a:prstGeom prst="roundRect">
            <a:avLst>
              <a:gd name="adj" fmla="val 12500"/>
            </a:avLst>
          </a:prstGeom>
          <a:solidFill>
            <a:srgbClr val="F7FBF9"/>
          </a:solidFill>
          <a:ln w="12668">
            <a:solidFill>
              <a:srgbClr val="BFD9D4"/>
            </a:solidFill>
            <a:prstDash val="solid"/>
          </a:ln>
        </p:spPr>
        <p:txBody>
          <a:bodyPr/>
          <a:p/>
        </p:txBody>
      </p:sp>
      <p:sp>
        <p:nvSpPr>
          <p:cNvPr id="90" name="矩形 89"/>
          <p:cNvSpPr>
            <a:spLocks noGrp="1"/>
          </p:cNvSpPr>
          <p:nvPr/>
        </p:nvSpPr>
        <p:spPr>
          <a:xfrm>
            <a:off x="876300" y="5562600"/>
            <a:ext cx="1238250" cy="190500"/>
          </a:xfrm>
          <a:prstGeom prst="rect">
            <a:avLst/>
          </a:prstGeom>
        </p:spPr>
        <p:txBody>
          <a:bodyPr anchor="ctr"/>
          <a:lstStyle/>
          <a:p>
            <a:pPr algn="l">
              <a:defRPr sz="720" b="1">
                <a:solidFill>
                  <a:srgbClr val="F28B36"/>
                </a:solidFill>
              </a:defRPr>
            </a:pPr>
            <a:r>
              <a:t>这一章</a:t>
            </a:r>
          </a:p>
        </p:txBody>
      </p:sp>
      <p:sp>
        <p:nvSpPr>
          <p:cNvPr id="91" name="矩形 90"/>
          <p:cNvSpPr>
            <a:spLocks noGrp="1"/>
          </p:cNvSpPr>
          <p:nvPr/>
        </p:nvSpPr>
        <p:spPr>
          <a:xfrm>
            <a:off x="876300" y="5753100"/>
            <a:ext cx="1238250" cy="190500"/>
          </a:xfrm>
          <a:prstGeom prst="rect">
            <a:avLst/>
          </a:prstGeom>
        </p:spPr>
        <p:txBody>
          <a:bodyPr anchor="ctr"/>
          <a:lstStyle/>
          <a:p>
            <a:pPr algn="l">
              <a:defRPr sz="720" b="1">
                <a:solidFill>
                  <a:srgbClr val="F28B36"/>
                </a:solidFill>
              </a:defRPr>
            </a:pPr>
            <a:r>
              <a:t>服务哪一步</a:t>
            </a:r>
          </a:p>
        </p:txBody>
      </p:sp>
      <p:sp>
        <p:nvSpPr>
          <p:cNvPr id="92" name="矩形 91"/>
          <p:cNvSpPr>
            <a:spLocks noGrp="1"/>
          </p:cNvSpPr>
          <p:nvPr/>
        </p:nvSpPr>
        <p:spPr>
          <a:xfrm>
            <a:off x="2247900" y="5619750"/>
            <a:ext cx="9525" cy="342900"/>
          </a:xfrm>
          <a:prstGeom prst="rect">
            <a:avLst/>
          </a:prstGeom>
          <a:solidFill>
            <a:srgbClr val="C7DAD6"/>
          </a:solidFill>
          <a:ln w="12668">
            <a:solidFill>
              <a:srgbClr val="C7DAD6"/>
            </a:solidFill>
            <a:prstDash val="solid"/>
          </a:ln>
        </p:spPr>
        <p:txBody>
          <a:bodyPr/>
          <a:p/>
        </p:txBody>
      </p:sp>
      <p:sp>
        <p:nvSpPr>
          <p:cNvPr id="93" name="矩形 92"/>
          <p:cNvSpPr>
            <a:spLocks noGrp="1"/>
          </p:cNvSpPr>
          <p:nvPr/>
        </p:nvSpPr>
        <p:spPr>
          <a:xfrm>
            <a:off x="2438400" y="5562600"/>
            <a:ext cx="6286500" cy="381000"/>
          </a:xfrm>
          <a:prstGeom prst="rect">
            <a:avLst/>
          </a:prstGeom>
        </p:spPr>
        <p:txBody>
          <a:bodyPr anchor="ctr"/>
          <a:lstStyle/>
          <a:p>
            <a:pPr algn="l">
              <a:defRPr sz="840" b="1">
                <a:solidFill>
                  <a:srgbClr val="14383E"/>
                </a:solidFill>
              </a:defRPr>
            </a:pPr>
            <a:r>
              <a:t>服务「决策」：选什么能力、多件事怎么排。</a:t>
            </a:r>
          </a:p>
        </p:txBody>
      </p:sp>
      <p:sp>
        <p:nvSpPr>
          <p:cNvPr id="94" name="圆角矩形 93"/>
          <p:cNvSpPr>
            <a:spLocks noGrp="1"/>
          </p:cNvSpPr>
          <p:nvPr/>
        </p:nvSpPr>
        <p:spPr>
          <a:xfrm>
            <a:off x="9067800" y="5581650"/>
            <a:ext cx="514350" cy="209550"/>
          </a:xfrm>
          <a:prstGeom prst="roundRect">
            <a:avLst>
              <a:gd name="adj" fmla="val 36364"/>
            </a:avLst>
          </a:prstGeom>
          <a:solidFill>
            <a:srgbClr val="FFFFFF"/>
          </a:solidFill>
          <a:ln w="12668">
            <a:solidFill>
              <a:srgbClr val="C7DAD6"/>
            </a:solidFill>
            <a:prstDash val="solid"/>
          </a:ln>
        </p:spPr>
        <p:txBody>
          <a:bodyPr/>
          <a:p/>
        </p:txBody>
      </p:sp>
      <p:sp>
        <p:nvSpPr>
          <p:cNvPr id="95" name="矩形 94"/>
          <p:cNvSpPr>
            <a:spLocks noGrp="1"/>
          </p:cNvSpPr>
          <p:nvPr/>
        </p:nvSpPr>
        <p:spPr>
          <a:xfrm>
            <a:off x="9067800" y="5581650"/>
            <a:ext cx="514350" cy="209550"/>
          </a:xfrm>
          <a:prstGeom prst="rect">
            <a:avLst/>
          </a:prstGeom>
        </p:spPr>
        <p:txBody>
          <a:bodyPr anchor="ctr"/>
          <a:lstStyle/>
          <a:p>
            <a:pPr algn="ctr">
              <a:defRPr sz="680" b="0">
                <a:solidFill>
                  <a:srgbClr val="44585C"/>
                </a:solidFill>
              </a:defRPr>
            </a:pPr>
            <a:r>
              <a:t>理解</a:t>
            </a:r>
          </a:p>
        </p:txBody>
      </p:sp>
      <p:sp>
        <p:nvSpPr>
          <p:cNvPr id="96" name="圆角矩形 95"/>
          <p:cNvSpPr>
            <a:spLocks noGrp="1"/>
          </p:cNvSpPr>
          <p:nvPr/>
        </p:nvSpPr>
        <p:spPr>
          <a:xfrm>
            <a:off x="9658350" y="5581650"/>
            <a:ext cx="514350" cy="209550"/>
          </a:xfrm>
          <a:prstGeom prst="roundRect">
            <a:avLst>
              <a:gd name="adj" fmla="val 36364"/>
            </a:avLst>
          </a:prstGeom>
          <a:solidFill>
            <a:srgbClr val="FFFFFF"/>
          </a:solidFill>
          <a:ln w="12668">
            <a:solidFill>
              <a:srgbClr val="C7DAD6"/>
            </a:solidFill>
            <a:prstDash val="solid"/>
          </a:ln>
        </p:spPr>
        <p:txBody>
          <a:bodyPr/>
          <a:p/>
        </p:txBody>
      </p:sp>
      <p:sp>
        <p:nvSpPr>
          <p:cNvPr id="97" name="矩形 96"/>
          <p:cNvSpPr>
            <a:spLocks noGrp="1"/>
          </p:cNvSpPr>
          <p:nvPr/>
        </p:nvSpPr>
        <p:spPr>
          <a:xfrm>
            <a:off x="9658350" y="5581650"/>
            <a:ext cx="514350" cy="209550"/>
          </a:xfrm>
          <a:prstGeom prst="rect">
            <a:avLst/>
          </a:prstGeom>
        </p:spPr>
        <p:txBody>
          <a:bodyPr anchor="ctr"/>
          <a:lstStyle/>
          <a:p>
            <a:pPr algn="ctr">
              <a:defRPr sz="680" b="0">
                <a:solidFill>
                  <a:srgbClr val="44585C"/>
                </a:solidFill>
              </a:defRPr>
            </a:pPr>
            <a:r>
              <a:t>查询</a:t>
            </a:r>
          </a:p>
        </p:txBody>
      </p:sp>
      <p:sp>
        <p:nvSpPr>
          <p:cNvPr id="98" name="圆角矩形 97"/>
          <p:cNvSpPr>
            <a:spLocks noGrp="1"/>
          </p:cNvSpPr>
          <p:nvPr/>
        </p:nvSpPr>
        <p:spPr>
          <a:xfrm>
            <a:off x="10248900" y="5581650"/>
            <a:ext cx="514350" cy="209550"/>
          </a:xfrm>
          <a:prstGeom prst="roundRect">
            <a:avLst>
              <a:gd name="adj" fmla="val 36364"/>
            </a:avLst>
          </a:prstGeom>
          <a:solidFill>
            <a:srgbClr val="F28B36"/>
          </a:solidFill>
          <a:ln w="12668">
            <a:solidFill>
              <a:srgbClr val="F28B36"/>
            </a:solidFill>
            <a:prstDash val="solid"/>
          </a:ln>
        </p:spPr>
        <p:txBody>
          <a:bodyPr/>
          <a:p/>
        </p:txBody>
      </p:sp>
      <p:sp>
        <p:nvSpPr>
          <p:cNvPr id="99" name="矩形 98"/>
          <p:cNvSpPr>
            <a:spLocks noGrp="1"/>
          </p:cNvSpPr>
          <p:nvPr/>
        </p:nvSpPr>
        <p:spPr>
          <a:xfrm>
            <a:off x="10248900" y="5581650"/>
            <a:ext cx="514350" cy="209550"/>
          </a:xfrm>
          <a:prstGeom prst="rect">
            <a:avLst/>
          </a:prstGeom>
        </p:spPr>
        <p:txBody>
          <a:bodyPr anchor="ctr"/>
          <a:lstStyle/>
          <a:p>
            <a:pPr algn="ctr">
              <a:defRPr sz="680" b="1">
                <a:solidFill>
                  <a:srgbClr val="FFFFFF"/>
                </a:solidFill>
              </a:defRPr>
            </a:pPr>
            <a:r>
              <a:t>决策</a:t>
            </a:r>
          </a:p>
        </p:txBody>
      </p:sp>
      <p:sp>
        <p:nvSpPr>
          <p:cNvPr id="100" name="圆角矩形 99"/>
          <p:cNvSpPr>
            <a:spLocks noGrp="1"/>
          </p:cNvSpPr>
          <p:nvPr/>
        </p:nvSpPr>
        <p:spPr>
          <a:xfrm>
            <a:off x="10839450" y="5581650"/>
            <a:ext cx="514350" cy="209550"/>
          </a:xfrm>
          <a:prstGeom prst="roundRect">
            <a:avLst>
              <a:gd name="adj" fmla="val 36364"/>
            </a:avLst>
          </a:prstGeom>
          <a:solidFill>
            <a:srgbClr val="FFFFFF"/>
          </a:solidFill>
          <a:ln w="12668">
            <a:solidFill>
              <a:srgbClr val="C7DAD6"/>
            </a:solidFill>
            <a:prstDash val="solid"/>
          </a:ln>
        </p:spPr>
        <p:txBody>
          <a:bodyPr/>
          <a:p/>
        </p:txBody>
      </p:sp>
      <p:sp>
        <p:nvSpPr>
          <p:cNvPr id="101" name="矩形 100"/>
          <p:cNvSpPr>
            <a:spLocks noGrp="1"/>
          </p:cNvSpPr>
          <p:nvPr/>
        </p:nvSpPr>
        <p:spPr>
          <a:xfrm>
            <a:off x="10839450" y="5581650"/>
            <a:ext cx="514350" cy="209550"/>
          </a:xfrm>
          <a:prstGeom prst="rect">
            <a:avLst/>
          </a:prstGeom>
        </p:spPr>
        <p:txBody>
          <a:bodyPr anchor="ctr"/>
          <a:lstStyle/>
          <a:p>
            <a:pPr algn="ctr">
              <a:defRPr sz="680" b="0">
                <a:solidFill>
                  <a:srgbClr val="44585C"/>
                </a:solidFill>
              </a:defRPr>
            </a:pPr>
            <a:r>
              <a:t>执行</a:t>
            </a:r>
          </a:p>
        </p:txBody>
      </p:sp>
      <p:sp>
        <p:nvSpPr>
          <p:cNvPr id="102" name="矩形 101"/>
          <p:cNvSpPr>
            <a:spLocks noGrp="1"/>
          </p:cNvSpPr>
          <p:nvPr/>
        </p:nvSpPr>
        <p:spPr>
          <a:xfrm>
            <a:off x="657225" y="6172200"/>
            <a:ext cx="10877550" cy="190500"/>
          </a:xfrm>
          <a:prstGeom prst="rect">
            <a:avLst/>
          </a:prstGeom>
        </p:spPr>
        <p:txBody>
          <a:bodyPr anchor="ctr"/>
          <a:lstStyle/>
          <a:p>
            <a:pPr algn="l">
              <a:defRPr sz="720" b="0">
                <a:solidFill>
                  <a:srgbClr val="44585C"/>
                </a:solidFill>
              </a:defRPr>
            </a:pPr>
            <a:r>
              <a:t>本章讲完进入第六章 · 受控执行。</a:t>
            </a:r>
          </a:p>
        </p:txBody>
      </p:sp>
      <p:sp>
        <p:nvSpPr>
          <p:cNvPr id="103" name="圆角矩形 102"/>
          <p:cNvSpPr>
            <a:spLocks noGrp="1"/>
          </p:cNvSpPr>
          <p:nvPr/>
        </p:nvSpPr>
        <p:spPr>
          <a:xfrm>
            <a:off x="6565583" y="127635"/>
            <a:ext cx="4937760" cy="365760"/>
          </a:xfrm>
          <a:prstGeom prst="roundRect">
            <a:avLst>
              <a:gd name="adj" fmla="val 20833"/>
            </a:avLst>
          </a:prstGeom>
          <a:solidFill>
            <a:srgbClr val="F7FBF9"/>
          </a:solidFill>
          <a:ln w="12668">
            <a:solidFill>
              <a:srgbClr val="F7FBF9"/>
            </a:solidFill>
            <a:prstDash val="solid"/>
          </a:ln>
        </p:spPr>
        <p:txBody>
          <a:bodyPr/>
          <a:p/>
        </p:txBody>
      </p:sp>
      <p:sp>
        <p:nvSpPr>
          <p:cNvPr id="104" name="圆角矩形 103"/>
          <p:cNvSpPr>
            <a:spLocks noGrp="1"/>
          </p:cNvSpPr>
          <p:nvPr/>
        </p:nvSpPr>
        <p:spPr>
          <a:xfrm>
            <a:off x="6657023" y="164783"/>
            <a:ext cx="1154430" cy="264795"/>
          </a:xfrm>
          <a:prstGeom prst="roundRect">
            <a:avLst>
              <a:gd name="adj" fmla="val 28777"/>
            </a:avLst>
          </a:prstGeom>
          <a:solidFill>
            <a:srgbClr val="FFFFFF"/>
          </a:solidFill>
          <a:ln w="12668">
            <a:solidFill>
              <a:srgbClr val="C9DCD7"/>
            </a:solidFill>
            <a:prstDash val="solid"/>
          </a:ln>
        </p:spPr>
        <p:txBody>
          <a:bodyPr/>
          <a:p/>
        </p:txBody>
      </p:sp>
      <p:sp>
        <p:nvSpPr>
          <p:cNvPr id="105" name="矩形 104"/>
          <p:cNvSpPr>
            <a:spLocks noGrp="1"/>
          </p:cNvSpPr>
          <p:nvPr/>
        </p:nvSpPr>
        <p:spPr>
          <a:xfrm>
            <a:off x="6657023" y="187643"/>
            <a:ext cx="1154430" cy="182880"/>
          </a:xfrm>
          <a:prstGeom prst="rect">
            <a:avLst/>
          </a:prstGeom>
        </p:spPr>
        <p:txBody>
          <a:bodyPr anchor="ctr"/>
          <a:lstStyle/>
          <a:p>
            <a:pPr algn="ctr">
              <a:defRPr sz="650" b="0">
                <a:solidFill>
                  <a:srgbClr val="44585C"/>
                </a:solidFill>
              </a:defRPr>
            </a:pPr>
            <a:r>
              <a:t>理解</a:t>
            </a:r>
          </a:p>
        </p:txBody>
      </p:sp>
      <p:sp>
        <p:nvSpPr>
          <p:cNvPr id="106" name="圆角矩形 105"/>
          <p:cNvSpPr>
            <a:spLocks noGrp="1"/>
          </p:cNvSpPr>
          <p:nvPr/>
        </p:nvSpPr>
        <p:spPr>
          <a:xfrm>
            <a:off x="7857173" y="164783"/>
            <a:ext cx="1154430" cy="264795"/>
          </a:xfrm>
          <a:prstGeom prst="roundRect">
            <a:avLst>
              <a:gd name="adj" fmla="val 28777"/>
            </a:avLst>
          </a:prstGeom>
          <a:solidFill>
            <a:srgbClr val="FFFFFF"/>
          </a:solidFill>
          <a:ln w="12668">
            <a:solidFill>
              <a:srgbClr val="C9DCD7"/>
            </a:solidFill>
            <a:prstDash val="solid"/>
          </a:ln>
        </p:spPr>
        <p:txBody>
          <a:bodyPr/>
          <a:p/>
        </p:txBody>
      </p:sp>
      <p:sp>
        <p:nvSpPr>
          <p:cNvPr id="107" name="矩形 106"/>
          <p:cNvSpPr>
            <a:spLocks noGrp="1"/>
          </p:cNvSpPr>
          <p:nvPr/>
        </p:nvSpPr>
        <p:spPr>
          <a:xfrm>
            <a:off x="7857173" y="187643"/>
            <a:ext cx="1154430" cy="182880"/>
          </a:xfrm>
          <a:prstGeom prst="rect">
            <a:avLst/>
          </a:prstGeom>
        </p:spPr>
        <p:txBody>
          <a:bodyPr anchor="ctr"/>
          <a:lstStyle/>
          <a:p>
            <a:pPr algn="ctr">
              <a:defRPr sz="650" b="0">
                <a:solidFill>
                  <a:srgbClr val="44585C"/>
                </a:solidFill>
              </a:defRPr>
            </a:pPr>
            <a:r>
              <a:t>查询</a:t>
            </a:r>
          </a:p>
        </p:txBody>
      </p:sp>
      <p:sp>
        <p:nvSpPr>
          <p:cNvPr id="108" name="圆角矩形 107"/>
          <p:cNvSpPr>
            <a:spLocks noGrp="1"/>
          </p:cNvSpPr>
          <p:nvPr/>
        </p:nvSpPr>
        <p:spPr>
          <a:xfrm>
            <a:off x="9057323" y="164783"/>
            <a:ext cx="1154430" cy="264795"/>
          </a:xfrm>
          <a:prstGeom prst="roundRect">
            <a:avLst>
              <a:gd name="adj" fmla="val 28777"/>
            </a:avLst>
          </a:prstGeom>
          <a:solidFill>
            <a:srgbClr val="007574"/>
          </a:solidFill>
          <a:ln w="12668">
            <a:solidFill>
              <a:srgbClr val="007574"/>
            </a:solidFill>
            <a:prstDash val="solid"/>
          </a:ln>
        </p:spPr>
        <p:txBody>
          <a:bodyPr/>
          <a:p/>
        </p:txBody>
      </p:sp>
      <p:sp>
        <p:nvSpPr>
          <p:cNvPr id="109" name="矩形 108"/>
          <p:cNvSpPr>
            <a:spLocks noGrp="1"/>
          </p:cNvSpPr>
          <p:nvPr/>
        </p:nvSpPr>
        <p:spPr>
          <a:xfrm>
            <a:off x="9057323" y="187643"/>
            <a:ext cx="1154430" cy="182880"/>
          </a:xfrm>
          <a:prstGeom prst="rect">
            <a:avLst/>
          </a:prstGeom>
        </p:spPr>
        <p:txBody>
          <a:bodyPr anchor="ctr"/>
          <a:lstStyle/>
          <a:p>
            <a:pPr algn="ctr">
              <a:defRPr sz="660" b="1">
                <a:solidFill>
                  <a:srgbClr val="FFFFFF"/>
                </a:solidFill>
              </a:defRPr>
            </a:pPr>
            <a:r>
              <a:t>决策</a:t>
            </a:r>
          </a:p>
        </p:txBody>
      </p:sp>
      <p:sp>
        <p:nvSpPr>
          <p:cNvPr id="110" name="圆角矩形 109"/>
          <p:cNvSpPr>
            <a:spLocks noGrp="1"/>
          </p:cNvSpPr>
          <p:nvPr/>
        </p:nvSpPr>
        <p:spPr>
          <a:xfrm>
            <a:off x="10257473" y="164783"/>
            <a:ext cx="1154430" cy="264795"/>
          </a:xfrm>
          <a:prstGeom prst="roundRect">
            <a:avLst>
              <a:gd name="adj" fmla="val 28777"/>
            </a:avLst>
          </a:prstGeom>
          <a:solidFill>
            <a:srgbClr val="FFFFFF"/>
          </a:solidFill>
          <a:ln w="12668">
            <a:solidFill>
              <a:srgbClr val="C9DCD7"/>
            </a:solidFill>
            <a:prstDash val="solid"/>
          </a:ln>
        </p:spPr>
        <p:txBody>
          <a:bodyPr/>
          <a:p/>
        </p:txBody>
      </p:sp>
      <p:sp>
        <p:nvSpPr>
          <p:cNvPr id="111" name="矩形 110"/>
          <p:cNvSpPr>
            <a:spLocks noGrp="1"/>
          </p:cNvSpPr>
          <p:nvPr/>
        </p:nvSpPr>
        <p:spPr>
          <a:xfrm>
            <a:off x="10257473" y="187643"/>
            <a:ext cx="1154430" cy="182880"/>
          </a:xfrm>
          <a:prstGeom prst="rect">
            <a:avLst/>
          </a:prstGeom>
        </p:spPr>
        <p:txBody>
          <a:bodyPr anchor="ctr"/>
          <a:lstStyle/>
          <a:p>
            <a:pPr algn="ctr">
              <a:defRPr sz="650" b="0">
                <a:solidFill>
                  <a:srgbClr val="44585C"/>
                </a:solidFill>
              </a:defRPr>
            </a:pPr>
            <a:r>
              <a:t>执行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hape 0"/>
          <p:cNvSpPr>
            <a:spLocks noGrp="1"/>
          </p:cNvSpPr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A"/>
          </a:solidFill>
          <a:ln w="12700">
            <a:solidFill>
              <a:srgbClr val="F7FBFA"/>
            </a:solidFill>
            <a:prstDash val="solid"/>
          </a:ln>
        </p:spPr>
        <p:txBody>
          <a:bodyPr/>
          <a:lstStyle/>
          <a:p/>
        </p:txBody>
      </p:sp>
      <p:sp>
        <p:nvSpPr>
          <p:cNvPr id="3" name="Shape 1"/>
          <p:cNvSpPr>
            <a:spLocks noGrp="1"/>
          </p:cNvSpPr>
          <p:nvPr/>
        </p:nvSpPr>
        <p:spPr>
          <a:xfrm>
            <a:off x="0" y="0"/>
            <a:ext cx="50292" cy="6858000"/>
          </a:xfrm>
          <a:prstGeom prst="rect">
            <a:avLst/>
          </a:prstGeom>
          <a:solidFill>
            <a:srgbClr val="0A8F6A"/>
          </a:solidFill>
          <a:ln w="12700">
            <a:solidFill>
              <a:srgbClr val="07966F"/>
            </a:solidFill>
            <a:prstDash val="solid"/>
          </a:ln>
        </p:spPr>
        <p:txBody>
          <a:bodyPr/>
          <a:lstStyle/>
          <a:p/>
        </p:txBody>
      </p:sp>
      <p:sp>
        <p:nvSpPr>
          <p:cNvPr id="4" name="Shape 2"/>
          <p:cNvSpPr>
            <a:spLocks noGrp="1"/>
          </p:cNvSpPr>
          <p:nvPr/>
        </p:nvSpPr>
        <p:spPr>
          <a:xfrm>
            <a:off x="10716768" y="45720"/>
            <a:ext cx="1170432" cy="658368"/>
          </a:xfrm>
          <a:prstGeom prst="ellipse">
            <a:avLst/>
          </a:prstGeom>
          <a:solidFill>
            <a:srgbClr val="E8F4F1"/>
          </a:solidFill>
          <a:ln w="12700">
            <a:solidFill>
              <a:srgbClr val="E8F4F1"/>
            </a:solidFill>
            <a:prstDash val="solid"/>
          </a:ln>
        </p:spPr>
        <p:txBody>
          <a:bodyPr/>
          <a:lstStyle/>
          <a:p/>
        </p:txBody>
      </p:sp>
      <p:sp>
        <p:nvSpPr>
          <p:cNvPr id="5" name="Shape 3"/>
          <p:cNvSpPr>
            <a:spLocks noGrp="1"/>
          </p:cNvSpPr>
          <p:nvPr/>
        </p:nvSpPr>
        <p:spPr>
          <a:xfrm>
            <a:off x="9948672" y="274320"/>
            <a:ext cx="64008" cy="64008"/>
          </a:xfrm>
          <a:prstGeom prst="ellipse">
            <a:avLst/>
          </a:prstGeom>
          <a:solidFill>
            <a:srgbClr val="C7DAD6"/>
          </a:solidFill>
          <a:ln w="12700">
            <a:solidFill>
              <a:srgbClr val="C7DAD6"/>
            </a:solidFill>
            <a:prstDash val="solid"/>
          </a:ln>
        </p:spPr>
        <p:txBody>
          <a:bodyPr/>
          <a:lstStyle/>
          <a:p/>
        </p:txBody>
      </p:sp>
      <p:sp>
        <p:nvSpPr>
          <p:cNvPr id="6" name="Text 4"/>
          <p:cNvSpPr>
            <a:spLocks noGrp="1"/>
          </p:cNvSpPr>
          <p:nvPr/>
        </p:nvSpPr>
        <p:spPr>
          <a:xfrm>
            <a:off x="9948672" y="274320"/>
            <a:ext cx="64008" cy="6400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endParaRPr sz="100"/>
          </a:p>
        </p:txBody>
      </p:sp>
      <p:sp>
        <p:nvSpPr>
          <p:cNvPr id="7" name="Shape 5"/>
          <p:cNvSpPr>
            <a:spLocks noGrp="1"/>
          </p:cNvSpPr>
          <p:nvPr/>
        </p:nvSpPr>
        <p:spPr>
          <a:xfrm>
            <a:off x="10158984" y="274320"/>
            <a:ext cx="64008" cy="64008"/>
          </a:xfrm>
          <a:prstGeom prst="ellipse">
            <a:avLst/>
          </a:prstGeom>
          <a:solidFill>
            <a:srgbClr val="C7DAD6"/>
          </a:solidFill>
          <a:ln w="12700">
            <a:solidFill>
              <a:srgbClr val="C7DAD6"/>
            </a:solidFill>
            <a:prstDash val="solid"/>
          </a:ln>
        </p:spPr>
        <p:txBody>
          <a:bodyPr/>
          <a:lstStyle/>
          <a:p/>
        </p:txBody>
      </p:sp>
      <p:sp>
        <p:nvSpPr>
          <p:cNvPr id="8" name="Text 6"/>
          <p:cNvSpPr>
            <a:spLocks noGrp="1"/>
          </p:cNvSpPr>
          <p:nvPr/>
        </p:nvSpPr>
        <p:spPr>
          <a:xfrm>
            <a:off x="10158984" y="274320"/>
            <a:ext cx="64008" cy="6400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endParaRPr sz="100"/>
          </a:p>
        </p:txBody>
      </p:sp>
      <p:sp>
        <p:nvSpPr>
          <p:cNvPr id="9" name="Shape 7"/>
          <p:cNvSpPr>
            <a:spLocks noGrp="1"/>
          </p:cNvSpPr>
          <p:nvPr/>
        </p:nvSpPr>
        <p:spPr>
          <a:xfrm>
            <a:off x="10369296" y="274320"/>
            <a:ext cx="64008" cy="64008"/>
          </a:xfrm>
          <a:prstGeom prst="ellipse">
            <a:avLst/>
          </a:prstGeom>
          <a:solidFill>
            <a:srgbClr val="07966F"/>
          </a:solidFill>
          <a:ln w="12700">
            <a:solidFill>
              <a:srgbClr val="07966F"/>
            </a:solidFill>
            <a:prstDash val="solid"/>
          </a:ln>
        </p:spPr>
        <p:txBody>
          <a:bodyPr/>
          <a:lstStyle/>
          <a:p/>
        </p:txBody>
      </p:sp>
      <p:sp>
        <p:nvSpPr>
          <p:cNvPr id="10" name="Text 8"/>
          <p:cNvSpPr>
            <a:spLocks noGrp="1"/>
          </p:cNvSpPr>
          <p:nvPr/>
        </p:nvSpPr>
        <p:spPr>
          <a:xfrm>
            <a:off x="10369296" y="274320"/>
            <a:ext cx="64008" cy="6400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endParaRPr sz="100"/>
          </a:p>
        </p:txBody>
      </p:sp>
      <p:sp>
        <p:nvSpPr>
          <p:cNvPr id="11" name="Shape 9"/>
          <p:cNvSpPr>
            <a:spLocks noGrp="1"/>
          </p:cNvSpPr>
          <p:nvPr/>
        </p:nvSpPr>
        <p:spPr>
          <a:xfrm>
            <a:off x="10579608" y="274320"/>
            <a:ext cx="64008" cy="64008"/>
          </a:xfrm>
          <a:prstGeom prst="ellipse">
            <a:avLst/>
          </a:prstGeom>
          <a:solidFill>
            <a:srgbClr val="C7DAD6"/>
          </a:solidFill>
          <a:ln w="12700">
            <a:solidFill>
              <a:srgbClr val="C7DAD6"/>
            </a:solidFill>
            <a:prstDash val="solid"/>
          </a:ln>
        </p:spPr>
        <p:txBody>
          <a:bodyPr/>
          <a:lstStyle/>
          <a:p/>
        </p:txBody>
      </p:sp>
      <p:sp>
        <p:nvSpPr>
          <p:cNvPr id="12" name="Text 10"/>
          <p:cNvSpPr>
            <a:spLocks noGrp="1"/>
          </p:cNvSpPr>
          <p:nvPr/>
        </p:nvSpPr>
        <p:spPr>
          <a:xfrm>
            <a:off x="10579608" y="274320"/>
            <a:ext cx="64008" cy="6400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endParaRPr sz="100"/>
          </a:p>
        </p:txBody>
      </p:sp>
      <p:sp>
        <p:nvSpPr>
          <p:cNvPr id="13" name="Shape 11"/>
          <p:cNvSpPr>
            <a:spLocks noGrp="1"/>
          </p:cNvSpPr>
          <p:nvPr/>
        </p:nvSpPr>
        <p:spPr>
          <a:xfrm>
            <a:off x="10789920" y="274320"/>
            <a:ext cx="64008" cy="64008"/>
          </a:xfrm>
          <a:prstGeom prst="ellipse">
            <a:avLst/>
          </a:prstGeom>
          <a:solidFill>
            <a:srgbClr val="C7DAD6"/>
          </a:solidFill>
          <a:ln w="12700">
            <a:solidFill>
              <a:srgbClr val="C7DAD6"/>
            </a:solidFill>
            <a:prstDash val="solid"/>
          </a:ln>
        </p:spPr>
        <p:txBody>
          <a:bodyPr/>
          <a:lstStyle/>
          <a:p/>
        </p:txBody>
      </p:sp>
      <p:sp>
        <p:nvSpPr>
          <p:cNvPr id="14" name="Text 12"/>
          <p:cNvSpPr>
            <a:spLocks noGrp="1"/>
          </p:cNvSpPr>
          <p:nvPr/>
        </p:nvSpPr>
        <p:spPr>
          <a:xfrm>
            <a:off x="10789920" y="274320"/>
            <a:ext cx="64008" cy="6400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endParaRPr sz="100"/>
          </a:p>
        </p:txBody>
      </p:sp>
      <p:sp>
        <p:nvSpPr>
          <p:cNvPr id="15" name="Shape 13"/>
          <p:cNvSpPr>
            <a:spLocks noGrp="1"/>
          </p:cNvSpPr>
          <p:nvPr/>
        </p:nvSpPr>
        <p:spPr>
          <a:xfrm>
            <a:off x="11000232" y="274320"/>
            <a:ext cx="64008" cy="64008"/>
          </a:xfrm>
          <a:prstGeom prst="ellipse">
            <a:avLst/>
          </a:prstGeom>
          <a:solidFill>
            <a:srgbClr val="C7DAD6"/>
          </a:solidFill>
          <a:ln w="12700">
            <a:solidFill>
              <a:srgbClr val="C7DAD6"/>
            </a:solidFill>
            <a:prstDash val="solid"/>
          </a:ln>
        </p:spPr>
        <p:txBody>
          <a:bodyPr/>
          <a:lstStyle/>
          <a:p/>
        </p:txBody>
      </p:sp>
      <p:sp>
        <p:nvSpPr>
          <p:cNvPr id="16" name="Text 14"/>
          <p:cNvSpPr>
            <a:spLocks noGrp="1"/>
          </p:cNvSpPr>
          <p:nvPr/>
        </p:nvSpPr>
        <p:spPr>
          <a:xfrm>
            <a:off x="11000232" y="274320"/>
            <a:ext cx="64008" cy="6400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endParaRPr sz="100"/>
          </a:p>
        </p:txBody>
      </p:sp>
      <p:sp>
        <p:nvSpPr>
          <p:cNvPr id="17" name="Shape 15"/>
          <p:cNvSpPr>
            <a:spLocks noGrp="1"/>
          </p:cNvSpPr>
          <p:nvPr/>
        </p:nvSpPr>
        <p:spPr>
          <a:xfrm>
            <a:off x="11210544" y="274320"/>
            <a:ext cx="64008" cy="64008"/>
          </a:xfrm>
          <a:prstGeom prst="ellipse">
            <a:avLst/>
          </a:prstGeom>
          <a:solidFill>
            <a:srgbClr val="C7DAD6"/>
          </a:solidFill>
          <a:ln w="12700">
            <a:solidFill>
              <a:srgbClr val="C7DAD6"/>
            </a:solidFill>
            <a:prstDash val="solid"/>
          </a:ln>
        </p:spPr>
        <p:txBody>
          <a:bodyPr/>
          <a:lstStyle/>
          <a:p/>
        </p:txBody>
      </p:sp>
      <p:sp>
        <p:nvSpPr>
          <p:cNvPr id="18" name="Text 16"/>
          <p:cNvSpPr>
            <a:spLocks noGrp="1"/>
          </p:cNvSpPr>
          <p:nvPr/>
        </p:nvSpPr>
        <p:spPr>
          <a:xfrm>
            <a:off x="11210544" y="274320"/>
            <a:ext cx="64008" cy="6400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endParaRPr sz="100"/>
          </a:p>
        </p:txBody>
      </p:sp>
      <p:sp>
        <p:nvSpPr>
          <p:cNvPr id="19" name="Shape 17"/>
          <p:cNvSpPr>
            <a:spLocks noGrp="1"/>
          </p:cNvSpPr>
          <p:nvPr/>
        </p:nvSpPr>
        <p:spPr>
          <a:xfrm>
            <a:off x="658368" y="420624"/>
            <a:ext cx="237744" cy="0"/>
          </a:xfrm>
          <a:prstGeom prst="line">
            <a:avLst/>
          </a:prstGeom>
          <a:noFill/>
          <a:ln w="15875">
            <a:solidFill>
              <a:srgbClr val="0A8F6A"/>
            </a:solidFill>
            <a:prstDash val="solid"/>
          </a:ln>
        </p:spPr>
        <p:txBody>
          <a:bodyPr/>
          <a:lstStyle/>
          <a:p/>
        </p:txBody>
      </p:sp>
      <p:sp>
        <p:nvSpPr>
          <p:cNvPr id="20" name="Text 18"/>
          <p:cNvSpPr>
            <a:spLocks noGrp="1"/>
          </p:cNvSpPr>
          <p:nvPr/>
        </p:nvSpPr>
        <p:spPr>
          <a:xfrm>
            <a:off x="950976" y="274320"/>
            <a:ext cx="3931920" cy="25603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r>
              <a:rPr sz="1050" b="1">
                <a:solidFill>
                  <a:srgbClr val="076B50"/>
                </a:solidFill>
                <a:latin typeface="Noto Sans CJK SC"/>
                <a:ea typeface="Noto Sans CJK SC"/>
                <a:cs typeface="Noto Sans CJK SC"/>
              </a:rPr>
              <a:t>CHAPTER 5 · 能力与编排</a:t>
            </a:r>
            <a:endParaRPr sz="1050" b="1">
              <a:solidFill>
                <a:srgbClr val="00A7A7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1" name="Text 19"/>
          <p:cNvSpPr>
            <a:spLocks noGrp="1"/>
          </p:cNvSpPr>
          <p:nvPr/>
        </p:nvSpPr>
        <p:spPr>
          <a:xfrm>
            <a:off x="658368" y="658368"/>
            <a:ext cx="10607040" cy="457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buNone/>
            </a:pPr>
            <a:r>
              <a:rPr sz="2900" b="1">
                <a:solidFill>
                  <a:srgbClr val="153D39"/>
                </a:solidFill>
                <a:latin typeface="Noto Sans CJK SC"/>
                <a:ea typeface="Noto Sans CJK SC"/>
                <a:cs typeface="Noto Sans CJK SC"/>
              </a:rPr>
              <a:t>Skill：可复用的业务能力单元</a:t>
            </a:r>
            <a:endParaRPr sz="2900"/>
          </a:p>
        </p:txBody>
      </p:sp>
      <p:sp>
        <p:nvSpPr>
          <p:cNvPr id="22" name="Text 20"/>
          <p:cNvSpPr>
            <a:spLocks noGrp="1"/>
          </p:cNvSpPr>
          <p:nvPr/>
        </p:nvSpPr>
        <p:spPr>
          <a:xfrm>
            <a:off x="658368" y="1143000"/>
            <a:ext cx="10561320" cy="31089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r>
              <a:rPr sz="1170">
                <a:solidFill>
                  <a:srgbClr val="44585C"/>
                </a:solidFill>
                <a:latin typeface="Noto Sans CJK SC"/>
                <a:ea typeface="Noto Sans CJK SC"/>
                <a:cs typeface="Noto Sans CJK SC"/>
              </a:rPr>
              <a:t>它说明系统能做什么、需要什么输入、能调用哪些工具，以及失败后把工单交到哪里。</a:t>
            </a:r>
            <a:endParaRPr sz="1170">
              <a:solidFill>
                <a:srgbClr val="6B8185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3" name="Shape 21"/>
          <p:cNvSpPr>
            <a:spLocks noGrp="1"/>
          </p:cNvSpPr>
          <p:nvPr/>
        </p:nvSpPr>
        <p:spPr>
          <a:xfrm>
            <a:off x="658368" y="6519672"/>
            <a:ext cx="11064240" cy="0"/>
          </a:xfrm>
          <a:prstGeom prst="line">
            <a:avLst/>
          </a:prstGeom>
          <a:noFill/>
          <a:ln w="12700">
            <a:solidFill>
              <a:srgbClr val="D7E7E3"/>
            </a:solidFill>
            <a:prstDash val="solid"/>
          </a:ln>
        </p:spPr>
        <p:txBody>
          <a:bodyPr/>
          <a:lstStyle/>
          <a:p/>
        </p:txBody>
      </p:sp>
      <p:sp>
        <p:nvSpPr>
          <p:cNvPr id="24" name="Text 22"/>
          <p:cNvSpPr>
            <a:spLocks noGrp="1"/>
          </p:cNvSpPr>
          <p:nvPr/>
        </p:nvSpPr>
        <p:spPr>
          <a:xfrm>
            <a:off x="658368" y="6583680"/>
            <a:ext cx="3931920" cy="14630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buNone/>
            </a:pPr>
            <a:r>
              <a:rPr sz="850">
                <a:solidFill>
                  <a:srgbClr val="55696A"/>
                </a:solidFill>
                <a:latin typeface="Noto Sans CJK SC"/>
                <a:ea typeface="Noto Sans CJK SC"/>
                <a:cs typeface="Noto Sans CJK SC"/>
              </a:rPr>
              <a:t>CUSTOMER SERVICE AI AGENT</a:t>
            </a:r>
            <a:endParaRPr sz="850"/>
          </a:p>
        </p:txBody>
      </p:sp>
      <p:sp>
        <p:nvSpPr>
          <p:cNvPr id="25" name="Text 23"/>
          <p:cNvSpPr>
            <a:spLocks noGrp="1"/>
          </p:cNvSpPr>
          <p:nvPr/>
        </p:nvSpPr>
        <p:spPr>
          <a:xfrm>
            <a:off x="10927080" y="6565392"/>
            <a:ext cx="777240" cy="16459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</a:pPr>
            <a:r>
              <a:rPr sz="880" b="1">
                <a:solidFill>
                  <a:srgbClr val="076B50"/>
                </a:solidFill>
                <a:latin typeface="Noto Sans CJK SC"/>
                <a:ea typeface="Noto Sans CJK SC"/>
                <a:cs typeface="Noto Sans CJK SC"/>
              </a:rPr>
              <a:t>38</a:t>
            </a:r>
            <a:endParaRPr sz="880" b="1">
              <a:solidFill>
                <a:srgbClr val="00A7A7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6" name="Shape 24"/>
          <p:cNvSpPr>
            <a:spLocks noGrp="1"/>
          </p:cNvSpPr>
          <p:nvPr/>
        </p:nvSpPr>
        <p:spPr>
          <a:xfrm>
            <a:off x="713232" y="1792224"/>
            <a:ext cx="2798064" cy="4169664"/>
          </a:xfrm>
          <a:prstGeom prst="roundRect">
            <a:avLst/>
          </a:prstGeom>
          <a:solidFill>
            <a:srgbClr val="EAF3FF"/>
          </a:solidFill>
          <a:ln w="12700">
            <a:solidFill>
              <a:srgbClr val="2F80ED"/>
            </a:solidFill>
            <a:prstDash val="solid"/>
          </a:ln>
        </p:spPr>
        <p:txBody>
          <a:bodyPr/>
          <a:lstStyle/>
          <a:p/>
        </p:txBody>
      </p:sp>
      <p:sp>
        <p:nvSpPr>
          <p:cNvPr id="27" name="Shape 25"/>
          <p:cNvSpPr>
            <a:spLocks noGrp="1"/>
          </p:cNvSpPr>
          <p:nvPr/>
        </p:nvSpPr>
        <p:spPr>
          <a:xfrm>
            <a:off x="941832" y="2011680"/>
            <a:ext cx="1499616" cy="256032"/>
          </a:xfrm>
          <a:prstGeom prst="roundRect">
            <a:avLst/>
          </a:prstGeom>
          <a:solidFill>
            <a:srgbClr val="1F63C4"/>
          </a:solidFill>
          <a:ln w="12700">
            <a:solidFill>
              <a:srgbClr val="1F63C4"/>
            </a:solidFill>
            <a:prstDash val="solid"/>
          </a:ln>
        </p:spPr>
        <p:txBody>
          <a:bodyPr/>
          <a:lstStyle/>
          <a:p/>
        </p:txBody>
      </p:sp>
      <p:sp>
        <p:nvSpPr>
          <p:cNvPr id="28" name="Text 26"/>
          <p:cNvSpPr>
            <a:spLocks noGrp="1"/>
          </p:cNvSpPr>
          <p:nvPr/>
        </p:nvSpPr>
        <p:spPr>
          <a:xfrm>
            <a:off x="941832" y="2011680"/>
            <a:ext cx="1499616" cy="25603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INPUT &amp; DEPENDENCIES</a:t>
            </a:r>
            <a:endParaRPr sz="950"/>
          </a:p>
        </p:txBody>
      </p:sp>
      <p:sp>
        <p:nvSpPr>
          <p:cNvPr id="29" name="Text 27"/>
          <p:cNvSpPr>
            <a:spLocks noGrp="1"/>
          </p:cNvSpPr>
          <p:nvPr/>
        </p:nvSpPr>
        <p:spPr>
          <a:xfrm>
            <a:off x="941832" y="2377440"/>
            <a:ext cx="1444752" cy="29260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buNone/>
            </a:pPr>
            <a:r>
              <a:rPr sz="1700" b="1">
                <a:solidFill>
                  <a:srgbClr val="153D39"/>
                </a:solidFill>
                <a:latin typeface="Noto Sans CJK SC"/>
                <a:ea typeface="Noto Sans CJK SC"/>
                <a:cs typeface="Noto Sans CJK SC"/>
              </a:rPr>
              <a:t>输入与依赖</a:t>
            </a:r>
            <a:endParaRPr sz="1700"/>
          </a:p>
        </p:txBody>
      </p:sp>
      <p:sp>
        <p:nvSpPr>
          <p:cNvPr id="30" name="Shape 28"/>
          <p:cNvSpPr>
            <a:spLocks noGrp="1"/>
          </p:cNvSpPr>
          <p:nvPr/>
        </p:nvSpPr>
        <p:spPr>
          <a:xfrm>
            <a:off x="941832" y="2889504"/>
            <a:ext cx="256032" cy="256032"/>
          </a:xfrm>
          <a:prstGeom prst="ellipse">
            <a:avLst/>
          </a:prstGeom>
          <a:solidFill>
            <a:srgbClr val="1F63C4"/>
          </a:solidFill>
          <a:ln w="12700">
            <a:solidFill>
              <a:srgbClr val="1F63C4"/>
            </a:solidFill>
            <a:prstDash val="solid"/>
          </a:ln>
        </p:spPr>
        <p:txBody>
          <a:bodyPr/>
          <a:lstStyle/>
          <a:p/>
        </p:txBody>
      </p:sp>
      <p:sp>
        <p:nvSpPr>
          <p:cNvPr id="31" name="Text 29"/>
          <p:cNvSpPr>
            <a:spLocks noGrp="1"/>
          </p:cNvSpPr>
          <p:nvPr/>
        </p:nvSpPr>
        <p:spPr>
          <a:xfrm>
            <a:off x="941832" y="2889504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1</a:t>
            </a:r>
            <a:endParaRPr sz="850"/>
          </a:p>
        </p:txBody>
      </p:sp>
      <p:sp>
        <p:nvSpPr>
          <p:cNvPr id="32" name="Text 30"/>
          <p:cNvSpPr>
            <a:spLocks noGrp="1"/>
          </p:cNvSpPr>
          <p:nvPr/>
        </p:nvSpPr>
        <p:spPr>
          <a:xfrm>
            <a:off x="1307592" y="2816352"/>
            <a:ext cx="841248" cy="20116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buNone/>
            </a:pPr>
            <a:r>
              <a:rPr sz="980" b="1">
                <a:solidFill>
                  <a:srgbClr val="153D39"/>
                </a:solidFill>
                <a:latin typeface="Noto Sans CJK SC"/>
                <a:ea typeface="Noto Sans CJK SC"/>
                <a:cs typeface="Noto Sans CJK SC"/>
              </a:rPr>
              <a:t>订单标识</a:t>
            </a:r>
            <a:endParaRPr sz="980"/>
          </a:p>
        </p:txBody>
      </p:sp>
      <p:sp>
        <p:nvSpPr>
          <p:cNvPr id="33" name="Text 31"/>
          <p:cNvSpPr>
            <a:spLocks noGrp="1"/>
          </p:cNvSpPr>
          <p:nvPr/>
        </p:nvSpPr>
        <p:spPr>
          <a:xfrm>
            <a:off x="2057400" y="2816352"/>
            <a:ext cx="1133856" cy="20116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r">
              <a:buNone/>
            </a:pPr>
            <a:r>
              <a:rPr sz="870">
                <a:solidFill>
                  <a:srgbClr val="44585C"/>
                </a:solidFill>
                <a:latin typeface="Noto Sans CJK SC"/>
                <a:ea typeface="Noto Sans CJK SC"/>
                <a:cs typeface="Noto Sans CJK SC"/>
              </a:rPr>
              <a:t>订单号 / 邮箱</a:t>
            </a:r>
            <a:endParaRPr sz="870"/>
          </a:p>
        </p:txBody>
      </p:sp>
      <p:sp>
        <p:nvSpPr>
          <p:cNvPr id="34" name="Shape 32"/>
          <p:cNvSpPr>
            <a:spLocks noGrp="1"/>
          </p:cNvSpPr>
          <p:nvPr/>
        </p:nvSpPr>
        <p:spPr>
          <a:xfrm>
            <a:off x="1307592" y="3099816"/>
            <a:ext cx="1874520" cy="0"/>
          </a:xfrm>
          <a:prstGeom prst="line">
            <a:avLst/>
          </a:prstGeom>
          <a:noFill/>
          <a:ln w="10160">
            <a:solidFill>
              <a:srgbClr val="C8DAF5"/>
            </a:solidFill>
            <a:prstDash val="solid"/>
          </a:ln>
        </p:spPr>
        <p:txBody>
          <a:bodyPr/>
          <a:lstStyle/>
          <a:p/>
        </p:txBody>
      </p:sp>
      <p:sp>
        <p:nvSpPr>
          <p:cNvPr id="35" name="Shape 33"/>
          <p:cNvSpPr>
            <a:spLocks noGrp="1"/>
          </p:cNvSpPr>
          <p:nvPr/>
        </p:nvSpPr>
        <p:spPr>
          <a:xfrm>
            <a:off x="941832" y="3392424"/>
            <a:ext cx="256032" cy="256032"/>
          </a:xfrm>
          <a:prstGeom prst="ellipse">
            <a:avLst/>
          </a:prstGeom>
          <a:solidFill>
            <a:srgbClr val="1F63C4"/>
          </a:solidFill>
          <a:ln w="12700">
            <a:solidFill>
              <a:srgbClr val="1F63C4"/>
            </a:solidFill>
            <a:prstDash val="solid"/>
          </a:ln>
        </p:spPr>
        <p:txBody>
          <a:bodyPr/>
          <a:lstStyle/>
          <a:p/>
        </p:txBody>
      </p:sp>
      <p:sp>
        <p:nvSpPr>
          <p:cNvPr id="36" name="Text 34"/>
          <p:cNvSpPr>
            <a:spLocks noGrp="1"/>
          </p:cNvSpPr>
          <p:nvPr/>
        </p:nvSpPr>
        <p:spPr>
          <a:xfrm>
            <a:off x="941832" y="3392424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2</a:t>
            </a:r>
            <a:endParaRPr sz="850"/>
          </a:p>
        </p:txBody>
      </p:sp>
      <p:sp>
        <p:nvSpPr>
          <p:cNvPr id="37" name="Text 35"/>
          <p:cNvSpPr>
            <a:spLocks noGrp="1"/>
          </p:cNvSpPr>
          <p:nvPr/>
        </p:nvSpPr>
        <p:spPr>
          <a:xfrm>
            <a:off x="1307592" y="3319272"/>
            <a:ext cx="841248" cy="20116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buNone/>
            </a:pPr>
            <a:r>
              <a:rPr sz="980" b="1">
                <a:solidFill>
                  <a:srgbClr val="153D39"/>
                </a:solidFill>
                <a:latin typeface="Noto Sans CJK SC"/>
                <a:ea typeface="Noto Sans CJK SC"/>
                <a:cs typeface="Noto Sans CJK SC"/>
              </a:rPr>
              <a:t>新地址</a:t>
            </a:r>
            <a:endParaRPr sz="980"/>
          </a:p>
        </p:txBody>
      </p:sp>
      <p:sp>
        <p:nvSpPr>
          <p:cNvPr id="38" name="Text 36"/>
          <p:cNvSpPr>
            <a:spLocks noGrp="1"/>
          </p:cNvSpPr>
          <p:nvPr/>
        </p:nvSpPr>
        <p:spPr>
          <a:xfrm>
            <a:off x="2057400" y="3319272"/>
            <a:ext cx="1133856" cy="20116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r">
              <a:buNone/>
            </a:pPr>
            <a:r>
              <a:rPr sz="870">
                <a:solidFill>
                  <a:srgbClr val="44585C"/>
                </a:solidFill>
                <a:latin typeface="Noto Sans CJK SC"/>
                <a:ea typeface="Noto Sans CJK SC"/>
                <a:cs typeface="Noto Sans CJK SC"/>
              </a:rPr>
              <a:t>结构化地址字段</a:t>
            </a:r>
            <a:endParaRPr sz="870"/>
          </a:p>
        </p:txBody>
      </p:sp>
      <p:sp>
        <p:nvSpPr>
          <p:cNvPr id="39" name="Shape 37"/>
          <p:cNvSpPr>
            <a:spLocks noGrp="1"/>
          </p:cNvSpPr>
          <p:nvPr/>
        </p:nvSpPr>
        <p:spPr>
          <a:xfrm>
            <a:off x="1307592" y="3602736"/>
            <a:ext cx="1874520" cy="0"/>
          </a:xfrm>
          <a:prstGeom prst="line">
            <a:avLst/>
          </a:prstGeom>
          <a:noFill/>
          <a:ln w="10160">
            <a:solidFill>
              <a:srgbClr val="C8DAF5"/>
            </a:solidFill>
            <a:prstDash val="solid"/>
          </a:ln>
        </p:spPr>
        <p:txBody>
          <a:bodyPr/>
          <a:lstStyle/>
          <a:p/>
        </p:txBody>
      </p:sp>
      <p:sp>
        <p:nvSpPr>
          <p:cNvPr id="40" name="Shape 38"/>
          <p:cNvSpPr>
            <a:spLocks noGrp="1"/>
          </p:cNvSpPr>
          <p:nvPr/>
        </p:nvSpPr>
        <p:spPr>
          <a:xfrm>
            <a:off x="941832" y="3895344"/>
            <a:ext cx="256032" cy="256032"/>
          </a:xfrm>
          <a:prstGeom prst="ellipse">
            <a:avLst/>
          </a:prstGeom>
          <a:solidFill>
            <a:srgbClr val="1F63C4"/>
          </a:solidFill>
          <a:ln w="12700">
            <a:solidFill>
              <a:srgbClr val="1F63C4"/>
            </a:solidFill>
            <a:prstDash val="solid"/>
          </a:ln>
        </p:spPr>
        <p:txBody>
          <a:bodyPr/>
          <a:lstStyle/>
          <a:p/>
        </p:txBody>
      </p:sp>
      <p:sp>
        <p:nvSpPr>
          <p:cNvPr id="41" name="Text 39"/>
          <p:cNvSpPr>
            <a:spLocks noGrp="1"/>
          </p:cNvSpPr>
          <p:nvPr/>
        </p:nvSpPr>
        <p:spPr>
          <a:xfrm>
            <a:off x="941832" y="3895344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3</a:t>
            </a:r>
            <a:endParaRPr sz="850"/>
          </a:p>
        </p:txBody>
      </p:sp>
      <p:sp>
        <p:nvSpPr>
          <p:cNvPr id="42" name="Text 40"/>
          <p:cNvSpPr>
            <a:spLocks noGrp="1"/>
          </p:cNvSpPr>
          <p:nvPr/>
        </p:nvSpPr>
        <p:spPr>
          <a:xfrm>
            <a:off x="1307592" y="3822192"/>
            <a:ext cx="841248" cy="20116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buNone/>
            </a:pPr>
            <a:r>
              <a:rPr sz="980" b="1">
                <a:solidFill>
                  <a:srgbClr val="153D39"/>
                </a:solidFill>
                <a:latin typeface="Noto Sans CJK SC"/>
                <a:ea typeface="Noto Sans CJK SC"/>
                <a:cs typeface="Noto Sans CJK SC"/>
              </a:rPr>
              <a:t>客户身份</a:t>
            </a:r>
            <a:endParaRPr sz="980"/>
          </a:p>
        </p:txBody>
      </p:sp>
      <p:sp>
        <p:nvSpPr>
          <p:cNvPr id="43" name="Text 41"/>
          <p:cNvSpPr>
            <a:spLocks noGrp="1"/>
          </p:cNvSpPr>
          <p:nvPr/>
        </p:nvSpPr>
        <p:spPr>
          <a:xfrm>
            <a:off x="2057400" y="3822192"/>
            <a:ext cx="1133856" cy="20116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r">
              <a:buNone/>
            </a:pPr>
            <a:r>
              <a:rPr sz="870">
                <a:solidFill>
                  <a:srgbClr val="44585C"/>
                </a:solidFill>
                <a:latin typeface="Noto Sans CJK SC"/>
                <a:ea typeface="Noto Sans CJK SC"/>
                <a:cs typeface="Noto Sans CJK SC"/>
              </a:rPr>
              <a:t>授权与归属</a:t>
            </a:r>
            <a:endParaRPr sz="870"/>
          </a:p>
        </p:txBody>
      </p:sp>
      <p:sp>
        <p:nvSpPr>
          <p:cNvPr id="44" name="Shape 42"/>
          <p:cNvSpPr>
            <a:spLocks noGrp="1"/>
          </p:cNvSpPr>
          <p:nvPr/>
        </p:nvSpPr>
        <p:spPr>
          <a:xfrm>
            <a:off x="1307592" y="4105656"/>
            <a:ext cx="1874520" cy="0"/>
          </a:xfrm>
          <a:prstGeom prst="line">
            <a:avLst/>
          </a:prstGeom>
          <a:noFill/>
          <a:ln w="10160">
            <a:solidFill>
              <a:srgbClr val="C8DAF5"/>
            </a:solidFill>
            <a:prstDash val="solid"/>
          </a:ln>
        </p:spPr>
        <p:txBody>
          <a:bodyPr/>
          <a:lstStyle/>
          <a:p/>
        </p:txBody>
      </p:sp>
      <p:sp>
        <p:nvSpPr>
          <p:cNvPr id="45" name="Shape 43"/>
          <p:cNvSpPr>
            <a:spLocks noGrp="1"/>
          </p:cNvSpPr>
          <p:nvPr/>
        </p:nvSpPr>
        <p:spPr>
          <a:xfrm>
            <a:off x="941832" y="4398264"/>
            <a:ext cx="256032" cy="256032"/>
          </a:xfrm>
          <a:prstGeom prst="ellipse">
            <a:avLst/>
          </a:prstGeom>
          <a:solidFill>
            <a:srgbClr val="1F63C4"/>
          </a:solidFill>
          <a:ln w="12700">
            <a:solidFill>
              <a:srgbClr val="1F63C4"/>
            </a:solidFill>
            <a:prstDash val="solid"/>
          </a:ln>
        </p:spPr>
        <p:txBody>
          <a:bodyPr/>
          <a:lstStyle/>
          <a:p/>
        </p:txBody>
      </p:sp>
      <p:sp>
        <p:nvSpPr>
          <p:cNvPr id="46" name="Text 44"/>
          <p:cNvSpPr>
            <a:spLocks noGrp="1"/>
          </p:cNvSpPr>
          <p:nvPr/>
        </p:nvSpPr>
        <p:spPr>
          <a:xfrm>
            <a:off x="941832" y="4398264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4</a:t>
            </a:r>
            <a:endParaRPr sz="850"/>
          </a:p>
        </p:txBody>
      </p:sp>
      <p:sp>
        <p:nvSpPr>
          <p:cNvPr id="47" name="Text 45"/>
          <p:cNvSpPr>
            <a:spLocks noGrp="1"/>
          </p:cNvSpPr>
          <p:nvPr/>
        </p:nvSpPr>
        <p:spPr>
          <a:xfrm>
            <a:off x="1307592" y="4325112"/>
            <a:ext cx="841248" cy="20116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buNone/>
            </a:pPr>
            <a:r>
              <a:rPr sz="980" b="1">
                <a:solidFill>
                  <a:srgbClr val="153D39"/>
                </a:solidFill>
                <a:latin typeface="Noto Sans CJK SC"/>
                <a:ea typeface="Noto Sans CJK SC"/>
                <a:cs typeface="Noto Sans CJK SC"/>
              </a:rPr>
              <a:t>实时状态</a:t>
            </a:r>
            <a:endParaRPr sz="980"/>
          </a:p>
        </p:txBody>
      </p:sp>
      <p:sp>
        <p:nvSpPr>
          <p:cNvPr id="48" name="Text 46"/>
          <p:cNvSpPr>
            <a:spLocks noGrp="1"/>
          </p:cNvSpPr>
          <p:nvPr/>
        </p:nvSpPr>
        <p:spPr>
          <a:xfrm>
            <a:off x="2057400" y="4325112"/>
            <a:ext cx="1133856" cy="20116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r">
              <a:buNone/>
            </a:pPr>
            <a:r>
              <a:rPr sz="870">
                <a:solidFill>
                  <a:srgbClr val="44585C"/>
                </a:solidFill>
                <a:latin typeface="Noto Sans CJK SC"/>
                <a:ea typeface="Noto Sans CJK SC"/>
                <a:cs typeface="Noto Sans CJK SC"/>
              </a:rPr>
              <a:t>订单 / 履约</a:t>
            </a:r>
            <a:endParaRPr sz="870"/>
          </a:p>
        </p:txBody>
      </p:sp>
      <p:sp>
        <p:nvSpPr>
          <p:cNvPr id="49" name="Shape 47"/>
          <p:cNvSpPr>
            <a:spLocks noGrp="1"/>
          </p:cNvSpPr>
          <p:nvPr/>
        </p:nvSpPr>
        <p:spPr>
          <a:xfrm>
            <a:off x="1307592" y="4608576"/>
            <a:ext cx="1874520" cy="0"/>
          </a:xfrm>
          <a:prstGeom prst="line">
            <a:avLst/>
          </a:prstGeom>
          <a:noFill/>
          <a:ln w="10160">
            <a:solidFill>
              <a:srgbClr val="C8DAF5"/>
            </a:solidFill>
            <a:prstDash val="solid"/>
          </a:ln>
        </p:spPr>
        <p:txBody>
          <a:bodyPr/>
          <a:lstStyle/>
          <a:p/>
        </p:txBody>
      </p:sp>
      <p:sp>
        <p:nvSpPr>
          <p:cNvPr id="50" name="Shape 48"/>
          <p:cNvSpPr>
            <a:spLocks noGrp="1"/>
          </p:cNvSpPr>
          <p:nvPr/>
        </p:nvSpPr>
        <p:spPr>
          <a:xfrm>
            <a:off x="941832" y="4901184"/>
            <a:ext cx="256032" cy="256032"/>
          </a:xfrm>
          <a:prstGeom prst="ellipse">
            <a:avLst/>
          </a:prstGeom>
          <a:solidFill>
            <a:srgbClr val="1F63C4"/>
          </a:solidFill>
          <a:ln w="12700">
            <a:solidFill>
              <a:srgbClr val="1F63C4"/>
            </a:solidFill>
            <a:prstDash val="solid"/>
          </a:ln>
        </p:spPr>
        <p:txBody>
          <a:bodyPr/>
          <a:lstStyle/>
          <a:p/>
        </p:txBody>
      </p:sp>
      <p:sp>
        <p:nvSpPr>
          <p:cNvPr id="51" name="Text 49"/>
          <p:cNvSpPr>
            <a:spLocks noGrp="1"/>
          </p:cNvSpPr>
          <p:nvPr/>
        </p:nvSpPr>
        <p:spPr>
          <a:xfrm>
            <a:off x="941832" y="4901184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5</a:t>
            </a:r>
            <a:endParaRPr sz="850"/>
          </a:p>
        </p:txBody>
      </p:sp>
      <p:sp>
        <p:nvSpPr>
          <p:cNvPr id="52" name="Text 50"/>
          <p:cNvSpPr>
            <a:spLocks noGrp="1"/>
          </p:cNvSpPr>
          <p:nvPr/>
        </p:nvSpPr>
        <p:spPr>
          <a:xfrm>
            <a:off x="1307592" y="4828032"/>
            <a:ext cx="841248" cy="20116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buNone/>
            </a:pPr>
            <a:r>
              <a:rPr sz="980" b="1">
                <a:solidFill>
                  <a:srgbClr val="153D39"/>
                </a:solidFill>
                <a:latin typeface="Noto Sans CJK SC"/>
                <a:ea typeface="Noto Sans CJK SC"/>
                <a:cs typeface="Noto Sans CJK SC"/>
              </a:rPr>
              <a:t>规则证据</a:t>
            </a:r>
            <a:endParaRPr sz="980"/>
          </a:p>
        </p:txBody>
      </p:sp>
      <p:sp>
        <p:nvSpPr>
          <p:cNvPr id="53" name="Text 51"/>
          <p:cNvSpPr>
            <a:spLocks noGrp="1"/>
          </p:cNvSpPr>
          <p:nvPr/>
        </p:nvSpPr>
        <p:spPr>
          <a:xfrm>
            <a:off x="2057400" y="4828032"/>
            <a:ext cx="1133856" cy="20116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r">
              <a:buNone/>
            </a:pPr>
            <a:r>
              <a:rPr sz="870">
                <a:solidFill>
                  <a:srgbClr val="44585C"/>
                </a:solidFill>
                <a:latin typeface="Noto Sans CJK SC"/>
                <a:ea typeface="Noto Sans CJK SC"/>
                <a:cs typeface="Noto Sans CJK SC"/>
              </a:rPr>
              <a:t>国家与修改政策</a:t>
            </a:r>
            <a:endParaRPr sz="870"/>
          </a:p>
        </p:txBody>
      </p:sp>
      <p:sp>
        <p:nvSpPr>
          <p:cNvPr id="54" name="Shape 52"/>
          <p:cNvSpPr>
            <a:spLocks noGrp="1"/>
          </p:cNvSpPr>
          <p:nvPr/>
        </p:nvSpPr>
        <p:spPr>
          <a:xfrm>
            <a:off x="1307592" y="5111496"/>
            <a:ext cx="1874520" cy="0"/>
          </a:xfrm>
          <a:prstGeom prst="line">
            <a:avLst/>
          </a:prstGeom>
          <a:noFill/>
          <a:ln w="10160">
            <a:solidFill>
              <a:srgbClr val="C8DAF5"/>
            </a:solidFill>
            <a:prstDash val="solid"/>
          </a:ln>
        </p:spPr>
        <p:txBody>
          <a:bodyPr/>
          <a:lstStyle/>
          <a:p/>
        </p:txBody>
      </p:sp>
      <p:sp>
        <p:nvSpPr>
          <p:cNvPr id="55" name="Shape 53"/>
          <p:cNvSpPr>
            <a:spLocks noGrp="1"/>
          </p:cNvSpPr>
          <p:nvPr/>
        </p:nvSpPr>
        <p:spPr>
          <a:xfrm>
            <a:off x="3913632" y="1664208"/>
            <a:ext cx="4187952" cy="4425696"/>
          </a:xfrm>
          <a:prstGeom prst="roundRect">
            <a:avLst/>
          </a:prstGeom>
          <a:solidFill>
            <a:srgbClr val="E8F7F1"/>
          </a:solidFill>
          <a:ln w="16510">
            <a:solidFill>
              <a:srgbClr val="9ED9C5"/>
            </a:solidFill>
            <a:prstDash val="solid"/>
          </a:ln>
          <a:effectLst>
            <a:outerShdw blurRad="12700" dist="50800" dir="2700000" algn="bl" rotWithShape="0">
              <a:srgbClr val="B9D8CE">
                <a:alpha val="16000"/>
              </a:srgbClr>
            </a:outerShdw>
          </a:effectLst>
        </p:spPr>
        <p:txBody>
          <a:bodyPr/>
          <a:lstStyle/>
          <a:p/>
        </p:txBody>
      </p:sp>
      <p:sp>
        <p:nvSpPr>
          <p:cNvPr id="56" name="Shape 54"/>
          <p:cNvSpPr>
            <a:spLocks noGrp="1"/>
          </p:cNvSpPr>
          <p:nvPr/>
        </p:nvSpPr>
        <p:spPr>
          <a:xfrm>
            <a:off x="5084064" y="1874520"/>
            <a:ext cx="1810512" cy="256032"/>
          </a:xfrm>
          <a:prstGeom prst="roundRect">
            <a:avLst/>
          </a:prstGeom>
          <a:solidFill>
            <a:srgbClr val="07714F"/>
          </a:solidFill>
          <a:ln w="12700">
            <a:solidFill>
              <a:srgbClr val="07714F"/>
            </a:solidFill>
            <a:prstDash val="solid"/>
          </a:ln>
        </p:spPr>
        <p:txBody>
          <a:bodyPr/>
          <a:lstStyle/>
          <a:p/>
        </p:txBody>
      </p:sp>
      <p:sp>
        <p:nvSpPr>
          <p:cNvPr id="57" name="Text 55"/>
          <p:cNvSpPr>
            <a:spLocks noGrp="1"/>
          </p:cNvSpPr>
          <p:nvPr/>
        </p:nvSpPr>
        <p:spPr>
          <a:xfrm>
            <a:off x="5084064" y="1874520"/>
            <a:ext cx="1810512" cy="25603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BUSINESS CAPABILITY</a:t>
            </a:r>
            <a:endParaRPr sz="950"/>
          </a:p>
        </p:txBody>
      </p:sp>
      <p:sp>
        <p:nvSpPr>
          <p:cNvPr id="58" name="Shape 56"/>
          <p:cNvSpPr>
            <a:spLocks noGrp="1"/>
          </p:cNvSpPr>
          <p:nvPr/>
        </p:nvSpPr>
        <p:spPr>
          <a:xfrm>
            <a:off x="5568696" y="2322576"/>
            <a:ext cx="896112" cy="896112"/>
          </a:xfrm>
          <a:prstGeom prst="ellipse">
            <a:avLst/>
          </a:prstGeom>
          <a:solidFill>
            <a:srgbClr val="07966F"/>
          </a:solidFill>
          <a:ln w="12700">
            <a:solidFill>
              <a:srgbClr val="07966F"/>
            </a:solidFill>
            <a:prstDash val="solid"/>
          </a:ln>
        </p:spPr>
        <p:txBody>
          <a:bodyPr/>
          <a:lstStyle/>
          <a:p/>
        </p:txBody>
      </p:sp>
      <p:sp>
        <p:nvSpPr>
          <p:cNvPr id="59" name="Text 57"/>
          <p:cNvSpPr>
            <a:spLocks noGrp="1"/>
          </p:cNvSpPr>
          <p:nvPr/>
        </p:nvSpPr>
        <p:spPr>
          <a:xfrm>
            <a:off x="5568696" y="2322576"/>
            <a:ext cx="896112" cy="89611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25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址</a:t>
            </a:r>
            <a:endParaRPr sz="2500"/>
          </a:p>
        </p:txBody>
      </p:sp>
      <p:sp>
        <p:nvSpPr>
          <p:cNvPr id="60" name="Text 58"/>
          <p:cNvSpPr>
            <a:spLocks noGrp="1"/>
          </p:cNvSpPr>
          <p:nvPr/>
        </p:nvSpPr>
        <p:spPr>
          <a:xfrm>
            <a:off x="4700016" y="3383280"/>
            <a:ext cx="2615184" cy="34747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1900" b="1">
                <a:solidFill>
                  <a:srgbClr val="153D39"/>
                </a:solidFill>
                <a:latin typeface="Noto Sans CJK SC"/>
                <a:ea typeface="Noto Sans CJK SC"/>
                <a:cs typeface="Noto Sans CJK SC"/>
              </a:rPr>
              <a:t>修改收货地址 Skill</a:t>
            </a:r>
            <a:endParaRPr sz="1900"/>
          </a:p>
        </p:txBody>
      </p:sp>
      <p:sp>
        <p:nvSpPr>
          <p:cNvPr id="61" name="Text 59"/>
          <p:cNvSpPr>
            <a:spLocks noGrp="1"/>
          </p:cNvSpPr>
          <p:nvPr/>
        </p:nvSpPr>
        <p:spPr>
          <a:xfrm>
            <a:off x="4334256" y="3822192"/>
            <a:ext cx="768096" cy="20116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buNone/>
            </a:pPr>
            <a:r>
              <a:rPr sz="960" b="1">
                <a:solidFill>
                  <a:srgbClr val="44585C"/>
                </a:solidFill>
                <a:latin typeface="Noto Sans CJK SC"/>
                <a:ea typeface="Noto Sans CJK SC"/>
                <a:cs typeface="Noto Sans CJK SC"/>
              </a:rPr>
              <a:t>业务目标</a:t>
            </a:r>
            <a:endParaRPr sz="960"/>
          </a:p>
        </p:txBody>
      </p:sp>
      <p:sp>
        <p:nvSpPr>
          <p:cNvPr id="62" name="Text 60"/>
          <p:cNvSpPr>
            <a:spLocks noGrp="1"/>
          </p:cNvSpPr>
          <p:nvPr/>
        </p:nvSpPr>
        <p:spPr>
          <a:xfrm>
            <a:off x="5010912" y="3803904"/>
            <a:ext cx="2578608" cy="36576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buNone/>
            </a:pPr>
            <a:r>
              <a:rPr sz="930">
                <a:solidFill>
                  <a:srgbClr val="153D39"/>
                </a:solidFill>
                <a:latin typeface="Noto Sans CJK SC"/>
                <a:ea typeface="Noto Sans CJK SC"/>
                <a:cs typeface="Noto Sans CJK SC"/>
              </a:rPr>
              <a:t>在允许的订单状态下，将客户确认的新地址写入订单并回写工单。</a:t>
            </a:r>
            <a:endParaRPr sz="930"/>
          </a:p>
        </p:txBody>
      </p:sp>
      <p:sp>
        <p:nvSpPr>
          <p:cNvPr id="63" name="Shape 61"/>
          <p:cNvSpPr>
            <a:spLocks noGrp="1"/>
          </p:cNvSpPr>
          <p:nvPr/>
        </p:nvSpPr>
        <p:spPr>
          <a:xfrm>
            <a:off x="4343400" y="4389120"/>
            <a:ext cx="1444752" cy="35661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B7E2D4"/>
            </a:solidFill>
            <a:prstDash val="solid"/>
          </a:ln>
        </p:spPr>
        <p:txBody>
          <a:bodyPr/>
          <a:lstStyle/>
          <a:p/>
        </p:txBody>
      </p:sp>
      <p:sp>
        <p:nvSpPr>
          <p:cNvPr id="64" name="Text 62"/>
          <p:cNvSpPr>
            <a:spLocks noGrp="1"/>
          </p:cNvSpPr>
          <p:nvPr/>
        </p:nvSpPr>
        <p:spPr>
          <a:xfrm>
            <a:off x="4416552" y="4389120"/>
            <a:ext cx="530352" cy="35661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buNone/>
            </a:pPr>
            <a:r>
              <a:rPr sz="840" b="1">
                <a:solidFill>
                  <a:srgbClr val="076B50"/>
                </a:solidFill>
                <a:latin typeface="Noto Sans CJK SC"/>
                <a:ea typeface="Noto Sans CJK SC"/>
                <a:cs typeface="Noto Sans CJK SC"/>
              </a:rPr>
              <a:t>Type</a:t>
            </a:r>
            <a:endParaRPr sz="840"/>
          </a:p>
        </p:txBody>
      </p:sp>
      <p:sp>
        <p:nvSpPr>
          <p:cNvPr id="65" name="Text 63"/>
          <p:cNvSpPr>
            <a:spLocks noGrp="1"/>
          </p:cNvSpPr>
          <p:nvPr/>
        </p:nvSpPr>
        <p:spPr>
          <a:xfrm>
            <a:off x="4928616" y="4389120"/>
            <a:ext cx="768096" cy="35661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r">
              <a:buNone/>
            </a:pPr>
            <a:r>
              <a:rPr sz="870" b="1">
                <a:solidFill>
                  <a:srgbClr val="153D39"/>
                </a:solidFill>
                <a:latin typeface="Noto Sans CJK SC"/>
                <a:ea typeface="Noto Sans CJK SC"/>
                <a:cs typeface="Noto Sans CJK SC"/>
              </a:rPr>
              <a:t>Write + 只读核对子流程</a:t>
            </a:r>
            <a:endParaRPr sz="870"/>
          </a:p>
        </p:txBody>
      </p:sp>
      <p:sp>
        <p:nvSpPr>
          <p:cNvPr id="66" name="Shape 64"/>
          <p:cNvSpPr>
            <a:spLocks noGrp="1"/>
          </p:cNvSpPr>
          <p:nvPr/>
        </p:nvSpPr>
        <p:spPr>
          <a:xfrm>
            <a:off x="5971032" y="4389120"/>
            <a:ext cx="1444752" cy="35661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B7E2D4"/>
            </a:solidFill>
            <a:prstDash val="solid"/>
          </a:ln>
        </p:spPr>
        <p:txBody>
          <a:bodyPr/>
          <a:lstStyle/>
          <a:p/>
        </p:txBody>
      </p:sp>
      <p:sp>
        <p:nvSpPr>
          <p:cNvPr id="67" name="Text 65"/>
          <p:cNvSpPr>
            <a:spLocks noGrp="1"/>
          </p:cNvSpPr>
          <p:nvPr/>
        </p:nvSpPr>
        <p:spPr>
          <a:xfrm>
            <a:off x="6044184" y="4389120"/>
            <a:ext cx="530352" cy="35661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buNone/>
            </a:pPr>
            <a:r>
              <a:rPr sz="840" b="1">
                <a:solidFill>
                  <a:srgbClr val="076B50"/>
                </a:solidFill>
                <a:latin typeface="Noto Sans CJK SC"/>
                <a:ea typeface="Noto Sans CJK SC"/>
                <a:cs typeface="Noto Sans CJK SC"/>
              </a:rPr>
              <a:t>Risk</a:t>
            </a:r>
            <a:endParaRPr sz="840"/>
          </a:p>
        </p:txBody>
      </p:sp>
      <p:sp>
        <p:nvSpPr>
          <p:cNvPr id="68" name="Text 66"/>
          <p:cNvSpPr>
            <a:spLocks noGrp="1"/>
          </p:cNvSpPr>
          <p:nvPr/>
        </p:nvSpPr>
        <p:spPr>
          <a:xfrm>
            <a:off x="6556248" y="4389120"/>
            <a:ext cx="768096" cy="35661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r">
              <a:buNone/>
            </a:pPr>
            <a:r>
              <a:rPr sz="870" b="1">
                <a:solidFill>
                  <a:srgbClr val="153D39"/>
                </a:solidFill>
                <a:latin typeface="Noto Sans CJK SC"/>
                <a:ea typeface="Noto Sans CJK SC"/>
                <a:cs typeface="Noto Sans CJK SC"/>
              </a:rPr>
              <a:t>Medium</a:t>
            </a:r>
            <a:endParaRPr sz="870"/>
          </a:p>
        </p:txBody>
      </p:sp>
      <p:sp>
        <p:nvSpPr>
          <p:cNvPr id="69" name="Shape 67"/>
          <p:cNvSpPr>
            <a:spLocks noGrp="1"/>
          </p:cNvSpPr>
          <p:nvPr/>
        </p:nvSpPr>
        <p:spPr>
          <a:xfrm>
            <a:off x="4343400" y="4864608"/>
            <a:ext cx="1444752" cy="35661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B7E2D4"/>
            </a:solidFill>
            <a:prstDash val="solid"/>
          </a:ln>
        </p:spPr>
        <p:txBody>
          <a:bodyPr/>
          <a:lstStyle/>
          <a:p/>
        </p:txBody>
      </p:sp>
      <p:sp>
        <p:nvSpPr>
          <p:cNvPr id="70" name="Text 68"/>
          <p:cNvSpPr>
            <a:spLocks noGrp="1"/>
          </p:cNvSpPr>
          <p:nvPr/>
        </p:nvSpPr>
        <p:spPr>
          <a:xfrm>
            <a:off x="4416552" y="4864608"/>
            <a:ext cx="530352" cy="35661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buNone/>
            </a:pPr>
            <a:r>
              <a:rPr sz="840" b="1">
                <a:solidFill>
                  <a:srgbClr val="076B50"/>
                </a:solidFill>
                <a:latin typeface="Noto Sans CJK SC"/>
                <a:ea typeface="Noto Sans CJK SC"/>
                <a:cs typeface="Noto Sans CJK SC"/>
              </a:rPr>
              <a:t>Owner</a:t>
            </a:r>
            <a:endParaRPr sz="840"/>
          </a:p>
        </p:txBody>
      </p:sp>
      <p:sp>
        <p:nvSpPr>
          <p:cNvPr id="71" name="Text 69"/>
          <p:cNvSpPr>
            <a:spLocks noGrp="1"/>
          </p:cNvSpPr>
          <p:nvPr/>
        </p:nvSpPr>
        <p:spPr>
          <a:xfrm>
            <a:off x="4928616" y="4864608"/>
            <a:ext cx="768096" cy="35661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r">
              <a:buNone/>
            </a:pPr>
            <a:r>
              <a:rPr sz="870" b="1">
                <a:solidFill>
                  <a:srgbClr val="153D39"/>
                </a:solidFill>
                <a:latin typeface="Noto Sans CJK SC"/>
                <a:ea typeface="Noto Sans CJK SC"/>
                <a:cs typeface="Noto Sans CJK SC"/>
              </a:rPr>
              <a:t>Customer Service</a:t>
            </a:r>
            <a:endParaRPr sz="870"/>
          </a:p>
        </p:txBody>
      </p:sp>
      <p:sp>
        <p:nvSpPr>
          <p:cNvPr id="72" name="Shape 70"/>
          <p:cNvSpPr>
            <a:spLocks noGrp="1"/>
          </p:cNvSpPr>
          <p:nvPr/>
        </p:nvSpPr>
        <p:spPr>
          <a:xfrm>
            <a:off x="5971032" y="4864608"/>
            <a:ext cx="1444752" cy="35661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B7E2D4"/>
            </a:solidFill>
            <a:prstDash val="solid"/>
          </a:ln>
        </p:spPr>
        <p:txBody>
          <a:bodyPr/>
          <a:lstStyle/>
          <a:p/>
        </p:txBody>
      </p:sp>
      <p:sp>
        <p:nvSpPr>
          <p:cNvPr id="73" name="Text 71"/>
          <p:cNvSpPr>
            <a:spLocks noGrp="1"/>
          </p:cNvSpPr>
          <p:nvPr/>
        </p:nvSpPr>
        <p:spPr>
          <a:xfrm>
            <a:off x="6044184" y="4864608"/>
            <a:ext cx="530352" cy="35661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buNone/>
            </a:pPr>
            <a:r>
              <a:rPr sz="840" b="1">
                <a:solidFill>
                  <a:srgbClr val="076B50"/>
                </a:solidFill>
                <a:latin typeface="Noto Sans CJK SC"/>
                <a:ea typeface="Noto Sans CJK SC"/>
                <a:cs typeface="Noto Sans CJK SC"/>
              </a:rPr>
              <a:t>子流程</a:t>
            </a:r>
            <a:endParaRPr sz="840"/>
          </a:p>
        </p:txBody>
      </p:sp>
      <p:sp>
        <p:nvSpPr>
          <p:cNvPr id="74" name="Text 72"/>
          <p:cNvSpPr>
            <a:spLocks noGrp="1"/>
          </p:cNvSpPr>
          <p:nvPr/>
        </p:nvSpPr>
        <p:spPr>
          <a:xfrm>
            <a:off x="6556248" y="4864608"/>
            <a:ext cx="768096" cy="35661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r">
              <a:buNone/>
            </a:pPr>
            <a:r>
              <a:rPr sz="870" b="1">
                <a:solidFill>
                  <a:srgbClr val="153D39"/>
                </a:solidFill>
                <a:latin typeface="Noto Sans CJK SC"/>
                <a:ea typeface="Noto Sans CJK SC"/>
                <a:cs typeface="Noto Sans CJK SC"/>
              </a:rPr>
              <a:t>只读地址核对(不回显)</a:t>
            </a:r>
            <a:endParaRPr sz="870"/>
          </a:p>
        </p:txBody>
      </p:sp>
      <p:sp>
        <p:nvSpPr>
          <p:cNvPr id="75" name="Shape 73"/>
          <p:cNvSpPr>
            <a:spLocks noGrp="1"/>
          </p:cNvSpPr>
          <p:nvPr/>
        </p:nvSpPr>
        <p:spPr>
          <a:xfrm>
            <a:off x="4343400" y="5376672"/>
            <a:ext cx="3310128" cy="3657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B9E2D5"/>
            </a:solidFill>
            <a:prstDash val="solid"/>
          </a:ln>
        </p:spPr>
        <p:txBody>
          <a:bodyPr/>
          <a:lstStyle/>
          <a:p/>
        </p:txBody>
      </p:sp>
      <p:sp>
        <p:nvSpPr>
          <p:cNvPr id="76" name="Text 74"/>
          <p:cNvSpPr>
            <a:spLocks noGrp="1"/>
          </p:cNvSpPr>
          <p:nvPr/>
        </p:nvSpPr>
        <p:spPr>
          <a:xfrm>
            <a:off x="4343400" y="5376672"/>
            <a:ext cx="3310128" cy="36576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820" b="1">
                <a:solidFill>
                  <a:srgbClr val="076B50"/>
                </a:solidFill>
                <a:latin typeface="Noto Sans CJK SC"/>
                <a:ea typeface="Noto Sans CJK SC"/>
                <a:cs typeface="Noto Sans CJK SC"/>
              </a:rPr>
              <a:t>允许工具：订单详情 · CMS/ERP 状态 · update_address(校验通过后)</a:t>
            </a:r>
            <a:endParaRPr sz="820"/>
          </a:p>
        </p:txBody>
      </p:sp>
      <p:sp>
        <p:nvSpPr>
          <p:cNvPr id="77" name="Shape 75"/>
          <p:cNvSpPr>
            <a:spLocks noGrp="1"/>
          </p:cNvSpPr>
          <p:nvPr/>
        </p:nvSpPr>
        <p:spPr>
          <a:xfrm>
            <a:off x="8503920" y="1792224"/>
            <a:ext cx="2907792" cy="4169664"/>
          </a:xfrm>
          <a:prstGeom prst="roundRect">
            <a:avLst/>
          </a:prstGeom>
          <a:solidFill>
            <a:srgbClr val="FFF2E8"/>
          </a:solidFill>
          <a:ln w="12700">
            <a:solidFill>
              <a:srgbClr val="F28B36"/>
            </a:solidFill>
            <a:prstDash val="solid"/>
          </a:ln>
        </p:spPr>
        <p:txBody>
          <a:bodyPr/>
          <a:lstStyle/>
          <a:p/>
        </p:txBody>
      </p:sp>
      <p:sp>
        <p:nvSpPr>
          <p:cNvPr id="78" name="Shape 76"/>
          <p:cNvSpPr>
            <a:spLocks noGrp="1"/>
          </p:cNvSpPr>
          <p:nvPr/>
        </p:nvSpPr>
        <p:spPr>
          <a:xfrm>
            <a:off x="8759952" y="2011680"/>
            <a:ext cx="1444752" cy="256032"/>
          </a:xfrm>
          <a:prstGeom prst="roundRect">
            <a:avLst/>
          </a:prstGeom>
          <a:solidFill>
            <a:srgbClr val="BC6414"/>
          </a:solidFill>
          <a:ln w="12700">
            <a:solidFill>
              <a:srgbClr val="BC6414"/>
            </a:solidFill>
            <a:prstDash val="solid"/>
          </a:ln>
        </p:spPr>
        <p:txBody>
          <a:bodyPr/>
          <a:lstStyle/>
          <a:p/>
        </p:txBody>
      </p:sp>
      <p:sp>
        <p:nvSpPr>
          <p:cNvPr id="79" name="Text 77"/>
          <p:cNvSpPr>
            <a:spLocks noGrp="1"/>
          </p:cNvSpPr>
          <p:nvPr/>
        </p:nvSpPr>
        <p:spPr>
          <a:xfrm>
            <a:off x="8759952" y="2011680"/>
            <a:ext cx="1444752" cy="25603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CAPABILITY RESULT</a:t>
            </a:r>
            <a:endParaRPr sz="950"/>
          </a:p>
        </p:txBody>
      </p:sp>
      <p:sp>
        <p:nvSpPr>
          <p:cNvPr id="80" name="Text 78"/>
          <p:cNvSpPr>
            <a:spLocks noGrp="1"/>
          </p:cNvSpPr>
          <p:nvPr/>
        </p:nvSpPr>
        <p:spPr>
          <a:xfrm>
            <a:off x="8759952" y="2377440"/>
            <a:ext cx="1444752" cy="29260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buNone/>
            </a:pPr>
            <a:r>
              <a:rPr sz="1700" b="1">
                <a:solidFill>
                  <a:srgbClr val="153D39"/>
                </a:solidFill>
                <a:latin typeface="Noto Sans CJK SC"/>
                <a:ea typeface="Noto Sans CJK SC"/>
                <a:cs typeface="Noto Sans CJK SC"/>
              </a:rPr>
              <a:t>标准结果</a:t>
            </a:r>
            <a:endParaRPr sz="1700"/>
          </a:p>
        </p:txBody>
      </p:sp>
      <p:sp>
        <p:nvSpPr>
          <p:cNvPr id="81" name="Shape 79"/>
          <p:cNvSpPr>
            <a:spLocks noGrp="1"/>
          </p:cNvSpPr>
          <p:nvPr/>
        </p:nvSpPr>
        <p:spPr>
          <a:xfrm>
            <a:off x="8759952" y="2816352"/>
            <a:ext cx="2359152" cy="530352"/>
          </a:xfrm>
          <a:prstGeom prst="roundRect">
            <a:avLst/>
          </a:prstGeom>
          <a:solidFill>
            <a:srgbClr val="E8F7F1"/>
          </a:solidFill>
          <a:ln w="11430">
            <a:solidFill>
              <a:srgbClr val="07966F"/>
            </a:solidFill>
            <a:prstDash val="solid"/>
          </a:ln>
        </p:spPr>
        <p:txBody>
          <a:bodyPr/>
          <a:lstStyle/>
          <a:p/>
        </p:txBody>
      </p:sp>
      <p:sp>
        <p:nvSpPr>
          <p:cNvPr id="82" name="Shape 80"/>
          <p:cNvSpPr>
            <a:spLocks noGrp="1"/>
          </p:cNvSpPr>
          <p:nvPr/>
        </p:nvSpPr>
        <p:spPr>
          <a:xfrm>
            <a:off x="8887968" y="2944368"/>
            <a:ext cx="274320" cy="274320"/>
          </a:xfrm>
          <a:prstGeom prst="ellipse">
            <a:avLst/>
          </a:prstGeom>
          <a:solidFill>
            <a:srgbClr val="07714F"/>
          </a:solidFill>
          <a:ln w="12700">
            <a:solidFill>
              <a:srgbClr val="07714F"/>
            </a:solidFill>
            <a:prstDash val="solid"/>
          </a:ln>
        </p:spPr>
        <p:txBody>
          <a:bodyPr/>
          <a:lstStyle/>
          <a:p/>
        </p:txBody>
      </p:sp>
      <p:sp>
        <p:nvSpPr>
          <p:cNvPr id="83" name="Text 81"/>
          <p:cNvSpPr>
            <a:spLocks noGrp="1"/>
          </p:cNvSpPr>
          <p:nvPr/>
        </p:nvSpPr>
        <p:spPr>
          <a:xfrm>
            <a:off x="8887968" y="2944368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83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01</a:t>
            </a:r>
            <a:endParaRPr sz="830"/>
          </a:p>
        </p:txBody>
      </p:sp>
      <p:sp>
        <p:nvSpPr>
          <p:cNvPr id="84" name="Text 82"/>
          <p:cNvSpPr>
            <a:spLocks noGrp="1"/>
          </p:cNvSpPr>
          <p:nvPr/>
        </p:nvSpPr>
        <p:spPr>
          <a:xfrm>
            <a:off x="9262872" y="2862072"/>
            <a:ext cx="877824" cy="21031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buNone/>
            </a:pPr>
            <a:r>
              <a:rPr sz="1000" b="1">
                <a:solidFill>
                  <a:srgbClr val="153D39"/>
                </a:solidFill>
                <a:latin typeface="Noto Sans CJK SC"/>
                <a:ea typeface="Noto Sans CJK SC"/>
                <a:cs typeface="Noto Sans CJK SC"/>
              </a:rPr>
              <a:t>可以执行</a:t>
            </a:r>
            <a:endParaRPr sz="1000"/>
          </a:p>
        </p:txBody>
      </p:sp>
      <p:sp>
        <p:nvSpPr>
          <p:cNvPr id="85" name="Text 83"/>
          <p:cNvSpPr>
            <a:spLocks noGrp="1"/>
          </p:cNvSpPr>
          <p:nvPr/>
        </p:nvSpPr>
        <p:spPr>
          <a:xfrm>
            <a:off x="9262872" y="3072384"/>
            <a:ext cx="1600200" cy="20116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buNone/>
            </a:pPr>
            <a:r>
              <a:rPr sz="820">
                <a:solidFill>
                  <a:srgbClr val="44585C"/>
                </a:solidFill>
                <a:latin typeface="Noto Sans CJK SC"/>
                <a:ea typeface="Noto Sans CJK SC"/>
                <a:cs typeface="Noto Sans CJK SC"/>
              </a:rPr>
              <a:t>进入确定性执行流程</a:t>
            </a:r>
            <a:endParaRPr sz="820"/>
          </a:p>
        </p:txBody>
      </p:sp>
      <p:sp>
        <p:nvSpPr>
          <p:cNvPr id="86" name="Shape 84"/>
          <p:cNvSpPr>
            <a:spLocks noGrp="1"/>
          </p:cNvSpPr>
          <p:nvPr/>
        </p:nvSpPr>
        <p:spPr>
          <a:xfrm>
            <a:off x="8759952" y="3483864"/>
            <a:ext cx="2359152" cy="530352"/>
          </a:xfrm>
          <a:prstGeom prst="roundRect">
            <a:avLst/>
          </a:prstGeom>
          <a:solidFill>
            <a:srgbClr val="EAF3FF"/>
          </a:solidFill>
          <a:ln w="11430">
            <a:solidFill>
              <a:srgbClr val="2F80ED"/>
            </a:solidFill>
            <a:prstDash val="solid"/>
          </a:ln>
        </p:spPr>
        <p:txBody>
          <a:bodyPr/>
          <a:lstStyle/>
          <a:p/>
        </p:txBody>
      </p:sp>
      <p:sp>
        <p:nvSpPr>
          <p:cNvPr id="87" name="Shape 85"/>
          <p:cNvSpPr>
            <a:spLocks noGrp="1"/>
          </p:cNvSpPr>
          <p:nvPr/>
        </p:nvSpPr>
        <p:spPr>
          <a:xfrm>
            <a:off x="8887968" y="3611880"/>
            <a:ext cx="274320" cy="274320"/>
          </a:xfrm>
          <a:prstGeom prst="ellipse">
            <a:avLst/>
          </a:prstGeom>
          <a:solidFill>
            <a:srgbClr val="1F63C4"/>
          </a:solidFill>
          <a:ln w="12700">
            <a:solidFill>
              <a:srgbClr val="1F63C4"/>
            </a:solidFill>
            <a:prstDash val="solid"/>
          </a:ln>
        </p:spPr>
        <p:txBody>
          <a:bodyPr/>
          <a:lstStyle/>
          <a:p/>
        </p:txBody>
      </p:sp>
      <p:sp>
        <p:nvSpPr>
          <p:cNvPr id="88" name="Text 86"/>
          <p:cNvSpPr>
            <a:spLocks noGrp="1"/>
          </p:cNvSpPr>
          <p:nvPr/>
        </p:nvSpPr>
        <p:spPr>
          <a:xfrm>
            <a:off x="8887968" y="3611880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83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02</a:t>
            </a:r>
            <a:endParaRPr sz="830"/>
          </a:p>
        </p:txBody>
      </p:sp>
      <p:sp>
        <p:nvSpPr>
          <p:cNvPr id="89" name="Text 87"/>
          <p:cNvSpPr>
            <a:spLocks noGrp="1"/>
          </p:cNvSpPr>
          <p:nvPr/>
        </p:nvSpPr>
        <p:spPr>
          <a:xfrm>
            <a:off x="9262872" y="3529584"/>
            <a:ext cx="877824" cy="21031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buNone/>
            </a:pPr>
            <a:r>
              <a:rPr sz="1000" b="1">
                <a:solidFill>
                  <a:srgbClr val="153D39"/>
                </a:solidFill>
                <a:latin typeface="Noto Sans CJK SC"/>
                <a:ea typeface="Noto Sans CJK SC"/>
                <a:cs typeface="Noto Sans CJK SC"/>
              </a:rPr>
              <a:t>需要补充信息</a:t>
            </a:r>
            <a:endParaRPr sz="1000"/>
          </a:p>
        </p:txBody>
      </p:sp>
      <p:sp>
        <p:nvSpPr>
          <p:cNvPr id="90" name="Text 88"/>
          <p:cNvSpPr>
            <a:spLocks noGrp="1"/>
          </p:cNvSpPr>
          <p:nvPr/>
        </p:nvSpPr>
        <p:spPr>
          <a:xfrm>
            <a:off x="9262872" y="3739896"/>
            <a:ext cx="1600200" cy="20116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buNone/>
            </a:pPr>
            <a:r>
              <a:rPr sz="820">
                <a:solidFill>
                  <a:srgbClr val="44585C"/>
                </a:solidFill>
                <a:latin typeface="Noto Sans CJK SC"/>
                <a:ea typeface="Noto Sans CJK SC"/>
                <a:cs typeface="Noto Sans CJK SC"/>
              </a:rPr>
              <a:t>追问地址或订单标识</a:t>
            </a:r>
            <a:endParaRPr sz="820"/>
          </a:p>
        </p:txBody>
      </p:sp>
      <p:sp>
        <p:nvSpPr>
          <p:cNvPr id="91" name="Shape 89"/>
          <p:cNvSpPr>
            <a:spLocks noGrp="1"/>
          </p:cNvSpPr>
          <p:nvPr/>
        </p:nvSpPr>
        <p:spPr>
          <a:xfrm>
            <a:off x="8759952" y="4151376"/>
            <a:ext cx="2359152" cy="530352"/>
          </a:xfrm>
          <a:prstGeom prst="roundRect">
            <a:avLst/>
          </a:prstGeom>
          <a:solidFill>
            <a:srgbClr val="FFF2E8"/>
          </a:solidFill>
          <a:ln w="11430">
            <a:solidFill>
              <a:srgbClr val="F28B36"/>
            </a:solidFill>
            <a:prstDash val="solid"/>
          </a:ln>
        </p:spPr>
        <p:txBody>
          <a:bodyPr/>
          <a:lstStyle/>
          <a:p/>
        </p:txBody>
      </p:sp>
      <p:sp>
        <p:nvSpPr>
          <p:cNvPr id="92" name="Shape 90"/>
          <p:cNvSpPr>
            <a:spLocks noGrp="1"/>
          </p:cNvSpPr>
          <p:nvPr/>
        </p:nvSpPr>
        <p:spPr>
          <a:xfrm>
            <a:off x="8887968" y="4279392"/>
            <a:ext cx="274320" cy="274320"/>
          </a:xfrm>
          <a:prstGeom prst="ellipse">
            <a:avLst/>
          </a:prstGeom>
          <a:solidFill>
            <a:srgbClr val="BC6414"/>
          </a:solidFill>
          <a:ln w="12700">
            <a:solidFill>
              <a:srgbClr val="BC6414"/>
            </a:solidFill>
            <a:prstDash val="solid"/>
          </a:ln>
        </p:spPr>
        <p:txBody>
          <a:bodyPr/>
          <a:lstStyle/>
          <a:p/>
        </p:txBody>
      </p:sp>
      <p:sp>
        <p:nvSpPr>
          <p:cNvPr id="93" name="Text 91"/>
          <p:cNvSpPr>
            <a:spLocks noGrp="1"/>
          </p:cNvSpPr>
          <p:nvPr/>
        </p:nvSpPr>
        <p:spPr>
          <a:xfrm>
            <a:off x="8887968" y="4279392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83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03</a:t>
            </a:r>
            <a:endParaRPr sz="830"/>
          </a:p>
        </p:txBody>
      </p:sp>
      <p:sp>
        <p:nvSpPr>
          <p:cNvPr id="94" name="Text 92"/>
          <p:cNvSpPr>
            <a:spLocks noGrp="1"/>
          </p:cNvSpPr>
          <p:nvPr/>
        </p:nvSpPr>
        <p:spPr>
          <a:xfrm>
            <a:off x="9262872" y="4197096"/>
            <a:ext cx="877824" cy="21031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buNone/>
            </a:pPr>
            <a:r>
              <a:rPr sz="1000" b="1">
                <a:solidFill>
                  <a:srgbClr val="153D39"/>
                </a:solidFill>
                <a:latin typeface="Noto Sans CJK SC"/>
                <a:ea typeface="Noto Sans CJK SC"/>
                <a:cs typeface="Noto Sans CJK SC"/>
              </a:rPr>
              <a:t>需要客户确认</a:t>
            </a:r>
            <a:endParaRPr sz="1000"/>
          </a:p>
        </p:txBody>
      </p:sp>
      <p:sp>
        <p:nvSpPr>
          <p:cNvPr id="95" name="Text 93"/>
          <p:cNvSpPr>
            <a:spLocks noGrp="1"/>
          </p:cNvSpPr>
          <p:nvPr/>
        </p:nvSpPr>
        <p:spPr>
          <a:xfrm>
            <a:off x="9262872" y="4407408"/>
            <a:ext cx="1600200" cy="20116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buNone/>
            </a:pPr>
            <a:r>
              <a:rPr sz="820">
                <a:solidFill>
                  <a:srgbClr val="44585C"/>
                </a:solidFill>
                <a:latin typeface="Noto Sans CJK SC"/>
                <a:ea typeface="Noto Sans CJK SC"/>
                <a:cs typeface="Noto Sans CJK SC"/>
              </a:rPr>
              <a:t>确认最终地址与订单</a:t>
            </a:r>
            <a:endParaRPr sz="820"/>
          </a:p>
        </p:txBody>
      </p:sp>
      <p:sp>
        <p:nvSpPr>
          <p:cNvPr id="96" name="Shape 94"/>
          <p:cNvSpPr>
            <a:spLocks noGrp="1"/>
          </p:cNvSpPr>
          <p:nvPr/>
        </p:nvSpPr>
        <p:spPr>
          <a:xfrm>
            <a:off x="8759952" y="4818888"/>
            <a:ext cx="2359152" cy="530352"/>
          </a:xfrm>
          <a:prstGeom prst="roundRect">
            <a:avLst/>
          </a:prstGeom>
          <a:solidFill>
            <a:srgbClr val="FDEEEE"/>
          </a:solidFill>
          <a:ln w="11430">
            <a:solidFill>
              <a:srgbClr val="E45858"/>
            </a:solidFill>
            <a:prstDash val="solid"/>
          </a:ln>
        </p:spPr>
        <p:txBody>
          <a:bodyPr/>
          <a:lstStyle/>
          <a:p/>
        </p:txBody>
      </p:sp>
      <p:sp>
        <p:nvSpPr>
          <p:cNvPr id="97" name="Shape 95"/>
          <p:cNvSpPr>
            <a:spLocks noGrp="1"/>
          </p:cNvSpPr>
          <p:nvPr/>
        </p:nvSpPr>
        <p:spPr>
          <a:xfrm>
            <a:off x="8887968" y="4946904"/>
            <a:ext cx="274320" cy="274320"/>
          </a:xfrm>
          <a:prstGeom prst="ellipse">
            <a:avLst/>
          </a:prstGeom>
          <a:solidFill>
            <a:srgbClr val="C23B3B"/>
          </a:solidFill>
          <a:ln w="12700">
            <a:solidFill>
              <a:srgbClr val="C23B3B"/>
            </a:solidFill>
            <a:prstDash val="solid"/>
          </a:ln>
        </p:spPr>
        <p:txBody>
          <a:bodyPr/>
          <a:lstStyle/>
          <a:p/>
        </p:txBody>
      </p:sp>
      <p:sp>
        <p:nvSpPr>
          <p:cNvPr id="98" name="Text 96"/>
          <p:cNvSpPr>
            <a:spLocks noGrp="1"/>
          </p:cNvSpPr>
          <p:nvPr/>
        </p:nvSpPr>
        <p:spPr>
          <a:xfrm>
            <a:off x="8887968" y="4946904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83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04</a:t>
            </a:r>
            <a:endParaRPr sz="830"/>
          </a:p>
        </p:txBody>
      </p:sp>
      <p:sp>
        <p:nvSpPr>
          <p:cNvPr id="99" name="Text 97"/>
          <p:cNvSpPr>
            <a:spLocks noGrp="1"/>
          </p:cNvSpPr>
          <p:nvPr/>
        </p:nvSpPr>
        <p:spPr>
          <a:xfrm>
            <a:off x="9262872" y="4864608"/>
            <a:ext cx="877824" cy="21031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buNone/>
            </a:pPr>
            <a:r>
              <a:rPr sz="1000" b="1">
                <a:solidFill>
                  <a:srgbClr val="153D39"/>
                </a:solidFill>
                <a:latin typeface="Noto Sans CJK SC"/>
                <a:ea typeface="Noto Sans CJK SC"/>
                <a:cs typeface="Noto Sans CJK SC"/>
              </a:rPr>
              <a:t>不可执行</a:t>
            </a:r>
            <a:endParaRPr sz="1000"/>
          </a:p>
        </p:txBody>
      </p:sp>
      <p:sp>
        <p:nvSpPr>
          <p:cNvPr id="100" name="Text 98"/>
          <p:cNvSpPr>
            <a:spLocks noGrp="1"/>
          </p:cNvSpPr>
          <p:nvPr/>
        </p:nvSpPr>
        <p:spPr>
          <a:xfrm>
            <a:off x="9262872" y="5074920"/>
            <a:ext cx="1600200" cy="20116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buNone/>
            </a:pPr>
            <a:r>
              <a:rPr sz="820">
                <a:solidFill>
                  <a:srgbClr val="44585C"/>
                </a:solidFill>
                <a:latin typeface="Noto Sans CJK SC"/>
                <a:ea typeface="Noto Sans CJK SC"/>
                <a:cs typeface="Noto Sans CJK SC"/>
              </a:rPr>
              <a:t>说明原因并转人工</a:t>
            </a:r>
            <a:endParaRPr sz="820"/>
          </a:p>
        </p:txBody>
      </p:sp>
      <p:sp>
        <p:nvSpPr>
          <p:cNvPr id="101" name="Rectangle 100"/>
          <p:cNvSpPr>
            <a:spLocks noGrp="1"/>
          </p:cNvSpPr>
          <p:nvPr/>
        </p:nvSpPr>
        <p:spPr>
          <a:xfrm>
            <a:off x="0" y="0"/>
            <a:ext cx="41148" cy="6858000"/>
          </a:xfrm>
          <a:prstGeom prst="rect">
            <a:avLst/>
          </a:prstGeom>
          <a:solidFill>
            <a:srgbClr val="0A8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02" name="圆角矩形 101"/>
          <p:cNvSpPr>
            <a:spLocks noGrp="1"/>
          </p:cNvSpPr>
          <p:nvPr/>
        </p:nvSpPr>
        <p:spPr>
          <a:xfrm>
            <a:off x="6565583" y="127635"/>
            <a:ext cx="4937760" cy="365760"/>
          </a:xfrm>
          <a:prstGeom prst="roundRect">
            <a:avLst>
              <a:gd name="adj" fmla="val 20833"/>
            </a:avLst>
          </a:prstGeom>
          <a:solidFill>
            <a:srgbClr val="F7FBF9"/>
          </a:solidFill>
          <a:ln w="12668">
            <a:solidFill>
              <a:srgbClr val="F7FBF9"/>
            </a:solidFill>
            <a:prstDash val="solid"/>
          </a:ln>
        </p:spPr>
        <p:txBody>
          <a:bodyPr/>
          <a:p/>
        </p:txBody>
      </p:sp>
      <p:sp>
        <p:nvSpPr>
          <p:cNvPr id="103" name="圆角矩形 102"/>
          <p:cNvSpPr>
            <a:spLocks noGrp="1"/>
          </p:cNvSpPr>
          <p:nvPr/>
        </p:nvSpPr>
        <p:spPr>
          <a:xfrm>
            <a:off x="6657023" y="164783"/>
            <a:ext cx="1154430" cy="264795"/>
          </a:xfrm>
          <a:prstGeom prst="roundRect">
            <a:avLst>
              <a:gd name="adj" fmla="val 28777"/>
            </a:avLst>
          </a:prstGeom>
          <a:solidFill>
            <a:srgbClr val="FFFFFF"/>
          </a:solidFill>
          <a:ln w="12668">
            <a:solidFill>
              <a:srgbClr val="C9DCD7"/>
            </a:solidFill>
            <a:prstDash val="solid"/>
          </a:ln>
        </p:spPr>
        <p:txBody>
          <a:bodyPr/>
          <a:p/>
        </p:txBody>
      </p:sp>
      <p:sp>
        <p:nvSpPr>
          <p:cNvPr id="104" name="矩形 103"/>
          <p:cNvSpPr>
            <a:spLocks noGrp="1"/>
          </p:cNvSpPr>
          <p:nvPr/>
        </p:nvSpPr>
        <p:spPr>
          <a:xfrm>
            <a:off x="6657023" y="187643"/>
            <a:ext cx="1154430" cy="182880"/>
          </a:xfrm>
          <a:prstGeom prst="rect">
            <a:avLst/>
          </a:prstGeom>
        </p:spPr>
        <p:txBody>
          <a:bodyPr anchor="ctr"/>
          <a:lstStyle/>
          <a:p>
            <a:pPr algn="ctr">
              <a:defRPr sz="650" b="0">
                <a:solidFill>
                  <a:srgbClr val="44585C"/>
                </a:solidFill>
              </a:defRPr>
            </a:pPr>
            <a:r>
              <a:t>理解</a:t>
            </a:r>
          </a:p>
        </p:txBody>
      </p:sp>
      <p:sp>
        <p:nvSpPr>
          <p:cNvPr id="105" name="圆角矩形 104"/>
          <p:cNvSpPr>
            <a:spLocks noGrp="1"/>
          </p:cNvSpPr>
          <p:nvPr/>
        </p:nvSpPr>
        <p:spPr>
          <a:xfrm>
            <a:off x="7857173" y="164783"/>
            <a:ext cx="1154430" cy="264795"/>
          </a:xfrm>
          <a:prstGeom prst="roundRect">
            <a:avLst>
              <a:gd name="adj" fmla="val 28777"/>
            </a:avLst>
          </a:prstGeom>
          <a:solidFill>
            <a:srgbClr val="FFFFFF"/>
          </a:solidFill>
          <a:ln w="12668">
            <a:solidFill>
              <a:srgbClr val="C9DCD7"/>
            </a:solidFill>
            <a:prstDash val="solid"/>
          </a:ln>
        </p:spPr>
        <p:txBody>
          <a:bodyPr/>
          <a:p/>
        </p:txBody>
      </p:sp>
      <p:sp>
        <p:nvSpPr>
          <p:cNvPr id="106" name="矩形 105"/>
          <p:cNvSpPr>
            <a:spLocks noGrp="1"/>
          </p:cNvSpPr>
          <p:nvPr/>
        </p:nvSpPr>
        <p:spPr>
          <a:xfrm>
            <a:off x="7857173" y="187643"/>
            <a:ext cx="1154430" cy="182880"/>
          </a:xfrm>
          <a:prstGeom prst="rect">
            <a:avLst/>
          </a:prstGeom>
        </p:spPr>
        <p:txBody>
          <a:bodyPr anchor="ctr"/>
          <a:lstStyle/>
          <a:p>
            <a:pPr algn="ctr">
              <a:defRPr sz="650" b="0">
                <a:solidFill>
                  <a:srgbClr val="44585C"/>
                </a:solidFill>
              </a:defRPr>
            </a:pPr>
            <a:r>
              <a:t>查询</a:t>
            </a:r>
          </a:p>
        </p:txBody>
      </p:sp>
      <p:sp>
        <p:nvSpPr>
          <p:cNvPr id="107" name="圆角矩形 106"/>
          <p:cNvSpPr>
            <a:spLocks noGrp="1"/>
          </p:cNvSpPr>
          <p:nvPr/>
        </p:nvSpPr>
        <p:spPr>
          <a:xfrm>
            <a:off x="9057323" y="164783"/>
            <a:ext cx="1154430" cy="264795"/>
          </a:xfrm>
          <a:prstGeom prst="roundRect">
            <a:avLst>
              <a:gd name="adj" fmla="val 28777"/>
            </a:avLst>
          </a:prstGeom>
          <a:solidFill>
            <a:srgbClr val="007574"/>
          </a:solidFill>
          <a:ln w="12668">
            <a:solidFill>
              <a:srgbClr val="007574"/>
            </a:solidFill>
            <a:prstDash val="solid"/>
          </a:ln>
        </p:spPr>
        <p:txBody>
          <a:bodyPr/>
          <a:p/>
        </p:txBody>
      </p:sp>
      <p:sp>
        <p:nvSpPr>
          <p:cNvPr id="108" name="矩形 107"/>
          <p:cNvSpPr>
            <a:spLocks noGrp="1"/>
          </p:cNvSpPr>
          <p:nvPr/>
        </p:nvSpPr>
        <p:spPr>
          <a:xfrm>
            <a:off x="9057323" y="187643"/>
            <a:ext cx="1154430" cy="182880"/>
          </a:xfrm>
          <a:prstGeom prst="rect">
            <a:avLst/>
          </a:prstGeom>
        </p:spPr>
        <p:txBody>
          <a:bodyPr anchor="ctr"/>
          <a:lstStyle/>
          <a:p>
            <a:pPr algn="ctr">
              <a:defRPr sz="660" b="1">
                <a:solidFill>
                  <a:srgbClr val="FFFFFF"/>
                </a:solidFill>
              </a:defRPr>
            </a:pPr>
            <a:r>
              <a:t>决策</a:t>
            </a:r>
          </a:p>
        </p:txBody>
      </p:sp>
      <p:sp>
        <p:nvSpPr>
          <p:cNvPr id="109" name="圆角矩形 108"/>
          <p:cNvSpPr>
            <a:spLocks noGrp="1"/>
          </p:cNvSpPr>
          <p:nvPr/>
        </p:nvSpPr>
        <p:spPr>
          <a:xfrm>
            <a:off x="10257473" y="164783"/>
            <a:ext cx="1154430" cy="264795"/>
          </a:xfrm>
          <a:prstGeom prst="roundRect">
            <a:avLst>
              <a:gd name="adj" fmla="val 28777"/>
            </a:avLst>
          </a:prstGeom>
          <a:solidFill>
            <a:srgbClr val="FFFFFF"/>
          </a:solidFill>
          <a:ln w="12668">
            <a:solidFill>
              <a:srgbClr val="C9DCD7"/>
            </a:solidFill>
            <a:prstDash val="solid"/>
          </a:ln>
        </p:spPr>
        <p:txBody>
          <a:bodyPr/>
          <a:p/>
        </p:txBody>
      </p:sp>
      <p:sp>
        <p:nvSpPr>
          <p:cNvPr id="110" name="矩形 109"/>
          <p:cNvSpPr>
            <a:spLocks noGrp="1"/>
          </p:cNvSpPr>
          <p:nvPr/>
        </p:nvSpPr>
        <p:spPr>
          <a:xfrm>
            <a:off x="10257473" y="187643"/>
            <a:ext cx="1154430" cy="182880"/>
          </a:xfrm>
          <a:prstGeom prst="rect">
            <a:avLst/>
          </a:prstGeom>
        </p:spPr>
        <p:txBody>
          <a:bodyPr anchor="ctr"/>
          <a:lstStyle/>
          <a:p>
            <a:pPr algn="ctr">
              <a:defRPr sz="650" b="0">
                <a:solidFill>
                  <a:srgbClr val="44585C"/>
                </a:solidFill>
              </a:defRPr>
            </a:pPr>
            <a:r>
              <a:t>执行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hape 0"/>
          <p:cNvSpPr>
            <a:spLocks noGrp="1"/>
          </p:cNvSpPr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A"/>
          </a:solidFill>
          <a:ln w="12700">
            <a:solidFill>
              <a:srgbClr val="F7FBFA"/>
            </a:solidFill>
            <a:prstDash val="solid"/>
          </a:ln>
        </p:spPr>
        <p:txBody>
          <a:bodyPr/>
          <a:lstStyle/>
          <a:p/>
        </p:txBody>
      </p:sp>
      <p:sp>
        <p:nvSpPr>
          <p:cNvPr id="3" name="Shape 1"/>
          <p:cNvSpPr>
            <a:spLocks noGrp="1"/>
          </p:cNvSpPr>
          <p:nvPr/>
        </p:nvSpPr>
        <p:spPr>
          <a:xfrm>
            <a:off x="0" y="0"/>
            <a:ext cx="50292" cy="6858000"/>
          </a:xfrm>
          <a:prstGeom prst="rect">
            <a:avLst/>
          </a:prstGeom>
          <a:solidFill>
            <a:srgbClr val="0A8F6A"/>
          </a:solidFill>
          <a:ln w="12700">
            <a:solidFill>
              <a:srgbClr val="07966F"/>
            </a:solidFill>
            <a:prstDash val="solid"/>
          </a:ln>
        </p:spPr>
        <p:txBody>
          <a:bodyPr/>
          <a:lstStyle/>
          <a:p/>
        </p:txBody>
      </p:sp>
      <p:sp>
        <p:nvSpPr>
          <p:cNvPr id="4" name="Shape 2"/>
          <p:cNvSpPr>
            <a:spLocks noGrp="1"/>
          </p:cNvSpPr>
          <p:nvPr/>
        </p:nvSpPr>
        <p:spPr>
          <a:xfrm>
            <a:off x="10716768" y="45720"/>
            <a:ext cx="1170432" cy="658368"/>
          </a:xfrm>
          <a:prstGeom prst="ellipse">
            <a:avLst/>
          </a:prstGeom>
          <a:solidFill>
            <a:srgbClr val="E8F4F1"/>
          </a:solidFill>
          <a:ln w="12700">
            <a:solidFill>
              <a:srgbClr val="E8F4F1"/>
            </a:solidFill>
            <a:prstDash val="solid"/>
          </a:ln>
        </p:spPr>
        <p:txBody>
          <a:bodyPr/>
          <a:lstStyle/>
          <a:p/>
        </p:txBody>
      </p:sp>
      <p:sp>
        <p:nvSpPr>
          <p:cNvPr id="5" name="Shape 3"/>
          <p:cNvSpPr>
            <a:spLocks noGrp="1"/>
          </p:cNvSpPr>
          <p:nvPr/>
        </p:nvSpPr>
        <p:spPr>
          <a:xfrm>
            <a:off x="9948672" y="274320"/>
            <a:ext cx="64008" cy="64008"/>
          </a:xfrm>
          <a:prstGeom prst="ellipse">
            <a:avLst/>
          </a:prstGeom>
          <a:solidFill>
            <a:srgbClr val="C7DAD6"/>
          </a:solidFill>
          <a:ln w="12700">
            <a:solidFill>
              <a:srgbClr val="C7DAD6"/>
            </a:solidFill>
            <a:prstDash val="solid"/>
          </a:ln>
        </p:spPr>
        <p:txBody>
          <a:bodyPr/>
          <a:lstStyle/>
          <a:p/>
        </p:txBody>
      </p:sp>
      <p:sp>
        <p:nvSpPr>
          <p:cNvPr id="6" name="Text 4"/>
          <p:cNvSpPr>
            <a:spLocks noGrp="1"/>
          </p:cNvSpPr>
          <p:nvPr/>
        </p:nvSpPr>
        <p:spPr>
          <a:xfrm>
            <a:off x="9948672" y="274320"/>
            <a:ext cx="64008" cy="6400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endParaRPr sz="100"/>
          </a:p>
        </p:txBody>
      </p:sp>
      <p:sp>
        <p:nvSpPr>
          <p:cNvPr id="7" name="Shape 5"/>
          <p:cNvSpPr>
            <a:spLocks noGrp="1"/>
          </p:cNvSpPr>
          <p:nvPr/>
        </p:nvSpPr>
        <p:spPr>
          <a:xfrm>
            <a:off x="10158984" y="274320"/>
            <a:ext cx="64008" cy="64008"/>
          </a:xfrm>
          <a:prstGeom prst="ellipse">
            <a:avLst/>
          </a:prstGeom>
          <a:solidFill>
            <a:srgbClr val="C7DAD6"/>
          </a:solidFill>
          <a:ln w="12700">
            <a:solidFill>
              <a:srgbClr val="C7DAD6"/>
            </a:solidFill>
            <a:prstDash val="solid"/>
          </a:ln>
        </p:spPr>
        <p:txBody>
          <a:bodyPr/>
          <a:lstStyle/>
          <a:p/>
        </p:txBody>
      </p:sp>
      <p:sp>
        <p:nvSpPr>
          <p:cNvPr id="8" name="Text 6"/>
          <p:cNvSpPr>
            <a:spLocks noGrp="1"/>
          </p:cNvSpPr>
          <p:nvPr/>
        </p:nvSpPr>
        <p:spPr>
          <a:xfrm>
            <a:off x="10158984" y="274320"/>
            <a:ext cx="64008" cy="6400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endParaRPr sz="100"/>
          </a:p>
        </p:txBody>
      </p:sp>
      <p:sp>
        <p:nvSpPr>
          <p:cNvPr id="9" name="Shape 7"/>
          <p:cNvSpPr>
            <a:spLocks noGrp="1"/>
          </p:cNvSpPr>
          <p:nvPr/>
        </p:nvSpPr>
        <p:spPr>
          <a:xfrm>
            <a:off x="10369296" y="274320"/>
            <a:ext cx="64008" cy="64008"/>
          </a:xfrm>
          <a:prstGeom prst="ellipse">
            <a:avLst/>
          </a:prstGeom>
          <a:solidFill>
            <a:srgbClr val="07966F"/>
          </a:solidFill>
          <a:ln w="12700">
            <a:solidFill>
              <a:srgbClr val="07966F"/>
            </a:solidFill>
            <a:prstDash val="solid"/>
          </a:ln>
        </p:spPr>
        <p:txBody>
          <a:bodyPr/>
          <a:lstStyle/>
          <a:p/>
        </p:txBody>
      </p:sp>
      <p:sp>
        <p:nvSpPr>
          <p:cNvPr id="10" name="Text 8"/>
          <p:cNvSpPr>
            <a:spLocks noGrp="1"/>
          </p:cNvSpPr>
          <p:nvPr/>
        </p:nvSpPr>
        <p:spPr>
          <a:xfrm>
            <a:off x="10369296" y="274320"/>
            <a:ext cx="64008" cy="6400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endParaRPr sz="100"/>
          </a:p>
        </p:txBody>
      </p:sp>
      <p:sp>
        <p:nvSpPr>
          <p:cNvPr id="11" name="Shape 9"/>
          <p:cNvSpPr>
            <a:spLocks noGrp="1"/>
          </p:cNvSpPr>
          <p:nvPr/>
        </p:nvSpPr>
        <p:spPr>
          <a:xfrm>
            <a:off x="10579608" y="274320"/>
            <a:ext cx="64008" cy="64008"/>
          </a:xfrm>
          <a:prstGeom prst="ellipse">
            <a:avLst/>
          </a:prstGeom>
          <a:solidFill>
            <a:srgbClr val="C7DAD6"/>
          </a:solidFill>
          <a:ln w="12700">
            <a:solidFill>
              <a:srgbClr val="C7DAD6"/>
            </a:solidFill>
            <a:prstDash val="solid"/>
          </a:ln>
        </p:spPr>
        <p:txBody>
          <a:bodyPr/>
          <a:lstStyle/>
          <a:p/>
        </p:txBody>
      </p:sp>
      <p:sp>
        <p:nvSpPr>
          <p:cNvPr id="12" name="Text 10"/>
          <p:cNvSpPr>
            <a:spLocks noGrp="1"/>
          </p:cNvSpPr>
          <p:nvPr/>
        </p:nvSpPr>
        <p:spPr>
          <a:xfrm>
            <a:off x="10579608" y="274320"/>
            <a:ext cx="64008" cy="6400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endParaRPr sz="100"/>
          </a:p>
        </p:txBody>
      </p:sp>
      <p:sp>
        <p:nvSpPr>
          <p:cNvPr id="13" name="Shape 11"/>
          <p:cNvSpPr>
            <a:spLocks noGrp="1"/>
          </p:cNvSpPr>
          <p:nvPr/>
        </p:nvSpPr>
        <p:spPr>
          <a:xfrm>
            <a:off x="10789920" y="274320"/>
            <a:ext cx="64008" cy="64008"/>
          </a:xfrm>
          <a:prstGeom prst="ellipse">
            <a:avLst/>
          </a:prstGeom>
          <a:solidFill>
            <a:srgbClr val="C7DAD6"/>
          </a:solidFill>
          <a:ln w="12700">
            <a:solidFill>
              <a:srgbClr val="C7DAD6"/>
            </a:solidFill>
            <a:prstDash val="solid"/>
          </a:ln>
        </p:spPr>
        <p:txBody>
          <a:bodyPr/>
          <a:lstStyle/>
          <a:p/>
        </p:txBody>
      </p:sp>
      <p:sp>
        <p:nvSpPr>
          <p:cNvPr id="14" name="Text 12"/>
          <p:cNvSpPr>
            <a:spLocks noGrp="1"/>
          </p:cNvSpPr>
          <p:nvPr/>
        </p:nvSpPr>
        <p:spPr>
          <a:xfrm>
            <a:off x="10789920" y="274320"/>
            <a:ext cx="64008" cy="6400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endParaRPr sz="100"/>
          </a:p>
        </p:txBody>
      </p:sp>
      <p:sp>
        <p:nvSpPr>
          <p:cNvPr id="15" name="Shape 13"/>
          <p:cNvSpPr>
            <a:spLocks noGrp="1"/>
          </p:cNvSpPr>
          <p:nvPr/>
        </p:nvSpPr>
        <p:spPr>
          <a:xfrm>
            <a:off x="11000232" y="274320"/>
            <a:ext cx="64008" cy="64008"/>
          </a:xfrm>
          <a:prstGeom prst="ellipse">
            <a:avLst/>
          </a:prstGeom>
          <a:solidFill>
            <a:srgbClr val="C7DAD6"/>
          </a:solidFill>
          <a:ln w="12700">
            <a:solidFill>
              <a:srgbClr val="C7DAD6"/>
            </a:solidFill>
            <a:prstDash val="solid"/>
          </a:ln>
        </p:spPr>
        <p:txBody>
          <a:bodyPr/>
          <a:lstStyle/>
          <a:p/>
        </p:txBody>
      </p:sp>
      <p:sp>
        <p:nvSpPr>
          <p:cNvPr id="16" name="Text 14"/>
          <p:cNvSpPr>
            <a:spLocks noGrp="1"/>
          </p:cNvSpPr>
          <p:nvPr/>
        </p:nvSpPr>
        <p:spPr>
          <a:xfrm>
            <a:off x="11000232" y="274320"/>
            <a:ext cx="64008" cy="6400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endParaRPr sz="100"/>
          </a:p>
        </p:txBody>
      </p:sp>
      <p:sp>
        <p:nvSpPr>
          <p:cNvPr id="17" name="Shape 15"/>
          <p:cNvSpPr>
            <a:spLocks noGrp="1"/>
          </p:cNvSpPr>
          <p:nvPr/>
        </p:nvSpPr>
        <p:spPr>
          <a:xfrm>
            <a:off x="11210544" y="274320"/>
            <a:ext cx="64008" cy="64008"/>
          </a:xfrm>
          <a:prstGeom prst="ellipse">
            <a:avLst/>
          </a:prstGeom>
          <a:solidFill>
            <a:srgbClr val="C7DAD6"/>
          </a:solidFill>
          <a:ln w="12700">
            <a:solidFill>
              <a:srgbClr val="C7DAD6"/>
            </a:solidFill>
            <a:prstDash val="solid"/>
          </a:ln>
        </p:spPr>
        <p:txBody>
          <a:bodyPr/>
          <a:lstStyle/>
          <a:p/>
        </p:txBody>
      </p:sp>
      <p:sp>
        <p:nvSpPr>
          <p:cNvPr id="18" name="Text 16"/>
          <p:cNvSpPr>
            <a:spLocks noGrp="1"/>
          </p:cNvSpPr>
          <p:nvPr/>
        </p:nvSpPr>
        <p:spPr>
          <a:xfrm>
            <a:off x="11210544" y="274320"/>
            <a:ext cx="64008" cy="6400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endParaRPr sz="100"/>
          </a:p>
        </p:txBody>
      </p:sp>
      <p:sp>
        <p:nvSpPr>
          <p:cNvPr id="19" name="Shape 17"/>
          <p:cNvSpPr>
            <a:spLocks noGrp="1"/>
          </p:cNvSpPr>
          <p:nvPr/>
        </p:nvSpPr>
        <p:spPr>
          <a:xfrm>
            <a:off x="658368" y="420624"/>
            <a:ext cx="237744" cy="0"/>
          </a:xfrm>
          <a:prstGeom prst="line">
            <a:avLst/>
          </a:prstGeom>
          <a:noFill/>
          <a:ln w="15875">
            <a:solidFill>
              <a:srgbClr val="0A8F6A"/>
            </a:solidFill>
            <a:prstDash val="solid"/>
          </a:ln>
        </p:spPr>
        <p:txBody>
          <a:bodyPr/>
          <a:lstStyle/>
          <a:p/>
        </p:txBody>
      </p:sp>
      <p:sp>
        <p:nvSpPr>
          <p:cNvPr id="20" name="Text 18"/>
          <p:cNvSpPr>
            <a:spLocks noGrp="1"/>
          </p:cNvSpPr>
          <p:nvPr/>
        </p:nvSpPr>
        <p:spPr>
          <a:xfrm>
            <a:off x="950976" y="274320"/>
            <a:ext cx="3931920" cy="25603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r>
              <a:rPr sz="1050" b="1">
                <a:solidFill>
                  <a:srgbClr val="076B50"/>
                </a:solidFill>
                <a:latin typeface="Noto Sans CJK SC"/>
                <a:ea typeface="Noto Sans CJK SC"/>
                <a:cs typeface="Noto Sans CJK SC"/>
              </a:rPr>
              <a:t>CHAPTER 5 · 能力与编排</a:t>
            </a:r>
            <a:endParaRPr sz="1050" b="1">
              <a:solidFill>
                <a:srgbClr val="00A7A7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1" name="Text 19"/>
          <p:cNvSpPr>
            <a:spLocks noGrp="1"/>
          </p:cNvSpPr>
          <p:nvPr/>
        </p:nvSpPr>
        <p:spPr>
          <a:xfrm>
            <a:off x="658368" y="658368"/>
            <a:ext cx="10607040" cy="457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buNone/>
            </a:pPr>
            <a:r>
              <a:rPr sz="2900" b="1">
                <a:solidFill>
                  <a:srgbClr val="153D39"/>
                </a:solidFill>
                <a:latin typeface="Noto Sans CJK SC"/>
                <a:ea typeface="Noto Sans CJK SC"/>
                <a:cs typeface="Noto Sans CJK SC"/>
              </a:rPr>
              <a:t>一个 Skill 的完整定义</a:t>
            </a:r>
            <a:endParaRPr sz="2900"/>
          </a:p>
        </p:txBody>
      </p:sp>
      <p:sp>
        <p:nvSpPr>
          <p:cNvPr id="22" name="Text 20"/>
          <p:cNvSpPr>
            <a:spLocks noGrp="1"/>
          </p:cNvSpPr>
          <p:nvPr/>
        </p:nvSpPr>
        <p:spPr>
          <a:xfrm>
            <a:off x="658368" y="1143000"/>
            <a:ext cx="10561320" cy="31089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buNone/>
            </a:pPr>
            <a:r>
              <a:rPr sz="1340">
                <a:solidFill>
                  <a:srgbClr val="44585C"/>
                </a:solidFill>
                <a:latin typeface="Noto Sans CJK SC"/>
                <a:ea typeface="Noto Sans CJK SC"/>
                <a:cs typeface="Noto Sans CJK SC"/>
              </a:rPr>
              <a:t>同一份定义同时被路由、执行、权限、评测和运营使用，所以结构必须固定。</a:t>
            </a:r>
            <a:endParaRPr sz="1340"/>
          </a:p>
        </p:txBody>
      </p:sp>
      <p:sp>
        <p:nvSpPr>
          <p:cNvPr id="23" name="Shape 21"/>
          <p:cNvSpPr>
            <a:spLocks noGrp="1"/>
          </p:cNvSpPr>
          <p:nvPr/>
        </p:nvSpPr>
        <p:spPr>
          <a:xfrm>
            <a:off x="658368" y="6519672"/>
            <a:ext cx="11064240" cy="0"/>
          </a:xfrm>
          <a:prstGeom prst="line">
            <a:avLst/>
          </a:prstGeom>
          <a:noFill/>
          <a:ln w="12700">
            <a:solidFill>
              <a:srgbClr val="D7E7E3"/>
            </a:solidFill>
            <a:prstDash val="solid"/>
          </a:ln>
        </p:spPr>
        <p:txBody>
          <a:bodyPr/>
          <a:lstStyle/>
          <a:p/>
        </p:txBody>
      </p:sp>
      <p:sp>
        <p:nvSpPr>
          <p:cNvPr id="24" name="Text 22"/>
          <p:cNvSpPr>
            <a:spLocks noGrp="1"/>
          </p:cNvSpPr>
          <p:nvPr/>
        </p:nvSpPr>
        <p:spPr>
          <a:xfrm>
            <a:off x="658368" y="6583680"/>
            <a:ext cx="3931920" cy="14630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buNone/>
            </a:pPr>
            <a:r>
              <a:rPr sz="850">
                <a:solidFill>
                  <a:srgbClr val="55696A"/>
                </a:solidFill>
                <a:latin typeface="Noto Sans CJK SC"/>
                <a:ea typeface="Noto Sans CJK SC"/>
                <a:cs typeface="Noto Sans CJK SC"/>
              </a:rPr>
              <a:t>CUSTOMER SERVICE AI AGENT</a:t>
            </a:r>
            <a:endParaRPr sz="850"/>
          </a:p>
        </p:txBody>
      </p:sp>
      <p:sp>
        <p:nvSpPr>
          <p:cNvPr id="25" name="Text 23"/>
          <p:cNvSpPr>
            <a:spLocks noGrp="1"/>
          </p:cNvSpPr>
          <p:nvPr/>
        </p:nvSpPr>
        <p:spPr>
          <a:xfrm>
            <a:off x="10927080" y="6565392"/>
            <a:ext cx="777240" cy="16459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</a:pPr>
            <a:r>
              <a:rPr sz="880" b="1">
                <a:solidFill>
                  <a:srgbClr val="076B50"/>
                </a:solidFill>
                <a:latin typeface="Noto Sans CJK SC"/>
                <a:ea typeface="Noto Sans CJK SC"/>
                <a:cs typeface="Noto Sans CJK SC"/>
              </a:rPr>
              <a:t>39</a:t>
            </a:r>
            <a:endParaRPr sz="880" b="1">
              <a:solidFill>
                <a:srgbClr val="00A7A7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6" name="Shape 24"/>
          <p:cNvSpPr>
            <a:spLocks noGrp="1"/>
          </p:cNvSpPr>
          <p:nvPr/>
        </p:nvSpPr>
        <p:spPr>
          <a:xfrm>
            <a:off x="713232" y="1664208"/>
            <a:ext cx="10771632" cy="603504"/>
          </a:xfrm>
          <a:prstGeom prst="roundRect">
            <a:avLst/>
          </a:prstGeom>
          <a:solidFill>
            <a:srgbClr val="153D39"/>
          </a:solidFill>
          <a:ln w="12700">
            <a:solidFill>
              <a:srgbClr val="153D39"/>
            </a:solidFill>
            <a:prstDash val="solid"/>
          </a:ln>
        </p:spPr>
        <p:txBody>
          <a:bodyPr/>
          <a:lstStyle/>
          <a:p/>
        </p:txBody>
      </p:sp>
      <p:sp>
        <p:nvSpPr>
          <p:cNvPr id="27" name="Text 25"/>
          <p:cNvSpPr>
            <a:spLocks noGrp="1"/>
          </p:cNvSpPr>
          <p:nvPr/>
        </p:nvSpPr>
        <p:spPr>
          <a:xfrm>
            <a:off x="941832" y="1819656"/>
            <a:ext cx="2286000" cy="21945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buNone/>
            </a:pPr>
            <a:r>
              <a:rPr sz="1020" b="1">
                <a:solidFill>
                  <a:srgbClr val="A7D8CF"/>
                </a:solidFill>
                <a:latin typeface="Noto Sans CJK SC"/>
                <a:ea typeface="Noto Sans CJK SC"/>
                <a:cs typeface="Noto Sans CJK SC"/>
              </a:rPr>
              <a:t>SKILL.MD：FRONT MATTER + 11 区块(节选 8)</a:t>
            </a:r>
            <a:endParaRPr sz="1020"/>
          </a:p>
        </p:txBody>
      </p:sp>
      <p:sp>
        <p:nvSpPr>
          <p:cNvPr id="28" name="Text 26"/>
          <p:cNvSpPr>
            <a:spLocks noGrp="1"/>
          </p:cNvSpPr>
          <p:nvPr/>
        </p:nvSpPr>
        <p:spPr>
          <a:xfrm>
            <a:off x="3420110" y="1710055"/>
            <a:ext cx="4506595" cy="32893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buNone/>
            </a:pPr>
            <a:r>
              <a:rPr sz="16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order-update / address-change</a:t>
            </a:r>
            <a:endParaRPr sz="1600"/>
          </a:p>
        </p:txBody>
      </p:sp>
      <p:sp>
        <p:nvSpPr>
          <p:cNvPr id="29" name="Shape 27"/>
          <p:cNvSpPr>
            <a:spLocks noGrp="1"/>
          </p:cNvSpPr>
          <p:nvPr/>
        </p:nvSpPr>
        <p:spPr>
          <a:xfrm>
            <a:off x="9765792" y="1810512"/>
            <a:ext cx="676656" cy="256032"/>
          </a:xfrm>
          <a:prstGeom prst="roundRect">
            <a:avLst/>
          </a:prstGeom>
          <a:solidFill>
            <a:srgbClr val="BC6414"/>
          </a:solidFill>
          <a:ln w="10160">
            <a:solidFill>
              <a:srgbClr val="BC6414"/>
            </a:solidFill>
            <a:prstDash val="solid"/>
          </a:ln>
        </p:spPr>
        <p:txBody>
          <a:bodyPr/>
          <a:lstStyle/>
          <a:p/>
        </p:txBody>
      </p:sp>
      <p:sp>
        <p:nvSpPr>
          <p:cNvPr id="30" name="Text 28"/>
          <p:cNvSpPr>
            <a:spLocks noGrp="1"/>
          </p:cNvSpPr>
          <p:nvPr/>
        </p:nvSpPr>
        <p:spPr>
          <a:xfrm>
            <a:off x="9765792" y="1810512"/>
            <a:ext cx="676656" cy="25603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9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WRITE</a:t>
            </a:r>
            <a:endParaRPr sz="900"/>
          </a:p>
        </p:txBody>
      </p:sp>
      <p:sp>
        <p:nvSpPr>
          <p:cNvPr id="31" name="Shape 29"/>
          <p:cNvSpPr>
            <a:spLocks noGrp="1"/>
          </p:cNvSpPr>
          <p:nvPr/>
        </p:nvSpPr>
        <p:spPr>
          <a:xfrm>
            <a:off x="10497312" y="1810512"/>
            <a:ext cx="749808" cy="256032"/>
          </a:xfrm>
          <a:prstGeom prst="roundRect">
            <a:avLst/>
          </a:prstGeom>
          <a:solidFill>
            <a:srgbClr val="FDEEEE"/>
          </a:solidFill>
          <a:ln w="10160">
            <a:solidFill>
              <a:srgbClr val="E45858"/>
            </a:solidFill>
            <a:prstDash val="solid"/>
          </a:ln>
        </p:spPr>
        <p:txBody>
          <a:bodyPr/>
          <a:lstStyle/>
          <a:p/>
        </p:txBody>
      </p:sp>
      <p:sp>
        <p:nvSpPr>
          <p:cNvPr id="32" name="Text 30"/>
          <p:cNvSpPr>
            <a:spLocks noGrp="1"/>
          </p:cNvSpPr>
          <p:nvPr/>
        </p:nvSpPr>
        <p:spPr>
          <a:xfrm>
            <a:off x="10497312" y="1810512"/>
            <a:ext cx="749808" cy="25603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850" b="1">
                <a:solidFill>
                  <a:srgbClr val="C23B3B"/>
                </a:solidFill>
                <a:latin typeface="Noto Sans CJK SC"/>
                <a:ea typeface="Noto Sans CJK SC"/>
                <a:cs typeface="Noto Sans CJK SC"/>
              </a:rPr>
              <a:t>559 行</a:t>
            </a:r>
            <a:endParaRPr sz="850"/>
          </a:p>
        </p:txBody>
      </p:sp>
      <p:sp>
        <p:nvSpPr>
          <p:cNvPr id="33" name="Shape 31"/>
          <p:cNvSpPr>
            <a:spLocks noGrp="1"/>
          </p:cNvSpPr>
          <p:nvPr/>
        </p:nvSpPr>
        <p:spPr>
          <a:xfrm>
            <a:off x="713232" y="2523744"/>
            <a:ext cx="2468880" cy="1097280"/>
          </a:xfrm>
          <a:prstGeom prst="roundRect">
            <a:avLst/>
          </a:prstGeom>
          <a:solidFill>
            <a:srgbClr val="E8F7F1"/>
          </a:solidFill>
          <a:ln w="11430">
            <a:solidFill>
              <a:srgbClr val="07966F"/>
            </a:solidFill>
            <a:prstDash val="solid"/>
          </a:ln>
        </p:spPr>
        <p:txBody>
          <a:bodyPr/>
          <a:lstStyle/>
          <a:p/>
        </p:txBody>
      </p:sp>
      <p:sp>
        <p:nvSpPr>
          <p:cNvPr id="34" name="Shape 32"/>
          <p:cNvSpPr>
            <a:spLocks noGrp="1"/>
          </p:cNvSpPr>
          <p:nvPr/>
        </p:nvSpPr>
        <p:spPr>
          <a:xfrm>
            <a:off x="859536" y="2670048"/>
            <a:ext cx="320040" cy="320040"/>
          </a:xfrm>
          <a:prstGeom prst="ellipse">
            <a:avLst/>
          </a:prstGeom>
          <a:solidFill>
            <a:srgbClr val="07714F"/>
          </a:solidFill>
          <a:ln w="12700">
            <a:solidFill>
              <a:srgbClr val="07714F"/>
            </a:solidFill>
            <a:prstDash val="solid"/>
          </a:ln>
        </p:spPr>
        <p:txBody>
          <a:bodyPr/>
          <a:lstStyle/>
          <a:p/>
        </p:txBody>
      </p:sp>
      <p:sp>
        <p:nvSpPr>
          <p:cNvPr id="35" name="Text 33"/>
          <p:cNvSpPr>
            <a:spLocks noGrp="1"/>
          </p:cNvSpPr>
          <p:nvPr/>
        </p:nvSpPr>
        <p:spPr>
          <a:xfrm>
            <a:off x="859536" y="2670048"/>
            <a:ext cx="320040" cy="32004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88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01</a:t>
            </a:r>
            <a:endParaRPr sz="880"/>
          </a:p>
        </p:txBody>
      </p:sp>
      <p:sp>
        <p:nvSpPr>
          <p:cNvPr id="36" name="Text 34"/>
          <p:cNvSpPr>
            <a:spLocks noGrp="1"/>
          </p:cNvSpPr>
          <p:nvPr/>
        </p:nvSpPr>
        <p:spPr>
          <a:xfrm>
            <a:off x="1298448" y="2615184"/>
            <a:ext cx="1627632" cy="2286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buNone/>
            </a:pPr>
            <a:r>
              <a:rPr sz="1120" b="1">
                <a:solidFill>
                  <a:srgbClr val="153D39"/>
                </a:solidFill>
                <a:latin typeface="Noto Sans CJK SC"/>
                <a:ea typeface="Noto Sans CJK SC"/>
                <a:cs typeface="Noto Sans CJK SC"/>
              </a:rPr>
              <a:t>Front matter 路由契约</a:t>
            </a:r>
            <a:endParaRPr sz="1120"/>
          </a:p>
        </p:txBody>
      </p:sp>
      <p:sp>
        <p:nvSpPr>
          <p:cNvPr id="37" name="Text 35"/>
          <p:cNvSpPr>
            <a:spLocks noGrp="1"/>
          </p:cNvSpPr>
          <p:nvPr/>
        </p:nvSpPr>
        <p:spPr>
          <a:xfrm>
            <a:off x="877824" y="2990088"/>
            <a:ext cx="2139696" cy="44805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buNone/>
            </a:pPr>
            <a:r>
              <a:rPr sz="840">
                <a:solidFill>
                  <a:srgbClr val="44585C"/>
                </a:solidFill>
                <a:latin typeface="Noto Sans CJK SC"/>
                <a:ea typeface="Noto Sans CJK SC"/>
                <a:cs typeface="Noto Sans CJK SC"/>
              </a:rPr>
              <a:t>summary · routeHere 正例 · doNotRouteHere 负例(带日期 Badcase 注释)。</a:t>
            </a:r>
            <a:endParaRPr sz="840"/>
          </a:p>
        </p:txBody>
      </p:sp>
      <p:sp>
        <p:nvSpPr>
          <p:cNvPr id="38" name="Shape 36"/>
          <p:cNvSpPr>
            <a:spLocks noGrp="1"/>
          </p:cNvSpPr>
          <p:nvPr/>
        </p:nvSpPr>
        <p:spPr>
          <a:xfrm>
            <a:off x="3419856" y="2523744"/>
            <a:ext cx="2468880" cy="1097280"/>
          </a:xfrm>
          <a:prstGeom prst="roundRect">
            <a:avLst/>
          </a:prstGeom>
          <a:solidFill>
            <a:srgbClr val="EAF3FF"/>
          </a:solidFill>
          <a:ln w="11430">
            <a:solidFill>
              <a:srgbClr val="2F80ED"/>
            </a:solidFill>
            <a:prstDash val="solid"/>
          </a:ln>
        </p:spPr>
        <p:txBody>
          <a:bodyPr/>
          <a:lstStyle/>
          <a:p/>
        </p:txBody>
      </p:sp>
      <p:sp>
        <p:nvSpPr>
          <p:cNvPr id="39" name="Shape 37"/>
          <p:cNvSpPr>
            <a:spLocks noGrp="1"/>
          </p:cNvSpPr>
          <p:nvPr/>
        </p:nvSpPr>
        <p:spPr>
          <a:xfrm>
            <a:off x="3566160" y="2670048"/>
            <a:ext cx="320040" cy="320040"/>
          </a:xfrm>
          <a:prstGeom prst="ellipse">
            <a:avLst/>
          </a:prstGeom>
          <a:solidFill>
            <a:srgbClr val="1F63C4"/>
          </a:solidFill>
          <a:ln w="12700">
            <a:solidFill>
              <a:srgbClr val="1F63C4"/>
            </a:solidFill>
            <a:prstDash val="solid"/>
          </a:ln>
        </p:spPr>
        <p:txBody>
          <a:bodyPr/>
          <a:lstStyle/>
          <a:p/>
        </p:txBody>
      </p:sp>
      <p:sp>
        <p:nvSpPr>
          <p:cNvPr id="40" name="Text 38"/>
          <p:cNvSpPr>
            <a:spLocks noGrp="1"/>
          </p:cNvSpPr>
          <p:nvPr/>
        </p:nvSpPr>
        <p:spPr>
          <a:xfrm>
            <a:off x="3566160" y="2670048"/>
            <a:ext cx="320040" cy="32004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88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02</a:t>
            </a:r>
            <a:endParaRPr sz="880"/>
          </a:p>
        </p:txBody>
      </p:sp>
      <p:sp>
        <p:nvSpPr>
          <p:cNvPr id="41" name="Text 39"/>
          <p:cNvSpPr>
            <a:spLocks noGrp="1"/>
          </p:cNvSpPr>
          <p:nvPr/>
        </p:nvSpPr>
        <p:spPr>
          <a:xfrm>
            <a:off x="4005072" y="2615184"/>
            <a:ext cx="1627632" cy="2286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buNone/>
            </a:pPr>
            <a:r>
              <a:rPr sz="1120" b="1">
                <a:solidFill>
                  <a:srgbClr val="153D39"/>
                </a:solidFill>
                <a:latin typeface="Noto Sans CJK SC"/>
                <a:ea typeface="Noto Sans CJK SC"/>
                <a:cs typeface="Noto Sans CJK SC"/>
              </a:rPr>
              <a:t>Identity 身份</a:t>
            </a:r>
            <a:endParaRPr sz="1120"/>
          </a:p>
        </p:txBody>
      </p:sp>
      <p:sp>
        <p:nvSpPr>
          <p:cNvPr id="42" name="Text 40"/>
          <p:cNvSpPr>
            <a:spLocks noGrp="1"/>
          </p:cNvSpPr>
          <p:nvPr/>
        </p:nvSpPr>
        <p:spPr>
          <a:xfrm>
            <a:off x="3584448" y="2990088"/>
            <a:ext cx="2139696" cy="44805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buNone/>
            </a:pPr>
            <a:r>
              <a:rPr sz="840">
                <a:solidFill>
                  <a:srgbClr val="44585C"/>
                </a:solidFill>
                <a:latin typeface="Noto Sans CJK SC"/>
                <a:ea typeface="Noto Sans CJK SC"/>
                <a:cs typeface="Noto Sans CJK SC"/>
              </a:rPr>
              <a:t>唯一职责与边界；明确不处理的范围。</a:t>
            </a:r>
            <a:endParaRPr sz="840"/>
          </a:p>
        </p:txBody>
      </p:sp>
      <p:sp>
        <p:nvSpPr>
          <p:cNvPr id="43" name="Shape 41"/>
          <p:cNvSpPr>
            <a:spLocks noGrp="1"/>
          </p:cNvSpPr>
          <p:nvPr/>
        </p:nvSpPr>
        <p:spPr>
          <a:xfrm>
            <a:off x="6126480" y="2523744"/>
            <a:ext cx="2468880" cy="1097280"/>
          </a:xfrm>
          <a:prstGeom prst="roundRect">
            <a:avLst/>
          </a:prstGeom>
          <a:solidFill>
            <a:srgbClr val="E7F7F7"/>
          </a:solidFill>
          <a:ln w="11430">
            <a:solidFill>
              <a:srgbClr val="00A7A7"/>
            </a:solidFill>
            <a:prstDash val="solid"/>
          </a:ln>
        </p:spPr>
        <p:txBody>
          <a:bodyPr/>
          <a:lstStyle/>
          <a:p/>
        </p:txBody>
      </p:sp>
      <p:sp>
        <p:nvSpPr>
          <p:cNvPr id="44" name="Shape 42"/>
          <p:cNvSpPr>
            <a:spLocks noGrp="1"/>
          </p:cNvSpPr>
          <p:nvPr/>
        </p:nvSpPr>
        <p:spPr>
          <a:xfrm>
            <a:off x="6272784" y="2670048"/>
            <a:ext cx="320040" cy="320040"/>
          </a:xfrm>
          <a:prstGeom prst="ellipse">
            <a:avLst/>
          </a:prstGeom>
          <a:solidFill>
            <a:srgbClr val="007574"/>
          </a:solidFill>
          <a:ln w="12700">
            <a:solidFill>
              <a:srgbClr val="007574"/>
            </a:solidFill>
            <a:prstDash val="solid"/>
          </a:ln>
        </p:spPr>
        <p:txBody>
          <a:bodyPr/>
          <a:lstStyle/>
          <a:p/>
        </p:txBody>
      </p:sp>
      <p:sp>
        <p:nvSpPr>
          <p:cNvPr id="45" name="Text 43"/>
          <p:cNvSpPr>
            <a:spLocks noGrp="1"/>
          </p:cNvSpPr>
          <p:nvPr/>
        </p:nvSpPr>
        <p:spPr>
          <a:xfrm>
            <a:off x="6272784" y="2670048"/>
            <a:ext cx="320040" cy="32004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88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03</a:t>
            </a:r>
            <a:endParaRPr sz="880"/>
          </a:p>
        </p:txBody>
      </p:sp>
      <p:sp>
        <p:nvSpPr>
          <p:cNvPr id="46" name="Text 44"/>
          <p:cNvSpPr>
            <a:spLocks noGrp="1"/>
          </p:cNvSpPr>
          <p:nvPr/>
        </p:nvSpPr>
        <p:spPr>
          <a:xfrm>
            <a:off x="6711696" y="2615184"/>
            <a:ext cx="1627632" cy="2286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buNone/>
            </a:pPr>
            <a:r>
              <a:rPr sz="1120" b="1">
                <a:solidFill>
                  <a:srgbClr val="153D39"/>
                </a:solidFill>
                <a:latin typeface="Noto Sans CJK SC"/>
                <a:ea typeface="Noto Sans CJK SC"/>
                <a:cs typeface="Noto Sans CJK SC"/>
              </a:rPr>
              <a:t>上下文依赖</a:t>
            </a:r>
            <a:endParaRPr sz="1120"/>
          </a:p>
        </p:txBody>
      </p:sp>
      <p:sp>
        <p:nvSpPr>
          <p:cNvPr id="47" name="Text 45"/>
          <p:cNvSpPr>
            <a:spLocks noGrp="1"/>
          </p:cNvSpPr>
          <p:nvPr/>
        </p:nvSpPr>
        <p:spPr>
          <a:xfrm>
            <a:off x="6291072" y="2990088"/>
            <a:ext cx="2139696" cy="44805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buNone/>
            </a:pPr>
            <a:r>
              <a:rPr sz="840">
                <a:solidFill>
                  <a:srgbClr val="44585C"/>
                </a:solidFill>
                <a:latin typeface="Noto Sans CJK SC"/>
                <a:ea typeface="Noto Sans CJK SC"/>
                <a:cs typeface="Noto Sans CJK SC"/>
              </a:rPr>
              <a:t>订单与履约状态、地址规则、客户确认记录。</a:t>
            </a:r>
            <a:endParaRPr sz="840"/>
          </a:p>
        </p:txBody>
      </p:sp>
      <p:sp>
        <p:nvSpPr>
          <p:cNvPr id="48" name="Shape 46"/>
          <p:cNvSpPr>
            <a:spLocks noGrp="1"/>
          </p:cNvSpPr>
          <p:nvPr/>
        </p:nvSpPr>
        <p:spPr>
          <a:xfrm>
            <a:off x="8833104" y="2523744"/>
            <a:ext cx="2468880" cy="1097280"/>
          </a:xfrm>
          <a:prstGeom prst="roundRect">
            <a:avLst/>
          </a:prstGeom>
          <a:solidFill>
            <a:srgbClr val="FFF2E8"/>
          </a:solidFill>
          <a:ln w="11430">
            <a:solidFill>
              <a:srgbClr val="F28B36"/>
            </a:solidFill>
            <a:prstDash val="solid"/>
          </a:ln>
        </p:spPr>
        <p:txBody>
          <a:bodyPr/>
          <a:lstStyle/>
          <a:p/>
        </p:txBody>
      </p:sp>
      <p:sp>
        <p:nvSpPr>
          <p:cNvPr id="49" name="Shape 47"/>
          <p:cNvSpPr>
            <a:spLocks noGrp="1"/>
          </p:cNvSpPr>
          <p:nvPr/>
        </p:nvSpPr>
        <p:spPr>
          <a:xfrm>
            <a:off x="8979408" y="2670048"/>
            <a:ext cx="320040" cy="320040"/>
          </a:xfrm>
          <a:prstGeom prst="ellipse">
            <a:avLst/>
          </a:prstGeom>
          <a:solidFill>
            <a:srgbClr val="BC6414"/>
          </a:solidFill>
          <a:ln w="12700">
            <a:solidFill>
              <a:srgbClr val="BC6414"/>
            </a:solidFill>
            <a:prstDash val="solid"/>
          </a:ln>
        </p:spPr>
        <p:txBody>
          <a:bodyPr/>
          <a:lstStyle/>
          <a:p/>
        </p:txBody>
      </p:sp>
      <p:sp>
        <p:nvSpPr>
          <p:cNvPr id="50" name="Text 48"/>
          <p:cNvSpPr>
            <a:spLocks noGrp="1"/>
          </p:cNvSpPr>
          <p:nvPr/>
        </p:nvSpPr>
        <p:spPr>
          <a:xfrm>
            <a:off x="8979408" y="2670048"/>
            <a:ext cx="320040" cy="32004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88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04</a:t>
            </a:r>
            <a:endParaRPr sz="880"/>
          </a:p>
        </p:txBody>
      </p:sp>
      <p:sp>
        <p:nvSpPr>
          <p:cNvPr id="51" name="Text 49"/>
          <p:cNvSpPr>
            <a:spLocks noGrp="1"/>
          </p:cNvSpPr>
          <p:nvPr/>
        </p:nvSpPr>
        <p:spPr>
          <a:xfrm>
            <a:off x="9418320" y="2615184"/>
            <a:ext cx="1627632" cy="2286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buNone/>
            </a:pPr>
            <a:r>
              <a:rPr sz="1120" b="1">
                <a:solidFill>
                  <a:srgbClr val="153D39"/>
                </a:solidFill>
                <a:latin typeface="Noto Sans CJK SC"/>
                <a:ea typeface="Noto Sans CJK SC"/>
                <a:cs typeface="Noto Sans CJK SC"/>
              </a:rPr>
              <a:t>前置条件</a:t>
            </a:r>
            <a:endParaRPr sz="1120"/>
          </a:p>
        </p:txBody>
      </p:sp>
      <p:sp>
        <p:nvSpPr>
          <p:cNvPr id="52" name="Text 50"/>
          <p:cNvSpPr>
            <a:spLocks noGrp="1"/>
          </p:cNvSpPr>
          <p:nvPr/>
        </p:nvSpPr>
        <p:spPr>
          <a:xfrm>
            <a:off x="8997696" y="2990088"/>
            <a:ext cx="2139696" cy="44805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buNone/>
            </a:pPr>
            <a:r>
              <a:rPr sz="840">
                <a:solidFill>
                  <a:srgbClr val="44585C"/>
                </a:solidFill>
                <a:latin typeface="Noto Sans CJK SC"/>
                <a:ea typeface="Noto Sans CJK SC"/>
                <a:cs typeface="Noto Sans CJK SC"/>
              </a:rPr>
              <a:t>订单可修改、地址完整、国家与配送范围合法。</a:t>
            </a:r>
            <a:endParaRPr sz="840"/>
          </a:p>
        </p:txBody>
      </p:sp>
      <p:sp>
        <p:nvSpPr>
          <p:cNvPr id="53" name="Shape 51"/>
          <p:cNvSpPr>
            <a:spLocks noGrp="1"/>
          </p:cNvSpPr>
          <p:nvPr/>
        </p:nvSpPr>
        <p:spPr>
          <a:xfrm>
            <a:off x="713232" y="3822192"/>
            <a:ext cx="2468880" cy="1097280"/>
          </a:xfrm>
          <a:prstGeom prst="roundRect">
            <a:avLst/>
          </a:prstGeom>
          <a:solidFill>
            <a:srgbClr val="EEF0FF"/>
          </a:solidFill>
          <a:ln w="11430">
            <a:solidFill>
              <a:srgbClr val="6B6FD8"/>
            </a:solidFill>
            <a:prstDash val="solid"/>
          </a:ln>
        </p:spPr>
        <p:txBody>
          <a:bodyPr/>
          <a:lstStyle/>
          <a:p/>
        </p:txBody>
      </p:sp>
      <p:sp>
        <p:nvSpPr>
          <p:cNvPr id="54" name="Shape 52"/>
          <p:cNvSpPr>
            <a:spLocks noGrp="1"/>
          </p:cNvSpPr>
          <p:nvPr/>
        </p:nvSpPr>
        <p:spPr>
          <a:xfrm>
            <a:off x="859536" y="3968496"/>
            <a:ext cx="320040" cy="320040"/>
          </a:xfrm>
          <a:prstGeom prst="ellipse">
            <a:avLst/>
          </a:prstGeom>
          <a:solidFill>
            <a:srgbClr val="5356BE"/>
          </a:solidFill>
          <a:ln w="12700">
            <a:solidFill>
              <a:srgbClr val="5356BE"/>
            </a:solidFill>
            <a:prstDash val="solid"/>
          </a:ln>
        </p:spPr>
        <p:txBody>
          <a:bodyPr/>
          <a:lstStyle/>
          <a:p/>
        </p:txBody>
      </p:sp>
      <p:sp>
        <p:nvSpPr>
          <p:cNvPr id="55" name="Text 53"/>
          <p:cNvSpPr>
            <a:spLocks noGrp="1"/>
          </p:cNvSpPr>
          <p:nvPr/>
        </p:nvSpPr>
        <p:spPr>
          <a:xfrm>
            <a:off x="859536" y="3968496"/>
            <a:ext cx="320040" cy="32004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88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05</a:t>
            </a:r>
            <a:endParaRPr sz="880"/>
          </a:p>
        </p:txBody>
      </p:sp>
      <p:sp>
        <p:nvSpPr>
          <p:cNvPr id="56" name="Text 54"/>
          <p:cNvSpPr>
            <a:spLocks noGrp="1"/>
          </p:cNvSpPr>
          <p:nvPr/>
        </p:nvSpPr>
        <p:spPr>
          <a:xfrm>
            <a:off x="1298448" y="3913632"/>
            <a:ext cx="1627632" cy="2286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buNone/>
            </a:pPr>
            <a:r>
              <a:rPr sz="1120" b="1">
                <a:solidFill>
                  <a:srgbClr val="153D39"/>
                </a:solidFill>
                <a:latin typeface="Noto Sans CJK SC"/>
                <a:ea typeface="Noto Sans CJK SC"/>
                <a:cs typeface="Noto Sans CJK SC"/>
              </a:rPr>
              <a:t>权限与工具</a:t>
            </a:r>
            <a:endParaRPr sz="1120"/>
          </a:p>
        </p:txBody>
      </p:sp>
      <p:sp>
        <p:nvSpPr>
          <p:cNvPr id="57" name="Text 55"/>
          <p:cNvSpPr>
            <a:spLocks noGrp="1"/>
          </p:cNvSpPr>
          <p:nvPr/>
        </p:nvSpPr>
        <p:spPr>
          <a:xfrm>
            <a:off x="877824" y="4288536"/>
            <a:ext cx="2139696" cy="44805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buNone/>
            </a:pPr>
            <a:r>
              <a:rPr sz="840">
                <a:solidFill>
                  <a:srgbClr val="44585C"/>
                </a:solidFill>
                <a:latin typeface="Noto Sans CJK SC"/>
                <a:ea typeface="Noto Sans CJK SC"/>
                <a:cs typeface="Noto Sans CJK SC"/>
              </a:rPr>
              <a:t>允许查询、校验、修改、回写；其他写工具不可见。</a:t>
            </a:r>
            <a:endParaRPr sz="840"/>
          </a:p>
        </p:txBody>
      </p:sp>
      <p:sp>
        <p:nvSpPr>
          <p:cNvPr id="58" name="Shape 56"/>
          <p:cNvSpPr>
            <a:spLocks noGrp="1"/>
          </p:cNvSpPr>
          <p:nvPr/>
        </p:nvSpPr>
        <p:spPr>
          <a:xfrm>
            <a:off x="3419856" y="3822192"/>
            <a:ext cx="2468880" cy="1097280"/>
          </a:xfrm>
          <a:prstGeom prst="roundRect">
            <a:avLst/>
          </a:prstGeom>
          <a:solidFill>
            <a:srgbClr val="E8F7F1"/>
          </a:solidFill>
          <a:ln w="11430">
            <a:solidFill>
              <a:srgbClr val="12B07D"/>
            </a:solidFill>
            <a:prstDash val="solid"/>
          </a:ln>
        </p:spPr>
        <p:txBody>
          <a:bodyPr/>
          <a:lstStyle/>
          <a:p/>
        </p:txBody>
      </p:sp>
      <p:sp>
        <p:nvSpPr>
          <p:cNvPr id="59" name="Shape 57"/>
          <p:cNvSpPr>
            <a:spLocks noGrp="1"/>
          </p:cNvSpPr>
          <p:nvPr/>
        </p:nvSpPr>
        <p:spPr>
          <a:xfrm>
            <a:off x="3566160" y="3968496"/>
            <a:ext cx="320040" cy="320040"/>
          </a:xfrm>
          <a:prstGeom prst="ellipse">
            <a:avLst/>
          </a:prstGeom>
          <a:solidFill>
            <a:srgbClr val="0A7A57"/>
          </a:solidFill>
          <a:ln w="12700">
            <a:solidFill>
              <a:srgbClr val="0A7A57"/>
            </a:solidFill>
            <a:prstDash val="solid"/>
          </a:ln>
        </p:spPr>
        <p:txBody>
          <a:bodyPr/>
          <a:lstStyle/>
          <a:p/>
        </p:txBody>
      </p:sp>
      <p:sp>
        <p:nvSpPr>
          <p:cNvPr id="60" name="Text 58"/>
          <p:cNvSpPr>
            <a:spLocks noGrp="1"/>
          </p:cNvSpPr>
          <p:nvPr/>
        </p:nvSpPr>
        <p:spPr>
          <a:xfrm>
            <a:off x="3566160" y="3968496"/>
            <a:ext cx="320040" cy="32004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88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06</a:t>
            </a:r>
            <a:endParaRPr sz="880"/>
          </a:p>
        </p:txBody>
      </p:sp>
      <p:sp>
        <p:nvSpPr>
          <p:cNvPr id="61" name="Text 59"/>
          <p:cNvSpPr>
            <a:spLocks noGrp="1"/>
          </p:cNvSpPr>
          <p:nvPr/>
        </p:nvSpPr>
        <p:spPr>
          <a:xfrm>
            <a:off x="4005072" y="3913632"/>
            <a:ext cx="1627632" cy="2286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buNone/>
            </a:pPr>
            <a:r>
              <a:rPr sz="1120" b="1">
                <a:solidFill>
                  <a:srgbClr val="153D39"/>
                </a:solidFill>
                <a:latin typeface="Noto Sans CJK SC"/>
                <a:ea typeface="Noto Sans CJK SC"/>
                <a:cs typeface="Noto Sans CJK SC"/>
              </a:rPr>
              <a:t>流程步骤</a:t>
            </a:r>
            <a:endParaRPr sz="1120"/>
          </a:p>
        </p:txBody>
      </p:sp>
      <p:sp>
        <p:nvSpPr>
          <p:cNvPr id="62" name="Text 60"/>
          <p:cNvSpPr>
            <a:spLocks noGrp="1"/>
          </p:cNvSpPr>
          <p:nvPr/>
        </p:nvSpPr>
        <p:spPr>
          <a:xfrm>
            <a:off x="3584448" y="4288536"/>
            <a:ext cx="2139696" cy="44805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buNone/>
            </a:pPr>
            <a:r>
              <a:rPr sz="840">
                <a:solidFill>
                  <a:srgbClr val="44585C"/>
                </a:solidFill>
                <a:latin typeface="Noto Sans CJK SC"/>
                <a:ea typeface="Noto Sans CJK SC"/>
                <a:cs typeface="Noto Sans CJK SC"/>
              </a:rPr>
              <a:t>流程写在正文中，按状态推进；无独立引擎。</a:t>
            </a:r>
            <a:endParaRPr sz="840"/>
          </a:p>
        </p:txBody>
      </p:sp>
      <p:sp>
        <p:nvSpPr>
          <p:cNvPr id="63" name="Shape 61"/>
          <p:cNvSpPr>
            <a:spLocks noGrp="1"/>
          </p:cNvSpPr>
          <p:nvPr/>
        </p:nvSpPr>
        <p:spPr>
          <a:xfrm>
            <a:off x="6126480" y="3822192"/>
            <a:ext cx="2468880" cy="1097280"/>
          </a:xfrm>
          <a:prstGeom prst="roundRect">
            <a:avLst/>
          </a:prstGeom>
          <a:solidFill>
            <a:srgbClr val="EAF3FF"/>
          </a:solidFill>
          <a:ln w="11430">
            <a:solidFill>
              <a:srgbClr val="2F80ED"/>
            </a:solidFill>
            <a:prstDash val="solid"/>
          </a:ln>
        </p:spPr>
        <p:txBody>
          <a:bodyPr/>
          <a:lstStyle/>
          <a:p/>
        </p:txBody>
      </p:sp>
      <p:sp>
        <p:nvSpPr>
          <p:cNvPr id="64" name="Shape 62"/>
          <p:cNvSpPr>
            <a:spLocks noGrp="1"/>
          </p:cNvSpPr>
          <p:nvPr/>
        </p:nvSpPr>
        <p:spPr>
          <a:xfrm>
            <a:off x="6272784" y="3968496"/>
            <a:ext cx="320040" cy="320040"/>
          </a:xfrm>
          <a:prstGeom prst="ellipse">
            <a:avLst/>
          </a:prstGeom>
          <a:solidFill>
            <a:srgbClr val="1F63C4"/>
          </a:solidFill>
          <a:ln w="12700">
            <a:solidFill>
              <a:srgbClr val="1F63C4"/>
            </a:solidFill>
            <a:prstDash val="solid"/>
          </a:ln>
        </p:spPr>
        <p:txBody>
          <a:bodyPr/>
          <a:lstStyle/>
          <a:p/>
        </p:txBody>
      </p:sp>
      <p:sp>
        <p:nvSpPr>
          <p:cNvPr id="65" name="Text 63"/>
          <p:cNvSpPr>
            <a:spLocks noGrp="1"/>
          </p:cNvSpPr>
          <p:nvPr/>
        </p:nvSpPr>
        <p:spPr>
          <a:xfrm>
            <a:off x="6272784" y="3968496"/>
            <a:ext cx="320040" cy="32004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88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07</a:t>
            </a:r>
            <a:endParaRPr sz="880"/>
          </a:p>
        </p:txBody>
      </p:sp>
      <p:sp>
        <p:nvSpPr>
          <p:cNvPr id="66" name="Text 64"/>
          <p:cNvSpPr>
            <a:spLocks noGrp="1"/>
          </p:cNvSpPr>
          <p:nvPr/>
        </p:nvSpPr>
        <p:spPr>
          <a:xfrm>
            <a:off x="6711696" y="3913632"/>
            <a:ext cx="1627632" cy="2286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buNone/>
            </a:pPr>
            <a:r>
              <a:rPr sz="1120" b="1">
                <a:solidFill>
                  <a:srgbClr val="153D39"/>
                </a:solidFill>
                <a:latin typeface="Noto Sans CJK SC"/>
                <a:ea typeface="Noto Sans CJK SC"/>
                <a:cs typeface="Noto Sans CJK SC"/>
              </a:rPr>
              <a:t>输出合同</a:t>
            </a:r>
            <a:endParaRPr sz="1120"/>
          </a:p>
        </p:txBody>
      </p:sp>
      <p:sp>
        <p:nvSpPr>
          <p:cNvPr id="67" name="Text 65"/>
          <p:cNvSpPr>
            <a:spLocks noGrp="1"/>
          </p:cNvSpPr>
          <p:nvPr/>
        </p:nvSpPr>
        <p:spPr>
          <a:xfrm>
            <a:off x="6291072" y="4288536"/>
            <a:ext cx="2139696" cy="44805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buNone/>
            </a:pPr>
            <a:r>
              <a:rPr sz="840">
                <a:solidFill>
                  <a:srgbClr val="44585C"/>
                </a:solidFill>
                <a:latin typeface="Noto Sans CJK SC"/>
                <a:ea typeface="Noto Sans CJK SC"/>
                <a:cs typeface="Noto Sans CJK SC"/>
              </a:rPr>
              <a:t>可执行、需补充、需确认、不可执行四类结果。</a:t>
            </a:r>
            <a:endParaRPr sz="840"/>
          </a:p>
        </p:txBody>
      </p:sp>
      <p:sp>
        <p:nvSpPr>
          <p:cNvPr id="68" name="Shape 66"/>
          <p:cNvSpPr>
            <a:spLocks noGrp="1"/>
          </p:cNvSpPr>
          <p:nvPr/>
        </p:nvSpPr>
        <p:spPr>
          <a:xfrm>
            <a:off x="8833104" y="3822192"/>
            <a:ext cx="2468880" cy="1097280"/>
          </a:xfrm>
          <a:prstGeom prst="roundRect">
            <a:avLst/>
          </a:prstGeom>
          <a:solidFill>
            <a:srgbClr val="FDEEEE"/>
          </a:solidFill>
          <a:ln w="11430">
            <a:solidFill>
              <a:srgbClr val="E45858"/>
            </a:solidFill>
            <a:prstDash val="solid"/>
          </a:ln>
        </p:spPr>
        <p:txBody>
          <a:bodyPr/>
          <a:lstStyle/>
          <a:p/>
        </p:txBody>
      </p:sp>
      <p:sp>
        <p:nvSpPr>
          <p:cNvPr id="69" name="Shape 67"/>
          <p:cNvSpPr>
            <a:spLocks noGrp="1"/>
          </p:cNvSpPr>
          <p:nvPr/>
        </p:nvSpPr>
        <p:spPr>
          <a:xfrm>
            <a:off x="8979408" y="3968496"/>
            <a:ext cx="320040" cy="320040"/>
          </a:xfrm>
          <a:prstGeom prst="ellipse">
            <a:avLst/>
          </a:prstGeom>
          <a:solidFill>
            <a:srgbClr val="C23B3B"/>
          </a:solidFill>
          <a:ln w="12700">
            <a:solidFill>
              <a:srgbClr val="C23B3B"/>
            </a:solidFill>
            <a:prstDash val="solid"/>
          </a:ln>
        </p:spPr>
        <p:txBody>
          <a:bodyPr/>
          <a:lstStyle/>
          <a:p/>
        </p:txBody>
      </p:sp>
      <p:sp>
        <p:nvSpPr>
          <p:cNvPr id="70" name="Text 68"/>
          <p:cNvSpPr>
            <a:spLocks noGrp="1"/>
          </p:cNvSpPr>
          <p:nvPr/>
        </p:nvSpPr>
        <p:spPr>
          <a:xfrm>
            <a:off x="8979408" y="3968496"/>
            <a:ext cx="320040" cy="32004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88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08</a:t>
            </a:r>
            <a:endParaRPr sz="880"/>
          </a:p>
        </p:txBody>
      </p:sp>
      <p:sp>
        <p:nvSpPr>
          <p:cNvPr id="71" name="Text 69"/>
          <p:cNvSpPr>
            <a:spLocks noGrp="1"/>
          </p:cNvSpPr>
          <p:nvPr/>
        </p:nvSpPr>
        <p:spPr>
          <a:xfrm>
            <a:off x="9418320" y="3913632"/>
            <a:ext cx="1627632" cy="2286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buNone/>
            </a:pPr>
            <a:r>
              <a:rPr sz="1120" b="1">
                <a:solidFill>
                  <a:srgbClr val="153D39"/>
                </a:solidFill>
                <a:latin typeface="Noto Sans CJK SC"/>
                <a:ea typeface="Noto Sans CJK SC"/>
                <a:cs typeface="Noto Sans CJK SC"/>
              </a:rPr>
              <a:t>停止与交接</a:t>
            </a:r>
            <a:endParaRPr sz="1120"/>
          </a:p>
        </p:txBody>
      </p:sp>
      <p:sp>
        <p:nvSpPr>
          <p:cNvPr id="72" name="Text 70"/>
          <p:cNvSpPr>
            <a:spLocks noGrp="1"/>
          </p:cNvSpPr>
          <p:nvPr/>
        </p:nvSpPr>
        <p:spPr>
          <a:xfrm>
            <a:off x="8997696" y="4288536"/>
            <a:ext cx="2139696" cy="44805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buNone/>
            </a:pPr>
            <a:r>
              <a:rPr sz="840">
                <a:solidFill>
                  <a:srgbClr val="44585C"/>
                </a:solidFill>
                <a:latin typeface="Noto Sans CJK SC"/>
                <a:ea typeface="Noto Sans CJK SC"/>
                <a:cs typeface="Noto Sans CJK SC"/>
              </a:rPr>
              <a:t>已发货、状态冲突、地址异常或客户要求人工。</a:t>
            </a:r>
            <a:endParaRPr sz="840"/>
          </a:p>
        </p:txBody>
      </p:sp>
      <p:sp>
        <p:nvSpPr>
          <p:cNvPr id="73" name="Shape 71"/>
          <p:cNvSpPr>
            <a:spLocks noGrp="1"/>
          </p:cNvSpPr>
          <p:nvPr/>
        </p:nvSpPr>
        <p:spPr>
          <a:xfrm>
            <a:off x="713232" y="5276088"/>
            <a:ext cx="10771632" cy="603504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BFDCD4"/>
            </a:solidFill>
            <a:prstDash val="solid"/>
          </a:ln>
        </p:spPr>
        <p:txBody>
          <a:bodyPr/>
          <a:lstStyle/>
          <a:p/>
        </p:txBody>
      </p:sp>
      <p:sp>
        <p:nvSpPr>
          <p:cNvPr id="74" name="Text 72"/>
          <p:cNvSpPr>
            <a:spLocks noGrp="1"/>
          </p:cNvSpPr>
          <p:nvPr/>
        </p:nvSpPr>
        <p:spPr>
          <a:xfrm>
            <a:off x="941832" y="5449824"/>
            <a:ext cx="1591056" cy="21945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buNone/>
            </a:pPr>
            <a:r>
              <a:rPr sz="1040" b="1">
                <a:solidFill>
                  <a:srgbClr val="315A55"/>
                </a:solidFill>
                <a:latin typeface="Noto Sans CJK SC"/>
                <a:ea typeface="Noto Sans CJK SC"/>
                <a:cs typeface="Noto Sans CJK SC"/>
              </a:rPr>
              <a:t>能力定义被哪些环节使用</a:t>
            </a:r>
            <a:endParaRPr sz="1040"/>
          </a:p>
        </p:txBody>
      </p:sp>
      <p:sp>
        <p:nvSpPr>
          <p:cNvPr id="75" name="Shape 73"/>
          <p:cNvSpPr>
            <a:spLocks noGrp="1"/>
          </p:cNvSpPr>
          <p:nvPr/>
        </p:nvSpPr>
        <p:spPr>
          <a:xfrm>
            <a:off x="2743200" y="5413248"/>
            <a:ext cx="1298448" cy="265176"/>
          </a:xfrm>
          <a:prstGeom prst="roundRect">
            <a:avLst/>
          </a:prstGeom>
          <a:solidFill>
            <a:srgbClr val="EAF3FF"/>
          </a:solidFill>
          <a:ln w="10160">
            <a:solidFill>
              <a:srgbClr val="D1E1DD"/>
            </a:solidFill>
            <a:prstDash val="solid"/>
          </a:ln>
        </p:spPr>
        <p:txBody>
          <a:bodyPr/>
          <a:lstStyle/>
          <a:p/>
        </p:txBody>
      </p:sp>
      <p:sp>
        <p:nvSpPr>
          <p:cNvPr id="76" name="Text 74"/>
          <p:cNvSpPr>
            <a:spLocks noGrp="1"/>
          </p:cNvSpPr>
          <p:nvPr/>
        </p:nvSpPr>
        <p:spPr>
          <a:xfrm>
            <a:off x="2743200" y="5413248"/>
            <a:ext cx="1298448" cy="26517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880" b="1">
                <a:solidFill>
                  <a:srgbClr val="1B5FC4"/>
                </a:solidFill>
                <a:latin typeface="Noto Sans CJK SC"/>
                <a:ea typeface="Noto Sans CJK SC"/>
                <a:cs typeface="Noto Sans CJK SC"/>
              </a:rPr>
              <a:t>Agent 路由</a:t>
            </a:r>
            <a:endParaRPr sz="880"/>
          </a:p>
        </p:txBody>
      </p:sp>
      <p:sp>
        <p:nvSpPr>
          <p:cNvPr id="77" name="Shape 75"/>
          <p:cNvSpPr>
            <a:spLocks noGrp="1"/>
          </p:cNvSpPr>
          <p:nvPr/>
        </p:nvSpPr>
        <p:spPr>
          <a:xfrm>
            <a:off x="4297680" y="5413248"/>
            <a:ext cx="1298448" cy="265176"/>
          </a:xfrm>
          <a:prstGeom prst="roundRect">
            <a:avLst/>
          </a:prstGeom>
          <a:solidFill>
            <a:srgbClr val="E8F7F1"/>
          </a:solidFill>
          <a:ln w="10160">
            <a:solidFill>
              <a:srgbClr val="D1E1DD"/>
            </a:solidFill>
            <a:prstDash val="solid"/>
          </a:ln>
        </p:spPr>
        <p:txBody>
          <a:bodyPr/>
          <a:lstStyle/>
          <a:p/>
        </p:txBody>
      </p:sp>
      <p:sp>
        <p:nvSpPr>
          <p:cNvPr id="78" name="Text 76"/>
          <p:cNvSpPr>
            <a:spLocks noGrp="1"/>
          </p:cNvSpPr>
          <p:nvPr/>
        </p:nvSpPr>
        <p:spPr>
          <a:xfrm>
            <a:off x="4297680" y="5413248"/>
            <a:ext cx="1298448" cy="26517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880" b="1">
                <a:solidFill>
                  <a:srgbClr val="076B50"/>
                </a:solidFill>
                <a:latin typeface="Noto Sans CJK SC"/>
                <a:ea typeface="Noto Sans CJK SC"/>
                <a:cs typeface="Noto Sans CJK SC"/>
              </a:rPr>
              <a:t>执行编排</a:t>
            </a:r>
            <a:endParaRPr sz="880"/>
          </a:p>
        </p:txBody>
      </p:sp>
      <p:sp>
        <p:nvSpPr>
          <p:cNvPr id="79" name="Shape 77"/>
          <p:cNvSpPr>
            <a:spLocks noGrp="1"/>
          </p:cNvSpPr>
          <p:nvPr/>
        </p:nvSpPr>
        <p:spPr>
          <a:xfrm>
            <a:off x="5852160" y="5413248"/>
            <a:ext cx="1298448" cy="265176"/>
          </a:xfrm>
          <a:prstGeom prst="roundRect">
            <a:avLst/>
          </a:prstGeom>
          <a:solidFill>
            <a:srgbClr val="FFF2E8"/>
          </a:solidFill>
          <a:ln w="10160">
            <a:solidFill>
              <a:srgbClr val="D1E1DD"/>
            </a:solidFill>
            <a:prstDash val="solid"/>
          </a:ln>
        </p:spPr>
        <p:txBody>
          <a:bodyPr/>
          <a:lstStyle/>
          <a:p/>
        </p:txBody>
      </p:sp>
      <p:sp>
        <p:nvSpPr>
          <p:cNvPr id="80" name="Text 78"/>
          <p:cNvSpPr>
            <a:spLocks noGrp="1"/>
          </p:cNvSpPr>
          <p:nvPr/>
        </p:nvSpPr>
        <p:spPr>
          <a:xfrm>
            <a:off x="5852160" y="5413248"/>
            <a:ext cx="1298448" cy="26517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880" b="1">
                <a:solidFill>
                  <a:srgbClr val="9A5210"/>
                </a:solidFill>
                <a:latin typeface="Noto Sans CJK SC"/>
                <a:ea typeface="Noto Sans CJK SC"/>
                <a:cs typeface="Noto Sans CJK SC"/>
              </a:rPr>
              <a:t>工具授权</a:t>
            </a:r>
            <a:endParaRPr sz="880"/>
          </a:p>
        </p:txBody>
      </p:sp>
      <p:sp>
        <p:nvSpPr>
          <p:cNvPr id="81" name="Shape 79"/>
          <p:cNvSpPr>
            <a:spLocks noGrp="1"/>
          </p:cNvSpPr>
          <p:nvPr/>
        </p:nvSpPr>
        <p:spPr>
          <a:xfrm>
            <a:off x="7406640" y="5413248"/>
            <a:ext cx="1298448" cy="265176"/>
          </a:xfrm>
          <a:prstGeom prst="roundRect">
            <a:avLst/>
          </a:prstGeom>
          <a:solidFill>
            <a:srgbClr val="EEF0FF"/>
          </a:solidFill>
          <a:ln w="10160">
            <a:solidFill>
              <a:srgbClr val="D1E1DD"/>
            </a:solidFill>
            <a:prstDash val="solid"/>
          </a:ln>
        </p:spPr>
        <p:txBody>
          <a:bodyPr/>
          <a:lstStyle/>
          <a:p/>
        </p:txBody>
      </p:sp>
      <p:sp>
        <p:nvSpPr>
          <p:cNvPr id="82" name="Text 80"/>
          <p:cNvSpPr>
            <a:spLocks noGrp="1"/>
          </p:cNvSpPr>
          <p:nvPr/>
        </p:nvSpPr>
        <p:spPr>
          <a:xfrm>
            <a:off x="7406640" y="5413248"/>
            <a:ext cx="1298448" cy="26517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880" b="1">
                <a:solidFill>
                  <a:srgbClr val="4A4EB0"/>
                </a:solidFill>
                <a:latin typeface="Noto Sans CJK SC"/>
                <a:ea typeface="Noto Sans CJK SC"/>
                <a:cs typeface="Noto Sans CJK SC"/>
              </a:rPr>
              <a:t>离线评测</a:t>
            </a:r>
            <a:endParaRPr sz="880"/>
          </a:p>
        </p:txBody>
      </p:sp>
      <p:sp>
        <p:nvSpPr>
          <p:cNvPr id="83" name="Shape 81"/>
          <p:cNvSpPr>
            <a:spLocks noGrp="1"/>
          </p:cNvSpPr>
          <p:nvPr/>
        </p:nvSpPr>
        <p:spPr>
          <a:xfrm>
            <a:off x="8961120" y="5413248"/>
            <a:ext cx="1298448" cy="265176"/>
          </a:xfrm>
          <a:prstGeom prst="roundRect">
            <a:avLst/>
          </a:prstGeom>
          <a:solidFill>
            <a:srgbClr val="E7F7F7"/>
          </a:solidFill>
          <a:ln w="10160">
            <a:solidFill>
              <a:srgbClr val="D1E1DD"/>
            </a:solidFill>
            <a:prstDash val="solid"/>
          </a:ln>
        </p:spPr>
        <p:txBody>
          <a:bodyPr/>
          <a:lstStyle/>
          <a:p/>
        </p:txBody>
      </p:sp>
      <p:sp>
        <p:nvSpPr>
          <p:cNvPr id="84" name="Text 82"/>
          <p:cNvSpPr>
            <a:spLocks noGrp="1"/>
          </p:cNvSpPr>
          <p:nvPr/>
        </p:nvSpPr>
        <p:spPr>
          <a:xfrm>
            <a:off x="8961120" y="5413248"/>
            <a:ext cx="1298448" cy="26517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880" b="1">
                <a:solidFill>
                  <a:srgbClr val="00706F"/>
                </a:solidFill>
                <a:latin typeface="Noto Sans CJK SC"/>
                <a:ea typeface="Noto Sans CJK SC"/>
                <a:cs typeface="Noto Sans CJK SC"/>
              </a:rPr>
              <a:t>运营看板</a:t>
            </a:r>
            <a:endParaRPr sz="880"/>
          </a:p>
        </p:txBody>
      </p:sp>
      <p:sp>
        <p:nvSpPr>
          <p:cNvPr id="85" name="Rectangle 84"/>
          <p:cNvSpPr>
            <a:spLocks noGrp="1"/>
          </p:cNvSpPr>
          <p:nvPr/>
        </p:nvSpPr>
        <p:spPr>
          <a:xfrm>
            <a:off x="0" y="0"/>
            <a:ext cx="41148" cy="6858000"/>
          </a:xfrm>
          <a:prstGeom prst="rect">
            <a:avLst/>
          </a:prstGeom>
          <a:solidFill>
            <a:srgbClr val="0A8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86" name="圆角矩形 85"/>
          <p:cNvSpPr>
            <a:spLocks noGrp="1"/>
          </p:cNvSpPr>
          <p:nvPr/>
        </p:nvSpPr>
        <p:spPr>
          <a:xfrm>
            <a:off x="6565583" y="127635"/>
            <a:ext cx="4937760" cy="365760"/>
          </a:xfrm>
          <a:prstGeom prst="roundRect">
            <a:avLst>
              <a:gd name="adj" fmla="val 20833"/>
            </a:avLst>
          </a:prstGeom>
          <a:solidFill>
            <a:srgbClr val="F7FBF9"/>
          </a:solidFill>
          <a:ln w="12668">
            <a:solidFill>
              <a:srgbClr val="F7FBF9"/>
            </a:solidFill>
            <a:prstDash val="solid"/>
          </a:ln>
        </p:spPr>
        <p:txBody>
          <a:bodyPr/>
          <a:p/>
        </p:txBody>
      </p:sp>
      <p:sp>
        <p:nvSpPr>
          <p:cNvPr id="87" name="圆角矩形 86"/>
          <p:cNvSpPr>
            <a:spLocks noGrp="1"/>
          </p:cNvSpPr>
          <p:nvPr/>
        </p:nvSpPr>
        <p:spPr>
          <a:xfrm>
            <a:off x="6657023" y="164783"/>
            <a:ext cx="1154430" cy="264795"/>
          </a:xfrm>
          <a:prstGeom prst="roundRect">
            <a:avLst>
              <a:gd name="adj" fmla="val 28777"/>
            </a:avLst>
          </a:prstGeom>
          <a:solidFill>
            <a:srgbClr val="FFFFFF"/>
          </a:solidFill>
          <a:ln w="12668">
            <a:solidFill>
              <a:srgbClr val="C9DCD7"/>
            </a:solidFill>
            <a:prstDash val="solid"/>
          </a:ln>
        </p:spPr>
        <p:txBody>
          <a:bodyPr/>
          <a:p/>
        </p:txBody>
      </p:sp>
      <p:sp>
        <p:nvSpPr>
          <p:cNvPr id="88" name="矩形 87"/>
          <p:cNvSpPr>
            <a:spLocks noGrp="1"/>
          </p:cNvSpPr>
          <p:nvPr/>
        </p:nvSpPr>
        <p:spPr>
          <a:xfrm>
            <a:off x="6657023" y="187643"/>
            <a:ext cx="1154430" cy="182880"/>
          </a:xfrm>
          <a:prstGeom prst="rect">
            <a:avLst/>
          </a:prstGeom>
        </p:spPr>
        <p:txBody>
          <a:bodyPr anchor="ctr"/>
          <a:lstStyle/>
          <a:p>
            <a:pPr algn="ctr">
              <a:defRPr sz="650" b="0">
                <a:solidFill>
                  <a:srgbClr val="44585C"/>
                </a:solidFill>
              </a:defRPr>
            </a:pPr>
            <a:r>
              <a:t>理解</a:t>
            </a:r>
          </a:p>
        </p:txBody>
      </p:sp>
      <p:sp>
        <p:nvSpPr>
          <p:cNvPr id="89" name="圆角矩形 88"/>
          <p:cNvSpPr>
            <a:spLocks noGrp="1"/>
          </p:cNvSpPr>
          <p:nvPr/>
        </p:nvSpPr>
        <p:spPr>
          <a:xfrm>
            <a:off x="7857173" y="164783"/>
            <a:ext cx="1154430" cy="264795"/>
          </a:xfrm>
          <a:prstGeom prst="roundRect">
            <a:avLst>
              <a:gd name="adj" fmla="val 28777"/>
            </a:avLst>
          </a:prstGeom>
          <a:solidFill>
            <a:srgbClr val="FFFFFF"/>
          </a:solidFill>
          <a:ln w="12668">
            <a:solidFill>
              <a:srgbClr val="C9DCD7"/>
            </a:solidFill>
            <a:prstDash val="solid"/>
          </a:ln>
        </p:spPr>
        <p:txBody>
          <a:bodyPr/>
          <a:p/>
        </p:txBody>
      </p:sp>
      <p:sp>
        <p:nvSpPr>
          <p:cNvPr id="90" name="矩形 89"/>
          <p:cNvSpPr>
            <a:spLocks noGrp="1"/>
          </p:cNvSpPr>
          <p:nvPr/>
        </p:nvSpPr>
        <p:spPr>
          <a:xfrm>
            <a:off x="7857173" y="187643"/>
            <a:ext cx="1154430" cy="182880"/>
          </a:xfrm>
          <a:prstGeom prst="rect">
            <a:avLst/>
          </a:prstGeom>
        </p:spPr>
        <p:txBody>
          <a:bodyPr anchor="ctr"/>
          <a:lstStyle/>
          <a:p>
            <a:pPr algn="ctr">
              <a:defRPr sz="650" b="0">
                <a:solidFill>
                  <a:srgbClr val="44585C"/>
                </a:solidFill>
              </a:defRPr>
            </a:pPr>
            <a:r>
              <a:t>查询</a:t>
            </a:r>
          </a:p>
        </p:txBody>
      </p:sp>
      <p:sp>
        <p:nvSpPr>
          <p:cNvPr id="91" name="圆角矩形 90"/>
          <p:cNvSpPr>
            <a:spLocks noGrp="1"/>
          </p:cNvSpPr>
          <p:nvPr/>
        </p:nvSpPr>
        <p:spPr>
          <a:xfrm>
            <a:off x="9057323" y="164783"/>
            <a:ext cx="1154430" cy="264795"/>
          </a:xfrm>
          <a:prstGeom prst="roundRect">
            <a:avLst>
              <a:gd name="adj" fmla="val 28777"/>
            </a:avLst>
          </a:prstGeom>
          <a:solidFill>
            <a:srgbClr val="007574"/>
          </a:solidFill>
          <a:ln w="12668">
            <a:solidFill>
              <a:srgbClr val="007574"/>
            </a:solidFill>
            <a:prstDash val="solid"/>
          </a:ln>
        </p:spPr>
        <p:txBody>
          <a:bodyPr/>
          <a:p/>
        </p:txBody>
      </p:sp>
      <p:sp>
        <p:nvSpPr>
          <p:cNvPr id="92" name="矩形 91"/>
          <p:cNvSpPr>
            <a:spLocks noGrp="1"/>
          </p:cNvSpPr>
          <p:nvPr/>
        </p:nvSpPr>
        <p:spPr>
          <a:xfrm>
            <a:off x="9057323" y="187643"/>
            <a:ext cx="1154430" cy="182880"/>
          </a:xfrm>
          <a:prstGeom prst="rect">
            <a:avLst/>
          </a:prstGeom>
        </p:spPr>
        <p:txBody>
          <a:bodyPr anchor="ctr"/>
          <a:lstStyle/>
          <a:p>
            <a:pPr algn="ctr">
              <a:defRPr sz="660" b="1">
                <a:solidFill>
                  <a:srgbClr val="FFFFFF"/>
                </a:solidFill>
              </a:defRPr>
            </a:pPr>
            <a:r>
              <a:t>决策</a:t>
            </a:r>
          </a:p>
        </p:txBody>
      </p:sp>
      <p:sp>
        <p:nvSpPr>
          <p:cNvPr id="93" name="圆角矩形 92"/>
          <p:cNvSpPr>
            <a:spLocks noGrp="1"/>
          </p:cNvSpPr>
          <p:nvPr/>
        </p:nvSpPr>
        <p:spPr>
          <a:xfrm>
            <a:off x="10257473" y="164783"/>
            <a:ext cx="1154430" cy="264795"/>
          </a:xfrm>
          <a:prstGeom prst="roundRect">
            <a:avLst>
              <a:gd name="adj" fmla="val 28777"/>
            </a:avLst>
          </a:prstGeom>
          <a:solidFill>
            <a:srgbClr val="FFFFFF"/>
          </a:solidFill>
          <a:ln w="12668">
            <a:solidFill>
              <a:srgbClr val="C9DCD7"/>
            </a:solidFill>
            <a:prstDash val="solid"/>
          </a:ln>
        </p:spPr>
        <p:txBody>
          <a:bodyPr/>
          <a:p/>
        </p:txBody>
      </p:sp>
      <p:sp>
        <p:nvSpPr>
          <p:cNvPr id="94" name="矩形 93"/>
          <p:cNvSpPr>
            <a:spLocks noGrp="1"/>
          </p:cNvSpPr>
          <p:nvPr/>
        </p:nvSpPr>
        <p:spPr>
          <a:xfrm>
            <a:off x="10257473" y="187643"/>
            <a:ext cx="1154430" cy="182880"/>
          </a:xfrm>
          <a:prstGeom prst="rect">
            <a:avLst/>
          </a:prstGeom>
        </p:spPr>
        <p:txBody>
          <a:bodyPr anchor="ctr"/>
          <a:lstStyle/>
          <a:p>
            <a:pPr algn="ctr">
              <a:defRPr sz="650" b="0">
                <a:solidFill>
                  <a:srgbClr val="44585C"/>
                </a:solidFill>
              </a:defRPr>
            </a:pPr>
            <a:r>
              <a:t>执行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hape 0"/>
          <p:cNvSpPr>
            <a:spLocks noGrp="1"/>
          </p:cNvSpPr>
          <p:nvPr/>
        </p:nvSpPr>
        <p:spPr>
          <a:xfrm>
            <a:off x="16459" y="16459"/>
            <a:ext cx="38405" cy="6825082"/>
          </a:xfrm>
          <a:prstGeom prst="rect">
            <a:avLst/>
          </a:prstGeom>
          <a:solidFill>
            <a:srgbClr val="0A8F6A"/>
          </a:solidFill>
          <a:ln w="12700">
            <a:solidFill>
              <a:srgbClr val="12B07D"/>
            </a:solidFill>
            <a:prstDash val="solid"/>
          </a:ln>
        </p:spPr>
        <p:txBody>
          <a:bodyPr/>
          <a:lstStyle/>
          <a:p/>
        </p:txBody>
      </p:sp>
      <p:sp>
        <p:nvSpPr>
          <p:cNvPr id="4" name="Shape 2"/>
          <p:cNvSpPr>
            <a:spLocks noGrp="1"/>
          </p:cNvSpPr>
          <p:nvPr/>
        </p:nvSpPr>
        <p:spPr>
          <a:xfrm>
            <a:off x="10104120" y="73152"/>
            <a:ext cx="1874520" cy="1353312"/>
          </a:xfrm>
          <a:prstGeom prst="ellipse">
            <a:avLst/>
          </a:prstGeom>
          <a:solidFill>
            <a:srgbClr val="E8F7F1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/>
        </p:txBody>
      </p:sp>
      <p:sp>
        <p:nvSpPr>
          <p:cNvPr id="5" name="Shape 3"/>
          <p:cNvSpPr>
            <a:spLocks noGrp="1"/>
          </p:cNvSpPr>
          <p:nvPr/>
        </p:nvSpPr>
        <p:spPr>
          <a:xfrm>
            <a:off x="91440" y="5596128"/>
            <a:ext cx="1719072" cy="1051560"/>
          </a:xfrm>
          <a:prstGeom prst="ellipse">
            <a:avLst/>
          </a:prstGeom>
          <a:solidFill>
            <a:srgbClr val="FFF2E8">
              <a:alpha val="68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/>
        </p:txBody>
      </p:sp>
      <p:sp>
        <p:nvSpPr>
          <p:cNvPr id="6" name="Shape 4"/>
          <p:cNvSpPr>
            <a:spLocks noGrp="1"/>
          </p:cNvSpPr>
          <p:nvPr/>
        </p:nvSpPr>
        <p:spPr>
          <a:xfrm>
            <a:off x="658368" y="393192"/>
            <a:ext cx="68580" cy="68580"/>
          </a:xfrm>
          <a:prstGeom prst="ellipse">
            <a:avLst/>
          </a:prstGeom>
          <a:solidFill>
            <a:srgbClr val="0A8F6A"/>
          </a:solidFill>
          <a:ln w="12700">
            <a:solidFill>
              <a:srgbClr val="12B07D"/>
            </a:solidFill>
            <a:prstDash val="solid"/>
          </a:ln>
        </p:spPr>
        <p:txBody>
          <a:bodyPr/>
          <a:lstStyle/>
          <a:p/>
        </p:txBody>
      </p:sp>
      <p:sp>
        <p:nvSpPr>
          <p:cNvPr id="7" name="Shape 5"/>
          <p:cNvSpPr>
            <a:spLocks noGrp="1"/>
          </p:cNvSpPr>
          <p:nvPr/>
        </p:nvSpPr>
        <p:spPr>
          <a:xfrm>
            <a:off x="768096" y="427939"/>
            <a:ext cx="411480" cy="0"/>
          </a:xfrm>
          <a:prstGeom prst="line">
            <a:avLst/>
          </a:prstGeom>
          <a:noFill/>
          <a:ln w="15875">
            <a:solidFill>
              <a:srgbClr val="0A8F6A"/>
            </a:solidFill>
            <a:prstDash val="solid"/>
          </a:ln>
        </p:spPr>
        <p:txBody>
          <a:bodyPr/>
          <a:lstStyle/>
          <a:p/>
        </p:txBody>
      </p:sp>
      <p:sp>
        <p:nvSpPr>
          <p:cNvPr id="8" name="Text 6"/>
          <p:cNvSpPr>
            <a:spLocks noGrp="1"/>
          </p:cNvSpPr>
          <p:nvPr/>
        </p:nvSpPr>
        <p:spPr>
          <a:xfrm>
            <a:off x="1234440" y="265176"/>
            <a:ext cx="2331720" cy="31089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r>
              <a:rPr sz="1050" b="1">
                <a:solidFill>
                  <a:srgbClr val="076B50"/>
                </a:solidFill>
                <a:latin typeface="Noto Sans CJK SC"/>
                <a:ea typeface="Noto Sans CJK SC"/>
                <a:cs typeface="Noto Sans CJK SC"/>
              </a:rPr>
              <a:t>CHAPTER 5 · 能力与编排</a:t>
            </a:r>
            <a:endParaRPr sz="1050" b="1">
              <a:solidFill>
                <a:srgbClr val="00A7A7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9" name="Shape 7"/>
          <p:cNvSpPr>
            <a:spLocks noGrp="1"/>
          </p:cNvSpPr>
          <p:nvPr/>
        </p:nvSpPr>
        <p:spPr>
          <a:xfrm>
            <a:off x="9829800" y="301752"/>
            <a:ext cx="68580" cy="68580"/>
          </a:xfrm>
          <a:prstGeom prst="ellipse">
            <a:avLst/>
          </a:prstGeom>
          <a:solidFill>
            <a:srgbClr val="C7DAD6"/>
          </a:solidFill>
          <a:ln w="12700">
            <a:solidFill>
              <a:srgbClr val="C7DAD6"/>
            </a:solidFill>
            <a:prstDash val="solid"/>
          </a:ln>
        </p:spPr>
        <p:txBody>
          <a:bodyPr/>
          <a:lstStyle/>
          <a:p/>
        </p:txBody>
      </p:sp>
      <p:sp>
        <p:nvSpPr>
          <p:cNvPr id="10" name="Shape 8"/>
          <p:cNvSpPr>
            <a:spLocks noGrp="1"/>
          </p:cNvSpPr>
          <p:nvPr/>
        </p:nvSpPr>
        <p:spPr>
          <a:xfrm>
            <a:off x="10040112" y="301752"/>
            <a:ext cx="68580" cy="68580"/>
          </a:xfrm>
          <a:prstGeom prst="ellipse">
            <a:avLst/>
          </a:prstGeom>
          <a:solidFill>
            <a:srgbClr val="C7DAD6"/>
          </a:solidFill>
          <a:ln w="12700">
            <a:solidFill>
              <a:srgbClr val="C7DAD6"/>
            </a:solidFill>
            <a:prstDash val="solid"/>
          </a:ln>
        </p:spPr>
        <p:txBody>
          <a:bodyPr/>
          <a:lstStyle/>
          <a:p/>
        </p:txBody>
      </p:sp>
      <p:sp>
        <p:nvSpPr>
          <p:cNvPr id="11" name="Shape 9"/>
          <p:cNvSpPr>
            <a:spLocks noGrp="1"/>
          </p:cNvSpPr>
          <p:nvPr/>
        </p:nvSpPr>
        <p:spPr>
          <a:xfrm>
            <a:off x="10250424" y="301752"/>
            <a:ext cx="68580" cy="68580"/>
          </a:xfrm>
          <a:prstGeom prst="ellipse">
            <a:avLst/>
          </a:prstGeom>
          <a:solidFill>
            <a:srgbClr val="C7DAD6"/>
          </a:solidFill>
          <a:ln w="12700">
            <a:solidFill>
              <a:srgbClr val="C7DAD6"/>
            </a:solidFill>
            <a:prstDash val="solid"/>
          </a:ln>
        </p:spPr>
        <p:txBody>
          <a:bodyPr/>
          <a:lstStyle/>
          <a:p/>
        </p:txBody>
      </p:sp>
      <p:sp>
        <p:nvSpPr>
          <p:cNvPr id="12" name="Shape 10"/>
          <p:cNvSpPr>
            <a:spLocks noGrp="1"/>
          </p:cNvSpPr>
          <p:nvPr/>
        </p:nvSpPr>
        <p:spPr>
          <a:xfrm>
            <a:off x="10460736" y="301752"/>
            <a:ext cx="68580" cy="68580"/>
          </a:xfrm>
          <a:prstGeom prst="ellipse">
            <a:avLst/>
          </a:prstGeom>
          <a:solidFill>
            <a:srgbClr val="12B07D"/>
          </a:solidFill>
          <a:ln w="12700">
            <a:solidFill>
              <a:srgbClr val="12B07D"/>
            </a:solidFill>
            <a:prstDash val="solid"/>
          </a:ln>
        </p:spPr>
        <p:txBody>
          <a:bodyPr/>
          <a:lstStyle/>
          <a:p/>
        </p:txBody>
      </p:sp>
      <p:sp>
        <p:nvSpPr>
          <p:cNvPr id="13" name="Shape 11"/>
          <p:cNvSpPr>
            <a:spLocks noGrp="1"/>
          </p:cNvSpPr>
          <p:nvPr/>
        </p:nvSpPr>
        <p:spPr>
          <a:xfrm>
            <a:off x="10671048" y="301752"/>
            <a:ext cx="68580" cy="68580"/>
          </a:xfrm>
          <a:prstGeom prst="ellipse">
            <a:avLst/>
          </a:prstGeom>
          <a:solidFill>
            <a:srgbClr val="C7DAD6"/>
          </a:solidFill>
          <a:ln w="12700">
            <a:solidFill>
              <a:srgbClr val="C7DAD6"/>
            </a:solidFill>
            <a:prstDash val="solid"/>
          </a:ln>
        </p:spPr>
        <p:txBody>
          <a:bodyPr/>
          <a:lstStyle/>
          <a:p/>
        </p:txBody>
      </p:sp>
      <p:sp>
        <p:nvSpPr>
          <p:cNvPr id="14" name="Shape 12"/>
          <p:cNvSpPr>
            <a:spLocks noGrp="1"/>
          </p:cNvSpPr>
          <p:nvPr/>
        </p:nvSpPr>
        <p:spPr>
          <a:xfrm>
            <a:off x="10881360" y="301752"/>
            <a:ext cx="68580" cy="68580"/>
          </a:xfrm>
          <a:prstGeom prst="ellipse">
            <a:avLst/>
          </a:prstGeom>
          <a:solidFill>
            <a:srgbClr val="C7DAD6"/>
          </a:solidFill>
          <a:ln w="12700">
            <a:solidFill>
              <a:srgbClr val="C7DAD6"/>
            </a:solidFill>
            <a:prstDash val="solid"/>
          </a:ln>
        </p:spPr>
        <p:txBody>
          <a:bodyPr/>
          <a:lstStyle/>
          <a:p/>
        </p:txBody>
      </p:sp>
      <p:sp>
        <p:nvSpPr>
          <p:cNvPr id="15" name="Shape 13"/>
          <p:cNvSpPr>
            <a:spLocks noGrp="1"/>
          </p:cNvSpPr>
          <p:nvPr/>
        </p:nvSpPr>
        <p:spPr>
          <a:xfrm>
            <a:off x="11091672" y="301752"/>
            <a:ext cx="68580" cy="68580"/>
          </a:xfrm>
          <a:prstGeom prst="ellipse">
            <a:avLst/>
          </a:prstGeom>
          <a:solidFill>
            <a:srgbClr val="C7DAD6"/>
          </a:solidFill>
          <a:ln w="12700">
            <a:solidFill>
              <a:srgbClr val="C7DAD6"/>
            </a:solidFill>
            <a:prstDash val="solid"/>
          </a:ln>
        </p:spPr>
        <p:txBody>
          <a:bodyPr/>
          <a:lstStyle/>
          <a:p/>
        </p:txBody>
      </p:sp>
      <p:sp>
        <p:nvSpPr>
          <p:cNvPr id="16" name="Shape 14"/>
          <p:cNvSpPr>
            <a:spLocks noGrp="1"/>
          </p:cNvSpPr>
          <p:nvPr/>
        </p:nvSpPr>
        <p:spPr>
          <a:xfrm>
            <a:off x="11301984" y="301752"/>
            <a:ext cx="68580" cy="68580"/>
          </a:xfrm>
          <a:prstGeom prst="ellipse">
            <a:avLst/>
          </a:prstGeom>
          <a:solidFill>
            <a:srgbClr val="C7DAD6"/>
          </a:solidFill>
          <a:ln w="12700">
            <a:solidFill>
              <a:srgbClr val="C7DAD6"/>
            </a:solidFill>
            <a:prstDash val="solid"/>
          </a:ln>
        </p:spPr>
        <p:txBody>
          <a:bodyPr/>
          <a:lstStyle/>
          <a:p/>
        </p:txBody>
      </p:sp>
      <p:sp>
        <p:nvSpPr>
          <p:cNvPr id="17" name="Text 15"/>
          <p:cNvSpPr>
            <a:spLocks noGrp="1"/>
          </p:cNvSpPr>
          <p:nvPr/>
        </p:nvSpPr>
        <p:spPr>
          <a:xfrm>
            <a:off x="658368" y="713232"/>
            <a:ext cx="10652760" cy="49377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2550" b="1">
                <a:solidFill>
                  <a:srgbClr val="14383E"/>
                </a:solidFill>
                <a:latin typeface="Noto Sans CJK SC"/>
                <a:ea typeface="Noto Sans CJK SC"/>
                <a:cs typeface="Noto Sans CJK SC"/>
              </a:rPr>
              <a:t>Plan–Execute：计划与执行分开</a:t>
            </a:r>
            <a:endParaRPr sz="2550"/>
          </a:p>
        </p:txBody>
      </p:sp>
      <p:sp>
        <p:nvSpPr>
          <p:cNvPr id="18" name="Text 16"/>
          <p:cNvSpPr>
            <a:spLocks noGrp="1"/>
          </p:cNvSpPr>
          <p:nvPr/>
        </p:nvSpPr>
        <p:spPr>
          <a:xfrm>
            <a:off x="658368" y="1197864"/>
            <a:ext cx="10469880" cy="29260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r>
              <a:rPr sz="1170">
                <a:solidFill>
                  <a:srgbClr val="44585C"/>
                </a:solidFill>
                <a:latin typeface="Noto Sans CJK SC"/>
                <a:ea typeface="Noto Sans CJK SC"/>
                <a:cs typeface="Noto Sans CJK SC"/>
              </a:rPr>
              <a:t>Planner 先产出完整步骤，系统数清写操作并做校验后，Executor 才能开始调用工具。</a:t>
            </a:r>
            <a:endParaRPr sz="1170">
              <a:solidFill>
                <a:srgbClr val="6B8185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9" name="Shape 17"/>
          <p:cNvSpPr>
            <a:spLocks noGrp="1"/>
          </p:cNvSpPr>
          <p:nvPr/>
        </p:nvSpPr>
        <p:spPr>
          <a:xfrm>
            <a:off x="658368" y="6510528"/>
            <a:ext cx="10835640" cy="0"/>
          </a:xfrm>
          <a:prstGeom prst="line">
            <a:avLst/>
          </a:prstGeom>
          <a:noFill/>
          <a:ln w="11430">
            <a:solidFill>
              <a:srgbClr val="D7E7E3"/>
            </a:solidFill>
            <a:prstDash val="solid"/>
          </a:ln>
        </p:spPr>
        <p:txBody>
          <a:bodyPr/>
          <a:lstStyle/>
          <a:p/>
        </p:txBody>
      </p:sp>
      <p:sp>
        <p:nvSpPr>
          <p:cNvPr id="20" name="Text 18"/>
          <p:cNvSpPr>
            <a:spLocks noGrp="1"/>
          </p:cNvSpPr>
          <p:nvPr/>
        </p:nvSpPr>
        <p:spPr>
          <a:xfrm>
            <a:off x="658368" y="6556248"/>
            <a:ext cx="2103120" cy="16459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750" b="1" spc="40">
                <a:solidFill>
                  <a:srgbClr val="5C7276"/>
                </a:solidFill>
                <a:latin typeface="Noto Sans CJK SC"/>
                <a:ea typeface="Noto Sans CJK SC"/>
                <a:cs typeface="Noto Sans CJK SC"/>
              </a:rPr>
              <a:t>CUSTOMER SERVICE AI AGENT</a:t>
            </a:r>
            <a:endParaRPr sz="750"/>
          </a:p>
        </p:txBody>
      </p:sp>
      <p:sp>
        <p:nvSpPr>
          <p:cNvPr id="21" name="Text 19"/>
          <p:cNvSpPr>
            <a:spLocks noGrp="1"/>
          </p:cNvSpPr>
          <p:nvPr/>
        </p:nvSpPr>
        <p:spPr>
          <a:xfrm>
            <a:off x="10698480" y="6519672"/>
            <a:ext cx="749808" cy="21945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</a:pPr>
            <a:r>
              <a:rPr sz="880" b="1">
                <a:solidFill>
                  <a:srgbClr val="076B50"/>
                </a:solidFill>
                <a:latin typeface="Noto Sans CJK SC"/>
                <a:ea typeface="Noto Sans CJK SC"/>
                <a:cs typeface="Noto Sans CJK SC"/>
              </a:rPr>
              <a:t>42</a:t>
            </a:r>
            <a:endParaRPr sz="880" b="1">
              <a:solidFill>
                <a:srgbClr val="00A7A7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2" name="Shape 20"/>
          <p:cNvSpPr>
            <a:spLocks noGrp="1"/>
          </p:cNvSpPr>
          <p:nvPr/>
        </p:nvSpPr>
        <p:spPr>
          <a:xfrm>
            <a:off x="841248" y="1920240"/>
            <a:ext cx="2907792" cy="3346704"/>
          </a:xfrm>
          <a:prstGeom prst="roundRect">
            <a:avLst>
              <a:gd name="adj" fmla="val 5031"/>
            </a:avLst>
          </a:prstGeom>
          <a:solidFill>
            <a:srgbClr val="EAF3FF"/>
          </a:solidFill>
          <a:ln w="12700">
            <a:solidFill>
              <a:srgbClr val="2F80ED"/>
            </a:solidFill>
            <a:prstDash val="solid"/>
          </a:ln>
          <a:effectLst>
            <a:outerShdw blurRad="27940" dist="50800" dir="2700000" algn="bl" rotWithShape="0">
              <a:srgbClr val="436264">
                <a:alpha val="12000"/>
              </a:srgbClr>
            </a:outerShdw>
          </a:effectLst>
        </p:spPr>
        <p:txBody>
          <a:bodyPr/>
          <a:lstStyle/>
          <a:p/>
        </p:txBody>
      </p:sp>
      <p:sp>
        <p:nvSpPr>
          <p:cNvPr id="24" name="Shape 22"/>
          <p:cNvSpPr>
            <a:spLocks noGrp="1"/>
          </p:cNvSpPr>
          <p:nvPr/>
        </p:nvSpPr>
        <p:spPr>
          <a:xfrm>
            <a:off x="1929384" y="2240280"/>
            <a:ext cx="658368" cy="658368"/>
          </a:xfrm>
          <a:prstGeom prst="ellipse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  <p:txBody>
          <a:bodyPr/>
          <a:lstStyle/>
          <a:p/>
        </p:txBody>
      </p:sp>
      <p:pic>
        <p:nvPicPr>
          <p:cNvPr id="113" name="Image 0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120311" y="2431207"/>
            <a:ext cx="276515" cy="276515"/>
          </a:xfrm>
          <a:prstGeom prst="rect">
            <a:avLst/>
          </a:prstGeom>
        </p:spPr>
      </p:pic>
      <p:sp>
        <p:nvSpPr>
          <p:cNvPr id="26" name="Text 23"/>
          <p:cNvSpPr>
            <a:spLocks noGrp="1"/>
          </p:cNvSpPr>
          <p:nvPr/>
        </p:nvSpPr>
        <p:spPr>
          <a:xfrm>
            <a:off x="1188720" y="3108960"/>
            <a:ext cx="2212848" cy="31089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sz="1800" b="1">
                <a:solidFill>
                  <a:srgbClr val="14383E"/>
                </a:solidFill>
                <a:latin typeface="Noto Sans CJK SC"/>
                <a:ea typeface="Noto Sans CJK SC"/>
                <a:cs typeface="Noto Sans CJK SC"/>
              </a:rPr>
              <a:t>Planner</a:t>
            </a:r>
            <a:endParaRPr sz="1800"/>
          </a:p>
        </p:txBody>
      </p:sp>
      <p:sp>
        <p:nvSpPr>
          <p:cNvPr id="27" name="Text 24"/>
          <p:cNvSpPr>
            <a:spLocks noGrp="1"/>
          </p:cNvSpPr>
          <p:nvPr/>
        </p:nvSpPr>
        <p:spPr>
          <a:xfrm>
            <a:off x="1170432" y="3538728"/>
            <a:ext cx="2249424" cy="25603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sz="900">
                <a:solidFill>
                  <a:srgbClr val="44585C"/>
                </a:solidFill>
                <a:latin typeface="Noto Sans CJK SC"/>
                <a:ea typeface="Noto Sans CJK SC"/>
                <a:cs typeface="Noto Sans CJK SC"/>
              </a:rPr>
              <a:t>读取 Skill 定义与当前上下文</a:t>
            </a:r>
            <a:endParaRPr sz="900"/>
          </a:p>
        </p:txBody>
      </p:sp>
      <p:sp>
        <p:nvSpPr>
          <p:cNvPr id="28" name="Shape 25"/>
          <p:cNvSpPr>
            <a:spLocks noGrp="1"/>
          </p:cNvSpPr>
          <p:nvPr/>
        </p:nvSpPr>
        <p:spPr>
          <a:xfrm>
            <a:off x="1170432" y="3977640"/>
            <a:ext cx="2249424" cy="265176"/>
          </a:xfrm>
          <a:prstGeom prst="roundRect">
            <a:avLst>
              <a:gd name="adj" fmla="val 34483"/>
            </a:avLst>
          </a:prstGeom>
          <a:solidFill>
            <a:srgbClr val="FFFFFF"/>
          </a:solidFill>
          <a:ln w="12700">
            <a:solidFill>
              <a:srgbClr val="2F80ED"/>
            </a:solidFill>
            <a:prstDash val="solid"/>
          </a:ln>
        </p:spPr>
        <p:txBody>
          <a:bodyPr/>
          <a:lstStyle/>
          <a:p/>
        </p:txBody>
      </p:sp>
      <p:sp>
        <p:nvSpPr>
          <p:cNvPr id="29" name="Text 26"/>
          <p:cNvSpPr>
            <a:spLocks noGrp="1"/>
          </p:cNvSpPr>
          <p:nvPr/>
        </p:nvSpPr>
        <p:spPr>
          <a:xfrm>
            <a:off x="1170432" y="3977640"/>
            <a:ext cx="2249424" cy="26517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sz="790" b="1">
                <a:solidFill>
                  <a:srgbClr val="1B5FC4"/>
                </a:solidFill>
                <a:latin typeface="Noto Sans CJK SC"/>
                <a:ea typeface="Noto Sans CJK SC"/>
                <a:cs typeface="Noto Sans CJK SC"/>
              </a:rPr>
              <a:t>生成显式步骤</a:t>
            </a:r>
            <a:endParaRPr sz="790"/>
          </a:p>
        </p:txBody>
      </p:sp>
      <p:sp>
        <p:nvSpPr>
          <p:cNvPr id="30" name="Shape 27"/>
          <p:cNvSpPr>
            <a:spLocks noGrp="1"/>
          </p:cNvSpPr>
          <p:nvPr/>
        </p:nvSpPr>
        <p:spPr>
          <a:xfrm>
            <a:off x="1170432" y="4325112"/>
            <a:ext cx="2249424" cy="265176"/>
          </a:xfrm>
          <a:prstGeom prst="roundRect">
            <a:avLst>
              <a:gd name="adj" fmla="val 34483"/>
            </a:avLst>
          </a:prstGeom>
          <a:solidFill>
            <a:srgbClr val="FFFFFF"/>
          </a:solidFill>
          <a:ln w="12700">
            <a:solidFill>
              <a:srgbClr val="2F80ED"/>
            </a:solidFill>
            <a:prstDash val="solid"/>
          </a:ln>
        </p:spPr>
        <p:txBody>
          <a:bodyPr/>
          <a:lstStyle/>
          <a:p/>
        </p:txBody>
      </p:sp>
      <p:sp>
        <p:nvSpPr>
          <p:cNvPr id="31" name="Text 28"/>
          <p:cNvSpPr>
            <a:spLocks noGrp="1"/>
          </p:cNvSpPr>
          <p:nvPr/>
        </p:nvSpPr>
        <p:spPr>
          <a:xfrm>
            <a:off x="1170432" y="4325112"/>
            <a:ext cx="2249424" cy="26517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sz="790" b="1">
                <a:solidFill>
                  <a:srgbClr val="1B5FC4"/>
                </a:solidFill>
                <a:latin typeface="Noto Sans CJK SC"/>
                <a:ea typeface="Noto Sans CJK SC"/>
                <a:cs typeface="Noto Sans CJK SC"/>
              </a:rPr>
              <a:t>标记查询与写操作</a:t>
            </a:r>
            <a:endParaRPr sz="790"/>
          </a:p>
        </p:txBody>
      </p:sp>
      <p:sp>
        <p:nvSpPr>
          <p:cNvPr id="32" name="Shape 29"/>
          <p:cNvSpPr>
            <a:spLocks noGrp="1"/>
          </p:cNvSpPr>
          <p:nvPr/>
        </p:nvSpPr>
        <p:spPr>
          <a:xfrm>
            <a:off x="1170432" y="4672584"/>
            <a:ext cx="2249424" cy="265176"/>
          </a:xfrm>
          <a:prstGeom prst="roundRect">
            <a:avLst>
              <a:gd name="adj" fmla="val 34483"/>
            </a:avLst>
          </a:prstGeom>
          <a:solidFill>
            <a:srgbClr val="FFFFFF"/>
          </a:solidFill>
          <a:ln w="12700">
            <a:solidFill>
              <a:srgbClr val="2F80ED"/>
            </a:solidFill>
            <a:prstDash val="solid"/>
          </a:ln>
        </p:spPr>
        <p:txBody>
          <a:bodyPr/>
          <a:lstStyle/>
          <a:p/>
        </p:txBody>
      </p:sp>
      <p:sp>
        <p:nvSpPr>
          <p:cNvPr id="33" name="Text 30"/>
          <p:cNvSpPr>
            <a:spLocks noGrp="1"/>
          </p:cNvSpPr>
          <p:nvPr/>
        </p:nvSpPr>
        <p:spPr>
          <a:xfrm>
            <a:off x="1170432" y="4672584"/>
            <a:ext cx="2249424" cy="26517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sz="790" b="1">
                <a:solidFill>
                  <a:srgbClr val="1B5FC4"/>
                </a:solidFill>
                <a:latin typeface="Noto Sans CJK SC"/>
                <a:ea typeface="Noto Sans CJK SC"/>
                <a:cs typeface="Noto Sans CJK SC"/>
              </a:rPr>
              <a:t>给出停止与降级条件</a:t>
            </a:r>
            <a:endParaRPr sz="790"/>
          </a:p>
        </p:txBody>
      </p:sp>
      <p:sp>
        <p:nvSpPr>
          <p:cNvPr id="34" name="Shape 31"/>
          <p:cNvSpPr>
            <a:spLocks noGrp="1"/>
          </p:cNvSpPr>
          <p:nvPr/>
        </p:nvSpPr>
        <p:spPr>
          <a:xfrm>
            <a:off x="4123944" y="2432304"/>
            <a:ext cx="3858768" cy="2322576"/>
          </a:xfrm>
          <a:prstGeom prst="roundRect">
            <a:avLst>
              <a:gd name="adj" fmla="val 6299"/>
            </a:avLst>
          </a:prstGeom>
          <a:solidFill>
            <a:srgbClr val="FFFFFF"/>
          </a:solidFill>
          <a:ln w="12700">
            <a:solidFill>
              <a:srgbClr val="6B6FD8"/>
            </a:solidFill>
            <a:prstDash val="solid"/>
          </a:ln>
          <a:effectLst>
            <a:outerShdw blurRad="27940" dist="50800" dir="2700000" algn="bl" rotWithShape="0">
              <a:srgbClr val="436264">
                <a:alpha val="12000"/>
              </a:srgbClr>
            </a:outerShdw>
          </a:effectLst>
        </p:spPr>
        <p:txBody>
          <a:bodyPr/>
          <a:lstStyle/>
          <a:p/>
        </p:txBody>
      </p:sp>
      <p:sp>
        <p:nvSpPr>
          <p:cNvPr id="36" name="Text 33"/>
          <p:cNvSpPr>
            <a:spLocks noGrp="1"/>
          </p:cNvSpPr>
          <p:nvPr/>
        </p:nvSpPr>
        <p:spPr>
          <a:xfrm>
            <a:off x="4462272" y="2724912"/>
            <a:ext cx="3182112" cy="27432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sz="1600" b="1">
                <a:solidFill>
                  <a:srgbClr val="14383E"/>
                </a:solidFill>
                <a:latin typeface="Noto Sans CJK SC"/>
                <a:ea typeface="Noto Sans CJK SC"/>
                <a:cs typeface="Noto Sans CJK SC"/>
              </a:rPr>
              <a:t>结构化执行计划</a:t>
            </a:r>
            <a:endParaRPr sz="1600"/>
          </a:p>
        </p:txBody>
      </p:sp>
      <p:sp>
        <p:nvSpPr>
          <p:cNvPr id="37" name="Shape 34"/>
          <p:cNvSpPr>
            <a:spLocks noGrp="1"/>
          </p:cNvSpPr>
          <p:nvPr/>
        </p:nvSpPr>
        <p:spPr>
          <a:xfrm>
            <a:off x="4407408" y="3310128"/>
            <a:ext cx="566928" cy="786384"/>
          </a:xfrm>
          <a:prstGeom prst="roundRect">
            <a:avLst>
              <a:gd name="adj" fmla="val 16129"/>
            </a:avLst>
          </a:prstGeom>
          <a:solidFill>
            <a:srgbClr val="EAF3FF"/>
          </a:solidFill>
          <a:ln w="12700">
            <a:solidFill>
              <a:srgbClr val="2F80ED"/>
            </a:solidFill>
            <a:prstDash val="solid"/>
          </a:ln>
        </p:spPr>
        <p:txBody>
          <a:bodyPr/>
          <a:lstStyle/>
          <a:p/>
        </p:txBody>
      </p:sp>
      <p:sp>
        <p:nvSpPr>
          <p:cNvPr id="38" name="Text 35"/>
          <p:cNvSpPr>
            <a:spLocks noGrp="1"/>
          </p:cNvSpPr>
          <p:nvPr/>
        </p:nvSpPr>
        <p:spPr>
          <a:xfrm>
            <a:off x="4581144" y="3401568"/>
            <a:ext cx="219456" cy="18288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sz="820" b="1">
                <a:solidFill>
                  <a:srgbClr val="1B5FC4"/>
                </a:solidFill>
                <a:latin typeface="Noto Sans CJK SC"/>
                <a:ea typeface="Noto Sans CJK SC"/>
                <a:cs typeface="Noto Sans CJK SC"/>
              </a:rPr>
              <a:t>1</a:t>
            </a:r>
            <a:endParaRPr sz="820"/>
          </a:p>
        </p:txBody>
      </p:sp>
      <p:sp>
        <p:nvSpPr>
          <p:cNvPr id="39" name="Text 36"/>
          <p:cNvSpPr>
            <a:spLocks noGrp="1"/>
          </p:cNvSpPr>
          <p:nvPr/>
        </p:nvSpPr>
        <p:spPr>
          <a:xfrm>
            <a:off x="4453128" y="3639312"/>
            <a:ext cx="475488" cy="31089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sz="720" b="1">
                <a:solidFill>
                  <a:srgbClr val="14383E"/>
                </a:solidFill>
                <a:latin typeface="Noto Sans CJK SC"/>
                <a:ea typeface="Noto Sans CJK SC"/>
                <a:cs typeface="Noto Sans CJK SC"/>
              </a:rPr>
              <a:t>查询订单</a:t>
            </a:r>
            <a:endParaRPr sz="720"/>
          </a:p>
        </p:txBody>
      </p:sp>
      <p:sp>
        <p:nvSpPr>
          <p:cNvPr id="40" name="Shape 37"/>
          <p:cNvSpPr>
            <a:spLocks noGrp="1"/>
          </p:cNvSpPr>
          <p:nvPr/>
        </p:nvSpPr>
        <p:spPr>
          <a:xfrm>
            <a:off x="5065776" y="3310128"/>
            <a:ext cx="566928" cy="786384"/>
          </a:xfrm>
          <a:prstGeom prst="roundRect">
            <a:avLst>
              <a:gd name="adj" fmla="val 16129"/>
            </a:avLst>
          </a:prstGeom>
          <a:solidFill>
            <a:srgbClr val="E7F7F7"/>
          </a:solidFill>
          <a:ln w="12700">
            <a:solidFill>
              <a:srgbClr val="00A7A7"/>
            </a:solidFill>
            <a:prstDash val="solid"/>
          </a:ln>
        </p:spPr>
        <p:txBody>
          <a:bodyPr/>
          <a:lstStyle/>
          <a:p/>
        </p:txBody>
      </p:sp>
      <p:sp>
        <p:nvSpPr>
          <p:cNvPr id="41" name="Text 38"/>
          <p:cNvSpPr>
            <a:spLocks noGrp="1"/>
          </p:cNvSpPr>
          <p:nvPr/>
        </p:nvSpPr>
        <p:spPr>
          <a:xfrm>
            <a:off x="5239512" y="3401568"/>
            <a:ext cx="219456" cy="18288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sz="820" b="1">
                <a:solidFill>
                  <a:srgbClr val="00706F"/>
                </a:solidFill>
                <a:latin typeface="Noto Sans CJK SC"/>
                <a:ea typeface="Noto Sans CJK SC"/>
                <a:cs typeface="Noto Sans CJK SC"/>
              </a:rPr>
              <a:t>2</a:t>
            </a:r>
            <a:endParaRPr sz="820"/>
          </a:p>
        </p:txBody>
      </p:sp>
      <p:sp>
        <p:nvSpPr>
          <p:cNvPr id="42" name="Text 39"/>
          <p:cNvSpPr>
            <a:spLocks noGrp="1"/>
          </p:cNvSpPr>
          <p:nvPr/>
        </p:nvSpPr>
        <p:spPr>
          <a:xfrm>
            <a:off x="5111496" y="3639312"/>
            <a:ext cx="475488" cy="31089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sz="720" b="1">
                <a:solidFill>
                  <a:srgbClr val="14383E"/>
                </a:solidFill>
                <a:latin typeface="Noto Sans CJK SC"/>
                <a:ea typeface="Noto Sans CJK SC"/>
                <a:cs typeface="Noto Sans CJK SC"/>
              </a:rPr>
              <a:t>校验状态</a:t>
            </a:r>
            <a:endParaRPr sz="720"/>
          </a:p>
        </p:txBody>
      </p:sp>
      <p:sp>
        <p:nvSpPr>
          <p:cNvPr id="43" name="Shape 40"/>
          <p:cNvSpPr>
            <a:spLocks noGrp="1"/>
          </p:cNvSpPr>
          <p:nvPr/>
        </p:nvSpPr>
        <p:spPr>
          <a:xfrm>
            <a:off x="5724144" y="3310128"/>
            <a:ext cx="566928" cy="786384"/>
          </a:xfrm>
          <a:prstGeom prst="roundRect">
            <a:avLst>
              <a:gd name="adj" fmla="val 16129"/>
            </a:avLst>
          </a:prstGeom>
          <a:solidFill>
            <a:srgbClr val="FFF6E5"/>
          </a:solidFill>
          <a:ln w="12700">
            <a:solidFill>
              <a:srgbClr val="F7AA2B"/>
            </a:solidFill>
            <a:prstDash val="solid"/>
          </a:ln>
        </p:spPr>
        <p:txBody>
          <a:bodyPr/>
          <a:lstStyle/>
          <a:p/>
        </p:txBody>
      </p:sp>
      <p:sp>
        <p:nvSpPr>
          <p:cNvPr id="44" name="Text 41"/>
          <p:cNvSpPr>
            <a:spLocks noGrp="1"/>
          </p:cNvSpPr>
          <p:nvPr/>
        </p:nvSpPr>
        <p:spPr>
          <a:xfrm>
            <a:off x="5897880" y="3401568"/>
            <a:ext cx="219456" cy="18288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sz="820" b="1">
                <a:solidFill>
                  <a:srgbClr val="F7AA2B"/>
                </a:solidFill>
                <a:latin typeface="Noto Sans CJK SC"/>
                <a:ea typeface="Noto Sans CJK SC"/>
                <a:cs typeface="Noto Sans CJK SC"/>
              </a:rPr>
              <a:t>3</a:t>
            </a:r>
            <a:endParaRPr sz="820"/>
          </a:p>
        </p:txBody>
      </p:sp>
      <p:sp>
        <p:nvSpPr>
          <p:cNvPr id="45" name="Text 42"/>
          <p:cNvSpPr>
            <a:spLocks noGrp="1"/>
          </p:cNvSpPr>
          <p:nvPr/>
        </p:nvSpPr>
        <p:spPr>
          <a:xfrm>
            <a:off x="5769864" y="3639312"/>
            <a:ext cx="475488" cy="31089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sz="720" b="1">
                <a:solidFill>
                  <a:srgbClr val="14383E"/>
                </a:solidFill>
                <a:latin typeface="Noto Sans CJK SC"/>
                <a:ea typeface="Noto Sans CJK SC"/>
                <a:cs typeface="Noto Sans CJK SC"/>
              </a:rPr>
              <a:t>客户确认</a:t>
            </a:r>
            <a:endParaRPr sz="720"/>
          </a:p>
        </p:txBody>
      </p:sp>
      <p:sp>
        <p:nvSpPr>
          <p:cNvPr id="46" name="Shape 43"/>
          <p:cNvSpPr>
            <a:spLocks noGrp="1"/>
          </p:cNvSpPr>
          <p:nvPr/>
        </p:nvSpPr>
        <p:spPr>
          <a:xfrm>
            <a:off x="6382512" y="3310128"/>
            <a:ext cx="566928" cy="786384"/>
          </a:xfrm>
          <a:prstGeom prst="roundRect">
            <a:avLst>
              <a:gd name="adj" fmla="val 16129"/>
            </a:avLst>
          </a:prstGeom>
          <a:solidFill>
            <a:srgbClr val="FFF2E8"/>
          </a:solidFill>
          <a:ln w="12700">
            <a:solidFill>
              <a:srgbClr val="F28B36"/>
            </a:solidFill>
            <a:prstDash val="solid"/>
          </a:ln>
        </p:spPr>
        <p:txBody>
          <a:bodyPr/>
          <a:lstStyle/>
          <a:p/>
        </p:txBody>
      </p:sp>
      <p:sp>
        <p:nvSpPr>
          <p:cNvPr id="47" name="Text 44"/>
          <p:cNvSpPr>
            <a:spLocks noGrp="1"/>
          </p:cNvSpPr>
          <p:nvPr/>
        </p:nvSpPr>
        <p:spPr>
          <a:xfrm>
            <a:off x="6556248" y="3401568"/>
            <a:ext cx="219456" cy="18288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sz="820" b="1">
                <a:solidFill>
                  <a:srgbClr val="9A5210"/>
                </a:solidFill>
                <a:latin typeface="Noto Sans CJK SC"/>
                <a:ea typeface="Noto Sans CJK SC"/>
                <a:cs typeface="Noto Sans CJK SC"/>
              </a:rPr>
              <a:t>4</a:t>
            </a:r>
            <a:endParaRPr sz="820"/>
          </a:p>
        </p:txBody>
      </p:sp>
      <p:sp>
        <p:nvSpPr>
          <p:cNvPr id="48" name="Text 45"/>
          <p:cNvSpPr>
            <a:spLocks noGrp="1"/>
          </p:cNvSpPr>
          <p:nvPr/>
        </p:nvSpPr>
        <p:spPr>
          <a:xfrm>
            <a:off x="6428232" y="3639312"/>
            <a:ext cx="475488" cy="31089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sz="720" b="1">
                <a:solidFill>
                  <a:srgbClr val="14383E"/>
                </a:solidFill>
                <a:latin typeface="Noto Sans CJK SC"/>
                <a:ea typeface="Noto Sans CJK SC"/>
                <a:cs typeface="Noto Sans CJK SC"/>
              </a:rPr>
              <a:t>执行修改</a:t>
            </a:r>
            <a:endParaRPr sz="720"/>
          </a:p>
        </p:txBody>
      </p:sp>
      <p:sp>
        <p:nvSpPr>
          <p:cNvPr id="49" name="Shape 46"/>
          <p:cNvSpPr>
            <a:spLocks noGrp="1"/>
          </p:cNvSpPr>
          <p:nvPr/>
        </p:nvSpPr>
        <p:spPr>
          <a:xfrm>
            <a:off x="7040880" y="3310128"/>
            <a:ext cx="566928" cy="786384"/>
          </a:xfrm>
          <a:prstGeom prst="roundRect">
            <a:avLst>
              <a:gd name="adj" fmla="val 16129"/>
            </a:avLst>
          </a:prstGeom>
          <a:solidFill>
            <a:srgbClr val="EEF0FF"/>
          </a:solidFill>
          <a:ln w="12700">
            <a:solidFill>
              <a:srgbClr val="6B6FD8"/>
            </a:solidFill>
            <a:prstDash val="solid"/>
          </a:ln>
        </p:spPr>
        <p:txBody>
          <a:bodyPr/>
          <a:lstStyle/>
          <a:p/>
        </p:txBody>
      </p:sp>
      <p:sp>
        <p:nvSpPr>
          <p:cNvPr id="50" name="Text 47"/>
          <p:cNvSpPr>
            <a:spLocks noGrp="1"/>
          </p:cNvSpPr>
          <p:nvPr/>
        </p:nvSpPr>
        <p:spPr>
          <a:xfrm>
            <a:off x="7214616" y="3401568"/>
            <a:ext cx="219456" cy="18288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sz="820" b="1">
                <a:solidFill>
                  <a:srgbClr val="4A4EB0"/>
                </a:solidFill>
                <a:latin typeface="Noto Sans CJK SC"/>
                <a:ea typeface="Noto Sans CJK SC"/>
                <a:cs typeface="Noto Sans CJK SC"/>
              </a:rPr>
              <a:t>5</a:t>
            </a:r>
            <a:endParaRPr sz="820"/>
          </a:p>
        </p:txBody>
      </p:sp>
      <p:sp>
        <p:nvSpPr>
          <p:cNvPr id="51" name="Text 48"/>
          <p:cNvSpPr>
            <a:spLocks noGrp="1"/>
          </p:cNvSpPr>
          <p:nvPr/>
        </p:nvSpPr>
        <p:spPr>
          <a:xfrm>
            <a:off x="7086600" y="3639312"/>
            <a:ext cx="475488" cy="31089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sz="720" b="1">
                <a:solidFill>
                  <a:srgbClr val="14383E"/>
                </a:solidFill>
                <a:latin typeface="Noto Sans CJK SC"/>
                <a:ea typeface="Noto Sans CJK SC"/>
                <a:cs typeface="Noto Sans CJK SC"/>
              </a:rPr>
              <a:t>回写审计</a:t>
            </a:r>
            <a:endParaRPr sz="720"/>
          </a:p>
        </p:txBody>
      </p:sp>
      <p:sp>
        <p:nvSpPr>
          <p:cNvPr id="52" name="Shape 49"/>
          <p:cNvSpPr>
            <a:spLocks noGrp="1"/>
          </p:cNvSpPr>
          <p:nvPr/>
        </p:nvSpPr>
        <p:spPr>
          <a:xfrm>
            <a:off x="8339328" y="1920240"/>
            <a:ext cx="2907792" cy="3346704"/>
          </a:xfrm>
          <a:prstGeom prst="roundRect">
            <a:avLst>
              <a:gd name="adj" fmla="val 5031"/>
            </a:avLst>
          </a:prstGeom>
          <a:solidFill>
            <a:srgbClr val="FFF2E8"/>
          </a:solidFill>
          <a:ln w="12700">
            <a:solidFill>
              <a:srgbClr val="F28B36"/>
            </a:solidFill>
            <a:prstDash val="solid"/>
          </a:ln>
          <a:effectLst>
            <a:outerShdw blurRad="27940" dist="50800" dir="2700000" algn="bl" rotWithShape="0">
              <a:srgbClr val="436264">
                <a:alpha val="12000"/>
              </a:srgbClr>
            </a:outerShdw>
          </a:effectLst>
        </p:spPr>
        <p:txBody>
          <a:bodyPr/>
          <a:lstStyle/>
          <a:p/>
        </p:txBody>
      </p:sp>
      <p:sp>
        <p:nvSpPr>
          <p:cNvPr id="54" name="Shape 51"/>
          <p:cNvSpPr>
            <a:spLocks noGrp="1"/>
          </p:cNvSpPr>
          <p:nvPr/>
        </p:nvSpPr>
        <p:spPr>
          <a:xfrm>
            <a:off x="9464040" y="2240280"/>
            <a:ext cx="658368" cy="658368"/>
          </a:xfrm>
          <a:prstGeom prst="ellipse">
            <a:avLst/>
          </a:prstGeom>
          <a:solidFill>
            <a:srgbClr val="F28B36"/>
          </a:solidFill>
          <a:ln w="12700">
            <a:solidFill>
              <a:srgbClr val="F28B36"/>
            </a:solidFill>
            <a:prstDash val="solid"/>
          </a:ln>
        </p:spPr>
        <p:txBody>
          <a:bodyPr/>
          <a:lstStyle/>
          <a:p/>
        </p:txBody>
      </p:sp>
      <p:pic>
        <p:nvPicPr>
          <p:cNvPr id="141" name="Image 1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654967" y="2431207"/>
            <a:ext cx="276515" cy="276515"/>
          </a:xfrm>
          <a:prstGeom prst="rect">
            <a:avLst/>
          </a:prstGeom>
        </p:spPr>
      </p:pic>
      <p:sp>
        <p:nvSpPr>
          <p:cNvPr id="56" name="Text 52"/>
          <p:cNvSpPr>
            <a:spLocks noGrp="1"/>
          </p:cNvSpPr>
          <p:nvPr/>
        </p:nvSpPr>
        <p:spPr>
          <a:xfrm>
            <a:off x="8659368" y="3108960"/>
            <a:ext cx="2267712" cy="31089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sz="1800" b="1">
                <a:solidFill>
                  <a:srgbClr val="14383E"/>
                </a:solidFill>
                <a:latin typeface="Noto Sans CJK SC"/>
                <a:ea typeface="Noto Sans CJK SC"/>
                <a:cs typeface="Noto Sans CJK SC"/>
              </a:rPr>
              <a:t>Executor</a:t>
            </a:r>
            <a:endParaRPr sz="1800"/>
          </a:p>
        </p:txBody>
      </p:sp>
      <p:sp>
        <p:nvSpPr>
          <p:cNvPr id="57" name="Text 53"/>
          <p:cNvSpPr>
            <a:spLocks noGrp="1"/>
          </p:cNvSpPr>
          <p:nvPr/>
        </p:nvSpPr>
        <p:spPr>
          <a:xfrm>
            <a:off x="8641080" y="3538728"/>
            <a:ext cx="2304288" cy="25603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sz="900">
                <a:solidFill>
                  <a:srgbClr val="44585C"/>
                </a:solidFill>
                <a:latin typeface="Noto Sans CJK SC"/>
                <a:ea typeface="Noto Sans CJK SC"/>
                <a:cs typeface="Noto Sans CJK SC"/>
              </a:rPr>
              <a:t>按计划调用被授权的业务能力</a:t>
            </a:r>
            <a:endParaRPr sz="900"/>
          </a:p>
        </p:txBody>
      </p:sp>
      <p:sp>
        <p:nvSpPr>
          <p:cNvPr id="58" name="Shape 54"/>
          <p:cNvSpPr>
            <a:spLocks noGrp="1"/>
          </p:cNvSpPr>
          <p:nvPr/>
        </p:nvSpPr>
        <p:spPr>
          <a:xfrm>
            <a:off x="8641080" y="3977640"/>
            <a:ext cx="2304288" cy="265176"/>
          </a:xfrm>
          <a:prstGeom prst="roundRect">
            <a:avLst>
              <a:gd name="adj" fmla="val 34483"/>
            </a:avLst>
          </a:prstGeom>
          <a:solidFill>
            <a:srgbClr val="FFFFFF"/>
          </a:solidFill>
          <a:ln w="12700">
            <a:solidFill>
              <a:srgbClr val="F28B36"/>
            </a:solidFill>
            <a:prstDash val="solid"/>
          </a:ln>
        </p:spPr>
        <p:txBody>
          <a:bodyPr/>
          <a:lstStyle/>
          <a:p/>
        </p:txBody>
      </p:sp>
      <p:sp>
        <p:nvSpPr>
          <p:cNvPr id="59" name="Text 55"/>
          <p:cNvSpPr>
            <a:spLocks noGrp="1"/>
          </p:cNvSpPr>
          <p:nvPr/>
        </p:nvSpPr>
        <p:spPr>
          <a:xfrm>
            <a:off x="8641080" y="3977640"/>
            <a:ext cx="2304288" cy="26517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sz="790" b="1">
                <a:solidFill>
                  <a:srgbClr val="9A5210"/>
                </a:solidFill>
                <a:latin typeface="Noto Sans CJK SC"/>
                <a:ea typeface="Noto Sans CJK SC"/>
                <a:cs typeface="Noto Sans CJK SC"/>
              </a:rPr>
              <a:t>执行前再校验</a:t>
            </a:r>
            <a:endParaRPr sz="790"/>
          </a:p>
        </p:txBody>
      </p:sp>
      <p:sp>
        <p:nvSpPr>
          <p:cNvPr id="60" name="Shape 56"/>
          <p:cNvSpPr>
            <a:spLocks noGrp="1"/>
          </p:cNvSpPr>
          <p:nvPr/>
        </p:nvSpPr>
        <p:spPr>
          <a:xfrm>
            <a:off x="8641080" y="4325112"/>
            <a:ext cx="2304288" cy="265176"/>
          </a:xfrm>
          <a:prstGeom prst="roundRect">
            <a:avLst>
              <a:gd name="adj" fmla="val 34483"/>
            </a:avLst>
          </a:prstGeom>
          <a:solidFill>
            <a:srgbClr val="FFFFFF"/>
          </a:solidFill>
          <a:ln w="12700">
            <a:solidFill>
              <a:srgbClr val="F28B36"/>
            </a:solidFill>
            <a:prstDash val="solid"/>
          </a:ln>
        </p:spPr>
        <p:txBody>
          <a:bodyPr/>
          <a:lstStyle/>
          <a:p/>
        </p:txBody>
      </p:sp>
      <p:sp>
        <p:nvSpPr>
          <p:cNvPr id="61" name="Text 57"/>
          <p:cNvSpPr>
            <a:spLocks noGrp="1"/>
          </p:cNvSpPr>
          <p:nvPr/>
        </p:nvSpPr>
        <p:spPr>
          <a:xfrm>
            <a:off x="8641080" y="4325112"/>
            <a:ext cx="2304288" cy="26517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sz="790" b="1">
                <a:solidFill>
                  <a:srgbClr val="9A5210"/>
                </a:solidFill>
                <a:latin typeface="Noto Sans CJK SC"/>
                <a:ea typeface="Noto Sans CJK SC"/>
                <a:cs typeface="Noto Sans CJK SC"/>
              </a:rPr>
              <a:t>记录工具与参数</a:t>
            </a:r>
            <a:endParaRPr sz="790"/>
          </a:p>
        </p:txBody>
      </p:sp>
      <p:sp>
        <p:nvSpPr>
          <p:cNvPr id="62" name="Shape 58"/>
          <p:cNvSpPr>
            <a:spLocks noGrp="1"/>
          </p:cNvSpPr>
          <p:nvPr/>
        </p:nvSpPr>
        <p:spPr>
          <a:xfrm>
            <a:off x="8641080" y="4672584"/>
            <a:ext cx="2304288" cy="265176"/>
          </a:xfrm>
          <a:prstGeom prst="roundRect">
            <a:avLst>
              <a:gd name="adj" fmla="val 34483"/>
            </a:avLst>
          </a:prstGeom>
          <a:solidFill>
            <a:srgbClr val="FFFFFF"/>
          </a:solidFill>
          <a:ln w="12700">
            <a:solidFill>
              <a:srgbClr val="F28B36"/>
            </a:solidFill>
            <a:prstDash val="solid"/>
          </a:ln>
        </p:spPr>
        <p:txBody>
          <a:bodyPr/>
          <a:lstStyle/>
          <a:p/>
        </p:txBody>
      </p:sp>
      <p:sp>
        <p:nvSpPr>
          <p:cNvPr id="63" name="Text 59"/>
          <p:cNvSpPr>
            <a:spLocks noGrp="1"/>
          </p:cNvSpPr>
          <p:nvPr/>
        </p:nvSpPr>
        <p:spPr>
          <a:xfrm>
            <a:off x="8641080" y="4672584"/>
            <a:ext cx="2304288" cy="26517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sz="790" b="1">
                <a:solidFill>
                  <a:srgbClr val="9A5210"/>
                </a:solidFill>
                <a:latin typeface="Noto Sans CJK SC"/>
                <a:ea typeface="Noto Sans CJK SC"/>
                <a:cs typeface="Noto Sans CJK SC"/>
              </a:rPr>
              <a:t>异常时按预设路径退出</a:t>
            </a:r>
            <a:endParaRPr sz="790"/>
          </a:p>
        </p:txBody>
      </p:sp>
      <p:sp>
        <p:nvSpPr>
          <p:cNvPr id="64" name="Shape 60"/>
          <p:cNvSpPr>
            <a:spLocks noGrp="1"/>
          </p:cNvSpPr>
          <p:nvPr/>
        </p:nvSpPr>
        <p:spPr>
          <a:xfrm>
            <a:off x="3803904" y="3218688"/>
            <a:ext cx="237744" cy="347472"/>
          </a:xfrm>
          <a:prstGeom prst="chevron">
            <a:avLst/>
          </a:prstGeom>
          <a:solidFill>
            <a:srgbClr val="93AAA8"/>
          </a:solidFill>
          <a:ln w="12700">
            <a:solidFill>
              <a:srgbClr val="93AAA8"/>
            </a:solidFill>
            <a:prstDash val="solid"/>
          </a:ln>
        </p:spPr>
        <p:txBody>
          <a:bodyPr/>
          <a:lstStyle/>
          <a:p/>
        </p:txBody>
      </p:sp>
      <p:sp>
        <p:nvSpPr>
          <p:cNvPr id="65" name="Shape 61"/>
          <p:cNvSpPr>
            <a:spLocks noGrp="1"/>
          </p:cNvSpPr>
          <p:nvPr/>
        </p:nvSpPr>
        <p:spPr>
          <a:xfrm>
            <a:off x="8028432" y="3218688"/>
            <a:ext cx="237744" cy="347472"/>
          </a:xfrm>
          <a:prstGeom prst="chevron">
            <a:avLst/>
          </a:prstGeom>
          <a:solidFill>
            <a:srgbClr val="93AAA8"/>
          </a:solidFill>
          <a:ln w="12700">
            <a:solidFill>
              <a:srgbClr val="93AAA8"/>
            </a:solidFill>
            <a:prstDash val="solid"/>
          </a:ln>
        </p:spPr>
        <p:txBody>
          <a:bodyPr/>
          <a:lstStyle/>
          <a:p/>
        </p:txBody>
      </p:sp>
      <p:sp>
        <p:nvSpPr>
          <p:cNvPr id="66" name="Shape 62"/>
          <p:cNvSpPr>
            <a:spLocks noGrp="1"/>
          </p:cNvSpPr>
          <p:nvPr/>
        </p:nvSpPr>
        <p:spPr>
          <a:xfrm>
            <a:off x="3218688" y="5596128"/>
            <a:ext cx="5394960" cy="310896"/>
          </a:xfrm>
          <a:prstGeom prst="roundRect">
            <a:avLst>
              <a:gd name="adj" fmla="val 29412"/>
            </a:avLst>
          </a:prstGeom>
          <a:solidFill>
            <a:srgbClr val="EEF0FF"/>
          </a:solidFill>
          <a:ln w="12700">
            <a:solidFill>
              <a:srgbClr val="6B6FD8"/>
            </a:solidFill>
            <a:prstDash val="solid"/>
          </a:ln>
        </p:spPr>
        <p:txBody>
          <a:bodyPr/>
          <a:lstStyle/>
          <a:p/>
        </p:txBody>
      </p:sp>
      <p:sp>
        <p:nvSpPr>
          <p:cNvPr id="67" name="Text 63"/>
          <p:cNvSpPr>
            <a:spLocks noGrp="1"/>
          </p:cNvSpPr>
          <p:nvPr/>
        </p:nvSpPr>
        <p:spPr>
          <a:xfrm>
            <a:off x="3218688" y="5596128"/>
            <a:ext cx="5394960" cy="31089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sz="860" b="1">
                <a:solidFill>
                  <a:srgbClr val="4A4EB0"/>
                </a:solidFill>
                <a:latin typeface="Noto Sans CJK SC"/>
                <a:ea typeface="Noto Sans CJK SC"/>
                <a:cs typeface="Noto Sans CJK SC"/>
              </a:rPr>
              <a:t>Planner 先给出计划，Executor 再执行：步骤能检查，写操作能提前拦，失败也能定位。</a:t>
            </a:r>
            <a:endParaRPr sz="860"/>
          </a:p>
        </p:txBody>
      </p:sp>
      <p:sp>
        <p:nvSpPr>
          <p:cNvPr id="68" name="Rectangle 67"/>
          <p:cNvSpPr>
            <a:spLocks noGrp="1"/>
          </p:cNvSpPr>
          <p:nvPr/>
        </p:nvSpPr>
        <p:spPr>
          <a:xfrm>
            <a:off x="0" y="0"/>
            <a:ext cx="41148" cy="6858000"/>
          </a:xfrm>
          <a:prstGeom prst="rect">
            <a:avLst/>
          </a:prstGeom>
          <a:solidFill>
            <a:srgbClr val="0A8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82" name="圆角矩形 81"/>
          <p:cNvSpPr>
            <a:spLocks noGrp="1"/>
          </p:cNvSpPr>
          <p:nvPr/>
        </p:nvSpPr>
        <p:spPr>
          <a:xfrm>
            <a:off x="6565583" y="127635"/>
            <a:ext cx="4937760" cy="365760"/>
          </a:xfrm>
          <a:prstGeom prst="roundRect">
            <a:avLst>
              <a:gd name="adj" fmla="val 20833"/>
            </a:avLst>
          </a:prstGeom>
          <a:solidFill>
            <a:srgbClr val="F7FBF9"/>
          </a:solidFill>
          <a:ln w="12668">
            <a:solidFill>
              <a:srgbClr val="F7FBF9"/>
            </a:solidFill>
            <a:prstDash val="solid"/>
          </a:ln>
        </p:spPr>
        <p:txBody>
          <a:bodyPr/>
          <a:p/>
        </p:txBody>
      </p:sp>
      <p:sp>
        <p:nvSpPr>
          <p:cNvPr id="83" name="圆角矩形 82"/>
          <p:cNvSpPr>
            <a:spLocks noGrp="1"/>
          </p:cNvSpPr>
          <p:nvPr/>
        </p:nvSpPr>
        <p:spPr>
          <a:xfrm>
            <a:off x="6657023" y="164783"/>
            <a:ext cx="1154430" cy="264795"/>
          </a:xfrm>
          <a:prstGeom prst="roundRect">
            <a:avLst>
              <a:gd name="adj" fmla="val 28777"/>
            </a:avLst>
          </a:prstGeom>
          <a:solidFill>
            <a:srgbClr val="FFFFFF"/>
          </a:solidFill>
          <a:ln w="12668">
            <a:solidFill>
              <a:srgbClr val="C9DCD7"/>
            </a:solidFill>
            <a:prstDash val="solid"/>
          </a:ln>
        </p:spPr>
        <p:txBody>
          <a:bodyPr/>
          <a:p/>
        </p:txBody>
      </p:sp>
      <p:sp>
        <p:nvSpPr>
          <p:cNvPr id="84" name="矩形 83"/>
          <p:cNvSpPr>
            <a:spLocks noGrp="1"/>
          </p:cNvSpPr>
          <p:nvPr/>
        </p:nvSpPr>
        <p:spPr>
          <a:xfrm>
            <a:off x="6657023" y="187643"/>
            <a:ext cx="1154430" cy="182880"/>
          </a:xfrm>
          <a:prstGeom prst="rect">
            <a:avLst/>
          </a:prstGeom>
        </p:spPr>
        <p:txBody>
          <a:bodyPr anchor="ctr"/>
          <a:lstStyle/>
          <a:p>
            <a:pPr algn="ctr">
              <a:defRPr sz="650" b="0">
                <a:solidFill>
                  <a:srgbClr val="44585C"/>
                </a:solidFill>
              </a:defRPr>
            </a:pPr>
            <a:r>
              <a:t>理解</a:t>
            </a:r>
          </a:p>
        </p:txBody>
      </p:sp>
      <p:sp>
        <p:nvSpPr>
          <p:cNvPr id="85" name="圆角矩形 84"/>
          <p:cNvSpPr>
            <a:spLocks noGrp="1"/>
          </p:cNvSpPr>
          <p:nvPr/>
        </p:nvSpPr>
        <p:spPr>
          <a:xfrm>
            <a:off x="7857173" y="164783"/>
            <a:ext cx="1154430" cy="264795"/>
          </a:xfrm>
          <a:prstGeom prst="roundRect">
            <a:avLst>
              <a:gd name="adj" fmla="val 28777"/>
            </a:avLst>
          </a:prstGeom>
          <a:solidFill>
            <a:srgbClr val="FFFFFF"/>
          </a:solidFill>
          <a:ln w="12668">
            <a:solidFill>
              <a:srgbClr val="C9DCD7"/>
            </a:solidFill>
            <a:prstDash val="solid"/>
          </a:ln>
        </p:spPr>
        <p:txBody>
          <a:bodyPr/>
          <a:p/>
        </p:txBody>
      </p:sp>
      <p:sp>
        <p:nvSpPr>
          <p:cNvPr id="86" name="矩形 85"/>
          <p:cNvSpPr>
            <a:spLocks noGrp="1"/>
          </p:cNvSpPr>
          <p:nvPr/>
        </p:nvSpPr>
        <p:spPr>
          <a:xfrm>
            <a:off x="7857173" y="187643"/>
            <a:ext cx="1154430" cy="182880"/>
          </a:xfrm>
          <a:prstGeom prst="rect">
            <a:avLst/>
          </a:prstGeom>
        </p:spPr>
        <p:txBody>
          <a:bodyPr anchor="ctr"/>
          <a:lstStyle/>
          <a:p>
            <a:pPr algn="ctr">
              <a:defRPr sz="650" b="0">
                <a:solidFill>
                  <a:srgbClr val="44585C"/>
                </a:solidFill>
              </a:defRPr>
            </a:pPr>
            <a:r>
              <a:t>查询</a:t>
            </a:r>
          </a:p>
        </p:txBody>
      </p:sp>
      <p:sp>
        <p:nvSpPr>
          <p:cNvPr id="87" name="圆角矩形 86"/>
          <p:cNvSpPr>
            <a:spLocks noGrp="1"/>
          </p:cNvSpPr>
          <p:nvPr/>
        </p:nvSpPr>
        <p:spPr>
          <a:xfrm>
            <a:off x="9057323" y="164783"/>
            <a:ext cx="1154430" cy="264795"/>
          </a:xfrm>
          <a:prstGeom prst="roundRect">
            <a:avLst>
              <a:gd name="adj" fmla="val 28777"/>
            </a:avLst>
          </a:prstGeom>
          <a:solidFill>
            <a:srgbClr val="007574"/>
          </a:solidFill>
          <a:ln w="12668">
            <a:solidFill>
              <a:srgbClr val="007574"/>
            </a:solidFill>
            <a:prstDash val="solid"/>
          </a:ln>
        </p:spPr>
        <p:txBody>
          <a:bodyPr/>
          <a:p/>
        </p:txBody>
      </p:sp>
      <p:sp>
        <p:nvSpPr>
          <p:cNvPr id="88" name="矩形 87"/>
          <p:cNvSpPr>
            <a:spLocks noGrp="1"/>
          </p:cNvSpPr>
          <p:nvPr/>
        </p:nvSpPr>
        <p:spPr>
          <a:xfrm>
            <a:off x="9057323" y="187643"/>
            <a:ext cx="1154430" cy="182880"/>
          </a:xfrm>
          <a:prstGeom prst="rect">
            <a:avLst/>
          </a:prstGeom>
        </p:spPr>
        <p:txBody>
          <a:bodyPr anchor="ctr"/>
          <a:lstStyle/>
          <a:p>
            <a:pPr algn="ctr">
              <a:defRPr sz="660" b="1">
                <a:solidFill>
                  <a:srgbClr val="FFFFFF"/>
                </a:solidFill>
              </a:defRPr>
            </a:pPr>
            <a:r>
              <a:t>决策</a:t>
            </a:r>
          </a:p>
        </p:txBody>
      </p:sp>
      <p:sp>
        <p:nvSpPr>
          <p:cNvPr id="89" name="圆角矩形 88"/>
          <p:cNvSpPr>
            <a:spLocks noGrp="1"/>
          </p:cNvSpPr>
          <p:nvPr/>
        </p:nvSpPr>
        <p:spPr>
          <a:xfrm>
            <a:off x="10257473" y="164783"/>
            <a:ext cx="1154430" cy="264795"/>
          </a:xfrm>
          <a:prstGeom prst="roundRect">
            <a:avLst>
              <a:gd name="adj" fmla="val 28777"/>
            </a:avLst>
          </a:prstGeom>
          <a:solidFill>
            <a:srgbClr val="FFFFFF"/>
          </a:solidFill>
          <a:ln w="12668">
            <a:solidFill>
              <a:srgbClr val="C9DCD7"/>
            </a:solidFill>
            <a:prstDash val="solid"/>
          </a:ln>
        </p:spPr>
        <p:txBody>
          <a:bodyPr/>
          <a:p/>
        </p:txBody>
      </p:sp>
      <p:sp>
        <p:nvSpPr>
          <p:cNvPr id="90" name="矩形 89"/>
          <p:cNvSpPr>
            <a:spLocks noGrp="1"/>
          </p:cNvSpPr>
          <p:nvPr/>
        </p:nvSpPr>
        <p:spPr>
          <a:xfrm>
            <a:off x="10257473" y="187643"/>
            <a:ext cx="1154430" cy="182880"/>
          </a:xfrm>
          <a:prstGeom prst="rect">
            <a:avLst/>
          </a:prstGeom>
        </p:spPr>
        <p:txBody>
          <a:bodyPr anchor="ctr"/>
          <a:lstStyle/>
          <a:p>
            <a:pPr algn="ctr">
              <a:defRPr sz="650" b="0">
                <a:solidFill>
                  <a:srgbClr val="44585C"/>
                </a:solidFill>
              </a:defRPr>
            </a:pPr>
            <a:r>
              <a:t>执行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hape 0"/>
          <p:cNvSpPr>
            <a:spLocks noGrp="1"/>
          </p:cNvSpPr>
          <p:nvPr/>
        </p:nvSpPr>
        <p:spPr>
          <a:xfrm>
            <a:off x="16459" y="16459"/>
            <a:ext cx="38405" cy="6825082"/>
          </a:xfrm>
          <a:prstGeom prst="rect">
            <a:avLst/>
          </a:prstGeom>
          <a:solidFill>
            <a:srgbClr val="0A8F6A"/>
          </a:solidFill>
          <a:ln w="12700">
            <a:solidFill>
              <a:srgbClr val="12B07D"/>
            </a:solidFill>
            <a:prstDash val="solid"/>
          </a:ln>
        </p:spPr>
        <p:txBody>
          <a:bodyPr/>
          <a:lstStyle/>
          <a:p/>
        </p:txBody>
      </p:sp>
      <p:sp>
        <p:nvSpPr>
          <p:cNvPr id="4" name="Shape 2"/>
          <p:cNvSpPr>
            <a:spLocks noGrp="1"/>
          </p:cNvSpPr>
          <p:nvPr/>
        </p:nvSpPr>
        <p:spPr>
          <a:xfrm>
            <a:off x="10104120" y="73152"/>
            <a:ext cx="1874520" cy="1353312"/>
          </a:xfrm>
          <a:prstGeom prst="ellipse">
            <a:avLst/>
          </a:prstGeom>
          <a:solidFill>
            <a:srgbClr val="E8F7F1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/>
        </p:txBody>
      </p:sp>
      <p:sp>
        <p:nvSpPr>
          <p:cNvPr id="5" name="Shape 3"/>
          <p:cNvSpPr>
            <a:spLocks noGrp="1"/>
          </p:cNvSpPr>
          <p:nvPr/>
        </p:nvSpPr>
        <p:spPr>
          <a:xfrm>
            <a:off x="91440" y="5596128"/>
            <a:ext cx="1719072" cy="1051560"/>
          </a:xfrm>
          <a:prstGeom prst="ellipse">
            <a:avLst/>
          </a:prstGeom>
          <a:solidFill>
            <a:srgbClr val="FFF2E8">
              <a:alpha val="68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/>
        </p:txBody>
      </p:sp>
      <p:sp>
        <p:nvSpPr>
          <p:cNvPr id="6" name="Shape 4"/>
          <p:cNvSpPr>
            <a:spLocks noGrp="1"/>
          </p:cNvSpPr>
          <p:nvPr/>
        </p:nvSpPr>
        <p:spPr>
          <a:xfrm>
            <a:off x="658368" y="393192"/>
            <a:ext cx="68580" cy="68580"/>
          </a:xfrm>
          <a:prstGeom prst="ellipse">
            <a:avLst/>
          </a:prstGeom>
          <a:solidFill>
            <a:srgbClr val="0A8F6A"/>
          </a:solidFill>
          <a:ln w="12700">
            <a:solidFill>
              <a:srgbClr val="12B07D"/>
            </a:solidFill>
            <a:prstDash val="solid"/>
          </a:ln>
        </p:spPr>
        <p:txBody>
          <a:bodyPr/>
          <a:lstStyle/>
          <a:p/>
        </p:txBody>
      </p:sp>
      <p:sp>
        <p:nvSpPr>
          <p:cNvPr id="7" name="Shape 5"/>
          <p:cNvSpPr>
            <a:spLocks noGrp="1"/>
          </p:cNvSpPr>
          <p:nvPr/>
        </p:nvSpPr>
        <p:spPr>
          <a:xfrm>
            <a:off x="768096" y="427939"/>
            <a:ext cx="411480" cy="0"/>
          </a:xfrm>
          <a:prstGeom prst="line">
            <a:avLst/>
          </a:prstGeom>
          <a:noFill/>
          <a:ln w="15875">
            <a:solidFill>
              <a:srgbClr val="0A8F6A"/>
            </a:solidFill>
            <a:prstDash val="solid"/>
          </a:ln>
        </p:spPr>
        <p:txBody>
          <a:bodyPr/>
          <a:lstStyle/>
          <a:p/>
        </p:txBody>
      </p:sp>
      <p:sp>
        <p:nvSpPr>
          <p:cNvPr id="8" name="Text 6"/>
          <p:cNvSpPr>
            <a:spLocks noGrp="1"/>
          </p:cNvSpPr>
          <p:nvPr/>
        </p:nvSpPr>
        <p:spPr>
          <a:xfrm>
            <a:off x="1234440" y="265176"/>
            <a:ext cx="2331720" cy="31089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r>
              <a:rPr sz="1050" b="1">
                <a:solidFill>
                  <a:srgbClr val="076B50"/>
                </a:solidFill>
                <a:latin typeface="Noto Sans CJK SC"/>
                <a:ea typeface="Noto Sans CJK SC"/>
                <a:cs typeface="Noto Sans CJK SC"/>
              </a:rPr>
              <a:t>CHAPTER 5 · 能力与编排</a:t>
            </a:r>
            <a:endParaRPr sz="1050" b="1">
              <a:solidFill>
                <a:srgbClr val="00A7A7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9" name="Shape 7"/>
          <p:cNvSpPr>
            <a:spLocks noGrp="1"/>
          </p:cNvSpPr>
          <p:nvPr/>
        </p:nvSpPr>
        <p:spPr>
          <a:xfrm>
            <a:off x="9829800" y="301752"/>
            <a:ext cx="68580" cy="68580"/>
          </a:xfrm>
          <a:prstGeom prst="ellipse">
            <a:avLst/>
          </a:prstGeom>
          <a:solidFill>
            <a:srgbClr val="C7DAD6"/>
          </a:solidFill>
          <a:ln w="12700">
            <a:solidFill>
              <a:srgbClr val="C7DAD6"/>
            </a:solidFill>
            <a:prstDash val="solid"/>
          </a:ln>
        </p:spPr>
        <p:txBody>
          <a:bodyPr/>
          <a:lstStyle/>
          <a:p/>
        </p:txBody>
      </p:sp>
      <p:sp>
        <p:nvSpPr>
          <p:cNvPr id="10" name="Shape 8"/>
          <p:cNvSpPr>
            <a:spLocks noGrp="1"/>
          </p:cNvSpPr>
          <p:nvPr/>
        </p:nvSpPr>
        <p:spPr>
          <a:xfrm>
            <a:off x="10040112" y="301752"/>
            <a:ext cx="68580" cy="68580"/>
          </a:xfrm>
          <a:prstGeom prst="ellipse">
            <a:avLst/>
          </a:prstGeom>
          <a:solidFill>
            <a:srgbClr val="C7DAD6"/>
          </a:solidFill>
          <a:ln w="12700">
            <a:solidFill>
              <a:srgbClr val="C7DAD6"/>
            </a:solidFill>
            <a:prstDash val="solid"/>
          </a:ln>
        </p:spPr>
        <p:txBody>
          <a:bodyPr/>
          <a:lstStyle/>
          <a:p/>
        </p:txBody>
      </p:sp>
      <p:sp>
        <p:nvSpPr>
          <p:cNvPr id="11" name="Shape 9"/>
          <p:cNvSpPr>
            <a:spLocks noGrp="1"/>
          </p:cNvSpPr>
          <p:nvPr/>
        </p:nvSpPr>
        <p:spPr>
          <a:xfrm>
            <a:off x="10250424" y="301752"/>
            <a:ext cx="68580" cy="68580"/>
          </a:xfrm>
          <a:prstGeom prst="ellipse">
            <a:avLst/>
          </a:prstGeom>
          <a:solidFill>
            <a:srgbClr val="C7DAD6"/>
          </a:solidFill>
          <a:ln w="12700">
            <a:solidFill>
              <a:srgbClr val="C7DAD6"/>
            </a:solidFill>
            <a:prstDash val="solid"/>
          </a:ln>
        </p:spPr>
        <p:txBody>
          <a:bodyPr/>
          <a:lstStyle/>
          <a:p/>
        </p:txBody>
      </p:sp>
      <p:sp>
        <p:nvSpPr>
          <p:cNvPr id="12" name="Shape 10"/>
          <p:cNvSpPr>
            <a:spLocks noGrp="1"/>
          </p:cNvSpPr>
          <p:nvPr/>
        </p:nvSpPr>
        <p:spPr>
          <a:xfrm>
            <a:off x="10460736" y="301752"/>
            <a:ext cx="68580" cy="68580"/>
          </a:xfrm>
          <a:prstGeom prst="ellipse">
            <a:avLst/>
          </a:prstGeom>
          <a:solidFill>
            <a:srgbClr val="12B07D"/>
          </a:solidFill>
          <a:ln w="12700">
            <a:solidFill>
              <a:srgbClr val="12B07D"/>
            </a:solidFill>
            <a:prstDash val="solid"/>
          </a:ln>
        </p:spPr>
        <p:txBody>
          <a:bodyPr/>
          <a:lstStyle/>
          <a:p/>
        </p:txBody>
      </p:sp>
      <p:sp>
        <p:nvSpPr>
          <p:cNvPr id="13" name="Shape 11"/>
          <p:cNvSpPr>
            <a:spLocks noGrp="1"/>
          </p:cNvSpPr>
          <p:nvPr/>
        </p:nvSpPr>
        <p:spPr>
          <a:xfrm>
            <a:off x="10671048" y="301752"/>
            <a:ext cx="68580" cy="68580"/>
          </a:xfrm>
          <a:prstGeom prst="ellipse">
            <a:avLst/>
          </a:prstGeom>
          <a:solidFill>
            <a:srgbClr val="C7DAD6"/>
          </a:solidFill>
          <a:ln w="12700">
            <a:solidFill>
              <a:srgbClr val="C7DAD6"/>
            </a:solidFill>
            <a:prstDash val="solid"/>
          </a:ln>
        </p:spPr>
        <p:txBody>
          <a:bodyPr/>
          <a:lstStyle/>
          <a:p/>
        </p:txBody>
      </p:sp>
      <p:sp>
        <p:nvSpPr>
          <p:cNvPr id="14" name="Shape 12"/>
          <p:cNvSpPr>
            <a:spLocks noGrp="1"/>
          </p:cNvSpPr>
          <p:nvPr/>
        </p:nvSpPr>
        <p:spPr>
          <a:xfrm>
            <a:off x="10881360" y="301752"/>
            <a:ext cx="68580" cy="68580"/>
          </a:xfrm>
          <a:prstGeom prst="ellipse">
            <a:avLst/>
          </a:prstGeom>
          <a:solidFill>
            <a:srgbClr val="C7DAD6"/>
          </a:solidFill>
          <a:ln w="12700">
            <a:solidFill>
              <a:srgbClr val="C7DAD6"/>
            </a:solidFill>
            <a:prstDash val="solid"/>
          </a:ln>
        </p:spPr>
        <p:txBody>
          <a:bodyPr/>
          <a:lstStyle/>
          <a:p/>
        </p:txBody>
      </p:sp>
      <p:sp>
        <p:nvSpPr>
          <p:cNvPr id="15" name="Shape 13"/>
          <p:cNvSpPr>
            <a:spLocks noGrp="1"/>
          </p:cNvSpPr>
          <p:nvPr/>
        </p:nvSpPr>
        <p:spPr>
          <a:xfrm>
            <a:off x="11091672" y="301752"/>
            <a:ext cx="68580" cy="68580"/>
          </a:xfrm>
          <a:prstGeom prst="ellipse">
            <a:avLst/>
          </a:prstGeom>
          <a:solidFill>
            <a:srgbClr val="C7DAD6"/>
          </a:solidFill>
          <a:ln w="12700">
            <a:solidFill>
              <a:srgbClr val="C7DAD6"/>
            </a:solidFill>
            <a:prstDash val="solid"/>
          </a:ln>
        </p:spPr>
        <p:txBody>
          <a:bodyPr/>
          <a:lstStyle/>
          <a:p/>
        </p:txBody>
      </p:sp>
      <p:sp>
        <p:nvSpPr>
          <p:cNvPr id="16" name="Shape 14"/>
          <p:cNvSpPr>
            <a:spLocks noGrp="1"/>
          </p:cNvSpPr>
          <p:nvPr/>
        </p:nvSpPr>
        <p:spPr>
          <a:xfrm>
            <a:off x="11301984" y="301752"/>
            <a:ext cx="68580" cy="68580"/>
          </a:xfrm>
          <a:prstGeom prst="ellipse">
            <a:avLst/>
          </a:prstGeom>
          <a:solidFill>
            <a:srgbClr val="C7DAD6"/>
          </a:solidFill>
          <a:ln w="12700">
            <a:solidFill>
              <a:srgbClr val="C7DAD6"/>
            </a:solidFill>
            <a:prstDash val="solid"/>
          </a:ln>
        </p:spPr>
        <p:txBody>
          <a:bodyPr/>
          <a:lstStyle/>
          <a:p/>
        </p:txBody>
      </p:sp>
      <p:sp>
        <p:nvSpPr>
          <p:cNvPr id="17" name="Text 15"/>
          <p:cNvSpPr>
            <a:spLocks noGrp="1"/>
          </p:cNvSpPr>
          <p:nvPr/>
        </p:nvSpPr>
        <p:spPr>
          <a:xfrm>
            <a:off x="658368" y="713232"/>
            <a:ext cx="10652760" cy="49377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2550" b="1">
                <a:solidFill>
                  <a:srgbClr val="14383E"/>
                </a:solidFill>
                <a:latin typeface="Noto Sans CJK SC"/>
                <a:ea typeface="Noto Sans CJK SC"/>
                <a:cs typeface="Noto Sans CJK SC"/>
              </a:rPr>
              <a:t>多意图编排流程</a:t>
            </a:r>
            <a:endParaRPr sz="2550"/>
          </a:p>
        </p:txBody>
      </p:sp>
      <p:sp>
        <p:nvSpPr>
          <p:cNvPr id="18" name="Text 16"/>
          <p:cNvSpPr>
            <a:spLocks noGrp="1"/>
          </p:cNvSpPr>
          <p:nvPr/>
        </p:nvSpPr>
        <p:spPr>
          <a:xfrm>
            <a:off x="658368" y="1197864"/>
            <a:ext cx="10469880" cy="29260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1120">
                <a:solidFill>
                  <a:srgbClr val="44585C"/>
                </a:solidFill>
                <a:latin typeface="Noto Sans CJK SC"/>
                <a:ea typeface="Noto Sans CJK SC"/>
                <a:cs typeface="Noto Sans CJK SC"/>
              </a:rPr>
              <a:t>每个诉求单独识别和派发，最后再合并回复；只读任务可并行，写操作只保留一个 owner。</a:t>
            </a:r>
            <a:endParaRPr sz="1120"/>
          </a:p>
        </p:txBody>
      </p:sp>
      <p:sp>
        <p:nvSpPr>
          <p:cNvPr id="19" name="Shape 17"/>
          <p:cNvSpPr>
            <a:spLocks noGrp="1"/>
          </p:cNvSpPr>
          <p:nvPr/>
        </p:nvSpPr>
        <p:spPr>
          <a:xfrm>
            <a:off x="658368" y="6510528"/>
            <a:ext cx="10835640" cy="0"/>
          </a:xfrm>
          <a:prstGeom prst="line">
            <a:avLst/>
          </a:prstGeom>
          <a:noFill/>
          <a:ln w="11430">
            <a:solidFill>
              <a:srgbClr val="D7E7E3"/>
            </a:solidFill>
            <a:prstDash val="solid"/>
          </a:ln>
        </p:spPr>
        <p:txBody>
          <a:bodyPr/>
          <a:lstStyle/>
          <a:p/>
        </p:txBody>
      </p:sp>
      <p:sp>
        <p:nvSpPr>
          <p:cNvPr id="20" name="Text 18"/>
          <p:cNvSpPr>
            <a:spLocks noGrp="1"/>
          </p:cNvSpPr>
          <p:nvPr/>
        </p:nvSpPr>
        <p:spPr>
          <a:xfrm>
            <a:off x="658368" y="6556248"/>
            <a:ext cx="2103120" cy="16459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750" b="1" spc="40">
                <a:solidFill>
                  <a:srgbClr val="5C7276"/>
                </a:solidFill>
                <a:latin typeface="Noto Sans CJK SC"/>
                <a:ea typeface="Noto Sans CJK SC"/>
                <a:cs typeface="Noto Sans CJK SC"/>
              </a:rPr>
              <a:t>CUSTOMER SERVICE AI AGENT</a:t>
            </a:r>
            <a:endParaRPr sz="750"/>
          </a:p>
        </p:txBody>
      </p:sp>
      <p:sp>
        <p:nvSpPr>
          <p:cNvPr id="21" name="Text 19"/>
          <p:cNvSpPr>
            <a:spLocks noGrp="1"/>
          </p:cNvSpPr>
          <p:nvPr/>
        </p:nvSpPr>
        <p:spPr>
          <a:xfrm>
            <a:off x="10698480" y="6519672"/>
            <a:ext cx="749808" cy="21945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</a:pPr>
            <a:r>
              <a:rPr sz="880" b="1">
                <a:solidFill>
                  <a:srgbClr val="076B50"/>
                </a:solidFill>
                <a:latin typeface="Noto Sans CJK SC"/>
                <a:ea typeface="Noto Sans CJK SC"/>
                <a:cs typeface="Noto Sans CJK SC"/>
              </a:rPr>
              <a:t>44</a:t>
            </a:r>
            <a:endParaRPr sz="880" b="1">
              <a:solidFill>
                <a:srgbClr val="00A7A7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2" name="Shape 20"/>
          <p:cNvSpPr>
            <a:spLocks noGrp="1"/>
          </p:cNvSpPr>
          <p:nvPr/>
        </p:nvSpPr>
        <p:spPr>
          <a:xfrm>
            <a:off x="841248" y="1627632"/>
            <a:ext cx="10515600" cy="640080"/>
          </a:xfrm>
          <a:prstGeom prst="roundRect">
            <a:avLst>
              <a:gd name="adj" fmla="val 22857"/>
            </a:avLst>
          </a:prstGeom>
          <a:solidFill>
            <a:srgbClr val="FFFFFF"/>
          </a:solidFill>
          <a:ln w="12700">
            <a:solidFill>
              <a:srgbClr val="BFD9D4"/>
            </a:solidFill>
            <a:prstDash val="solid"/>
          </a:ln>
          <a:effectLst>
            <a:outerShdw blurRad="27940" dist="50800" dir="2700000" algn="bl" rotWithShape="0">
              <a:srgbClr val="436264">
                <a:alpha val="12000"/>
              </a:srgbClr>
            </a:outerShdw>
          </a:effectLst>
        </p:spPr>
        <p:txBody>
          <a:bodyPr/>
          <a:lstStyle/>
          <a:p/>
        </p:txBody>
      </p:sp>
      <p:sp>
        <p:nvSpPr>
          <p:cNvPr id="23" name="Shape 21"/>
          <p:cNvSpPr>
            <a:spLocks noGrp="1"/>
          </p:cNvSpPr>
          <p:nvPr/>
        </p:nvSpPr>
        <p:spPr>
          <a:xfrm>
            <a:off x="1051560" y="1783080"/>
            <a:ext cx="329184" cy="329184"/>
          </a:xfrm>
          <a:prstGeom prst="ellipse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  <p:txBody>
          <a:bodyPr/>
          <a:lstStyle/>
          <a:p/>
        </p:txBody>
      </p:sp>
      <p:pic>
        <p:nvPicPr>
          <p:cNvPr id="132" name="Image 0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7023" y="1878543"/>
            <a:ext cx="138257" cy="138257"/>
          </a:xfrm>
          <a:prstGeom prst="rect">
            <a:avLst/>
          </a:prstGeom>
        </p:spPr>
      </p:pic>
      <p:sp>
        <p:nvSpPr>
          <p:cNvPr id="25" name="Text 22"/>
          <p:cNvSpPr>
            <a:spLocks noGrp="1"/>
          </p:cNvSpPr>
          <p:nvPr/>
        </p:nvSpPr>
        <p:spPr>
          <a:xfrm>
            <a:off x="1517904" y="1737360"/>
            <a:ext cx="8028432" cy="25603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1220" b="1">
                <a:solidFill>
                  <a:srgbClr val="14383E"/>
                </a:solidFill>
                <a:latin typeface="Noto Sans CJK SC"/>
                <a:ea typeface="Noto Sans CJK SC"/>
                <a:cs typeface="Noto Sans CJK SC"/>
              </a:rPr>
              <a:t>“帮我查订单到哪了，顺便修改地址，再告诉我当前优惠。”</a:t>
            </a:r>
            <a:endParaRPr sz="1220"/>
          </a:p>
        </p:txBody>
      </p:sp>
      <p:sp>
        <p:nvSpPr>
          <p:cNvPr id="26" name="Shape 23"/>
          <p:cNvSpPr>
            <a:spLocks noGrp="1"/>
          </p:cNvSpPr>
          <p:nvPr/>
        </p:nvSpPr>
        <p:spPr>
          <a:xfrm>
            <a:off x="9747504" y="1810512"/>
            <a:ext cx="1280160" cy="256032"/>
          </a:xfrm>
          <a:prstGeom prst="roundRect">
            <a:avLst>
              <a:gd name="adj" fmla="val 35714"/>
            </a:avLst>
          </a:prstGeom>
          <a:solidFill>
            <a:srgbClr val="EAF3FF"/>
          </a:solidFill>
          <a:ln w="12700">
            <a:solidFill>
              <a:srgbClr val="2F80ED"/>
            </a:solidFill>
            <a:prstDash val="solid"/>
          </a:ln>
        </p:spPr>
        <p:txBody>
          <a:bodyPr/>
          <a:lstStyle/>
          <a:p/>
        </p:txBody>
      </p:sp>
      <p:sp>
        <p:nvSpPr>
          <p:cNvPr id="27" name="Text 24"/>
          <p:cNvSpPr>
            <a:spLocks noGrp="1"/>
          </p:cNvSpPr>
          <p:nvPr/>
        </p:nvSpPr>
        <p:spPr>
          <a:xfrm>
            <a:off x="9747504" y="1810512"/>
            <a:ext cx="1280160" cy="25603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sz="800" b="1">
                <a:solidFill>
                  <a:srgbClr val="1B5FC4"/>
                </a:solidFill>
                <a:latin typeface="Noto Sans CJK SC"/>
                <a:ea typeface="Noto Sans CJK SC"/>
                <a:cs typeface="Noto Sans CJK SC"/>
              </a:rPr>
              <a:t>3 个平级诉求</a:t>
            </a:r>
            <a:endParaRPr sz="800"/>
          </a:p>
        </p:txBody>
      </p:sp>
      <p:sp>
        <p:nvSpPr>
          <p:cNvPr id="28" name="Shape 25"/>
          <p:cNvSpPr>
            <a:spLocks noGrp="1"/>
          </p:cNvSpPr>
          <p:nvPr/>
        </p:nvSpPr>
        <p:spPr>
          <a:xfrm>
            <a:off x="841248" y="2670048"/>
            <a:ext cx="1828800" cy="1773936"/>
          </a:xfrm>
          <a:prstGeom prst="roundRect">
            <a:avLst>
              <a:gd name="adj" fmla="val 8247"/>
            </a:avLst>
          </a:prstGeom>
          <a:solidFill>
            <a:srgbClr val="EAF3FF"/>
          </a:solidFill>
          <a:ln w="12700">
            <a:solidFill>
              <a:srgbClr val="2F80ED"/>
            </a:solidFill>
            <a:prstDash val="solid"/>
          </a:ln>
          <a:effectLst>
            <a:outerShdw blurRad="27940" dist="50800" dir="2700000" algn="bl" rotWithShape="0">
              <a:srgbClr val="436264">
                <a:alpha val="12000"/>
              </a:srgbClr>
            </a:outerShdw>
          </a:effectLst>
        </p:spPr>
        <p:txBody>
          <a:bodyPr/>
          <a:lstStyle/>
          <a:p/>
        </p:txBody>
      </p:sp>
      <p:sp>
        <p:nvSpPr>
          <p:cNvPr id="30" name="Shape 27"/>
          <p:cNvSpPr>
            <a:spLocks noGrp="1"/>
          </p:cNvSpPr>
          <p:nvPr/>
        </p:nvSpPr>
        <p:spPr>
          <a:xfrm>
            <a:off x="1490472" y="2944368"/>
            <a:ext cx="530352" cy="530352"/>
          </a:xfrm>
          <a:prstGeom prst="ellipse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  <p:txBody>
          <a:bodyPr/>
          <a:lstStyle/>
          <a:p/>
        </p:txBody>
      </p:sp>
      <p:pic>
        <p:nvPicPr>
          <p:cNvPr id="138" name="Image 1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644274" y="3098170"/>
            <a:ext cx="222748" cy="222748"/>
          </a:xfrm>
          <a:prstGeom prst="rect">
            <a:avLst/>
          </a:prstGeom>
        </p:spPr>
      </p:pic>
      <p:sp>
        <p:nvSpPr>
          <p:cNvPr id="32" name="Text 28"/>
          <p:cNvSpPr>
            <a:spLocks noGrp="1"/>
          </p:cNvSpPr>
          <p:nvPr/>
        </p:nvSpPr>
        <p:spPr>
          <a:xfrm>
            <a:off x="932688" y="3730752"/>
            <a:ext cx="1645920" cy="2286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sz="1120" b="1">
                <a:solidFill>
                  <a:srgbClr val="14383E"/>
                </a:solidFill>
                <a:latin typeface="Noto Sans CJK SC"/>
                <a:ea typeface="Noto Sans CJK SC"/>
                <a:cs typeface="Noto Sans CJK SC"/>
              </a:rPr>
              <a:t>检测</a:t>
            </a:r>
            <a:endParaRPr sz="1120"/>
          </a:p>
        </p:txBody>
      </p:sp>
      <p:sp>
        <p:nvSpPr>
          <p:cNvPr id="33" name="Text 29"/>
          <p:cNvSpPr>
            <a:spLocks noGrp="1"/>
          </p:cNvSpPr>
          <p:nvPr/>
        </p:nvSpPr>
        <p:spPr>
          <a:xfrm>
            <a:off x="987552" y="4041648"/>
            <a:ext cx="1536192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sz="810">
                <a:solidFill>
                  <a:srgbClr val="44585C"/>
                </a:solidFill>
                <a:latin typeface="Noto Sans CJK SC"/>
                <a:ea typeface="Noto Sans CJK SC"/>
                <a:cs typeface="Noto Sans CJK SC"/>
              </a:rPr>
              <a:t>冻结客户想要的结果</a:t>
            </a:r>
            <a:endParaRPr sz="810"/>
          </a:p>
        </p:txBody>
      </p:sp>
      <p:sp>
        <p:nvSpPr>
          <p:cNvPr id="34" name="Shape 30"/>
          <p:cNvSpPr>
            <a:spLocks noGrp="1"/>
          </p:cNvSpPr>
          <p:nvPr/>
        </p:nvSpPr>
        <p:spPr>
          <a:xfrm>
            <a:off x="2706624" y="3438144"/>
            <a:ext cx="164592" cy="265176"/>
          </a:xfrm>
          <a:prstGeom prst="chevron">
            <a:avLst/>
          </a:prstGeom>
          <a:solidFill>
            <a:srgbClr val="95A9AA"/>
          </a:solidFill>
          <a:ln w="12700">
            <a:solidFill>
              <a:srgbClr val="95A9AA"/>
            </a:solidFill>
            <a:prstDash val="solid"/>
          </a:ln>
        </p:spPr>
        <p:txBody>
          <a:bodyPr/>
          <a:lstStyle/>
          <a:p/>
        </p:txBody>
      </p:sp>
      <p:sp>
        <p:nvSpPr>
          <p:cNvPr id="35" name="Shape 31"/>
          <p:cNvSpPr>
            <a:spLocks noGrp="1"/>
          </p:cNvSpPr>
          <p:nvPr/>
        </p:nvSpPr>
        <p:spPr>
          <a:xfrm>
            <a:off x="2880360" y="2670048"/>
            <a:ext cx="1828800" cy="1773936"/>
          </a:xfrm>
          <a:prstGeom prst="roundRect">
            <a:avLst>
              <a:gd name="adj" fmla="val 8247"/>
            </a:avLst>
          </a:prstGeom>
          <a:solidFill>
            <a:srgbClr val="E7F7F7"/>
          </a:solidFill>
          <a:ln w="12700">
            <a:solidFill>
              <a:srgbClr val="00A7A7"/>
            </a:solidFill>
            <a:prstDash val="solid"/>
          </a:ln>
          <a:effectLst>
            <a:outerShdw blurRad="27940" dist="50800" dir="2700000" algn="bl" rotWithShape="0">
              <a:srgbClr val="436264">
                <a:alpha val="12000"/>
              </a:srgbClr>
            </a:outerShdw>
          </a:effectLst>
        </p:spPr>
        <p:txBody>
          <a:bodyPr/>
          <a:lstStyle/>
          <a:p/>
        </p:txBody>
      </p:sp>
      <p:sp>
        <p:nvSpPr>
          <p:cNvPr id="37" name="Shape 33"/>
          <p:cNvSpPr>
            <a:spLocks noGrp="1"/>
          </p:cNvSpPr>
          <p:nvPr/>
        </p:nvSpPr>
        <p:spPr>
          <a:xfrm>
            <a:off x="3529584" y="2944368"/>
            <a:ext cx="530352" cy="530352"/>
          </a:xfrm>
          <a:prstGeom prst="ellipse">
            <a:avLst/>
          </a:prstGeom>
          <a:solidFill>
            <a:srgbClr val="00A7A7"/>
          </a:solidFill>
          <a:ln w="12700">
            <a:solidFill>
              <a:srgbClr val="00A7A7"/>
            </a:solidFill>
            <a:prstDash val="solid"/>
          </a:ln>
        </p:spPr>
        <p:txBody>
          <a:bodyPr/>
          <a:lstStyle/>
          <a:p/>
        </p:txBody>
      </p:sp>
      <p:pic>
        <p:nvPicPr>
          <p:cNvPr id="144" name="Image 2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683386" y="3098170"/>
            <a:ext cx="222748" cy="222748"/>
          </a:xfrm>
          <a:prstGeom prst="rect">
            <a:avLst/>
          </a:prstGeom>
        </p:spPr>
      </p:pic>
      <p:sp>
        <p:nvSpPr>
          <p:cNvPr id="39" name="Text 34"/>
          <p:cNvSpPr>
            <a:spLocks noGrp="1"/>
          </p:cNvSpPr>
          <p:nvPr/>
        </p:nvSpPr>
        <p:spPr>
          <a:xfrm>
            <a:off x="2971800" y="3730752"/>
            <a:ext cx="1645920" cy="2286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sz="1120" b="1">
                <a:solidFill>
                  <a:srgbClr val="14383E"/>
                </a:solidFill>
                <a:latin typeface="Noto Sans CJK SC"/>
                <a:ea typeface="Noto Sans CJK SC"/>
                <a:cs typeface="Noto Sans CJK SC"/>
              </a:rPr>
              <a:t>复核</a:t>
            </a:r>
            <a:endParaRPr sz="1120"/>
          </a:p>
        </p:txBody>
      </p:sp>
      <p:sp>
        <p:nvSpPr>
          <p:cNvPr id="40" name="Text 35"/>
          <p:cNvSpPr>
            <a:spLocks noGrp="1"/>
          </p:cNvSpPr>
          <p:nvPr/>
        </p:nvSpPr>
        <p:spPr>
          <a:xfrm>
            <a:off x="3026664" y="4041648"/>
            <a:ext cx="1536192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sz="810">
                <a:solidFill>
                  <a:srgbClr val="44585C"/>
                </a:solidFill>
                <a:latin typeface="Noto Sans CJK SC"/>
                <a:ea typeface="Noto Sans CJK SC"/>
                <a:cs typeface="Noto Sans CJK SC"/>
              </a:rPr>
              <a:t>peer 独立复核，不一致整轮作废</a:t>
            </a:r>
            <a:endParaRPr sz="810"/>
          </a:p>
        </p:txBody>
      </p:sp>
      <p:sp>
        <p:nvSpPr>
          <p:cNvPr id="41" name="Shape 36"/>
          <p:cNvSpPr>
            <a:spLocks noGrp="1"/>
          </p:cNvSpPr>
          <p:nvPr/>
        </p:nvSpPr>
        <p:spPr>
          <a:xfrm>
            <a:off x="4745736" y="3438144"/>
            <a:ext cx="164592" cy="265176"/>
          </a:xfrm>
          <a:prstGeom prst="chevron">
            <a:avLst/>
          </a:prstGeom>
          <a:solidFill>
            <a:srgbClr val="95A9AA"/>
          </a:solidFill>
          <a:ln w="12700">
            <a:solidFill>
              <a:srgbClr val="95A9AA"/>
            </a:solidFill>
            <a:prstDash val="solid"/>
          </a:ln>
        </p:spPr>
        <p:txBody>
          <a:bodyPr/>
          <a:lstStyle/>
          <a:p/>
        </p:txBody>
      </p:sp>
      <p:sp>
        <p:nvSpPr>
          <p:cNvPr id="42" name="Shape 37"/>
          <p:cNvSpPr>
            <a:spLocks noGrp="1"/>
          </p:cNvSpPr>
          <p:nvPr/>
        </p:nvSpPr>
        <p:spPr>
          <a:xfrm>
            <a:off x="4919472" y="2670048"/>
            <a:ext cx="1828800" cy="1773936"/>
          </a:xfrm>
          <a:prstGeom prst="roundRect">
            <a:avLst>
              <a:gd name="adj" fmla="val 8247"/>
            </a:avLst>
          </a:prstGeom>
          <a:solidFill>
            <a:srgbClr val="EEF0FF"/>
          </a:solidFill>
          <a:ln w="12700">
            <a:solidFill>
              <a:srgbClr val="6B6FD8"/>
            </a:solidFill>
            <a:prstDash val="solid"/>
          </a:ln>
          <a:effectLst>
            <a:outerShdw blurRad="27940" dist="50800" dir="2700000" algn="bl" rotWithShape="0">
              <a:srgbClr val="436264">
                <a:alpha val="12000"/>
              </a:srgbClr>
            </a:outerShdw>
          </a:effectLst>
        </p:spPr>
        <p:txBody>
          <a:bodyPr/>
          <a:lstStyle/>
          <a:p/>
        </p:txBody>
      </p:sp>
      <p:sp>
        <p:nvSpPr>
          <p:cNvPr id="44" name="Shape 39"/>
          <p:cNvSpPr>
            <a:spLocks noGrp="1"/>
          </p:cNvSpPr>
          <p:nvPr/>
        </p:nvSpPr>
        <p:spPr>
          <a:xfrm>
            <a:off x="5568696" y="2944368"/>
            <a:ext cx="530352" cy="530352"/>
          </a:xfrm>
          <a:prstGeom prst="ellipse">
            <a:avLst/>
          </a:prstGeom>
          <a:solidFill>
            <a:srgbClr val="6B6FD8"/>
          </a:solidFill>
          <a:ln w="12700">
            <a:solidFill>
              <a:srgbClr val="6B6FD8"/>
            </a:solidFill>
            <a:prstDash val="solid"/>
          </a:ln>
        </p:spPr>
        <p:txBody>
          <a:bodyPr/>
          <a:lstStyle/>
          <a:p/>
        </p:txBody>
      </p:sp>
      <p:pic>
        <p:nvPicPr>
          <p:cNvPr id="150" name="Image 3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722498" y="3098170"/>
            <a:ext cx="222748" cy="222748"/>
          </a:xfrm>
          <a:prstGeom prst="rect">
            <a:avLst/>
          </a:prstGeom>
        </p:spPr>
      </p:pic>
      <p:sp>
        <p:nvSpPr>
          <p:cNvPr id="46" name="Text 40"/>
          <p:cNvSpPr>
            <a:spLocks noGrp="1"/>
          </p:cNvSpPr>
          <p:nvPr/>
        </p:nvSpPr>
        <p:spPr>
          <a:xfrm>
            <a:off x="5010912" y="3730752"/>
            <a:ext cx="1645920" cy="2286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sz="1120" b="1">
                <a:solidFill>
                  <a:srgbClr val="14383E"/>
                </a:solidFill>
                <a:latin typeface="Noto Sans CJK SC"/>
                <a:ea typeface="Noto Sans CJK SC"/>
                <a:cs typeface="Noto Sans CJK SC"/>
              </a:rPr>
              <a:t>计划</a:t>
            </a:r>
            <a:endParaRPr sz="1120"/>
          </a:p>
        </p:txBody>
      </p:sp>
      <p:sp>
        <p:nvSpPr>
          <p:cNvPr id="47" name="Text 41"/>
          <p:cNvSpPr>
            <a:spLocks noGrp="1"/>
          </p:cNvSpPr>
          <p:nvPr/>
        </p:nvSpPr>
        <p:spPr>
          <a:xfrm>
            <a:off x="5065776" y="4041648"/>
            <a:ext cx="1536192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sz="810">
                <a:solidFill>
                  <a:srgbClr val="44585C"/>
                </a:solidFill>
                <a:latin typeface="Noto Sans CJK SC"/>
                <a:ea typeface="Noto Sans CJK SC"/>
                <a:cs typeface="Noto Sans CJK SC"/>
              </a:rPr>
              <a:t>写操作负责人按计数确定</a:t>
            </a:r>
            <a:endParaRPr sz="810"/>
          </a:p>
        </p:txBody>
      </p:sp>
      <p:sp>
        <p:nvSpPr>
          <p:cNvPr id="48" name="Shape 42"/>
          <p:cNvSpPr>
            <a:spLocks noGrp="1"/>
          </p:cNvSpPr>
          <p:nvPr/>
        </p:nvSpPr>
        <p:spPr>
          <a:xfrm>
            <a:off x="6784848" y="3438144"/>
            <a:ext cx="164592" cy="265176"/>
          </a:xfrm>
          <a:prstGeom prst="chevron">
            <a:avLst/>
          </a:prstGeom>
          <a:solidFill>
            <a:srgbClr val="95A9AA"/>
          </a:solidFill>
          <a:ln w="12700">
            <a:solidFill>
              <a:srgbClr val="95A9AA"/>
            </a:solidFill>
            <a:prstDash val="solid"/>
          </a:ln>
        </p:spPr>
        <p:txBody>
          <a:bodyPr/>
          <a:lstStyle/>
          <a:p/>
        </p:txBody>
      </p:sp>
      <p:sp>
        <p:nvSpPr>
          <p:cNvPr id="49" name="Shape 43"/>
          <p:cNvSpPr>
            <a:spLocks noGrp="1"/>
          </p:cNvSpPr>
          <p:nvPr/>
        </p:nvSpPr>
        <p:spPr>
          <a:xfrm>
            <a:off x="6958584" y="2670048"/>
            <a:ext cx="1828800" cy="1773936"/>
          </a:xfrm>
          <a:prstGeom prst="roundRect">
            <a:avLst>
              <a:gd name="adj" fmla="val 8247"/>
            </a:avLst>
          </a:prstGeom>
          <a:solidFill>
            <a:srgbClr val="FFF2E8"/>
          </a:solidFill>
          <a:ln w="12700">
            <a:solidFill>
              <a:srgbClr val="F28B36"/>
            </a:solidFill>
            <a:prstDash val="solid"/>
          </a:ln>
          <a:effectLst>
            <a:outerShdw blurRad="27940" dist="50800" dir="2700000" algn="bl" rotWithShape="0">
              <a:srgbClr val="436264">
                <a:alpha val="12000"/>
              </a:srgbClr>
            </a:outerShdw>
          </a:effectLst>
        </p:spPr>
        <p:txBody>
          <a:bodyPr/>
          <a:lstStyle/>
          <a:p/>
        </p:txBody>
      </p:sp>
      <p:sp>
        <p:nvSpPr>
          <p:cNvPr id="51" name="Shape 45"/>
          <p:cNvSpPr>
            <a:spLocks noGrp="1"/>
          </p:cNvSpPr>
          <p:nvPr/>
        </p:nvSpPr>
        <p:spPr>
          <a:xfrm>
            <a:off x="7607808" y="2944368"/>
            <a:ext cx="530352" cy="530352"/>
          </a:xfrm>
          <a:prstGeom prst="ellipse">
            <a:avLst/>
          </a:prstGeom>
          <a:solidFill>
            <a:srgbClr val="F28B36"/>
          </a:solidFill>
          <a:ln w="12700">
            <a:solidFill>
              <a:srgbClr val="F28B36"/>
            </a:solidFill>
            <a:prstDash val="solid"/>
          </a:ln>
        </p:spPr>
        <p:txBody>
          <a:bodyPr/>
          <a:lstStyle/>
          <a:p/>
        </p:txBody>
      </p:sp>
      <p:pic>
        <p:nvPicPr>
          <p:cNvPr id="156" name="Image 4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761610" y="3098170"/>
            <a:ext cx="222748" cy="222748"/>
          </a:xfrm>
          <a:prstGeom prst="rect">
            <a:avLst/>
          </a:prstGeom>
        </p:spPr>
      </p:pic>
      <p:sp>
        <p:nvSpPr>
          <p:cNvPr id="53" name="Text 46"/>
          <p:cNvSpPr>
            <a:spLocks noGrp="1"/>
          </p:cNvSpPr>
          <p:nvPr/>
        </p:nvSpPr>
        <p:spPr>
          <a:xfrm>
            <a:off x="7050024" y="3730752"/>
            <a:ext cx="1645920" cy="2286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sz="1120" b="1">
                <a:solidFill>
                  <a:srgbClr val="14383E"/>
                </a:solidFill>
                <a:latin typeface="Noto Sans CJK SC"/>
                <a:ea typeface="Noto Sans CJK SC"/>
                <a:cs typeface="Noto Sans CJK SC"/>
              </a:rPr>
              <a:t>派发</a:t>
            </a:r>
            <a:endParaRPr sz="1120"/>
          </a:p>
        </p:txBody>
      </p:sp>
      <p:sp>
        <p:nvSpPr>
          <p:cNvPr id="54" name="Text 47"/>
          <p:cNvSpPr>
            <a:spLocks noGrp="1"/>
          </p:cNvSpPr>
          <p:nvPr/>
        </p:nvSpPr>
        <p:spPr>
          <a:xfrm>
            <a:off x="7104888" y="4041648"/>
            <a:ext cx="1536192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sz="810">
                <a:solidFill>
                  <a:srgbClr val="44585C"/>
                </a:solidFill>
                <a:latin typeface="Noto Sans CJK SC"/>
                <a:ea typeface="Noto Sans CJK SC"/>
                <a:cs typeface="Noto Sans CJK SC"/>
              </a:rPr>
              <a:t>写串行，读并发</a:t>
            </a:r>
            <a:endParaRPr sz="810"/>
          </a:p>
        </p:txBody>
      </p:sp>
      <p:sp>
        <p:nvSpPr>
          <p:cNvPr id="55" name="Shape 48"/>
          <p:cNvSpPr>
            <a:spLocks noGrp="1"/>
          </p:cNvSpPr>
          <p:nvPr/>
        </p:nvSpPr>
        <p:spPr>
          <a:xfrm>
            <a:off x="8823960" y="3438144"/>
            <a:ext cx="164592" cy="265176"/>
          </a:xfrm>
          <a:prstGeom prst="chevron">
            <a:avLst/>
          </a:prstGeom>
          <a:solidFill>
            <a:srgbClr val="95A9AA"/>
          </a:solidFill>
          <a:ln w="12700">
            <a:solidFill>
              <a:srgbClr val="95A9AA"/>
            </a:solidFill>
            <a:prstDash val="solid"/>
          </a:ln>
        </p:spPr>
        <p:txBody>
          <a:bodyPr/>
          <a:lstStyle/>
          <a:p/>
        </p:txBody>
      </p:sp>
      <p:sp>
        <p:nvSpPr>
          <p:cNvPr id="56" name="Shape 49"/>
          <p:cNvSpPr>
            <a:spLocks noGrp="1"/>
          </p:cNvSpPr>
          <p:nvPr/>
        </p:nvSpPr>
        <p:spPr>
          <a:xfrm>
            <a:off x="8997696" y="2670048"/>
            <a:ext cx="1828800" cy="1773936"/>
          </a:xfrm>
          <a:prstGeom prst="roundRect">
            <a:avLst>
              <a:gd name="adj" fmla="val 8247"/>
            </a:avLst>
          </a:prstGeom>
          <a:solidFill>
            <a:srgbClr val="E8F7F1"/>
          </a:solidFill>
          <a:ln w="12700">
            <a:solidFill>
              <a:srgbClr val="0A8F6A"/>
            </a:solidFill>
            <a:prstDash val="solid"/>
          </a:ln>
          <a:effectLst>
            <a:outerShdw blurRad="27940" dist="50800" dir="2700000" algn="bl" rotWithShape="0">
              <a:srgbClr val="436264">
                <a:alpha val="12000"/>
              </a:srgbClr>
            </a:outerShdw>
          </a:effectLst>
        </p:spPr>
        <p:txBody>
          <a:bodyPr/>
          <a:lstStyle/>
          <a:p/>
        </p:txBody>
      </p:sp>
      <p:sp>
        <p:nvSpPr>
          <p:cNvPr id="58" name="Shape 51"/>
          <p:cNvSpPr>
            <a:spLocks noGrp="1"/>
          </p:cNvSpPr>
          <p:nvPr/>
        </p:nvSpPr>
        <p:spPr>
          <a:xfrm>
            <a:off x="9646920" y="2944368"/>
            <a:ext cx="530352" cy="530352"/>
          </a:xfrm>
          <a:prstGeom prst="ellipse">
            <a:avLst/>
          </a:prstGeom>
          <a:solidFill>
            <a:srgbClr val="0A8F6A"/>
          </a:solidFill>
          <a:ln w="12700">
            <a:solidFill>
              <a:srgbClr val="0A8F6A"/>
            </a:solidFill>
            <a:prstDash val="solid"/>
          </a:ln>
        </p:spPr>
        <p:txBody>
          <a:bodyPr/>
          <a:lstStyle/>
          <a:p/>
        </p:txBody>
      </p:sp>
      <p:pic>
        <p:nvPicPr>
          <p:cNvPr id="162" name="Image 5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9800722" y="3098170"/>
            <a:ext cx="222748" cy="222748"/>
          </a:xfrm>
          <a:prstGeom prst="rect">
            <a:avLst/>
          </a:prstGeom>
        </p:spPr>
      </p:pic>
      <p:sp>
        <p:nvSpPr>
          <p:cNvPr id="60" name="Text 52"/>
          <p:cNvSpPr>
            <a:spLocks noGrp="1"/>
          </p:cNvSpPr>
          <p:nvPr/>
        </p:nvSpPr>
        <p:spPr>
          <a:xfrm>
            <a:off x="9089136" y="3730752"/>
            <a:ext cx="1645920" cy="2286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sz="1120" b="1">
                <a:solidFill>
                  <a:srgbClr val="14383E"/>
                </a:solidFill>
                <a:latin typeface="Noto Sans CJK SC"/>
                <a:ea typeface="Noto Sans CJK SC"/>
                <a:cs typeface="Noto Sans CJK SC"/>
              </a:rPr>
              <a:t>合并</a:t>
            </a:r>
            <a:endParaRPr sz="1120"/>
          </a:p>
        </p:txBody>
      </p:sp>
      <p:sp>
        <p:nvSpPr>
          <p:cNvPr id="61" name="Text 53"/>
          <p:cNvSpPr>
            <a:spLocks noGrp="1"/>
          </p:cNvSpPr>
          <p:nvPr/>
        </p:nvSpPr>
        <p:spPr>
          <a:xfrm>
            <a:off x="9144000" y="4041648"/>
            <a:ext cx="1536192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sz="810">
                <a:solidFill>
                  <a:srgbClr val="44585C"/>
                </a:solidFill>
                <a:latin typeface="Noto Sans CJK SC"/>
                <a:ea typeface="Noto Sans CJK SC"/>
                <a:cs typeface="Noto Sans CJK SC"/>
              </a:rPr>
              <a:t>无工具，只拼 6 个安全字段</a:t>
            </a:r>
            <a:endParaRPr sz="810"/>
          </a:p>
        </p:txBody>
      </p:sp>
      <p:sp>
        <p:nvSpPr>
          <p:cNvPr id="62" name="Shape 54"/>
          <p:cNvSpPr>
            <a:spLocks noGrp="1"/>
          </p:cNvSpPr>
          <p:nvPr/>
        </p:nvSpPr>
        <p:spPr>
          <a:xfrm>
            <a:off x="841248" y="4828032"/>
            <a:ext cx="10515600" cy="10972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BFD9D4"/>
            </a:solidFill>
            <a:prstDash val="solid"/>
          </a:ln>
        </p:spPr>
        <p:txBody>
          <a:bodyPr/>
          <a:lstStyle/>
          <a:p/>
        </p:txBody>
      </p:sp>
      <p:sp>
        <p:nvSpPr>
          <p:cNvPr id="63" name="Shape 55"/>
          <p:cNvSpPr>
            <a:spLocks noGrp="1"/>
          </p:cNvSpPr>
          <p:nvPr/>
        </p:nvSpPr>
        <p:spPr>
          <a:xfrm>
            <a:off x="1060704" y="5084064"/>
            <a:ext cx="347472" cy="347472"/>
          </a:xfrm>
          <a:prstGeom prst="ellipse">
            <a:avLst/>
          </a:prstGeom>
          <a:solidFill>
            <a:srgbClr val="E2574C"/>
          </a:solidFill>
          <a:ln w="12700">
            <a:solidFill>
              <a:srgbClr val="E2574C"/>
            </a:solidFill>
            <a:prstDash val="solid"/>
          </a:ln>
        </p:spPr>
        <p:txBody>
          <a:bodyPr/>
          <a:lstStyle/>
          <a:p/>
        </p:txBody>
      </p:sp>
      <p:pic>
        <p:nvPicPr>
          <p:cNvPr id="167" name="Image 6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161471" y="5184831"/>
            <a:ext cx="145938" cy="145938"/>
          </a:xfrm>
          <a:prstGeom prst="rect">
            <a:avLst/>
          </a:prstGeom>
        </p:spPr>
      </p:pic>
      <p:sp>
        <p:nvSpPr>
          <p:cNvPr id="65" name="Text 56"/>
          <p:cNvSpPr>
            <a:spLocks noGrp="1"/>
          </p:cNvSpPr>
          <p:nvPr/>
        </p:nvSpPr>
        <p:spPr>
          <a:xfrm>
            <a:off x="1517904" y="4983480"/>
            <a:ext cx="1170432" cy="18288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840" b="1">
                <a:solidFill>
                  <a:srgbClr val="44585C"/>
                </a:solidFill>
                <a:latin typeface="Noto Sans CJK SC"/>
                <a:ea typeface="Noto Sans CJK SC"/>
                <a:cs typeface="Noto Sans CJK SC"/>
              </a:rPr>
              <a:t>多个写诉求</a:t>
            </a:r>
            <a:endParaRPr sz="840"/>
          </a:p>
        </p:txBody>
      </p:sp>
      <p:sp>
        <p:nvSpPr>
          <p:cNvPr id="66" name="Text 57"/>
          <p:cNvSpPr>
            <a:spLocks noGrp="1"/>
          </p:cNvSpPr>
          <p:nvPr/>
        </p:nvSpPr>
        <p:spPr>
          <a:xfrm>
            <a:off x="1517904" y="5248656"/>
            <a:ext cx="1554480" cy="21945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970" b="1">
                <a:solidFill>
                  <a:srgbClr val="14383E"/>
                </a:solidFill>
                <a:latin typeface="Noto Sans CJK SC"/>
                <a:ea typeface="Noto Sans CJK SC"/>
                <a:cs typeface="Noto Sans CJK SC"/>
              </a:rPr>
              <a:t>整体转人工</a:t>
            </a:r>
            <a:endParaRPr sz="970"/>
          </a:p>
        </p:txBody>
      </p:sp>
      <p:sp>
        <p:nvSpPr>
          <p:cNvPr id="67" name="Shape 58"/>
          <p:cNvSpPr>
            <a:spLocks noGrp="1"/>
          </p:cNvSpPr>
          <p:nvPr/>
        </p:nvSpPr>
        <p:spPr>
          <a:xfrm>
            <a:off x="3657600" y="5084064"/>
            <a:ext cx="347472" cy="347472"/>
          </a:xfrm>
          <a:prstGeom prst="ellipse">
            <a:avLst/>
          </a:prstGeom>
          <a:solidFill>
            <a:srgbClr val="F28B36"/>
          </a:solidFill>
          <a:ln w="12700">
            <a:solidFill>
              <a:srgbClr val="F28B36"/>
            </a:solidFill>
            <a:prstDash val="solid"/>
          </a:ln>
        </p:spPr>
        <p:txBody>
          <a:bodyPr/>
          <a:lstStyle/>
          <a:p/>
        </p:txBody>
      </p:sp>
      <p:pic>
        <p:nvPicPr>
          <p:cNvPr id="171" name="Image 7"/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3758367" y="5184831"/>
            <a:ext cx="145938" cy="145938"/>
          </a:xfrm>
          <a:prstGeom prst="rect">
            <a:avLst/>
          </a:prstGeom>
        </p:spPr>
      </p:pic>
      <p:sp>
        <p:nvSpPr>
          <p:cNvPr id="69" name="Text 59"/>
          <p:cNvSpPr>
            <a:spLocks noGrp="1"/>
          </p:cNvSpPr>
          <p:nvPr/>
        </p:nvSpPr>
        <p:spPr>
          <a:xfrm>
            <a:off x="4114800" y="4983480"/>
            <a:ext cx="1170432" cy="18288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840" b="1">
                <a:solidFill>
                  <a:srgbClr val="44585C"/>
                </a:solidFill>
                <a:latin typeface="Noto Sans CJK SC"/>
                <a:ea typeface="Noto Sans CJK SC"/>
                <a:cs typeface="Noto Sans CJK SC"/>
              </a:rPr>
              <a:t>单个写诉求</a:t>
            </a:r>
            <a:endParaRPr sz="840"/>
          </a:p>
        </p:txBody>
      </p:sp>
      <p:sp>
        <p:nvSpPr>
          <p:cNvPr id="70" name="Text 60"/>
          <p:cNvSpPr>
            <a:spLocks noGrp="1"/>
          </p:cNvSpPr>
          <p:nvPr/>
        </p:nvSpPr>
        <p:spPr>
          <a:xfrm>
            <a:off x="4114800" y="5248656"/>
            <a:ext cx="1554480" cy="21945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970" b="1">
                <a:solidFill>
                  <a:srgbClr val="14383E"/>
                </a:solidFill>
                <a:latin typeface="Noto Sans CJK SC"/>
                <a:ea typeface="Noto Sans CJK SC"/>
                <a:cs typeface="Noto Sans CJK SC"/>
              </a:rPr>
              <a:t>先执行写 owner</a:t>
            </a:r>
            <a:endParaRPr sz="970"/>
          </a:p>
        </p:txBody>
      </p:sp>
      <p:sp>
        <p:nvSpPr>
          <p:cNvPr id="71" name="Shape 61"/>
          <p:cNvSpPr>
            <a:spLocks noGrp="1"/>
          </p:cNvSpPr>
          <p:nvPr/>
        </p:nvSpPr>
        <p:spPr>
          <a:xfrm>
            <a:off x="6254496" y="5084064"/>
            <a:ext cx="347472" cy="347472"/>
          </a:xfrm>
          <a:prstGeom prst="ellipse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  <p:txBody>
          <a:bodyPr/>
          <a:lstStyle/>
          <a:p/>
        </p:txBody>
      </p:sp>
      <p:pic>
        <p:nvPicPr>
          <p:cNvPr id="175" name="Image 8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355263" y="5184831"/>
            <a:ext cx="145938" cy="145938"/>
          </a:xfrm>
          <a:prstGeom prst="rect">
            <a:avLst/>
          </a:prstGeom>
        </p:spPr>
      </p:pic>
      <p:sp>
        <p:nvSpPr>
          <p:cNvPr id="73" name="Text 62"/>
          <p:cNvSpPr>
            <a:spLocks noGrp="1"/>
          </p:cNvSpPr>
          <p:nvPr/>
        </p:nvSpPr>
        <p:spPr>
          <a:xfrm>
            <a:off x="6711696" y="4983480"/>
            <a:ext cx="1170432" cy="18288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840" b="1">
                <a:solidFill>
                  <a:srgbClr val="44585C"/>
                </a:solidFill>
                <a:latin typeface="Noto Sans CJK SC"/>
                <a:ea typeface="Noto Sans CJK SC"/>
                <a:cs typeface="Noto Sans CJK SC"/>
              </a:rPr>
              <a:t>只读诉求</a:t>
            </a:r>
            <a:endParaRPr sz="840"/>
          </a:p>
        </p:txBody>
      </p:sp>
      <p:sp>
        <p:nvSpPr>
          <p:cNvPr id="74" name="Text 63"/>
          <p:cNvSpPr>
            <a:spLocks noGrp="1"/>
          </p:cNvSpPr>
          <p:nvPr/>
        </p:nvSpPr>
        <p:spPr>
          <a:xfrm>
            <a:off x="6711696" y="5248656"/>
            <a:ext cx="1554480" cy="21945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970" b="1">
                <a:solidFill>
                  <a:srgbClr val="14383E"/>
                </a:solidFill>
                <a:latin typeface="Noto Sans CJK SC"/>
                <a:ea typeface="Noto Sans CJK SC"/>
                <a:cs typeface="Noto Sans CJK SC"/>
              </a:rPr>
              <a:t>并发执行</a:t>
            </a:r>
            <a:endParaRPr sz="970"/>
          </a:p>
        </p:txBody>
      </p:sp>
      <p:sp>
        <p:nvSpPr>
          <p:cNvPr id="75" name="Shape 64"/>
          <p:cNvSpPr>
            <a:spLocks noGrp="1"/>
          </p:cNvSpPr>
          <p:nvPr/>
        </p:nvSpPr>
        <p:spPr>
          <a:xfrm>
            <a:off x="8851392" y="5084064"/>
            <a:ext cx="347472" cy="347472"/>
          </a:xfrm>
          <a:prstGeom prst="ellipse">
            <a:avLst/>
          </a:prstGeom>
          <a:solidFill>
            <a:srgbClr val="6B6FD8"/>
          </a:solidFill>
          <a:ln w="12700">
            <a:solidFill>
              <a:srgbClr val="6B6FD8"/>
            </a:solidFill>
            <a:prstDash val="solid"/>
          </a:ln>
        </p:spPr>
        <p:txBody>
          <a:bodyPr/>
          <a:lstStyle/>
          <a:p/>
        </p:txBody>
      </p:sp>
      <p:pic>
        <p:nvPicPr>
          <p:cNvPr id="179" name="Image 9"/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8952159" y="5184831"/>
            <a:ext cx="145938" cy="145938"/>
          </a:xfrm>
          <a:prstGeom prst="rect">
            <a:avLst/>
          </a:prstGeom>
        </p:spPr>
      </p:pic>
      <p:sp>
        <p:nvSpPr>
          <p:cNvPr id="77" name="Text 65"/>
          <p:cNvSpPr>
            <a:spLocks noGrp="1"/>
          </p:cNvSpPr>
          <p:nvPr/>
        </p:nvSpPr>
        <p:spPr>
          <a:xfrm>
            <a:off x="9308592" y="4983480"/>
            <a:ext cx="1170432" cy="18288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840" b="1">
                <a:solidFill>
                  <a:srgbClr val="44585C"/>
                </a:solidFill>
                <a:latin typeface="Noto Sans CJK SC"/>
                <a:ea typeface="Noto Sans CJK SC"/>
                <a:cs typeface="Noto Sans CJK SC"/>
              </a:rPr>
              <a:t>仅文本宣称成功</a:t>
            </a:r>
            <a:endParaRPr sz="840"/>
          </a:p>
        </p:txBody>
      </p:sp>
      <p:sp>
        <p:nvSpPr>
          <p:cNvPr id="78" name="Text 66"/>
          <p:cNvSpPr>
            <a:spLocks noGrp="1"/>
          </p:cNvSpPr>
          <p:nvPr/>
        </p:nvSpPr>
        <p:spPr>
          <a:xfrm>
            <a:off x="9308592" y="5248656"/>
            <a:ext cx="1554480" cy="21945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970" b="1">
                <a:solidFill>
                  <a:srgbClr val="14383E"/>
                </a:solidFill>
                <a:latin typeface="Noto Sans CJK SC"/>
                <a:ea typeface="Noto Sans CJK SC"/>
                <a:cs typeface="Noto Sans CJK SC"/>
              </a:rPr>
              <a:t>转人工处理</a:t>
            </a:r>
            <a:endParaRPr sz="970"/>
          </a:p>
        </p:txBody>
      </p:sp>
      <p:sp>
        <p:nvSpPr>
          <p:cNvPr id="79" name="Rectangle 78"/>
          <p:cNvSpPr>
            <a:spLocks noGrp="1"/>
          </p:cNvSpPr>
          <p:nvPr/>
        </p:nvSpPr>
        <p:spPr>
          <a:xfrm>
            <a:off x="0" y="0"/>
            <a:ext cx="41148" cy="6858000"/>
          </a:xfrm>
          <a:prstGeom prst="rect">
            <a:avLst/>
          </a:prstGeom>
          <a:solidFill>
            <a:srgbClr val="0A8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01" name="圆角矩形 100"/>
          <p:cNvSpPr>
            <a:spLocks noGrp="1"/>
          </p:cNvSpPr>
          <p:nvPr/>
        </p:nvSpPr>
        <p:spPr>
          <a:xfrm>
            <a:off x="6565583" y="127635"/>
            <a:ext cx="4937760" cy="365760"/>
          </a:xfrm>
          <a:prstGeom prst="roundRect">
            <a:avLst>
              <a:gd name="adj" fmla="val 20833"/>
            </a:avLst>
          </a:prstGeom>
          <a:solidFill>
            <a:srgbClr val="F7FBF9"/>
          </a:solidFill>
          <a:ln w="12668">
            <a:solidFill>
              <a:srgbClr val="F7FBF9"/>
            </a:solidFill>
            <a:prstDash val="solid"/>
          </a:ln>
        </p:spPr>
        <p:txBody>
          <a:bodyPr/>
          <a:p/>
        </p:txBody>
      </p:sp>
      <p:sp>
        <p:nvSpPr>
          <p:cNvPr id="102" name="圆角矩形 101"/>
          <p:cNvSpPr>
            <a:spLocks noGrp="1"/>
          </p:cNvSpPr>
          <p:nvPr/>
        </p:nvSpPr>
        <p:spPr>
          <a:xfrm>
            <a:off x="6657023" y="164783"/>
            <a:ext cx="1154430" cy="264795"/>
          </a:xfrm>
          <a:prstGeom prst="roundRect">
            <a:avLst>
              <a:gd name="adj" fmla="val 28777"/>
            </a:avLst>
          </a:prstGeom>
          <a:solidFill>
            <a:srgbClr val="FFFFFF"/>
          </a:solidFill>
          <a:ln w="12668">
            <a:solidFill>
              <a:srgbClr val="C9DCD7"/>
            </a:solidFill>
            <a:prstDash val="solid"/>
          </a:ln>
        </p:spPr>
        <p:txBody>
          <a:bodyPr/>
          <a:p/>
        </p:txBody>
      </p:sp>
      <p:sp>
        <p:nvSpPr>
          <p:cNvPr id="103" name="矩形 102"/>
          <p:cNvSpPr>
            <a:spLocks noGrp="1"/>
          </p:cNvSpPr>
          <p:nvPr/>
        </p:nvSpPr>
        <p:spPr>
          <a:xfrm>
            <a:off x="6657023" y="187643"/>
            <a:ext cx="1154430" cy="182880"/>
          </a:xfrm>
          <a:prstGeom prst="rect">
            <a:avLst/>
          </a:prstGeom>
        </p:spPr>
        <p:txBody>
          <a:bodyPr anchor="ctr"/>
          <a:lstStyle/>
          <a:p>
            <a:pPr algn="ctr">
              <a:defRPr sz="650" b="0">
                <a:solidFill>
                  <a:srgbClr val="44585C"/>
                </a:solidFill>
              </a:defRPr>
            </a:pPr>
            <a:r>
              <a:t>理解</a:t>
            </a:r>
          </a:p>
        </p:txBody>
      </p:sp>
      <p:sp>
        <p:nvSpPr>
          <p:cNvPr id="104" name="圆角矩形 103"/>
          <p:cNvSpPr>
            <a:spLocks noGrp="1"/>
          </p:cNvSpPr>
          <p:nvPr/>
        </p:nvSpPr>
        <p:spPr>
          <a:xfrm>
            <a:off x="7857173" y="164783"/>
            <a:ext cx="1154430" cy="264795"/>
          </a:xfrm>
          <a:prstGeom prst="roundRect">
            <a:avLst>
              <a:gd name="adj" fmla="val 28777"/>
            </a:avLst>
          </a:prstGeom>
          <a:solidFill>
            <a:srgbClr val="FFFFFF"/>
          </a:solidFill>
          <a:ln w="12668">
            <a:solidFill>
              <a:srgbClr val="C9DCD7"/>
            </a:solidFill>
            <a:prstDash val="solid"/>
          </a:ln>
        </p:spPr>
        <p:txBody>
          <a:bodyPr/>
          <a:p/>
        </p:txBody>
      </p:sp>
      <p:sp>
        <p:nvSpPr>
          <p:cNvPr id="105" name="矩形 104"/>
          <p:cNvSpPr>
            <a:spLocks noGrp="1"/>
          </p:cNvSpPr>
          <p:nvPr/>
        </p:nvSpPr>
        <p:spPr>
          <a:xfrm>
            <a:off x="7857173" y="187643"/>
            <a:ext cx="1154430" cy="182880"/>
          </a:xfrm>
          <a:prstGeom prst="rect">
            <a:avLst/>
          </a:prstGeom>
        </p:spPr>
        <p:txBody>
          <a:bodyPr anchor="ctr"/>
          <a:lstStyle/>
          <a:p>
            <a:pPr algn="ctr">
              <a:defRPr sz="650" b="0">
                <a:solidFill>
                  <a:srgbClr val="44585C"/>
                </a:solidFill>
              </a:defRPr>
            </a:pPr>
            <a:r>
              <a:t>查询</a:t>
            </a:r>
          </a:p>
        </p:txBody>
      </p:sp>
      <p:sp>
        <p:nvSpPr>
          <p:cNvPr id="106" name="圆角矩形 105"/>
          <p:cNvSpPr>
            <a:spLocks noGrp="1"/>
          </p:cNvSpPr>
          <p:nvPr/>
        </p:nvSpPr>
        <p:spPr>
          <a:xfrm>
            <a:off x="9057323" y="164783"/>
            <a:ext cx="1154430" cy="264795"/>
          </a:xfrm>
          <a:prstGeom prst="roundRect">
            <a:avLst>
              <a:gd name="adj" fmla="val 28777"/>
            </a:avLst>
          </a:prstGeom>
          <a:solidFill>
            <a:srgbClr val="007574"/>
          </a:solidFill>
          <a:ln w="12668">
            <a:solidFill>
              <a:srgbClr val="007574"/>
            </a:solidFill>
            <a:prstDash val="solid"/>
          </a:ln>
        </p:spPr>
        <p:txBody>
          <a:bodyPr/>
          <a:p/>
        </p:txBody>
      </p:sp>
      <p:sp>
        <p:nvSpPr>
          <p:cNvPr id="107" name="矩形 106"/>
          <p:cNvSpPr>
            <a:spLocks noGrp="1"/>
          </p:cNvSpPr>
          <p:nvPr/>
        </p:nvSpPr>
        <p:spPr>
          <a:xfrm>
            <a:off x="9057323" y="187643"/>
            <a:ext cx="1154430" cy="182880"/>
          </a:xfrm>
          <a:prstGeom prst="rect">
            <a:avLst/>
          </a:prstGeom>
        </p:spPr>
        <p:txBody>
          <a:bodyPr anchor="ctr"/>
          <a:lstStyle/>
          <a:p>
            <a:pPr algn="ctr">
              <a:defRPr sz="660" b="1">
                <a:solidFill>
                  <a:srgbClr val="FFFFFF"/>
                </a:solidFill>
              </a:defRPr>
            </a:pPr>
            <a:r>
              <a:t>决策</a:t>
            </a:r>
          </a:p>
        </p:txBody>
      </p:sp>
      <p:sp>
        <p:nvSpPr>
          <p:cNvPr id="108" name="圆角矩形 107"/>
          <p:cNvSpPr>
            <a:spLocks noGrp="1"/>
          </p:cNvSpPr>
          <p:nvPr/>
        </p:nvSpPr>
        <p:spPr>
          <a:xfrm>
            <a:off x="10257473" y="164783"/>
            <a:ext cx="1154430" cy="264795"/>
          </a:xfrm>
          <a:prstGeom prst="roundRect">
            <a:avLst>
              <a:gd name="adj" fmla="val 28777"/>
            </a:avLst>
          </a:prstGeom>
          <a:solidFill>
            <a:srgbClr val="FFFFFF"/>
          </a:solidFill>
          <a:ln w="12668">
            <a:solidFill>
              <a:srgbClr val="C9DCD7"/>
            </a:solidFill>
            <a:prstDash val="solid"/>
          </a:ln>
        </p:spPr>
        <p:txBody>
          <a:bodyPr/>
          <a:p/>
        </p:txBody>
      </p:sp>
      <p:sp>
        <p:nvSpPr>
          <p:cNvPr id="109" name="矩形 108"/>
          <p:cNvSpPr>
            <a:spLocks noGrp="1"/>
          </p:cNvSpPr>
          <p:nvPr/>
        </p:nvSpPr>
        <p:spPr>
          <a:xfrm>
            <a:off x="10257473" y="187643"/>
            <a:ext cx="1154430" cy="182880"/>
          </a:xfrm>
          <a:prstGeom prst="rect">
            <a:avLst/>
          </a:prstGeom>
        </p:spPr>
        <p:txBody>
          <a:bodyPr anchor="ctr"/>
          <a:lstStyle/>
          <a:p>
            <a:pPr algn="ctr">
              <a:defRPr sz="650" b="0">
                <a:solidFill>
                  <a:srgbClr val="44585C"/>
                </a:solidFill>
              </a:defRPr>
            </a:pPr>
            <a:r>
              <a:t>执行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hape 0"/>
          <p:cNvSpPr>
            <a:spLocks noGrp="1"/>
          </p:cNvSpPr>
          <p:nvPr/>
        </p:nvSpPr>
        <p:spPr>
          <a:xfrm>
            <a:off x="16459" y="16459"/>
            <a:ext cx="38405" cy="6825082"/>
          </a:xfrm>
          <a:prstGeom prst="rect">
            <a:avLst/>
          </a:prstGeom>
          <a:solidFill>
            <a:srgbClr val="0A8F6A"/>
          </a:solidFill>
          <a:ln w="12700">
            <a:solidFill>
              <a:srgbClr val="12B07D"/>
            </a:solidFill>
            <a:prstDash val="solid"/>
          </a:ln>
        </p:spPr>
        <p:txBody>
          <a:bodyPr/>
          <a:lstStyle/>
          <a:p/>
        </p:txBody>
      </p:sp>
      <p:sp>
        <p:nvSpPr>
          <p:cNvPr id="4" name="Shape 2"/>
          <p:cNvSpPr>
            <a:spLocks noGrp="1"/>
          </p:cNvSpPr>
          <p:nvPr/>
        </p:nvSpPr>
        <p:spPr>
          <a:xfrm>
            <a:off x="10104120" y="73152"/>
            <a:ext cx="1874520" cy="1353312"/>
          </a:xfrm>
          <a:prstGeom prst="ellipse">
            <a:avLst/>
          </a:prstGeom>
          <a:solidFill>
            <a:srgbClr val="E8F7F1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/>
        </p:txBody>
      </p:sp>
      <p:sp>
        <p:nvSpPr>
          <p:cNvPr id="5" name="Shape 3"/>
          <p:cNvSpPr>
            <a:spLocks noGrp="1"/>
          </p:cNvSpPr>
          <p:nvPr/>
        </p:nvSpPr>
        <p:spPr>
          <a:xfrm>
            <a:off x="91440" y="5596128"/>
            <a:ext cx="1719072" cy="1051560"/>
          </a:xfrm>
          <a:prstGeom prst="ellipse">
            <a:avLst/>
          </a:prstGeom>
          <a:solidFill>
            <a:srgbClr val="FFF2E8">
              <a:alpha val="68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/>
        </p:txBody>
      </p:sp>
      <p:sp>
        <p:nvSpPr>
          <p:cNvPr id="6" name="Shape 4"/>
          <p:cNvSpPr>
            <a:spLocks noGrp="1"/>
          </p:cNvSpPr>
          <p:nvPr/>
        </p:nvSpPr>
        <p:spPr>
          <a:xfrm>
            <a:off x="658368" y="393192"/>
            <a:ext cx="68580" cy="68580"/>
          </a:xfrm>
          <a:prstGeom prst="ellipse">
            <a:avLst/>
          </a:prstGeom>
          <a:solidFill>
            <a:srgbClr val="0A8F6A"/>
          </a:solidFill>
          <a:ln w="12700">
            <a:solidFill>
              <a:srgbClr val="12B07D"/>
            </a:solidFill>
            <a:prstDash val="solid"/>
          </a:ln>
        </p:spPr>
        <p:txBody>
          <a:bodyPr/>
          <a:lstStyle/>
          <a:p/>
        </p:txBody>
      </p:sp>
      <p:sp>
        <p:nvSpPr>
          <p:cNvPr id="7" name="Shape 5"/>
          <p:cNvSpPr>
            <a:spLocks noGrp="1"/>
          </p:cNvSpPr>
          <p:nvPr/>
        </p:nvSpPr>
        <p:spPr>
          <a:xfrm>
            <a:off x="768096" y="427939"/>
            <a:ext cx="411480" cy="0"/>
          </a:xfrm>
          <a:prstGeom prst="line">
            <a:avLst/>
          </a:prstGeom>
          <a:noFill/>
          <a:ln w="15875">
            <a:solidFill>
              <a:srgbClr val="0A8F6A"/>
            </a:solidFill>
            <a:prstDash val="solid"/>
          </a:ln>
        </p:spPr>
        <p:txBody>
          <a:bodyPr/>
          <a:lstStyle/>
          <a:p/>
        </p:txBody>
      </p:sp>
      <p:sp>
        <p:nvSpPr>
          <p:cNvPr id="8" name="Text 6"/>
          <p:cNvSpPr>
            <a:spLocks noGrp="1"/>
          </p:cNvSpPr>
          <p:nvPr/>
        </p:nvSpPr>
        <p:spPr>
          <a:xfrm>
            <a:off x="1234440" y="265176"/>
            <a:ext cx="2331720" cy="31089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r>
              <a:rPr sz="1050" b="1">
                <a:solidFill>
                  <a:srgbClr val="076B50"/>
                </a:solidFill>
                <a:latin typeface="Noto Sans CJK SC"/>
                <a:ea typeface="Noto Sans CJK SC"/>
                <a:cs typeface="Noto Sans CJK SC"/>
              </a:rPr>
              <a:t>CHAPTER 6 · 受控执行</a:t>
            </a:r>
            <a:endParaRPr sz="1050" b="1">
              <a:solidFill>
                <a:srgbClr val="0A8F6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9" name="Shape 7"/>
          <p:cNvSpPr>
            <a:spLocks noGrp="1"/>
          </p:cNvSpPr>
          <p:nvPr/>
        </p:nvSpPr>
        <p:spPr>
          <a:xfrm>
            <a:off x="9829800" y="301752"/>
            <a:ext cx="68580" cy="68580"/>
          </a:xfrm>
          <a:prstGeom prst="ellipse">
            <a:avLst/>
          </a:prstGeom>
          <a:solidFill>
            <a:srgbClr val="C7DAD6"/>
          </a:solidFill>
          <a:ln w="12700">
            <a:solidFill>
              <a:srgbClr val="C7DAD6"/>
            </a:solidFill>
            <a:prstDash val="solid"/>
          </a:ln>
        </p:spPr>
        <p:txBody>
          <a:bodyPr/>
          <a:lstStyle/>
          <a:p/>
        </p:txBody>
      </p:sp>
      <p:sp>
        <p:nvSpPr>
          <p:cNvPr id="10" name="Shape 8"/>
          <p:cNvSpPr>
            <a:spLocks noGrp="1"/>
          </p:cNvSpPr>
          <p:nvPr/>
        </p:nvSpPr>
        <p:spPr>
          <a:xfrm>
            <a:off x="10040112" y="301752"/>
            <a:ext cx="68580" cy="68580"/>
          </a:xfrm>
          <a:prstGeom prst="ellipse">
            <a:avLst/>
          </a:prstGeom>
          <a:solidFill>
            <a:srgbClr val="C7DAD6"/>
          </a:solidFill>
          <a:ln w="12700">
            <a:solidFill>
              <a:srgbClr val="C7DAD6"/>
            </a:solidFill>
            <a:prstDash val="solid"/>
          </a:ln>
        </p:spPr>
        <p:txBody>
          <a:bodyPr/>
          <a:lstStyle/>
          <a:p/>
        </p:txBody>
      </p:sp>
      <p:sp>
        <p:nvSpPr>
          <p:cNvPr id="11" name="Shape 9"/>
          <p:cNvSpPr>
            <a:spLocks noGrp="1"/>
          </p:cNvSpPr>
          <p:nvPr/>
        </p:nvSpPr>
        <p:spPr>
          <a:xfrm>
            <a:off x="10250424" y="301752"/>
            <a:ext cx="68580" cy="68580"/>
          </a:xfrm>
          <a:prstGeom prst="ellipse">
            <a:avLst/>
          </a:prstGeom>
          <a:solidFill>
            <a:srgbClr val="C7DAD6"/>
          </a:solidFill>
          <a:ln w="12700">
            <a:solidFill>
              <a:srgbClr val="C7DAD6"/>
            </a:solidFill>
            <a:prstDash val="solid"/>
          </a:ln>
        </p:spPr>
        <p:txBody>
          <a:bodyPr/>
          <a:lstStyle/>
          <a:p/>
        </p:txBody>
      </p:sp>
      <p:sp>
        <p:nvSpPr>
          <p:cNvPr id="12" name="Shape 10"/>
          <p:cNvSpPr>
            <a:spLocks noGrp="1"/>
          </p:cNvSpPr>
          <p:nvPr/>
        </p:nvSpPr>
        <p:spPr>
          <a:xfrm>
            <a:off x="10460736" y="301752"/>
            <a:ext cx="68580" cy="68580"/>
          </a:xfrm>
          <a:prstGeom prst="ellipse">
            <a:avLst/>
          </a:prstGeom>
          <a:solidFill>
            <a:srgbClr val="12B07D"/>
          </a:solidFill>
          <a:ln w="12700">
            <a:solidFill>
              <a:srgbClr val="12B07D"/>
            </a:solidFill>
            <a:prstDash val="solid"/>
          </a:ln>
        </p:spPr>
        <p:txBody>
          <a:bodyPr/>
          <a:lstStyle/>
          <a:p/>
        </p:txBody>
      </p:sp>
      <p:sp>
        <p:nvSpPr>
          <p:cNvPr id="13" name="Shape 11"/>
          <p:cNvSpPr>
            <a:spLocks noGrp="1"/>
          </p:cNvSpPr>
          <p:nvPr/>
        </p:nvSpPr>
        <p:spPr>
          <a:xfrm>
            <a:off x="10671048" y="301752"/>
            <a:ext cx="68580" cy="68580"/>
          </a:xfrm>
          <a:prstGeom prst="ellipse">
            <a:avLst/>
          </a:prstGeom>
          <a:solidFill>
            <a:srgbClr val="C7DAD6"/>
          </a:solidFill>
          <a:ln w="12700">
            <a:solidFill>
              <a:srgbClr val="C7DAD6"/>
            </a:solidFill>
            <a:prstDash val="solid"/>
          </a:ln>
        </p:spPr>
        <p:txBody>
          <a:bodyPr/>
          <a:lstStyle/>
          <a:p/>
        </p:txBody>
      </p:sp>
      <p:sp>
        <p:nvSpPr>
          <p:cNvPr id="14" name="Shape 12"/>
          <p:cNvSpPr>
            <a:spLocks noGrp="1"/>
          </p:cNvSpPr>
          <p:nvPr/>
        </p:nvSpPr>
        <p:spPr>
          <a:xfrm>
            <a:off x="10881360" y="301752"/>
            <a:ext cx="68580" cy="68580"/>
          </a:xfrm>
          <a:prstGeom prst="ellipse">
            <a:avLst/>
          </a:prstGeom>
          <a:solidFill>
            <a:srgbClr val="C7DAD6"/>
          </a:solidFill>
          <a:ln w="12700">
            <a:solidFill>
              <a:srgbClr val="C7DAD6"/>
            </a:solidFill>
            <a:prstDash val="solid"/>
          </a:ln>
        </p:spPr>
        <p:txBody>
          <a:bodyPr/>
          <a:lstStyle/>
          <a:p/>
        </p:txBody>
      </p:sp>
      <p:sp>
        <p:nvSpPr>
          <p:cNvPr id="15" name="Shape 13"/>
          <p:cNvSpPr>
            <a:spLocks noGrp="1"/>
          </p:cNvSpPr>
          <p:nvPr/>
        </p:nvSpPr>
        <p:spPr>
          <a:xfrm>
            <a:off x="11091672" y="301752"/>
            <a:ext cx="68580" cy="68580"/>
          </a:xfrm>
          <a:prstGeom prst="ellipse">
            <a:avLst/>
          </a:prstGeom>
          <a:solidFill>
            <a:srgbClr val="C7DAD6"/>
          </a:solidFill>
          <a:ln w="12700">
            <a:solidFill>
              <a:srgbClr val="C7DAD6"/>
            </a:solidFill>
            <a:prstDash val="solid"/>
          </a:ln>
        </p:spPr>
        <p:txBody>
          <a:bodyPr/>
          <a:lstStyle/>
          <a:p/>
        </p:txBody>
      </p:sp>
      <p:sp>
        <p:nvSpPr>
          <p:cNvPr id="16" name="Shape 14"/>
          <p:cNvSpPr>
            <a:spLocks noGrp="1"/>
          </p:cNvSpPr>
          <p:nvPr/>
        </p:nvSpPr>
        <p:spPr>
          <a:xfrm>
            <a:off x="11301984" y="301752"/>
            <a:ext cx="68580" cy="68580"/>
          </a:xfrm>
          <a:prstGeom prst="ellipse">
            <a:avLst/>
          </a:prstGeom>
          <a:solidFill>
            <a:srgbClr val="C7DAD6"/>
          </a:solidFill>
          <a:ln w="12700">
            <a:solidFill>
              <a:srgbClr val="C7DAD6"/>
            </a:solidFill>
            <a:prstDash val="solid"/>
          </a:ln>
        </p:spPr>
        <p:txBody>
          <a:bodyPr/>
          <a:lstStyle/>
          <a:p/>
        </p:txBody>
      </p:sp>
      <p:sp>
        <p:nvSpPr>
          <p:cNvPr id="17" name="Text 15"/>
          <p:cNvSpPr>
            <a:spLocks noGrp="1"/>
          </p:cNvSpPr>
          <p:nvPr/>
        </p:nvSpPr>
        <p:spPr>
          <a:xfrm>
            <a:off x="658368" y="713232"/>
            <a:ext cx="10652760" cy="49377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2550" b="1">
                <a:solidFill>
                  <a:srgbClr val="14383E"/>
                </a:solidFill>
                <a:latin typeface="Noto Sans CJK SC"/>
                <a:ea typeface="Noto Sans CJK SC"/>
                <a:cs typeface="Noto Sans CJK SC"/>
              </a:rPr>
              <a:t>第六章 · 受控执行</a:t>
            </a:r>
            <a:endParaRPr sz="2550"/>
          </a:p>
        </p:txBody>
      </p:sp>
      <p:sp>
        <p:nvSpPr>
          <p:cNvPr id="18" name="Text 16"/>
          <p:cNvSpPr>
            <a:spLocks noGrp="1"/>
          </p:cNvSpPr>
          <p:nvPr/>
        </p:nvSpPr>
        <p:spPr>
          <a:xfrm>
            <a:off x="658368" y="1197864"/>
            <a:ext cx="10469880" cy="29260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r>
              <a:rPr sz="1170">
                <a:solidFill>
                  <a:srgbClr val="44585C"/>
                </a:solidFill>
                <a:latin typeface="Noto Sans CJK SC"/>
                <a:ea typeface="Noto Sans CJK SC"/>
                <a:cs typeface="Noto Sans CJK SC"/>
              </a:rPr>
              <a:t>这一块回答：真去改业务状态时，靠什么兜住。共 8 页，约 24 分钟。</a:t>
            </a:r>
            <a:endParaRPr sz="1170">
              <a:solidFill>
                <a:srgbClr val="6B8185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9" name="Shape 17"/>
          <p:cNvSpPr>
            <a:spLocks noGrp="1"/>
          </p:cNvSpPr>
          <p:nvPr/>
        </p:nvSpPr>
        <p:spPr>
          <a:xfrm>
            <a:off x="658368" y="6510528"/>
            <a:ext cx="10835640" cy="0"/>
          </a:xfrm>
          <a:prstGeom prst="line">
            <a:avLst/>
          </a:prstGeom>
          <a:noFill/>
          <a:ln w="11430">
            <a:solidFill>
              <a:srgbClr val="D7E7E3"/>
            </a:solidFill>
            <a:prstDash val="solid"/>
          </a:ln>
        </p:spPr>
        <p:txBody>
          <a:bodyPr/>
          <a:lstStyle/>
          <a:p/>
        </p:txBody>
      </p:sp>
      <p:sp>
        <p:nvSpPr>
          <p:cNvPr id="20" name="Text 18"/>
          <p:cNvSpPr>
            <a:spLocks noGrp="1"/>
          </p:cNvSpPr>
          <p:nvPr/>
        </p:nvSpPr>
        <p:spPr>
          <a:xfrm>
            <a:off x="658368" y="6556248"/>
            <a:ext cx="2103120" cy="16459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750" b="1" spc="40">
                <a:solidFill>
                  <a:srgbClr val="5C7276"/>
                </a:solidFill>
                <a:latin typeface="Noto Sans CJK SC"/>
                <a:ea typeface="Noto Sans CJK SC"/>
                <a:cs typeface="Noto Sans CJK SC"/>
              </a:rPr>
              <a:t>CUSTOMER SERVICE AI AGENT</a:t>
            </a:r>
            <a:endParaRPr sz="750"/>
          </a:p>
        </p:txBody>
      </p:sp>
      <p:sp>
        <p:nvSpPr>
          <p:cNvPr id="63" name="Rectangle 62"/>
          <p:cNvSpPr>
            <a:spLocks noGrp="1"/>
          </p:cNvSpPr>
          <p:nvPr/>
        </p:nvSpPr>
        <p:spPr>
          <a:xfrm>
            <a:off x="0" y="0"/>
            <a:ext cx="41148" cy="6858000"/>
          </a:xfrm>
          <a:prstGeom prst="rect">
            <a:avLst/>
          </a:prstGeom>
          <a:solidFill>
            <a:srgbClr val="0A8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64" name="圆角矩形 63"/>
          <p:cNvSpPr>
            <a:spLocks noGrp="1"/>
          </p:cNvSpPr>
          <p:nvPr/>
        </p:nvSpPr>
        <p:spPr>
          <a:xfrm>
            <a:off x="657225" y="2362200"/>
            <a:ext cx="10877550" cy="2419350"/>
          </a:xfrm>
          <a:prstGeom prst="roundRect">
            <a:avLst>
              <a:gd name="adj" fmla="val 3150"/>
            </a:avLst>
          </a:prstGeom>
          <a:solidFill>
            <a:srgbClr val="E8F6F0"/>
          </a:solidFill>
          <a:ln w="12668">
            <a:solidFill>
              <a:srgbClr val="0A8F6A"/>
            </a:solidFill>
            <a:prstDash val="solid"/>
          </a:ln>
        </p:spPr>
        <p:txBody>
          <a:bodyPr/>
          <a:p/>
        </p:txBody>
      </p:sp>
      <p:sp>
        <p:nvSpPr>
          <p:cNvPr id="65" name="圆角矩形 64"/>
          <p:cNvSpPr>
            <a:spLocks noGrp="1"/>
          </p:cNvSpPr>
          <p:nvPr/>
        </p:nvSpPr>
        <p:spPr>
          <a:xfrm>
            <a:off x="947738" y="2628900"/>
            <a:ext cx="1628775" cy="87630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668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67" name="矩形 66"/>
          <p:cNvSpPr>
            <a:spLocks noGrp="1"/>
          </p:cNvSpPr>
          <p:nvPr/>
        </p:nvSpPr>
        <p:spPr>
          <a:xfrm>
            <a:off x="1042988" y="2743200"/>
            <a:ext cx="1438275" cy="647700"/>
          </a:xfrm>
          <a:prstGeom prst="rect">
            <a:avLst/>
          </a:prstGeom>
        </p:spPr>
        <p:txBody>
          <a:bodyPr anchor="ctr"/>
          <a:lstStyle/>
          <a:p>
            <a:pPr algn="ctr">
              <a:defRPr sz="740" b="0">
                <a:solidFill>
                  <a:srgbClr val="14383E"/>
                </a:solidFill>
              </a:defRPr>
            </a:pPr>
            <a:r>
              <a:t>安全控制覆盖六个阶段</a:t>
            </a:r>
          </a:p>
        </p:txBody>
      </p:sp>
      <p:sp>
        <p:nvSpPr>
          <p:cNvPr id="68" name="圆角矩形 67"/>
          <p:cNvSpPr>
            <a:spLocks noGrp="1"/>
          </p:cNvSpPr>
          <p:nvPr/>
        </p:nvSpPr>
        <p:spPr>
          <a:xfrm>
            <a:off x="2681288" y="2628900"/>
            <a:ext cx="1628775" cy="87630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668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70" name="矩形 69"/>
          <p:cNvSpPr>
            <a:spLocks noGrp="1"/>
          </p:cNvSpPr>
          <p:nvPr/>
        </p:nvSpPr>
        <p:spPr>
          <a:xfrm>
            <a:off x="2776538" y="2743200"/>
            <a:ext cx="1438275" cy="647700"/>
          </a:xfrm>
          <a:prstGeom prst="rect">
            <a:avLst/>
          </a:prstGeom>
        </p:spPr>
        <p:txBody>
          <a:bodyPr anchor="ctr"/>
          <a:lstStyle/>
          <a:p>
            <a:pPr algn="ctr">
              <a:defRPr sz="740" b="0">
                <a:solidFill>
                  <a:srgbClr val="14383E"/>
                </a:solidFill>
              </a:defRPr>
            </a:pPr>
            <a:r>
              <a:t>业务能力的定义与调用校验</a:t>
            </a:r>
          </a:p>
        </p:txBody>
      </p:sp>
      <p:sp>
        <p:nvSpPr>
          <p:cNvPr id="71" name="圆角矩形 70"/>
          <p:cNvSpPr>
            <a:spLocks noGrp="1"/>
          </p:cNvSpPr>
          <p:nvPr/>
        </p:nvSpPr>
        <p:spPr>
          <a:xfrm>
            <a:off x="4414838" y="2628900"/>
            <a:ext cx="1628775" cy="87630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668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73" name="矩形 72"/>
          <p:cNvSpPr>
            <a:spLocks noGrp="1"/>
          </p:cNvSpPr>
          <p:nvPr/>
        </p:nvSpPr>
        <p:spPr>
          <a:xfrm>
            <a:off x="4510088" y="2743200"/>
            <a:ext cx="1438275" cy="647700"/>
          </a:xfrm>
          <a:prstGeom prst="rect">
            <a:avLst/>
          </a:prstGeom>
        </p:spPr>
        <p:txBody>
          <a:bodyPr anchor="ctr"/>
          <a:lstStyle/>
          <a:p>
            <a:pPr algn="ctr">
              <a:defRPr sz="740" b="0">
                <a:solidFill>
                  <a:srgbClr val="14383E"/>
                </a:solidFill>
              </a:defRPr>
            </a:pPr>
            <a:r>
              <a:t>写操作的三项公共控制</a:t>
            </a:r>
          </a:p>
        </p:txBody>
      </p:sp>
      <p:sp>
        <p:nvSpPr>
          <p:cNvPr id="74" name="圆角矩形 73"/>
          <p:cNvSpPr>
            <a:spLocks noGrp="1"/>
          </p:cNvSpPr>
          <p:nvPr/>
        </p:nvSpPr>
        <p:spPr>
          <a:xfrm>
            <a:off x="6148388" y="2628900"/>
            <a:ext cx="1628775" cy="87630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668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76" name="矩形 75"/>
          <p:cNvSpPr>
            <a:spLocks noGrp="1"/>
          </p:cNvSpPr>
          <p:nvPr/>
        </p:nvSpPr>
        <p:spPr>
          <a:xfrm>
            <a:off x="6243638" y="2743200"/>
            <a:ext cx="1438275" cy="647700"/>
          </a:xfrm>
          <a:prstGeom prst="rect">
            <a:avLst/>
          </a:prstGeom>
        </p:spPr>
        <p:txBody>
          <a:bodyPr anchor="ctr"/>
          <a:lstStyle/>
          <a:p>
            <a:pPr algn="ctr">
              <a:defRPr sz="740" b="0">
                <a:solidFill>
                  <a:srgbClr val="14383E"/>
                </a:solidFill>
              </a:defRPr>
            </a:pPr>
            <a:r>
              <a:t>三类 Guard 与拦截原因码</a:t>
            </a:r>
          </a:p>
        </p:txBody>
      </p:sp>
      <p:sp>
        <p:nvSpPr>
          <p:cNvPr id="77" name="圆角矩形 76"/>
          <p:cNvSpPr>
            <a:spLocks noGrp="1"/>
          </p:cNvSpPr>
          <p:nvPr/>
        </p:nvSpPr>
        <p:spPr>
          <a:xfrm>
            <a:off x="7881938" y="2628900"/>
            <a:ext cx="1628775" cy="87630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668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79" name="矩形 78"/>
          <p:cNvSpPr>
            <a:spLocks noGrp="1"/>
          </p:cNvSpPr>
          <p:nvPr/>
        </p:nvSpPr>
        <p:spPr>
          <a:xfrm>
            <a:off x="7977188" y="2743200"/>
            <a:ext cx="1438275" cy="647700"/>
          </a:xfrm>
          <a:prstGeom prst="rect">
            <a:avLst/>
          </a:prstGeom>
        </p:spPr>
        <p:txBody>
          <a:bodyPr anchor="ctr"/>
          <a:lstStyle/>
          <a:p>
            <a:pPr algn="ctr">
              <a:defRPr sz="740" b="0">
                <a:solidFill>
                  <a:srgbClr val="14383E"/>
                </a:solidFill>
              </a:defRPr>
            </a:pPr>
            <a:r>
              <a:t>发送裁决：22 个原因码</a:t>
            </a:r>
          </a:p>
        </p:txBody>
      </p:sp>
      <p:sp>
        <p:nvSpPr>
          <p:cNvPr id="80" name="圆角矩形 79"/>
          <p:cNvSpPr>
            <a:spLocks noGrp="1"/>
          </p:cNvSpPr>
          <p:nvPr/>
        </p:nvSpPr>
        <p:spPr>
          <a:xfrm>
            <a:off x="9615488" y="2628900"/>
            <a:ext cx="1628775" cy="87630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668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82" name="矩形 81"/>
          <p:cNvSpPr>
            <a:spLocks noGrp="1"/>
          </p:cNvSpPr>
          <p:nvPr/>
        </p:nvSpPr>
        <p:spPr>
          <a:xfrm>
            <a:off x="9710738" y="2743200"/>
            <a:ext cx="1438275" cy="647700"/>
          </a:xfrm>
          <a:prstGeom prst="rect">
            <a:avLst/>
          </a:prstGeom>
        </p:spPr>
        <p:txBody>
          <a:bodyPr anchor="ctr"/>
          <a:lstStyle/>
          <a:p>
            <a:pPr algn="ctr">
              <a:defRPr sz="740" b="0">
                <a:solidFill>
                  <a:srgbClr val="14383E"/>
                </a:solidFill>
              </a:defRPr>
            </a:pPr>
            <a:r>
              <a:t>错误恢复路径</a:t>
            </a:r>
          </a:p>
        </p:txBody>
      </p:sp>
      <p:sp>
        <p:nvSpPr>
          <p:cNvPr id="83" name="圆角矩形 82"/>
          <p:cNvSpPr>
            <a:spLocks noGrp="1"/>
          </p:cNvSpPr>
          <p:nvPr/>
        </p:nvSpPr>
        <p:spPr>
          <a:xfrm>
            <a:off x="4416552" y="3639312"/>
            <a:ext cx="1628775" cy="87630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668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85" name="矩形 84"/>
          <p:cNvSpPr>
            <a:spLocks noGrp="1"/>
          </p:cNvSpPr>
          <p:nvPr/>
        </p:nvSpPr>
        <p:spPr>
          <a:xfrm>
            <a:off x="4512564" y="3749039"/>
            <a:ext cx="1438275" cy="647700"/>
          </a:xfrm>
          <a:prstGeom prst="rect">
            <a:avLst/>
          </a:prstGeom>
        </p:spPr>
        <p:txBody>
          <a:bodyPr anchor="ctr"/>
          <a:lstStyle/>
          <a:p>
            <a:pPr algn="ctr">
              <a:defRPr sz="740" b="0">
                <a:solidFill>
                  <a:srgbClr val="14383E"/>
                </a:solidFill>
              </a:defRPr>
            </a:pPr>
            <a:r>
              <a:t>有状态续跑与人工回交</a:t>
            </a:r>
          </a:p>
        </p:txBody>
      </p:sp>
      <p:sp>
        <p:nvSpPr>
          <p:cNvPr id="86" name="圆角矩形 85"/>
          <p:cNvSpPr>
            <a:spLocks noGrp="1"/>
          </p:cNvSpPr>
          <p:nvPr/>
        </p:nvSpPr>
        <p:spPr>
          <a:xfrm>
            <a:off x="6144768" y="3639312"/>
            <a:ext cx="1628775" cy="87630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668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88" name="矩形 87"/>
          <p:cNvSpPr>
            <a:spLocks noGrp="1"/>
          </p:cNvSpPr>
          <p:nvPr/>
        </p:nvSpPr>
        <p:spPr>
          <a:xfrm>
            <a:off x="6240780" y="3749039"/>
            <a:ext cx="1438275" cy="647700"/>
          </a:xfrm>
          <a:prstGeom prst="rect">
            <a:avLst/>
          </a:prstGeom>
        </p:spPr>
        <p:txBody>
          <a:bodyPr anchor="ctr"/>
          <a:lstStyle/>
          <a:p>
            <a:pPr algn="ctr">
              <a:defRPr sz="740" b="0">
                <a:solidFill>
                  <a:srgbClr val="14383E"/>
                </a:solidFill>
              </a:defRPr>
            </a:pPr>
            <a:r>
              <a:t>人工介入策略</a:t>
            </a:r>
          </a:p>
        </p:txBody>
      </p:sp>
      <p:sp>
        <p:nvSpPr>
          <p:cNvPr id="92" name="圆角矩形 91"/>
          <p:cNvSpPr>
            <a:spLocks noGrp="1"/>
          </p:cNvSpPr>
          <p:nvPr/>
        </p:nvSpPr>
        <p:spPr>
          <a:xfrm>
            <a:off x="657225" y="5486400"/>
            <a:ext cx="10877550" cy="609600"/>
          </a:xfrm>
          <a:prstGeom prst="roundRect">
            <a:avLst>
              <a:gd name="adj" fmla="val 12500"/>
            </a:avLst>
          </a:prstGeom>
          <a:solidFill>
            <a:srgbClr val="F7FBF9"/>
          </a:solidFill>
          <a:ln w="12668">
            <a:solidFill>
              <a:srgbClr val="BFD9D4"/>
            </a:solidFill>
            <a:prstDash val="solid"/>
          </a:ln>
        </p:spPr>
        <p:txBody>
          <a:bodyPr/>
          <a:p/>
        </p:txBody>
      </p:sp>
      <p:sp>
        <p:nvSpPr>
          <p:cNvPr id="93" name="矩形 92"/>
          <p:cNvSpPr>
            <a:spLocks noGrp="1"/>
          </p:cNvSpPr>
          <p:nvPr/>
        </p:nvSpPr>
        <p:spPr>
          <a:xfrm>
            <a:off x="876300" y="5562600"/>
            <a:ext cx="1238250" cy="190500"/>
          </a:xfrm>
          <a:prstGeom prst="rect">
            <a:avLst/>
          </a:prstGeom>
        </p:spPr>
        <p:txBody>
          <a:bodyPr anchor="ctr"/>
          <a:lstStyle/>
          <a:p>
            <a:pPr algn="l">
              <a:defRPr sz="720" b="1">
                <a:solidFill>
                  <a:srgbClr val="0A8F6A"/>
                </a:solidFill>
              </a:defRPr>
            </a:pPr>
            <a:r>
              <a:t>这一章</a:t>
            </a:r>
          </a:p>
        </p:txBody>
      </p:sp>
      <p:sp>
        <p:nvSpPr>
          <p:cNvPr id="94" name="矩形 93"/>
          <p:cNvSpPr>
            <a:spLocks noGrp="1"/>
          </p:cNvSpPr>
          <p:nvPr/>
        </p:nvSpPr>
        <p:spPr>
          <a:xfrm>
            <a:off x="876300" y="5753100"/>
            <a:ext cx="1238250" cy="190500"/>
          </a:xfrm>
          <a:prstGeom prst="rect">
            <a:avLst/>
          </a:prstGeom>
        </p:spPr>
        <p:txBody>
          <a:bodyPr anchor="ctr"/>
          <a:lstStyle/>
          <a:p>
            <a:pPr algn="l">
              <a:defRPr sz="720" b="1">
                <a:solidFill>
                  <a:srgbClr val="0A8F6A"/>
                </a:solidFill>
              </a:defRPr>
            </a:pPr>
            <a:r>
              <a:t>服务哪一步</a:t>
            </a:r>
          </a:p>
        </p:txBody>
      </p:sp>
      <p:sp>
        <p:nvSpPr>
          <p:cNvPr id="95" name="矩形 94"/>
          <p:cNvSpPr>
            <a:spLocks noGrp="1"/>
          </p:cNvSpPr>
          <p:nvPr/>
        </p:nvSpPr>
        <p:spPr>
          <a:xfrm>
            <a:off x="2247900" y="5619750"/>
            <a:ext cx="9525" cy="342900"/>
          </a:xfrm>
          <a:prstGeom prst="rect">
            <a:avLst/>
          </a:prstGeom>
          <a:solidFill>
            <a:srgbClr val="C7DAD6"/>
          </a:solidFill>
          <a:ln w="12668">
            <a:solidFill>
              <a:srgbClr val="C7DAD6"/>
            </a:solidFill>
            <a:prstDash val="solid"/>
          </a:ln>
        </p:spPr>
        <p:txBody>
          <a:bodyPr/>
          <a:p/>
        </p:txBody>
      </p:sp>
      <p:sp>
        <p:nvSpPr>
          <p:cNvPr id="96" name="矩形 95"/>
          <p:cNvSpPr>
            <a:spLocks noGrp="1"/>
          </p:cNvSpPr>
          <p:nvPr/>
        </p:nvSpPr>
        <p:spPr>
          <a:xfrm>
            <a:off x="2438400" y="5562600"/>
            <a:ext cx="6286500" cy="381000"/>
          </a:xfrm>
          <a:prstGeom prst="rect">
            <a:avLst/>
          </a:prstGeom>
        </p:spPr>
        <p:txBody>
          <a:bodyPr anchor="ctr"/>
          <a:lstStyle/>
          <a:p>
            <a:pPr algn="l">
              <a:defRPr sz="840" b="1">
                <a:solidFill>
                  <a:srgbClr val="14383E"/>
                </a:solidFill>
              </a:defRPr>
            </a:pPr>
            <a:r>
              <a:t>服务「查询/执行」：换成 AI 调用之后要补什么护栏。</a:t>
            </a:r>
          </a:p>
        </p:txBody>
      </p:sp>
      <p:sp>
        <p:nvSpPr>
          <p:cNvPr id="97" name="圆角矩形 96"/>
          <p:cNvSpPr>
            <a:spLocks noGrp="1"/>
          </p:cNvSpPr>
          <p:nvPr/>
        </p:nvSpPr>
        <p:spPr>
          <a:xfrm>
            <a:off x="9067800" y="5581650"/>
            <a:ext cx="514350" cy="209550"/>
          </a:xfrm>
          <a:prstGeom prst="roundRect">
            <a:avLst>
              <a:gd name="adj" fmla="val 36364"/>
            </a:avLst>
          </a:prstGeom>
          <a:solidFill>
            <a:srgbClr val="FFFFFF"/>
          </a:solidFill>
          <a:ln w="12668">
            <a:solidFill>
              <a:srgbClr val="C7DAD6"/>
            </a:solidFill>
            <a:prstDash val="solid"/>
          </a:ln>
        </p:spPr>
        <p:txBody>
          <a:bodyPr/>
          <a:p/>
        </p:txBody>
      </p:sp>
      <p:sp>
        <p:nvSpPr>
          <p:cNvPr id="98" name="矩形 97"/>
          <p:cNvSpPr>
            <a:spLocks noGrp="1"/>
          </p:cNvSpPr>
          <p:nvPr/>
        </p:nvSpPr>
        <p:spPr>
          <a:xfrm>
            <a:off x="9067800" y="5581650"/>
            <a:ext cx="514350" cy="209550"/>
          </a:xfrm>
          <a:prstGeom prst="rect">
            <a:avLst/>
          </a:prstGeom>
        </p:spPr>
        <p:txBody>
          <a:bodyPr anchor="ctr"/>
          <a:lstStyle/>
          <a:p>
            <a:pPr algn="ctr">
              <a:defRPr sz="680" b="0">
                <a:solidFill>
                  <a:srgbClr val="44585C"/>
                </a:solidFill>
              </a:defRPr>
            </a:pPr>
            <a:r>
              <a:t>理解</a:t>
            </a:r>
          </a:p>
        </p:txBody>
      </p:sp>
      <p:sp>
        <p:nvSpPr>
          <p:cNvPr id="99" name="圆角矩形 98"/>
          <p:cNvSpPr>
            <a:spLocks noGrp="1"/>
          </p:cNvSpPr>
          <p:nvPr/>
        </p:nvSpPr>
        <p:spPr>
          <a:xfrm>
            <a:off x="9658350" y="5581650"/>
            <a:ext cx="514350" cy="209550"/>
          </a:xfrm>
          <a:prstGeom prst="roundRect">
            <a:avLst>
              <a:gd name="adj" fmla="val 36364"/>
            </a:avLst>
          </a:prstGeom>
          <a:solidFill>
            <a:srgbClr val="0A8F6A"/>
          </a:solidFill>
          <a:ln w="12668">
            <a:solidFill>
              <a:srgbClr val="0A8F6A"/>
            </a:solidFill>
            <a:prstDash val="solid"/>
          </a:ln>
        </p:spPr>
        <p:txBody>
          <a:bodyPr/>
          <a:p/>
        </p:txBody>
      </p:sp>
      <p:sp>
        <p:nvSpPr>
          <p:cNvPr id="100" name="矩形 99"/>
          <p:cNvSpPr>
            <a:spLocks noGrp="1"/>
          </p:cNvSpPr>
          <p:nvPr/>
        </p:nvSpPr>
        <p:spPr>
          <a:xfrm>
            <a:off x="9658350" y="5581650"/>
            <a:ext cx="514350" cy="209550"/>
          </a:xfrm>
          <a:prstGeom prst="rect">
            <a:avLst/>
          </a:prstGeom>
        </p:spPr>
        <p:txBody>
          <a:bodyPr anchor="ctr"/>
          <a:lstStyle/>
          <a:p>
            <a:pPr algn="ctr">
              <a:defRPr sz="680" b="1">
                <a:solidFill>
                  <a:srgbClr val="FFFFFF"/>
                </a:solidFill>
              </a:defRPr>
            </a:pPr>
            <a:r>
              <a:t>查询</a:t>
            </a:r>
          </a:p>
        </p:txBody>
      </p:sp>
      <p:sp>
        <p:nvSpPr>
          <p:cNvPr id="101" name="圆角矩形 100"/>
          <p:cNvSpPr>
            <a:spLocks noGrp="1"/>
          </p:cNvSpPr>
          <p:nvPr/>
        </p:nvSpPr>
        <p:spPr>
          <a:xfrm>
            <a:off x="10248900" y="5581650"/>
            <a:ext cx="514350" cy="209550"/>
          </a:xfrm>
          <a:prstGeom prst="roundRect">
            <a:avLst>
              <a:gd name="adj" fmla="val 36364"/>
            </a:avLst>
          </a:prstGeom>
          <a:solidFill>
            <a:srgbClr val="FFFFFF"/>
          </a:solidFill>
          <a:ln w="12668">
            <a:solidFill>
              <a:srgbClr val="C7DAD6"/>
            </a:solidFill>
            <a:prstDash val="solid"/>
          </a:ln>
        </p:spPr>
        <p:txBody>
          <a:bodyPr/>
          <a:p/>
        </p:txBody>
      </p:sp>
      <p:sp>
        <p:nvSpPr>
          <p:cNvPr id="102" name="矩形 101"/>
          <p:cNvSpPr>
            <a:spLocks noGrp="1"/>
          </p:cNvSpPr>
          <p:nvPr/>
        </p:nvSpPr>
        <p:spPr>
          <a:xfrm>
            <a:off x="10248900" y="5581650"/>
            <a:ext cx="514350" cy="209550"/>
          </a:xfrm>
          <a:prstGeom prst="rect">
            <a:avLst/>
          </a:prstGeom>
        </p:spPr>
        <p:txBody>
          <a:bodyPr anchor="ctr"/>
          <a:lstStyle/>
          <a:p>
            <a:pPr algn="ctr">
              <a:defRPr sz="680" b="0">
                <a:solidFill>
                  <a:srgbClr val="44585C"/>
                </a:solidFill>
              </a:defRPr>
            </a:pPr>
            <a:r>
              <a:t>决策</a:t>
            </a:r>
          </a:p>
        </p:txBody>
      </p:sp>
      <p:sp>
        <p:nvSpPr>
          <p:cNvPr id="103" name="圆角矩形 102"/>
          <p:cNvSpPr>
            <a:spLocks noGrp="1"/>
          </p:cNvSpPr>
          <p:nvPr/>
        </p:nvSpPr>
        <p:spPr>
          <a:xfrm>
            <a:off x="10839450" y="5581650"/>
            <a:ext cx="514350" cy="209550"/>
          </a:xfrm>
          <a:prstGeom prst="roundRect">
            <a:avLst>
              <a:gd name="adj" fmla="val 36364"/>
            </a:avLst>
          </a:prstGeom>
          <a:solidFill>
            <a:srgbClr val="0A8F6A"/>
          </a:solidFill>
          <a:ln w="12668">
            <a:solidFill>
              <a:srgbClr val="0A8F6A"/>
            </a:solidFill>
            <a:prstDash val="solid"/>
          </a:ln>
        </p:spPr>
        <p:txBody>
          <a:bodyPr/>
          <a:p/>
        </p:txBody>
      </p:sp>
      <p:sp>
        <p:nvSpPr>
          <p:cNvPr id="104" name="矩形 103"/>
          <p:cNvSpPr>
            <a:spLocks noGrp="1"/>
          </p:cNvSpPr>
          <p:nvPr/>
        </p:nvSpPr>
        <p:spPr>
          <a:xfrm>
            <a:off x="10839450" y="5581650"/>
            <a:ext cx="514350" cy="209550"/>
          </a:xfrm>
          <a:prstGeom prst="rect">
            <a:avLst/>
          </a:prstGeom>
        </p:spPr>
        <p:txBody>
          <a:bodyPr anchor="ctr"/>
          <a:lstStyle/>
          <a:p>
            <a:pPr algn="ctr">
              <a:defRPr sz="680" b="1">
                <a:solidFill>
                  <a:srgbClr val="FFFFFF"/>
                </a:solidFill>
              </a:defRPr>
            </a:pPr>
            <a:r>
              <a:t>执行</a:t>
            </a:r>
          </a:p>
        </p:txBody>
      </p:sp>
      <p:sp>
        <p:nvSpPr>
          <p:cNvPr id="105" name="矩形 104"/>
          <p:cNvSpPr>
            <a:spLocks noGrp="1"/>
          </p:cNvSpPr>
          <p:nvPr/>
        </p:nvSpPr>
        <p:spPr>
          <a:xfrm>
            <a:off x="657225" y="6172200"/>
            <a:ext cx="10877550" cy="190500"/>
          </a:xfrm>
          <a:prstGeom prst="rect">
            <a:avLst/>
          </a:prstGeom>
        </p:spPr>
        <p:txBody>
          <a:bodyPr anchor="ctr"/>
          <a:lstStyle/>
          <a:p>
            <a:pPr algn="l">
              <a:defRPr sz="720" b="0">
                <a:solidFill>
                  <a:srgbClr val="44585C"/>
                </a:solidFill>
              </a:defRPr>
            </a:pPr>
            <a:r>
              <a:t>本章讲完进入第七章 · 证据、评测与价值。</a:t>
            </a:r>
          </a:p>
        </p:txBody>
      </p:sp>
      <p:sp>
        <p:nvSpPr>
          <p:cNvPr id="106" name="圆角矩形 105"/>
          <p:cNvSpPr>
            <a:spLocks noGrp="1"/>
          </p:cNvSpPr>
          <p:nvPr/>
        </p:nvSpPr>
        <p:spPr>
          <a:xfrm>
            <a:off x="6565583" y="127635"/>
            <a:ext cx="4937760" cy="365760"/>
          </a:xfrm>
          <a:prstGeom prst="roundRect">
            <a:avLst>
              <a:gd name="adj" fmla="val 20833"/>
            </a:avLst>
          </a:prstGeom>
          <a:solidFill>
            <a:srgbClr val="F7FBF9"/>
          </a:solidFill>
          <a:ln w="12668">
            <a:solidFill>
              <a:srgbClr val="F7FBF9"/>
            </a:solidFill>
            <a:prstDash val="solid"/>
          </a:ln>
        </p:spPr>
        <p:txBody>
          <a:bodyPr/>
          <a:p/>
        </p:txBody>
      </p:sp>
      <p:sp>
        <p:nvSpPr>
          <p:cNvPr id="107" name="圆角矩形 106"/>
          <p:cNvSpPr>
            <a:spLocks noGrp="1"/>
          </p:cNvSpPr>
          <p:nvPr/>
        </p:nvSpPr>
        <p:spPr>
          <a:xfrm>
            <a:off x="6657023" y="164783"/>
            <a:ext cx="1154430" cy="264795"/>
          </a:xfrm>
          <a:prstGeom prst="roundRect">
            <a:avLst>
              <a:gd name="adj" fmla="val 28777"/>
            </a:avLst>
          </a:prstGeom>
          <a:solidFill>
            <a:srgbClr val="FFFFFF"/>
          </a:solidFill>
          <a:ln w="12668">
            <a:solidFill>
              <a:srgbClr val="C9DCD7"/>
            </a:solidFill>
            <a:prstDash val="solid"/>
          </a:ln>
        </p:spPr>
        <p:txBody>
          <a:bodyPr/>
          <a:p/>
        </p:txBody>
      </p:sp>
      <p:sp>
        <p:nvSpPr>
          <p:cNvPr id="108" name="矩形 107"/>
          <p:cNvSpPr>
            <a:spLocks noGrp="1"/>
          </p:cNvSpPr>
          <p:nvPr/>
        </p:nvSpPr>
        <p:spPr>
          <a:xfrm>
            <a:off x="6657023" y="187643"/>
            <a:ext cx="1154430" cy="182880"/>
          </a:xfrm>
          <a:prstGeom prst="rect">
            <a:avLst/>
          </a:prstGeom>
        </p:spPr>
        <p:txBody>
          <a:bodyPr anchor="ctr"/>
          <a:lstStyle/>
          <a:p>
            <a:pPr algn="ctr">
              <a:defRPr sz="650" b="0">
                <a:solidFill>
                  <a:srgbClr val="44585C"/>
                </a:solidFill>
              </a:defRPr>
            </a:pPr>
            <a:r>
              <a:t>理解</a:t>
            </a:r>
          </a:p>
        </p:txBody>
      </p:sp>
      <p:sp>
        <p:nvSpPr>
          <p:cNvPr id="109" name="圆角矩形 108"/>
          <p:cNvSpPr>
            <a:spLocks noGrp="1"/>
          </p:cNvSpPr>
          <p:nvPr/>
        </p:nvSpPr>
        <p:spPr>
          <a:xfrm>
            <a:off x="7857173" y="164783"/>
            <a:ext cx="1154430" cy="264795"/>
          </a:xfrm>
          <a:prstGeom prst="roundRect">
            <a:avLst>
              <a:gd name="adj" fmla="val 28777"/>
            </a:avLst>
          </a:prstGeom>
          <a:solidFill>
            <a:srgbClr val="007574"/>
          </a:solidFill>
          <a:ln w="12668">
            <a:solidFill>
              <a:srgbClr val="007574"/>
            </a:solidFill>
            <a:prstDash val="solid"/>
          </a:ln>
        </p:spPr>
        <p:txBody>
          <a:bodyPr/>
          <a:p/>
        </p:txBody>
      </p:sp>
      <p:sp>
        <p:nvSpPr>
          <p:cNvPr id="110" name="矩形 109"/>
          <p:cNvSpPr>
            <a:spLocks noGrp="1"/>
          </p:cNvSpPr>
          <p:nvPr/>
        </p:nvSpPr>
        <p:spPr>
          <a:xfrm>
            <a:off x="7857173" y="187643"/>
            <a:ext cx="1154430" cy="182880"/>
          </a:xfrm>
          <a:prstGeom prst="rect">
            <a:avLst/>
          </a:prstGeom>
        </p:spPr>
        <p:txBody>
          <a:bodyPr anchor="ctr"/>
          <a:lstStyle/>
          <a:p>
            <a:pPr algn="ctr">
              <a:defRPr sz="660" b="1">
                <a:solidFill>
                  <a:srgbClr val="FFFFFF"/>
                </a:solidFill>
              </a:defRPr>
            </a:pPr>
            <a:r>
              <a:t>查询</a:t>
            </a:r>
          </a:p>
        </p:txBody>
      </p:sp>
      <p:sp>
        <p:nvSpPr>
          <p:cNvPr id="111" name="圆角矩形 110"/>
          <p:cNvSpPr>
            <a:spLocks noGrp="1"/>
          </p:cNvSpPr>
          <p:nvPr/>
        </p:nvSpPr>
        <p:spPr>
          <a:xfrm>
            <a:off x="9057323" y="164783"/>
            <a:ext cx="1154430" cy="264795"/>
          </a:xfrm>
          <a:prstGeom prst="roundRect">
            <a:avLst>
              <a:gd name="adj" fmla="val 28777"/>
            </a:avLst>
          </a:prstGeom>
          <a:solidFill>
            <a:srgbClr val="FFFFFF"/>
          </a:solidFill>
          <a:ln w="12668">
            <a:solidFill>
              <a:srgbClr val="C9DCD7"/>
            </a:solidFill>
            <a:prstDash val="solid"/>
          </a:ln>
        </p:spPr>
        <p:txBody>
          <a:bodyPr/>
          <a:p/>
        </p:txBody>
      </p:sp>
      <p:sp>
        <p:nvSpPr>
          <p:cNvPr id="112" name="矩形 111"/>
          <p:cNvSpPr>
            <a:spLocks noGrp="1"/>
          </p:cNvSpPr>
          <p:nvPr/>
        </p:nvSpPr>
        <p:spPr>
          <a:xfrm>
            <a:off x="9057323" y="187643"/>
            <a:ext cx="1154430" cy="182880"/>
          </a:xfrm>
          <a:prstGeom prst="rect">
            <a:avLst/>
          </a:prstGeom>
        </p:spPr>
        <p:txBody>
          <a:bodyPr anchor="ctr"/>
          <a:lstStyle/>
          <a:p>
            <a:pPr algn="ctr">
              <a:defRPr sz="650" b="0">
                <a:solidFill>
                  <a:srgbClr val="44585C"/>
                </a:solidFill>
              </a:defRPr>
            </a:pPr>
            <a:r>
              <a:t>决策</a:t>
            </a:r>
          </a:p>
        </p:txBody>
      </p:sp>
      <p:sp>
        <p:nvSpPr>
          <p:cNvPr id="113" name="圆角矩形 112"/>
          <p:cNvSpPr>
            <a:spLocks noGrp="1"/>
          </p:cNvSpPr>
          <p:nvPr/>
        </p:nvSpPr>
        <p:spPr>
          <a:xfrm>
            <a:off x="10257473" y="164783"/>
            <a:ext cx="1154430" cy="264795"/>
          </a:xfrm>
          <a:prstGeom prst="roundRect">
            <a:avLst>
              <a:gd name="adj" fmla="val 28777"/>
            </a:avLst>
          </a:prstGeom>
          <a:solidFill>
            <a:srgbClr val="007574"/>
          </a:solidFill>
          <a:ln w="12668">
            <a:solidFill>
              <a:srgbClr val="007574"/>
            </a:solidFill>
            <a:prstDash val="solid"/>
          </a:ln>
        </p:spPr>
        <p:txBody>
          <a:bodyPr/>
          <a:p/>
        </p:txBody>
      </p:sp>
      <p:sp>
        <p:nvSpPr>
          <p:cNvPr id="114" name="矩形 113"/>
          <p:cNvSpPr>
            <a:spLocks noGrp="1"/>
          </p:cNvSpPr>
          <p:nvPr/>
        </p:nvSpPr>
        <p:spPr>
          <a:xfrm>
            <a:off x="10257473" y="187643"/>
            <a:ext cx="1154430" cy="182880"/>
          </a:xfrm>
          <a:prstGeom prst="rect">
            <a:avLst/>
          </a:prstGeom>
        </p:spPr>
        <p:txBody>
          <a:bodyPr anchor="ctr"/>
          <a:lstStyle/>
          <a:p>
            <a:pPr algn="ctr">
              <a:defRPr sz="660" b="1">
                <a:solidFill>
                  <a:srgbClr val="FFFFFF"/>
                </a:solidFill>
              </a:defRPr>
            </a:pPr>
            <a:r>
              <a:t>执行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hape 0"/>
          <p:cNvSpPr>
            <a:spLocks noGrp="1"/>
          </p:cNvSpPr>
          <p:nvPr/>
        </p:nvSpPr>
        <p:spPr>
          <a:xfrm>
            <a:off x="0" y="0"/>
            <a:ext cx="41148" cy="6858000"/>
          </a:xfrm>
          <a:prstGeom prst="rect">
            <a:avLst/>
          </a:prstGeom>
          <a:solidFill>
            <a:srgbClr val="0A8F6A"/>
          </a:solidFill>
          <a:ln w="12700">
            <a:solidFill>
              <a:srgbClr val="F28B2D"/>
            </a:solidFill>
            <a:prstDash val="solid"/>
          </a:ln>
        </p:spPr>
        <p:txBody>
          <a:bodyPr/>
          <a:lstStyle/>
          <a:p/>
        </p:txBody>
      </p:sp>
      <p:sp>
        <p:nvSpPr>
          <p:cNvPr id="3" name="Shape 1"/>
          <p:cNvSpPr>
            <a:spLocks noGrp="1"/>
          </p:cNvSpPr>
          <p:nvPr/>
        </p:nvSpPr>
        <p:spPr>
          <a:xfrm>
            <a:off x="658368" y="429768"/>
            <a:ext cx="237744" cy="0"/>
          </a:xfrm>
          <a:prstGeom prst="line">
            <a:avLst/>
          </a:prstGeom>
          <a:noFill/>
          <a:ln w="15875">
            <a:solidFill>
              <a:srgbClr val="0A8F6A"/>
            </a:solidFill>
            <a:prstDash val="solid"/>
          </a:ln>
        </p:spPr>
        <p:txBody>
          <a:bodyPr/>
          <a:lstStyle/>
          <a:p/>
        </p:txBody>
      </p:sp>
      <p:sp>
        <p:nvSpPr>
          <p:cNvPr id="4" name="Text 2"/>
          <p:cNvSpPr>
            <a:spLocks noGrp="1"/>
          </p:cNvSpPr>
          <p:nvPr/>
        </p:nvSpPr>
        <p:spPr>
          <a:xfrm>
            <a:off x="941832" y="292608"/>
            <a:ext cx="3474720" cy="2286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r>
              <a:rPr sz="1050" b="1">
                <a:solidFill>
                  <a:srgbClr val="076B50"/>
                </a:solidFill>
                <a:latin typeface="Noto Sans CJK SC"/>
                <a:ea typeface="Noto Sans CJK SC"/>
                <a:cs typeface="Noto Sans CJK SC"/>
              </a:rPr>
              <a:t>CHAPTER 6 · 受控执行</a:t>
            </a:r>
            <a:endParaRPr sz="1050" b="1">
              <a:solidFill>
                <a:srgbClr val="F28B36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" name="Text 3"/>
          <p:cNvSpPr>
            <a:spLocks noGrp="1"/>
          </p:cNvSpPr>
          <p:nvPr/>
        </p:nvSpPr>
        <p:spPr>
          <a:xfrm>
            <a:off x="640080" y="667512"/>
            <a:ext cx="10698480" cy="43891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buNone/>
            </a:pPr>
            <a:r>
              <a:rPr sz="2550" b="1">
                <a:solidFill>
                  <a:srgbClr val="163B36"/>
                </a:solidFill>
                <a:latin typeface="Noto Sans CJK SC"/>
                <a:ea typeface="Noto Sans CJK SC"/>
                <a:cs typeface="Noto Sans CJK SC"/>
              </a:rPr>
              <a:t>安全控制覆盖六个阶段</a:t>
            </a:r>
            <a:endParaRPr sz="2550"/>
          </a:p>
        </p:txBody>
      </p:sp>
      <p:sp>
        <p:nvSpPr>
          <p:cNvPr id="6" name="Text 4"/>
          <p:cNvSpPr>
            <a:spLocks noGrp="1"/>
          </p:cNvSpPr>
          <p:nvPr/>
        </p:nvSpPr>
        <p:spPr>
          <a:xfrm>
            <a:off x="640080" y="1115568"/>
            <a:ext cx="10424160" cy="30175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r>
              <a:rPr sz="1170">
                <a:solidFill>
                  <a:srgbClr val="44585C"/>
                </a:solidFill>
                <a:latin typeface="Noto Sans CJK SC"/>
                <a:ea typeface="Noto Sans CJK SC"/>
                <a:cs typeface="Noto Sans CJK SC"/>
              </a:rPr>
              <a:t>从路由到发送，每一层只解决自己的风险；任意一层失效，都不能直接获得写权限。</a:t>
            </a:r>
            <a:endParaRPr sz="1170">
              <a:solidFill>
                <a:srgbClr val="6B8185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" name="Shape 5"/>
          <p:cNvSpPr>
            <a:spLocks noGrp="1"/>
          </p:cNvSpPr>
          <p:nvPr/>
        </p:nvSpPr>
        <p:spPr>
          <a:xfrm>
            <a:off x="10533888" y="54864"/>
            <a:ext cx="1298448" cy="713232"/>
          </a:xfrm>
          <a:prstGeom prst="ellipse">
            <a:avLst/>
          </a:prstGeom>
          <a:solidFill>
            <a:srgbClr val="F28B2D">
              <a:alpha val="8000"/>
            </a:srgbClr>
          </a:solidFill>
          <a:ln w="12700">
            <a:solidFill>
              <a:srgbClr val="F28B2D">
                <a:alpha val="0"/>
              </a:srgbClr>
            </a:solidFill>
            <a:prstDash val="solid"/>
          </a:ln>
        </p:spPr>
        <p:txBody>
          <a:bodyPr/>
          <a:lstStyle/>
          <a:p/>
        </p:txBody>
      </p:sp>
      <p:sp>
        <p:nvSpPr>
          <p:cNvPr id="8" name="Shape 6"/>
          <p:cNvSpPr>
            <a:spLocks noGrp="1"/>
          </p:cNvSpPr>
          <p:nvPr/>
        </p:nvSpPr>
        <p:spPr>
          <a:xfrm>
            <a:off x="9802368" y="283464"/>
            <a:ext cx="36576" cy="36576"/>
          </a:xfrm>
          <a:prstGeom prst="ellipse">
            <a:avLst/>
          </a:prstGeom>
          <a:solidFill>
            <a:srgbClr val="C6DCD5"/>
          </a:solidFill>
          <a:ln w="12700">
            <a:solidFill>
              <a:srgbClr val="C6DCD5"/>
            </a:solidFill>
            <a:prstDash val="solid"/>
          </a:ln>
        </p:spPr>
        <p:txBody>
          <a:bodyPr/>
          <a:lstStyle/>
          <a:p/>
        </p:txBody>
      </p:sp>
      <p:sp>
        <p:nvSpPr>
          <p:cNvPr id="9" name="Shape 7"/>
          <p:cNvSpPr>
            <a:spLocks noGrp="1"/>
          </p:cNvSpPr>
          <p:nvPr/>
        </p:nvSpPr>
        <p:spPr>
          <a:xfrm>
            <a:off x="9930384" y="283464"/>
            <a:ext cx="36576" cy="36576"/>
          </a:xfrm>
          <a:prstGeom prst="ellipse">
            <a:avLst/>
          </a:prstGeom>
          <a:solidFill>
            <a:srgbClr val="F28B2D"/>
          </a:solidFill>
          <a:ln w="12700">
            <a:solidFill>
              <a:srgbClr val="F28B2D"/>
            </a:solidFill>
            <a:prstDash val="solid"/>
          </a:ln>
        </p:spPr>
        <p:txBody>
          <a:bodyPr/>
          <a:lstStyle/>
          <a:p/>
        </p:txBody>
      </p:sp>
      <p:sp>
        <p:nvSpPr>
          <p:cNvPr id="10" name="Shape 8"/>
          <p:cNvSpPr>
            <a:spLocks noGrp="1"/>
          </p:cNvSpPr>
          <p:nvPr/>
        </p:nvSpPr>
        <p:spPr>
          <a:xfrm>
            <a:off x="10058400" y="283464"/>
            <a:ext cx="36576" cy="36576"/>
          </a:xfrm>
          <a:prstGeom prst="ellipse">
            <a:avLst/>
          </a:prstGeom>
          <a:solidFill>
            <a:srgbClr val="C6DCD5"/>
          </a:solidFill>
          <a:ln w="12700">
            <a:solidFill>
              <a:srgbClr val="C6DCD5"/>
            </a:solidFill>
            <a:prstDash val="solid"/>
          </a:ln>
        </p:spPr>
        <p:txBody>
          <a:bodyPr/>
          <a:lstStyle/>
          <a:p/>
        </p:txBody>
      </p:sp>
      <p:sp>
        <p:nvSpPr>
          <p:cNvPr id="11" name="Shape 9"/>
          <p:cNvSpPr>
            <a:spLocks noGrp="1"/>
          </p:cNvSpPr>
          <p:nvPr/>
        </p:nvSpPr>
        <p:spPr>
          <a:xfrm>
            <a:off x="10186416" y="283464"/>
            <a:ext cx="36576" cy="36576"/>
          </a:xfrm>
          <a:prstGeom prst="ellipse">
            <a:avLst/>
          </a:prstGeom>
          <a:solidFill>
            <a:srgbClr val="C6DCD5"/>
          </a:solidFill>
          <a:ln w="12700">
            <a:solidFill>
              <a:srgbClr val="C6DCD5"/>
            </a:solidFill>
            <a:prstDash val="solid"/>
          </a:ln>
        </p:spPr>
        <p:txBody>
          <a:bodyPr/>
          <a:lstStyle/>
          <a:p/>
        </p:txBody>
      </p:sp>
      <p:sp>
        <p:nvSpPr>
          <p:cNvPr id="12" name="Shape 10"/>
          <p:cNvSpPr>
            <a:spLocks noGrp="1"/>
          </p:cNvSpPr>
          <p:nvPr/>
        </p:nvSpPr>
        <p:spPr>
          <a:xfrm>
            <a:off x="10314432" y="283464"/>
            <a:ext cx="36576" cy="36576"/>
          </a:xfrm>
          <a:prstGeom prst="ellipse">
            <a:avLst/>
          </a:prstGeom>
          <a:solidFill>
            <a:srgbClr val="C6DCD5"/>
          </a:solidFill>
          <a:ln w="12700">
            <a:solidFill>
              <a:srgbClr val="C6DCD5"/>
            </a:solidFill>
            <a:prstDash val="solid"/>
          </a:ln>
        </p:spPr>
        <p:txBody>
          <a:bodyPr/>
          <a:lstStyle/>
          <a:p/>
        </p:txBody>
      </p:sp>
      <p:sp>
        <p:nvSpPr>
          <p:cNvPr id="13" name="Shape 11"/>
          <p:cNvSpPr>
            <a:spLocks noGrp="1"/>
          </p:cNvSpPr>
          <p:nvPr/>
        </p:nvSpPr>
        <p:spPr>
          <a:xfrm>
            <a:off x="10442448" y="283464"/>
            <a:ext cx="36576" cy="36576"/>
          </a:xfrm>
          <a:prstGeom prst="ellipse">
            <a:avLst/>
          </a:prstGeom>
          <a:solidFill>
            <a:srgbClr val="C6DCD5"/>
          </a:solidFill>
          <a:ln w="12700">
            <a:solidFill>
              <a:srgbClr val="C6DCD5"/>
            </a:solidFill>
            <a:prstDash val="solid"/>
          </a:ln>
        </p:spPr>
        <p:txBody>
          <a:bodyPr/>
          <a:lstStyle/>
          <a:p/>
        </p:txBody>
      </p:sp>
      <p:sp>
        <p:nvSpPr>
          <p:cNvPr id="14" name="Shape 12"/>
          <p:cNvSpPr>
            <a:spLocks noGrp="1"/>
          </p:cNvSpPr>
          <p:nvPr/>
        </p:nvSpPr>
        <p:spPr>
          <a:xfrm>
            <a:off x="640080" y="6528816"/>
            <a:ext cx="10927080" cy="0"/>
          </a:xfrm>
          <a:prstGeom prst="line">
            <a:avLst/>
          </a:prstGeom>
          <a:noFill/>
          <a:ln w="10160">
            <a:solidFill>
              <a:srgbClr val="D8E7E2"/>
            </a:solidFill>
            <a:prstDash val="solid"/>
          </a:ln>
        </p:spPr>
        <p:txBody>
          <a:bodyPr/>
          <a:lstStyle/>
          <a:p/>
        </p:txBody>
      </p:sp>
      <p:sp>
        <p:nvSpPr>
          <p:cNvPr id="15" name="Text 13"/>
          <p:cNvSpPr>
            <a:spLocks noGrp="1"/>
          </p:cNvSpPr>
          <p:nvPr/>
        </p:nvSpPr>
        <p:spPr>
          <a:xfrm>
            <a:off x="658368" y="6565392"/>
            <a:ext cx="3108960" cy="16459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buNone/>
            </a:pPr>
            <a:r>
              <a:rPr sz="750">
                <a:solidFill>
                  <a:srgbClr val="55696A"/>
                </a:solidFill>
                <a:latin typeface="Noto Sans CJK SC"/>
                <a:ea typeface="Noto Sans CJK SC"/>
                <a:cs typeface="Noto Sans CJK SC"/>
              </a:rPr>
              <a:t>CUSTOMER SERVICE AI AGENT</a:t>
            </a:r>
            <a:endParaRPr sz="750"/>
          </a:p>
        </p:txBody>
      </p:sp>
      <p:sp>
        <p:nvSpPr>
          <p:cNvPr id="16" name="Text 14"/>
          <p:cNvSpPr>
            <a:spLocks noGrp="1"/>
          </p:cNvSpPr>
          <p:nvPr/>
        </p:nvSpPr>
        <p:spPr>
          <a:xfrm>
            <a:off x="10881360" y="6537960"/>
            <a:ext cx="658368" cy="18288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</a:pPr>
            <a:r>
              <a:rPr sz="880" b="1">
                <a:solidFill>
                  <a:srgbClr val="076B50"/>
                </a:solidFill>
                <a:latin typeface="Noto Sans CJK SC"/>
                <a:ea typeface="Noto Sans CJK SC"/>
                <a:cs typeface="Noto Sans CJK SC"/>
              </a:rPr>
              <a:t>47</a:t>
            </a:r>
            <a:endParaRPr sz="880" b="1">
              <a:solidFill>
                <a:srgbClr val="F28B36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7" name="Shape 15"/>
          <p:cNvSpPr>
            <a:spLocks noGrp="1"/>
          </p:cNvSpPr>
          <p:nvPr/>
        </p:nvSpPr>
        <p:spPr>
          <a:xfrm>
            <a:off x="658368" y="1572768"/>
            <a:ext cx="10899648" cy="420624"/>
          </a:xfrm>
          <a:prstGeom prst="roundRect">
            <a:avLst/>
          </a:prstGeom>
          <a:solidFill>
            <a:srgbClr val="0D5E50"/>
          </a:solidFill>
          <a:ln w="6350">
            <a:solidFill>
              <a:srgbClr val="0D5E50"/>
            </a:solidFill>
            <a:prstDash val="solid"/>
          </a:ln>
        </p:spPr>
        <p:txBody>
          <a:bodyPr/>
          <a:lstStyle/>
          <a:p/>
        </p:txBody>
      </p:sp>
      <p:sp>
        <p:nvSpPr>
          <p:cNvPr id="18" name="Text 16"/>
          <p:cNvSpPr>
            <a:spLocks noGrp="1"/>
          </p:cNvSpPr>
          <p:nvPr/>
        </p:nvSpPr>
        <p:spPr>
          <a:xfrm>
            <a:off x="896112" y="1572768"/>
            <a:ext cx="1325880" cy="42062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buNone/>
            </a:pPr>
            <a:r>
              <a:rPr sz="10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阶段</a:t>
            </a:r>
            <a:endParaRPr sz="1050"/>
          </a:p>
        </p:txBody>
      </p:sp>
      <p:sp>
        <p:nvSpPr>
          <p:cNvPr id="19" name="Text 17"/>
          <p:cNvSpPr>
            <a:spLocks noGrp="1"/>
          </p:cNvSpPr>
          <p:nvPr/>
        </p:nvSpPr>
        <p:spPr>
          <a:xfrm>
            <a:off x="2788920" y="1572768"/>
            <a:ext cx="4617720" cy="42062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buNone/>
            </a:pPr>
            <a:r>
              <a:rPr sz="10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主要控制</a:t>
            </a:r>
            <a:endParaRPr sz="1050"/>
          </a:p>
        </p:txBody>
      </p:sp>
      <p:sp>
        <p:nvSpPr>
          <p:cNvPr id="20" name="Text 18"/>
          <p:cNvSpPr>
            <a:spLocks noGrp="1"/>
          </p:cNvSpPr>
          <p:nvPr/>
        </p:nvSpPr>
        <p:spPr>
          <a:xfrm>
            <a:off x="8503920" y="1572768"/>
            <a:ext cx="2606040" cy="42062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buNone/>
            </a:pPr>
            <a:r>
              <a:rPr sz="10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失败时动作</a:t>
            </a:r>
            <a:endParaRPr sz="1050"/>
          </a:p>
        </p:txBody>
      </p:sp>
      <p:sp>
        <p:nvSpPr>
          <p:cNvPr id="21" name="Shape 19"/>
          <p:cNvSpPr>
            <a:spLocks noGrp="1"/>
          </p:cNvSpPr>
          <p:nvPr/>
        </p:nvSpPr>
        <p:spPr>
          <a:xfrm>
            <a:off x="658368" y="2103120"/>
            <a:ext cx="10899648" cy="53035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E7E2"/>
            </a:solidFill>
            <a:prstDash val="solid"/>
          </a:ln>
        </p:spPr>
        <p:txBody>
          <a:bodyPr/>
          <a:lstStyle/>
          <a:p/>
        </p:txBody>
      </p:sp>
      <p:sp>
        <p:nvSpPr>
          <p:cNvPr id="22" name="Shape 20"/>
          <p:cNvSpPr>
            <a:spLocks noGrp="1"/>
          </p:cNvSpPr>
          <p:nvPr/>
        </p:nvSpPr>
        <p:spPr>
          <a:xfrm>
            <a:off x="822960" y="2194560"/>
            <a:ext cx="347472" cy="347472"/>
          </a:xfrm>
          <a:prstGeom prst="ellipse">
            <a:avLst/>
          </a:prstGeom>
          <a:solidFill>
            <a:srgbClr val="1F63C4"/>
          </a:solidFill>
          <a:ln w="6350">
            <a:solidFill>
              <a:srgbClr val="1F63C4"/>
            </a:solidFill>
            <a:prstDash val="solid"/>
          </a:ln>
          <a:effectLst>
            <a:outerShdw blurRad="2147483647" dist="2147483647" algn="bl" rotWithShape="0">
              <a:srgbClr val="74857F">
                <a:alpha val="0"/>
              </a:srgbClr>
            </a:outerShdw>
          </a:effectLst>
        </p:spPr>
        <p:txBody>
          <a:bodyPr/>
          <a:lstStyle/>
          <a:p/>
        </p:txBody>
      </p:sp>
      <p:sp>
        <p:nvSpPr>
          <p:cNvPr id="23" name="Text 21"/>
          <p:cNvSpPr>
            <a:spLocks noGrp="1"/>
          </p:cNvSpPr>
          <p:nvPr/>
        </p:nvSpPr>
        <p:spPr>
          <a:xfrm>
            <a:off x="822960" y="2194560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7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01</a:t>
            </a:r>
            <a:endParaRPr sz="750"/>
          </a:p>
        </p:txBody>
      </p:sp>
      <p:sp>
        <p:nvSpPr>
          <p:cNvPr id="24" name="Text 22"/>
          <p:cNvSpPr>
            <a:spLocks noGrp="1"/>
          </p:cNvSpPr>
          <p:nvPr/>
        </p:nvSpPr>
        <p:spPr>
          <a:xfrm>
            <a:off x="1298448" y="2148840"/>
            <a:ext cx="1097280" cy="42062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buNone/>
            </a:pPr>
            <a:r>
              <a:rPr sz="1080" b="1">
                <a:solidFill>
                  <a:srgbClr val="1B5FC4"/>
                </a:solidFill>
                <a:latin typeface="Noto Sans CJK SC"/>
                <a:ea typeface="Noto Sans CJK SC"/>
                <a:cs typeface="Noto Sans CJK SC"/>
              </a:rPr>
              <a:t>路由防护</a:t>
            </a:r>
            <a:endParaRPr sz="1080"/>
          </a:p>
        </p:txBody>
      </p:sp>
      <p:sp>
        <p:nvSpPr>
          <p:cNvPr id="25" name="Text 23"/>
          <p:cNvSpPr>
            <a:spLocks noGrp="1"/>
          </p:cNvSpPr>
          <p:nvPr/>
        </p:nvSpPr>
        <p:spPr>
          <a:xfrm>
            <a:off x="2788920" y="2157984"/>
            <a:ext cx="5303520" cy="4114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buNone/>
            </a:pPr>
            <a:r>
              <a:rPr sz="930">
                <a:solidFill>
                  <a:srgbClr val="163B36"/>
                </a:solidFill>
                <a:latin typeface="Noto Sans CJK SC"/>
                <a:ea typeface="Noto Sans CJK SC"/>
                <a:cs typeface="Noto Sans CJK SC"/>
              </a:rPr>
              <a:t>识别伪造系统指令、工具结果和审批文本；只以客户真实输入参与路由。</a:t>
            </a:r>
            <a:endParaRPr sz="930"/>
          </a:p>
        </p:txBody>
      </p:sp>
      <p:sp>
        <p:nvSpPr>
          <p:cNvPr id="26" name="Shape 24"/>
          <p:cNvSpPr>
            <a:spLocks noGrp="1"/>
          </p:cNvSpPr>
          <p:nvPr/>
        </p:nvSpPr>
        <p:spPr>
          <a:xfrm>
            <a:off x="8458200" y="2176272"/>
            <a:ext cx="2816352" cy="384048"/>
          </a:xfrm>
          <a:prstGeom prst="roundRect">
            <a:avLst/>
          </a:prstGeom>
          <a:solidFill>
            <a:srgbClr val="EAF2FF"/>
          </a:solidFill>
          <a:ln w="8890">
            <a:solidFill>
              <a:srgbClr val="2F7DEB"/>
            </a:solidFill>
            <a:prstDash val="solid"/>
          </a:ln>
        </p:spPr>
        <p:txBody>
          <a:bodyPr/>
          <a:lstStyle/>
          <a:p/>
        </p:txBody>
      </p:sp>
      <p:sp>
        <p:nvSpPr>
          <p:cNvPr id="27" name="Text 25"/>
          <p:cNvSpPr>
            <a:spLocks noGrp="1"/>
          </p:cNvSpPr>
          <p:nvPr/>
        </p:nvSpPr>
        <p:spPr>
          <a:xfrm>
            <a:off x="8558784" y="2185416"/>
            <a:ext cx="2615184" cy="35661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880" b="1">
                <a:solidFill>
                  <a:srgbClr val="1B5FC4"/>
                </a:solidFill>
                <a:latin typeface="Noto Sans CJK SC"/>
                <a:ea typeface="Noto Sans CJK SC"/>
                <a:cs typeface="Noto Sans CJK SC"/>
              </a:rPr>
              <a:t>落入兜底类目，不进入业务场景</a:t>
            </a:r>
            <a:endParaRPr sz="880"/>
          </a:p>
        </p:txBody>
      </p:sp>
      <p:sp>
        <p:nvSpPr>
          <p:cNvPr id="28" name="Shape 26"/>
          <p:cNvSpPr>
            <a:spLocks noGrp="1"/>
          </p:cNvSpPr>
          <p:nvPr/>
        </p:nvSpPr>
        <p:spPr>
          <a:xfrm>
            <a:off x="658368" y="2715768"/>
            <a:ext cx="10899648" cy="530352"/>
          </a:xfrm>
          <a:prstGeom prst="roundRect">
            <a:avLst/>
          </a:prstGeom>
          <a:solidFill>
            <a:srgbClr val="F5F9F7"/>
          </a:solidFill>
          <a:ln w="8890">
            <a:solidFill>
              <a:srgbClr val="D8E7E2"/>
            </a:solidFill>
            <a:prstDash val="solid"/>
          </a:ln>
        </p:spPr>
        <p:txBody>
          <a:bodyPr/>
          <a:lstStyle/>
          <a:p/>
        </p:txBody>
      </p:sp>
      <p:sp>
        <p:nvSpPr>
          <p:cNvPr id="29" name="Shape 27"/>
          <p:cNvSpPr>
            <a:spLocks noGrp="1"/>
          </p:cNvSpPr>
          <p:nvPr/>
        </p:nvSpPr>
        <p:spPr>
          <a:xfrm>
            <a:off x="822960" y="2807208"/>
            <a:ext cx="347472" cy="347472"/>
          </a:xfrm>
          <a:prstGeom prst="ellipse">
            <a:avLst/>
          </a:prstGeom>
          <a:solidFill>
            <a:srgbClr val="007574"/>
          </a:solidFill>
          <a:ln w="6350">
            <a:solidFill>
              <a:srgbClr val="007574"/>
            </a:solidFill>
            <a:prstDash val="solid"/>
          </a:ln>
          <a:effectLst>
            <a:outerShdw blurRad="2147483647" dist="2147483647" algn="bl" rotWithShape="0">
              <a:srgbClr val="74857F">
                <a:alpha val="0"/>
              </a:srgbClr>
            </a:outerShdw>
          </a:effectLst>
        </p:spPr>
        <p:txBody>
          <a:bodyPr/>
          <a:lstStyle/>
          <a:p/>
        </p:txBody>
      </p:sp>
      <p:sp>
        <p:nvSpPr>
          <p:cNvPr id="30" name="Text 28"/>
          <p:cNvSpPr>
            <a:spLocks noGrp="1"/>
          </p:cNvSpPr>
          <p:nvPr/>
        </p:nvSpPr>
        <p:spPr>
          <a:xfrm>
            <a:off x="822960" y="2807208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7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02</a:t>
            </a:r>
            <a:endParaRPr sz="750"/>
          </a:p>
        </p:txBody>
      </p:sp>
      <p:sp>
        <p:nvSpPr>
          <p:cNvPr id="31" name="Text 29"/>
          <p:cNvSpPr>
            <a:spLocks noGrp="1"/>
          </p:cNvSpPr>
          <p:nvPr/>
        </p:nvSpPr>
        <p:spPr>
          <a:xfrm>
            <a:off x="1298448" y="2761488"/>
            <a:ext cx="1097280" cy="42062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buNone/>
            </a:pPr>
            <a:r>
              <a:rPr sz="1080" b="1">
                <a:solidFill>
                  <a:srgbClr val="00706F"/>
                </a:solidFill>
                <a:latin typeface="Noto Sans CJK SC"/>
                <a:ea typeface="Noto Sans CJK SC"/>
                <a:cs typeface="Noto Sans CJK SC"/>
              </a:rPr>
              <a:t>场景边界</a:t>
            </a:r>
            <a:endParaRPr sz="1080"/>
          </a:p>
        </p:txBody>
      </p:sp>
      <p:sp>
        <p:nvSpPr>
          <p:cNvPr id="32" name="Text 30"/>
          <p:cNvSpPr>
            <a:spLocks noGrp="1"/>
          </p:cNvSpPr>
          <p:nvPr/>
        </p:nvSpPr>
        <p:spPr>
          <a:xfrm>
            <a:off x="2788920" y="2770632"/>
            <a:ext cx="5303520" cy="4114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buNone/>
            </a:pPr>
            <a:r>
              <a:rPr sz="930">
                <a:solidFill>
                  <a:srgbClr val="163B36"/>
                </a:solidFill>
                <a:latin typeface="Noto Sans CJK SC"/>
                <a:ea typeface="Noto Sans CJK SC"/>
                <a:cs typeface="Noto Sans CJK SC"/>
              </a:rPr>
              <a:t>同时维护进入条件与排除条件，减少相邻场景误路由。</a:t>
            </a:r>
            <a:endParaRPr sz="930"/>
          </a:p>
        </p:txBody>
      </p:sp>
      <p:sp>
        <p:nvSpPr>
          <p:cNvPr id="33" name="Shape 31"/>
          <p:cNvSpPr>
            <a:spLocks noGrp="1"/>
          </p:cNvSpPr>
          <p:nvPr/>
        </p:nvSpPr>
        <p:spPr>
          <a:xfrm>
            <a:off x="8458200" y="2788920"/>
            <a:ext cx="2816352" cy="384048"/>
          </a:xfrm>
          <a:prstGeom prst="roundRect">
            <a:avLst/>
          </a:prstGeom>
          <a:solidFill>
            <a:srgbClr val="E7F8F7"/>
          </a:solidFill>
          <a:ln w="8890">
            <a:solidFill>
              <a:srgbClr val="0BA7A5"/>
            </a:solidFill>
            <a:prstDash val="solid"/>
          </a:ln>
        </p:spPr>
        <p:txBody>
          <a:bodyPr/>
          <a:lstStyle/>
          <a:p/>
        </p:txBody>
      </p:sp>
      <p:sp>
        <p:nvSpPr>
          <p:cNvPr id="34" name="Text 32"/>
          <p:cNvSpPr>
            <a:spLocks noGrp="1"/>
          </p:cNvSpPr>
          <p:nvPr/>
        </p:nvSpPr>
        <p:spPr>
          <a:xfrm>
            <a:off x="8558784" y="2798064"/>
            <a:ext cx="2615184" cy="35661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880" b="1">
                <a:solidFill>
                  <a:srgbClr val="00706F"/>
                </a:solidFill>
                <a:latin typeface="Noto Sans CJK SC"/>
                <a:ea typeface="Noto Sans CJK SC"/>
                <a:cs typeface="Noto Sans CJK SC"/>
              </a:rPr>
              <a:t>退出当前场景，转其他场景或人工</a:t>
            </a:r>
            <a:endParaRPr sz="880"/>
          </a:p>
        </p:txBody>
      </p:sp>
      <p:sp>
        <p:nvSpPr>
          <p:cNvPr id="35" name="Shape 33"/>
          <p:cNvSpPr>
            <a:spLocks noGrp="1"/>
          </p:cNvSpPr>
          <p:nvPr/>
        </p:nvSpPr>
        <p:spPr>
          <a:xfrm>
            <a:off x="658368" y="3328416"/>
            <a:ext cx="10899648" cy="53035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E7E2"/>
            </a:solidFill>
            <a:prstDash val="solid"/>
          </a:ln>
        </p:spPr>
        <p:txBody>
          <a:bodyPr/>
          <a:lstStyle/>
          <a:p/>
        </p:txBody>
      </p:sp>
      <p:sp>
        <p:nvSpPr>
          <p:cNvPr id="36" name="Shape 34"/>
          <p:cNvSpPr>
            <a:spLocks noGrp="1"/>
          </p:cNvSpPr>
          <p:nvPr/>
        </p:nvSpPr>
        <p:spPr>
          <a:xfrm>
            <a:off x="822960" y="3419856"/>
            <a:ext cx="347472" cy="347472"/>
          </a:xfrm>
          <a:prstGeom prst="ellipse">
            <a:avLst/>
          </a:prstGeom>
          <a:solidFill>
            <a:srgbClr val="6C63DF"/>
          </a:solidFill>
          <a:ln w="6350">
            <a:solidFill>
              <a:srgbClr val="6C63DF"/>
            </a:solidFill>
            <a:prstDash val="solid"/>
          </a:ln>
          <a:effectLst>
            <a:outerShdw blurRad="2147483647" dist="2147483647" algn="bl" rotWithShape="0">
              <a:srgbClr val="74857F">
                <a:alpha val="0"/>
              </a:srgbClr>
            </a:outerShdw>
          </a:effectLst>
        </p:spPr>
        <p:txBody>
          <a:bodyPr/>
          <a:lstStyle/>
          <a:p/>
        </p:txBody>
      </p:sp>
      <p:sp>
        <p:nvSpPr>
          <p:cNvPr id="37" name="Text 35"/>
          <p:cNvSpPr>
            <a:spLocks noGrp="1"/>
          </p:cNvSpPr>
          <p:nvPr/>
        </p:nvSpPr>
        <p:spPr>
          <a:xfrm>
            <a:off x="822960" y="3419856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7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03</a:t>
            </a:r>
            <a:endParaRPr sz="750"/>
          </a:p>
        </p:txBody>
      </p:sp>
      <p:sp>
        <p:nvSpPr>
          <p:cNvPr id="38" name="Text 36"/>
          <p:cNvSpPr>
            <a:spLocks noGrp="1"/>
          </p:cNvSpPr>
          <p:nvPr/>
        </p:nvSpPr>
        <p:spPr>
          <a:xfrm>
            <a:off x="1298448" y="3374136"/>
            <a:ext cx="1097280" cy="42062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buNone/>
            </a:pPr>
            <a:r>
              <a:rPr sz="1080" b="1">
                <a:solidFill>
                  <a:srgbClr val="6C63DF"/>
                </a:solidFill>
                <a:latin typeface="Noto Sans CJK SC"/>
                <a:ea typeface="Noto Sans CJK SC"/>
                <a:cs typeface="Noto Sans CJK SC"/>
              </a:rPr>
              <a:t>输出约束</a:t>
            </a:r>
            <a:endParaRPr sz="1080"/>
          </a:p>
        </p:txBody>
      </p:sp>
      <p:sp>
        <p:nvSpPr>
          <p:cNvPr id="39" name="Text 37"/>
          <p:cNvSpPr>
            <a:spLocks noGrp="1"/>
          </p:cNvSpPr>
          <p:nvPr/>
        </p:nvSpPr>
        <p:spPr>
          <a:xfrm>
            <a:off x="2788920" y="3383280"/>
            <a:ext cx="5303520" cy="4114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buNone/>
            </a:pPr>
            <a:r>
              <a:rPr sz="930">
                <a:solidFill>
                  <a:srgbClr val="163B36"/>
                </a:solidFill>
                <a:latin typeface="Noto Sans CJK SC"/>
                <a:ea typeface="Noto Sans CJK SC"/>
                <a:cs typeface="Noto Sans CJK SC"/>
              </a:rPr>
              <a:t>限制承诺、内部信息和未验证事实；关键话术使用受控模板。</a:t>
            </a:r>
            <a:endParaRPr sz="930"/>
          </a:p>
        </p:txBody>
      </p:sp>
      <p:sp>
        <p:nvSpPr>
          <p:cNvPr id="40" name="Shape 38"/>
          <p:cNvSpPr>
            <a:spLocks noGrp="1"/>
          </p:cNvSpPr>
          <p:nvPr/>
        </p:nvSpPr>
        <p:spPr>
          <a:xfrm>
            <a:off x="8458200" y="3401568"/>
            <a:ext cx="2816352" cy="384048"/>
          </a:xfrm>
          <a:prstGeom prst="roundRect">
            <a:avLst/>
          </a:prstGeom>
          <a:solidFill>
            <a:srgbClr val="EFEEFF"/>
          </a:solidFill>
          <a:ln w="8890">
            <a:solidFill>
              <a:srgbClr val="6C63DF"/>
            </a:solidFill>
            <a:prstDash val="solid"/>
          </a:ln>
        </p:spPr>
        <p:txBody>
          <a:bodyPr/>
          <a:lstStyle/>
          <a:p/>
        </p:txBody>
      </p:sp>
      <p:sp>
        <p:nvSpPr>
          <p:cNvPr id="41" name="Text 39"/>
          <p:cNvSpPr>
            <a:spLocks noGrp="1"/>
          </p:cNvSpPr>
          <p:nvPr/>
        </p:nvSpPr>
        <p:spPr>
          <a:xfrm>
            <a:off x="8558784" y="3410712"/>
            <a:ext cx="2615184" cy="35661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880" b="1">
                <a:solidFill>
                  <a:srgbClr val="6C63DF"/>
                </a:solidFill>
                <a:latin typeface="Noto Sans CJK SC"/>
                <a:ea typeface="Noto Sans CJK SC"/>
                <a:cs typeface="Noto Sans CJK SC"/>
              </a:rPr>
              <a:t>阻断发送、重新生成或转人工</a:t>
            </a:r>
            <a:endParaRPr sz="880"/>
          </a:p>
        </p:txBody>
      </p:sp>
      <p:sp>
        <p:nvSpPr>
          <p:cNvPr id="42" name="Shape 40"/>
          <p:cNvSpPr>
            <a:spLocks noGrp="1"/>
          </p:cNvSpPr>
          <p:nvPr/>
        </p:nvSpPr>
        <p:spPr>
          <a:xfrm>
            <a:off x="658368" y="3941064"/>
            <a:ext cx="10899648" cy="530352"/>
          </a:xfrm>
          <a:prstGeom prst="roundRect">
            <a:avLst/>
          </a:prstGeom>
          <a:solidFill>
            <a:srgbClr val="F5F9F7"/>
          </a:solidFill>
          <a:ln w="8890">
            <a:solidFill>
              <a:srgbClr val="D8E7E2"/>
            </a:solidFill>
            <a:prstDash val="solid"/>
          </a:ln>
        </p:spPr>
        <p:txBody>
          <a:bodyPr/>
          <a:lstStyle/>
          <a:p/>
        </p:txBody>
      </p:sp>
      <p:sp>
        <p:nvSpPr>
          <p:cNvPr id="43" name="Shape 41"/>
          <p:cNvSpPr>
            <a:spLocks noGrp="1"/>
          </p:cNvSpPr>
          <p:nvPr/>
        </p:nvSpPr>
        <p:spPr>
          <a:xfrm>
            <a:off x="822960" y="4032504"/>
            <a:ext cx="347472" cy="347472"/>
          </a:xfrm>
          <a:prstGeom prst="ellipse">
            <a:avLst/>
          </a:prstGeom>
          <a:solidFill>
            <a:srgbClr val="BC6414"/>
          </a:solidFill>
          <a:ln w="6350">
            <a:solidFill>
              <a:srgbClr val="BC6414"/>
            </a:solidFill>
            <a:prstDash val="solid"/>
          </a:ln>
          <a:effectLst>
            <a:outerShdw blurRad="2147483647" dist="2147483647" algn="bl" rotWithShape="0">
              <a:srgbClr val="74857F">
                <a:alpha val="0"/>
              </a:srgbClr>
            </a:outerShdw>
          </a:effectLst>
        </p:spPr>
        <p:txBody>
          <a:bodyPr/>
          <a:lstStyle/>
          <a:p/>
        </p:txBody>
      </p:sp>
      <p:sp>
        <p:nvSpPr>
          <p:cNvPr id="44" name="Text 42"/>
          <p:cNvSpPr>
            <a:spLocks noGrp="1"/>
          </p:cNvSpPr>
          <p:nvPr/>
        </p:nvSpPr>
        <p:spPr>
          <a:xfrm>
            <a:off x="822960" y="4032504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7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04</a:t>
            </a:r>
            <a:endParaRPr sz="750"/>
          </a:p>
        </p:txBody>
      </p:sp>
      <p:sp>
        <p:nvSpPr>
          <p:cNvPr id="45" name="Text 43"/>
          <p:cNvSpPr>
            <a:spLocks noGrp="1"/>
          </p:cNvSpPr>
          <p:nvPr/>
        </p:nvSpPr>
        <p:spPr>
          <a:xfrm>
            <a:off x="1298448" y="3986784"/>
            <a:ext cx="1097280" cy="42062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buNone/>
            </a:pPr>
            <a:r>
              <a:rPr sz="1080" b="1">
                <a:solidFill>
                  <a:srgbClr val="9A5210"/>
                </a:solidFill>
                <a:latin typeface="Noto Sans CJK SC"/>
                <a:ea typeface="Noto Sans CJK SC"/>
                <a:cs typeface="Noto Sans CJK SC"/>
              </a:rPr>
              <a:t>执行控制</a:t>
            </a:r>
            <a:endParaRPr sz="1080"/>
          </a:p>
        </p:txBody>
      </p:sp>
      <p:sp>
        <p:nvSpPr>
          <p:cNvPr id="46" name="Text 44"/>
          <p:cNvSpPr>
            <a:spLocks noGrp="1"/>
          </p:cNvSpPr>
          <p:nvPr/>
        </p:nvSpPr>
        <p:spPr>
          <a:xfrm>
            <a:off x="2788920" y="3995928"/>
            <a:ext cx="5303520" cy="4114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buNone/>
            </a:pPr>
            <a:r>
              <a:rPr sz="930">
                <a:solidFill>
                  <a:srgbClr val="163B36"/>
                </a:solidFill>
                <a:latin typeface="Noto Sans CJK SC"/>
                <a:ea typeface="Noto Sans CJK SC"/>
                <a:cs typeface="Noto Sans CJK SC"/>
              </a:rPr>
              <a:t>客户确认、权限、幂等、配额和状态校验共同约束写操作。</a:t>
            </a:r>
            <a:endParaRPr sz="930"/>
          </a:p>
        </p:txBody>
      </p:sp>
      <p:sp>
        <p:nvSpPr>
          <p:cNvPr id="47" name="Shape 45"/>
          <p:cNvSpPr>
            <a:spLocks noGrp="1"/>
          </p:cNvSpPr>
          <p:nvPr/>
        </p:nvSpPr>
        <p:spPr>
          <a:xfrm>
            <a:off x="8458200" y="4014216"/>
            <a:ext cx="2816352" cy="384048"/>
          </a:xfrm>
          <a:prstGeom prst="roundRect">
            <a:avLst/>
          </a:prstGeom>
          <a:solidFill>
            <a:srgbClr val="FFF1E4"/>
          </a:solidFill>
          <a:ln w="8890">
            <a:solidFill>
              <a:srgbClr val="F28B2D"/>
            </a:solidFill>
            <a:prstDash val="solid"/>
          </a:ln>
        </p:spPr>
        <p:txBody>
          <a:bodyPr/>
          <a:lstStyle/>
          <a:p/>
        </p:txBody>
      </p:sp>
      <p:sp>
        <p:nvSpPr>
          <p:cNvPr id="48" name="Text 46"/>
          <p:cNvSpPr>
            <a:spLocks noGrp="1"/>
          </p:cNvSpPr>
          <p:nvPr/>
        </p:nvSpPr>
        <p:spPr>
          <a:xfrm>
            <a:off x="8558784" y="4023360"/>
            <a:ext cx="2615184" cy="35661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880" b="1">
                <a:solidFill>
                  <a:srgbClr val="9A5210"/>
                </a:solidFill>
                <a:latin typeface="Noto Sans CJK SC"/>
                <a:ea typeface="Noto Sans CJK SC"/>
                <a:cs typeface="Noto Sans CJK SC"/>
              </a:rPr>
              <a:t>拒绝写入，保留当前业务状态</a:t>
            </a:r>
            <a:endParaRPr sz="880"/>
          </a:p>
        </p:txBody>
      </p:sp>
      <p:sp>
        <p:nvSpPr>
          <p:cNvPr id="49" name="Shape 47"/>
          <p:cNvSpPr>
            <a:spLocks noGrp="1"/>
          </p:cNvSpPr>
          <p:nvPr/>
        </p:nvSpPr>
        <p:spPr>
          <a:xfrm>
            <a:off x="658368" y="4553712"/>
            <a:ext cx="10899648" cy="53035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E7E2"/>
            </a:solidFill>
            <a:prstDash val="solid"/>
          </a:ln>
        </p:spPr>
        <p:txBody>
          <a:bodyPr/>
          <a:lstStyle/>
          <a:p/>
        </p:txBody>
      </p:sp>
      <p:sp>
        <p:nvSpPr>
          <p:cNvPr id="50" name="Shape 48"/>
          <p:cNvSpPr>
            <a:spLocks noGrp="1"/>
          </p:cNvSpPr>
          <p:nvPr/>
        </p:nvSpPr>
        <p:spPr>
          <a:xfrm>
            <a:off x="822960" y="4645152"/>
            <a:ext cx="347472" cy="347472"/>
          </a:xfrm>
          <a:prstGeom prst="ellipse">
            <a:avLst/>
          </a:prstGeom>
          <a:solidFill>
            <a:srgbClr val="E9AA18"/>
          </a:solidFill>
          <a:ln w="6350">
            <a:solidFill>
              <a:srgbClr val="E9AA18"/>
            </a:solidFill>
            <a:prstDash val="solid"/>
          </a:ln>
          <a:effectLst>
            <a:outerShdw blurRad="2147483647" dist="2147483647" algn="bl" rotWithShape="0">
              <a:srgbClr val="74857F">
                <a:alpha val="0"/>
              </a:srgbClr>
            </a:outerShdw>
          </a:effectLst>
        </p:spPr>
        <p:txBody>
          <a:bodyPr/>
          <a:lstStyle/>
          <a:p/>
        </p:txBody>
      </p:sp>
      <p:sp>
        <p:nvSpPr>
          <p:cNvPr id="51" name="Text 49"/>
          <p:cNvSpPr>
            <a:spLocks noGrp="1"/>
          </p:cNvSpPr>
          <p:nvPr/>
        </p:nvSpPr>
        <p:spPr>
          <a:xfrm>
            <a:off x="822960" y="4645152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7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05</a:t>
            </a:r>
            <a:endParaRPr sz="750"/>
          </a:p>
        </p:txBody>
      </p:sp>
      <p:sp>
        <p:nvSpPr>
          <p:cNvPr id="52" name="Text 50"/>
          <p:cNvSpPr>
            <a:spLocks noGrp="1"/>
          </p:cNvSpPr>
          <p:nvPr/>
        </p:nvSpPr>
        <p:spPr>
          <a:xfrm>
            <a:off x="1298448" y="4599432"/>
            <a:ext cx="1097280" cy="42062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buNone/>
            </a:pPr>
            <a:r>
              <a:rPr sz="1080" b="1">
                <a:solidFill>
                  <a:srgbClr val="8A6100"/>
                </a:solidFill>
                <a:latin typeface="Noto Sans CJK SC"/>
                <a:ea typeface="Noto Sans CJK SC"/>
                <a:cs typeface="Noto Sans CJK SC"/>
              </a:rPr>
              <a:t>发送决策</a:t>
            </a:r>
            <a:endParaRPr sz="1080"/>
          </a:p>
        </p:txBody>
      </p:sp>
      <p:sp>
        <p:nvSpPr>
          <p:cNvPr id="53" name="Text 51"/>
          <p:cNvSpPr>
            <a:spLocks noGrp="1"/>
          </p:cNvSpPr>
          <p:nvPr/>
        </p:nvSpPr>
        <p:spPr>
          <a:xfrm>
            <a:off x="2788920" y="4608576"/>
            <a:ext cx="5303520" cy="4114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buNone/>
            </a:pPr>
            <a:r>
              <a:rPr sz="930">
                <a:solidFill>
                  <a:srgbClr val="163B36"/>
                </a:solidFill>
                <a:latin typeface="Noto Sans CJK SC"/>
                <a:ea typeface="Noto Sans CJK SC"/>
                <a:cs typeface="Noto Sans CJK SC"/>
              </a:rPr>
              <a:t>检查人工是否已接管、是否重复回复、审核是否通过和内容是否可发送。</a:t>
            </a:r>
            <a:endParaRPr sz="930"/>
          </a:p>
        </p:txBody>
      </p:sp>
      <p:sp>
        <p:nvSpPr>
          <p:cNvPr id="54" name="Shape 52"/>
          <p:cNvSpPr>
            <a:spLocks noGrp="1"/>
          </p:cNvSpPr>
          <p:nvPr/>
        </p:nvSpPr>
        <p:spPr>
          <a:xfrm>
            <a:off x="8458200" y="4626864"/>
            <a:ext cx="2816352" cy="384048"/>
          </a:xfrm>
          <a:prstGeom prst="roundRect">
            <a:avLst/>
          </a:prstGeom>
          <a:solidFill>
            <a:srgbClr val="FFF7DF"/>
          </a:solidFill>
          <a:ln w="8890">
            <a:solidFill>
              <a:srgbClr val="E9AA18"/>
            </a:solidFill>
            <a:prstDash val="solid"/>
          </a:ln>
        </p:spPr>
        <p:txBody>
          <a:bodyPr/>
          <a:lstStyle/>
          <a:p/>
        </p:txBody>
      </p:sp>
      <p:sp>
        <p:nvSpPr>
          <p:cNvPr id="55" name="Text 53"/>
          <p:cNvSpPr>
            <a:spLocks noGrp="1"/>
          </p:cNvSpPr>
          <p:nvPr/>
        </p:nvSpPr>
        <p:spPr>
          <a:xfrm>
            <a:off x="8558784" y="4636008"/>
            <a:ext cx="2615184" cy="35661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880" b="1">
                <a:solidFill>
                  <a:srgbClr val="8A6100"/>
                </a:solidFill>
                <a:latin typeface="Noto Sans CJK SC"/>
                <a:ea typeface="Noto Sans CJK SC"/>
                <a:cs typeface="Noto Sans CJK SC"/>
              </a:rPr>
              <a:t>不发送，并记录具体原因码</a:t>
            </a:r>
            <a:endParaRPr sz="880"/>
          </a:p>
        </p:txBody>
      </p:sp>
      <p:sp>
        <p:nvSpPr>
          <p:cNvPr id="56" name="Shape 54"/>
          <p:cNvSpPr>
            <a:spLocks noGrp="1"/>
          </p:cNvSpPr>
          <p:nvPr/>
        </p:nvSpPr>
        <p:spPr>
          <a:xfrm>
            <a:off x="658368" y="5166360"/>
            <a:ext cx="10899648" cy="530352"/>
          </a:xfrm>
          <a:prstGeom prst="roundRect">
            <a:avLst/>
          </a:prstGeom>
          <a:solidFill>
            <a:srgbClr val="F5F9F7"/>
          </a:solidFill>
          <a:ln w="8890">
            <a:solidFill>
              <a:srgbClr val="D8E7E2"/>
            </a:solidFill>
            <a:prstDash val="solid"/>
          </a:ln>
        </p:spPr>
        <p:txBody>
          <a:bodyPr/>
          <a:lstStyle/>
          <a:p/>
        </p:txBody>
      </p:sp>
      <p:sp>
        <p:nvSpPr>
          <p:cNvPr id="57" name="Shape 55"/>
          <p:cNvSpPr>
            <a:spLocks noGrp="1"/>
          </p:cNvSpPr>
          <p:nvPr/>
        </p:nvSpPr>
        <p:spPr>
          <a:xfrm>
            <a:off x="822960" y="5257800"/>
            <a:ext cx="347472" cy="347472"/>
          </a:xfrm>
          <a:prstGeom prst="ellipse">
            <a:avLst/>
          </a:prstGeom>
          <a:solidFill>
            <a:srgbClr val="C23B3B"/>
          </a:solidFill>
          <a:ln w="6350">
            <a:solidFill>
              <a:srgbClr val="C23B3B"/>
            </a:solidFill>
            <a:prstDash val="solid"/>
          </a:ln>
          <a:effectLst>
            <a:outerShdw blurRad="2147483647" dist="2147483647" algn="bl" rotWithShape="0">
              <a:srgbClr val="74857F">
                <a:alpha val="0"/>
              </a:srgbClr>
            </a:outerShdw>
          </a:effectLst>
        </p:spPr>
        <p:txBody>
          <a:bodyPr/>
          <a:lstStyle/>
          <a:p/>
        </p:txBody>
      </p:sp>
      <p:sp>
        <p:nvSpPr>
          <p:cNvPr id="58" name="Text 56"/>
          <p:cNvSpPr>
            <a:spLocks noGrp="1"/>
          </p:cNvSpPr>
          <p:nvPr/>
        </p:nvSpPr>
        <p:spPr>
          <a:xfrm>
            <a:off x="822960" y="5257800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7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06</a:t>
            </a:r>
            <a:endParaRPr sz="750"/>
          </a:p>
        </p:txBody>
      </p:sp>
      <p:sp>
        <p:nvSpPr>
          <p:cNvPr id="59" name="Text 57"/>
          <p:cNvSpPr>
            <a:spLocks noGrp="1"/>
          </p:cNvSpPr>
          <p:nvPr/>
        </p:nvSpPr>
        <p:spPr>
          <a:xfrm>
            <a:off x="1298448" y="5212080"/>
            <a:ext cx="1097280" cy="42062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buNone/>
            </a:pPr>
            <a:r>
              <a:rPr sz="1080" b="1">
                <a:solidFill>
                  <a:srgbClr val="C23B3B"/>
                </a:solidFill>
                <a:latin typeface="Noto Sans CJK SC"/>
                <a:ea typeface="Noto Sans CJK SC"/>
                <a:cs typeface="Noto Sans CJK SC"/>
              </a:rPr>
              <a:t>人工兜底</a:t>
            </a:r>
            <a:endParaRPr sz="1080"/>
          </a:p>
        </p:txBody>
      </p:sp>
      <p:sp>
        <p:nvSpPr>
          <p:cNvPr id="60" name="Text 58"/>
          <p:cNvSpPr>
            <a:spLocks noGrp="1"/>
          </p:cNvSpPr>
          <p:nvPr/>
        </p:nvSpPr>
        <p:spPr>
          <a:xfrm>
            <a:off x="2788920" y="5221224"/>
            <a:ext cx="5303520" cy="4114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buNone/>
            </a:pPr>
            <a:r>
              <a:rPr sz="930">
                <a:solidFill>
                  <a:srgbClr val="163B36"/>
                </a:solidFill>
                <a:latin typeface="Noto Sans CJK SC"/>
                <a:ea typeface="Noto Sans CJK SC"/>
                <a:cs typeface="Noto Sans CJK SC"/>
              </a:rPr>
              <a:t>冲突、投诉、规则异常或责任敏感场景由人工处理。</a:t>
            </a:r>
            <a:endParaRPr sz="930"/>
          </a:p>
        </p:txBody>
      </p:sp>
      <p:sp>
        <p:nvSpPr>
          <p:cNvPr id="61" name="Shape 59"/>
          <p:cNvSpPr>
            <a:spLocks noGrp="1"/>
          </p:cNvSpPr>
          <p:nvPr/>
        </p:nvSpPr>
        <p:spPr>
          <a:xfrm>
            <a:off x="8458200" y="5239512"/>
            <a:ext cx="2816352" cy="384048"/>
          </a:xfrm>
          <a:prstGeom prst="roundRect">
            <a:avLst/>
          </a:prstGeom>
          <a:solidFill>
            <a:srgbClr val="FDEBEC"/>
          </a:solidFill>
          <a:ln w="8890">
            <a:solidFill>
              <a:srgbClr val="E45858"/>
            </a:solidFill>
            <a:prstDash val="solid"/>
          </a:ln>
        </p:spPr>
        <p:txBody>
          <a:bodyPr/>
          <a:lstStyle/>
          <a:p/>
        </p:txBody>
      </p:sp>
      <p:sp>
        <p:nvSpPr>
          <p:cNvPr id="62" name="Text 60"/>
          <p:cNvSpPr>
            <a:spLocks noGrp="1"/>
          </p:cNvSpPr>
          <p:nvPr/>
        </p:nvSpPr>
        <p:spPr>
          <a:xfrm>
            <a:off x="8558784" y="5248656"/>
            <a:ext cx="2615184" cy="35661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880" b="1">
                <a:solidFill>
                  <a:srgbClr val="C23B3B"/>
                </a:solidFill>
                <a:latin typeface="Noto Sans CJK SC"/>
                <a:ea typeface="Noto Sans CJK SC"/>
                <a:cs typeface="Noto Sans CJK SC"/>
              </a:rPr>
              <a:t>携带完整上下文进入人工队列</a:t>
            </a:r>
            <a:endParaRPr sz="880"/>
          </a:p>
        </p:txBody>
      </p:sp>
      <p:sp>
        <p:nvSpPr>
          <p:cNvPr id="63" name="Shape 61"/>
          <p:cNvSpPr>
            <a:spLocks noGrp="1"/>
          </p:cNvSpPr>
          <p:nvPr/>
        </p:nvSpPr>
        <p:spPr>
          <a:xfrm>
            <a:off x="1280160" y="5916168"/>
            <a:ext cx="9646920" cy="310896"/>
          </a:xfrm>
          <a:prstGeom prst="roundRect">
            <a:avLst/>
          </a:prstGeom>
          <a:solidFill>
            <a:srgbClr val="07966F">
              <a:alpha val="12000"/>
            </a:srgbClr>
          </a:solidFill>
          <a:ln w="10160">
            <a:solidFill>
              <a:srgbClr val="07966F"/>
            </a:solidFill>
            <a:prstDash val="solid"/>
          </a:ln>
        </p:spPr>
        <p:txBody>
          <a:bodyPr/>
          <a:lstStyle/>
          <a:p/>
        </p:txBody>
      </p:sp>
      <p:sp>
        <p:nvSpPr>
          <p:cNvPr id="64" name="Text 62"/>
          <p:cNvSpPr>
            <a:spLocks noGrp="1"/>
          </p:cNvSpPr>
          <p:nvPr/>
        </p:nvSpPr>
        <p:spPr>
          <a:xfrm>
            <a:off x="1280160" y="5916168"/>
            <a:ext cx="9646920" cy="31089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950" b="1">
                <a:solidFill>
                  <a:srgbClr val="0D5E50"/>
                </a:solidFill>
                <a:latin typeface="Noto Sans CJK SC"/>
                <a:ea typeface="Noto Sans CJK SC"/>
                <a:cs typeface="Noto Sans CJK SC"/>
              </a:rPr>
              <a:t>模型能看到什么、能调用什么、最终能写什么，一层层收紧；单层失效拿不到写权限。</a:t>
            </a:r>
            <a:endParaRPr sz="950"/>
          </a:p>
        </p:txBody>
      </p:sp>
      <p:sp>
        <p:nvSpPr>
          <p:cNvPr id="65" name="Rectangle 64"/>
          <p:cNvSpPr>
            <a:spLocks noGrp="1"/>
          </p:cNvSpPr>
          <p:nvPr/>
        </p:nvSpPr>
        <p:spPr>
          <a:xfrm>
            <a:off x="0" y="0"/>
            <a:ext cx="41148" cy="6858000"/>
          </a:xfrm>
          <a:prstGeom prst="rect">
            <a:avLst/>
          </a:prstGeom>
          <a:solidFill>
            <a:srgbClr val="0A8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66" name="圆角矩形 65"/>
          <p:cNvSpPr>
            <a:spLocks noGrp="1"/>
          </p:cNvSpPr>
          <p:nvPr/>
        </p:nvSpPr>
        <p:spPr>
          <a:xfrm>
            <a:off x="6565583" y="127635"/>
            <a:ext cx="4937760" cy="365760"/>
          </a:xfrm>
          <a:prstGeom prst="roundRect">
            <a:avLst>
              <a:gd name="adj" fmla="val 20833"/>
            </a:avLst>
          </a:prstGeom>
          <a:solidFill>
            <a:srgbClr val="F7FBF9"/>
          </a:solidFill>
          <a:ln w="12668">
            <a:solidFill>
              <a:srgbClr val="F7FBF9"/>
            </a:solidFill>
            <a:prstDash val="solid"/>
          </a:ln>
        </p:spPr>
        <p:txBody>
          <a:bodyPr/>
          <a:p/>
        </p:txBody>
      </p:sp>
      <p:sp>
        <p:nvSpPr>
          <p:cNvPr id="67" name="圆角矩形 66"/>
          <p:cNvSpPr>
            <a:spLocks noGrp="1"/>
          </p:cNvSpPr>
          <p:nvPr/>
        </p:nvSpPr>
        <p:spPr>
          <a:xfrm>
            <a:off x="6657023" y="164783"/>
            <a:ext cx="1154430" cy="264795"/>
          </a:xfrm>
          <a:prstGeom prst="roundRect">
            <a:avLst>
              <a:gd name="adj" fmla="val 28777"/>
            </a:avLst>
          </a:prstGeom>
          <a:solidFill>
            <a:srgbClr val="FFFFFF"/>
          </a:solidFill>
          <a:ln w="12668">
            <a:solidFill>
              <a:srgbClr val="C9DCD7"/>
            </a:solidFill>
            <a:prstDash val="solid"/>
          </a:ln>
        </p:spPr>
        <p:txBody>
          <a:bodyPr/>
          <a:p/>
        </p:txBody>
      </p:sp>
      <p:sp>
        <p:nvSpPr>
          <p:cNvPr id="68" name="矩形 67"/>
          <p:cNvSpPr>
            <a:spLocks noGrp="1"/>
          </p:cNvSpPr>
          <p:nvPr/>
        </p:nvSpPr>
        <p:spPr>
          <a:xfrm>
            <a:off x="6657023" y="187643"/>
            <a:ext cx="1154430" cy="182880"/>
          </a:xfrm>
          <a:prstGeom prst="rect">
            <a:avLst/>
          </a:prstGeom>
        </p:spPr>
        <p:txBody>
          <a:bodyPr anchor="ctr"/>
          <a:lstStyle/>
          <a:p>
            <a:pPr algn="ctr">
              <a:defRPr sz="650" b="0">
                <a:solidFill>
                  <a:srgbClr val="44585C"/>
                </a:solidFill>
              </a:defRPr>
            </a:pPr>
            <a:r>
              <a:t>理解</a:t>
            </a:r>
          </a:p>
        </p:txBody>
      </p:sp>
      <p:sp>
        <p:nvSpPr>
          <p:cNvPr id="69" name="圆角矩形 68"/>
          <p:cNvSpPr>
            <a:spLocks noGrp="1"/>
          </p:cNvSpPr>
          <p:nvPr/>
        </p:nvSpPr>
        <p:spPr>
          <a:xfrm>
            <a:off x="7857173" y="164783"/>
            <a:ext cx="1154430" cy="264795"/>
          </a:xfrm>
          <a:prstGeom prst="roundRect">
            <a:avLst>
              <a:gd name="adj" fmla="val 28777"/>
            </a:avLst>
          </a:prstGeom>
          <a:solidFill>
            <a:srgbClr val="007574"/>
          </a:solidFill>
          <a:ln w="12668">
            <a:solidFill>
              <a:srgbClr val="007574"/>
            </a:solidFill>
            <a:prstDash val="solid"/>
          </a:ln>
        </p:spPr>
        <p:txBody>
          <a:bodyPr/>
          <a:p/>
        </p:txBody>
      </p:sp>
      <p:sp>
        <p:nvSpPr>
          <p:cNvPr id="70" name="矩形 69"/>
          <p:cNvSpPr>
            <a:spLocks noGrp="1"/>
          </p:cNvSpPr>
          <p:nvPr/>
        </p:nvSpPr>
        <p:spPr>
          <a:xfrm>
            <a:off x="7857173" y="187643"/>
            <a:ext cx="1154430" cy="182880"/>
          </a:xfrm>
          <a:prstGeom prst="rect">
            <a:avLst/>
          </a:prstGeom>
        </p:spPr>
        <p:txBody>
          <a:bodyPr anchor="ctr"/>
          <a:lstStyle/>
          <a:p>
            <a:pPr algn="ctr">
              <a:defRPr sz="660" b="1">
                <a:solidFill>
                  <a:srgbClr val="FFFFFF"/>
                </a:solidFill>
              </a:defRPr>
            </a:pPr>
            <a:r>
              <a:t>查询</a:t>
            </a:r>
          </a:p>
        </p:txBody>
      </p:sp>
      <p:sp>
        <p:nvSpPr>
          <p:cNvPr id="71" name="圆角矩形 70"/>
          <p:cNvSpPr>
            <a:spLocks noGrp="1"/>
          </p:cNvSpPr>
          <p:nvPr/>
        </p:nvSpPr>
        <p:spPr>
          <a:xfrm>
            <a:off x="9057323" y="164783"/>
            <a:ext cx="1154430" cy="264795"/>
          </a:xfrm>
          <a:prstGeom prst="roundRect">
            <a:avLst>
              <a:gd name="adj" fmla="val 28777"/>
            </a:avLst>
          </a:prstGeom>
          <a:solidFill>
            <a:srgbClr val="FFFFFF"/>
          </a:solidFill>
          <a:ln w="12668">
            <a:solidFill>
              <a:srgbClr val="C9DCD7"/>
            </a:solidFill>
            <a:prstDash val="solid"/>
          </a:ln>
        </p:spPr>
        <p:txBody>
          <a:bodyPr/>
          <a:p/>
        </p:txBody>
      </p:sp>
      <p:sp>
        <p:nvSpPr>
          <p:cNvPr id="72" name="矩形 71"/>
          <p:cNvSpPr>
            <a:spLocks noGrp="1"/>
          </p:cNvSpPr>
          <p:nvPr/>
        </p:nvSpPr>
        <p:spPr>
          <a:xfrm>
            <a:off x="9057323" y="187643"/>
            <a:ext cx="1154430" cy="182880"/>
          </a:xfrm>
          <a:prstGeom prst="rect">
            <a:avLst/>
          </a:prstGeom>
        </p:spPr>
        <p:txBody>
          <a:bodyPr anchor="ctr"/>
          <a:lstStyle/>
          <a:p>
            <a:pPr algn="ctr">
              <a:defRPr sz="650" b="0">
                <a:solidFill>
                  <a:srgbClr val="44585C"/>
                </a:solidFill>
              </a:defRPr>
            </a:pPr>
            <a:r>
              <a:t>决策</a:t>
            </a:r>
          </a:p>
        </p:txBody>
      </p:sp>
      <p:sp>
        <p:nvSpPr>
          <p:cNvPr id="73" name="圆角矩形 72"/>
          <p:cNvSpPr>
            <a:spLocks noGrp="1"/>
          </p:cNvSpPr>
          <p:nvPr/>
        </p:nvSpPr>
        <p:spPr>
          <a:xfrm>
            <a:off x="10257473" y="164783"/>
            <a:ext cx="1154430" cy="264795"/>
          </a:xfrm>
          <a:prstGeom prst="roundRect">
            <a:avLst>
              <a:gd name="adj" fmla="val 28777"/>
            </a:avLst>
          </a:prstGeom>
          <a:solidFill>
            <a:srgbClr val="007574"/>
          </a:solidFill>
          <a:ln w="12668">
            <a:solidFill>
              <a:srgbClr val="007574"/>
            </a:solidFill>
            <a:prstDash val="solid"/>
          </a:ln>
        </p:spPr>
        <p:txBody>
          <a:bodyPr/>
          <a:p/>
        </p:txBody>
      </p:sp>
      <p:sp>
        <p:nvSpPr>
          <p:cNvPr id="74" name="矩形 73"/>
          <p:cNvSpPr>
            <a:spLocks noGrp="1"/>
          </p:cNvSpPr>
          <p:nvPr/>
        </p:nvSpPr>
        <p:spPr>
          <a:xfrm>
            <a:off x="10257473" y="187643"/>
            <a:ext cx="1154430" cy="182880"/>
          </a:xfrm>
          <a:prstGeom prst="rect">
            <a:avLst/>
          </a:prstGeom>
        </p:spPr>
        <p:txBody>
          <a:bodyPr anchor="ctr"/>
          <a:lstStyle/>
          <a:p>
            <a:pPr algn="ctr">
              <a:defRPr sz="660" b="1">
                <a:solidFill>
                  <a:srgbClr val="FFFFFF"/>
                </a:solidFill>
              </a:defRPr>
            </a:pPr>
            <a:r>
              <a:t>执行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>
            <a:spLocks noGrp="1"/>
          </p:cNvSpPr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" name="Rectangle 2"/>
          <p:cNvSpPr>
            <a:spLocks noGrp="1"/>
          </p:cNvSpPr>
          <p:nvPr/>
        </p:nvSpPr>
        <p:spPr>
          <a:xfrm>
            <a:off x="0" y="0"/>
            <a:ext cx="41148" cy="6858000"/>
          </a:xfrm>
          <a:prstGeom prst="rect">
            <a:avLst/>
          </a:prstGeom>
          <a:solidFill>
            <a:srgbClr val="0A8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4" name="Oval 3"/>
          <p:cNvSpPr>
            <a:spLocks noGrp="1"/>
          </p:cNvSpPr>
          <p:nvPr/>
        </p:nvSpPr>
        <p:spPr>
          <a:xfrm>
            <a:off x="658368" y="384048"/>
            <a:ext cx="73152" cy="73152"/>
          </a:xfrm>
          <a:prstGeom prst="ellipse">
            <a:avLst/>
          </a:prstGeom>
          <a:solidFill>
            <a:srgbClr val="0A8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5" name="Rectangle 4"/>
          <p:cNvSpPr>
            <a:spLocks noGrp="1"/>
          </p:cNvSpPr>
          <p:nvPr/>
        </p:nvSpPr>
        <p:spPr>
          <a:xfrm>
            <a:off x="768096" y="420624"/>
            <a:ext cx="411480" cy="16459"/>
          </a:xfrm>
          <a:prstGeom prst="rect">
            <a:avLst/>
          </a:prstGeom>
          <a:solidFill>
            <a:srgbClr val="0A8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6" name="TextBox 5"/>
          <p:cNvSpPr>
            <a:spLocks noGrp="1"/>
          </p:cNvSpPr>
          <p:nvPr/>
        </p:nvSpPr>
        <p:spPr>
          <a:xfrm>
            <a:off x="1225296" y="256032"/>
            <a:ext cx="41148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1050" b="1">
                <a:solidFill>
                  <a:srgbClr val="076B50"/>
                </a:solidFill>
                <a:latin typeface="Noto Sans CJK SC"/>
                <a:ea typeface="Noto Sans CJK SC"/>
                <a:cs typeface="Noto Sans CJK SC"/>
              </a:rPr>
              <a:t>CHAPTER 6 · 受控执行</a:t>
            </a:r>
            <a:endParaRPr sz="1050" b="1">
              <a:solidFill>
                <a:srgbClr val="F28B36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" name="TextBox 6"/>
          <p:cNvSpPr>
            <a:spLocks noGrp="1"/>
          </p:cNvSpPr>
          <p:nvPr/>
        </p:nvSpPr>
        <p:spPr>
          <a:xfrm>
            <a:off x="658368" y="694944"/>
            <a:ext cx="10652760" cy="47548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</a:pPr>
            <a:r>
              <a:rPr sz="2720" b="1">
                <a:solidFill>
                  <a:srgbClr val="14383E"/>
                </a:solidFill>
                <a:latin typeface="Noto Sans CJK SC"/>
                <a:ea typeface="Noto Sans CJK SC"/>
                <a:cs typeface="Noto Sans CJK SC"/>
              </a:rPr>
              <a:t>业务能力的定义与调用校验</a:t>
            </a:r>
            <a:endParaRPr sz="2720" b="1">
              <a:solidFill>
                <a:srgbClr val="14383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8" name="TextBox 7"/>
          <p:cNvSpPr>
            <a:spLocks noGrp="1"/>
          </p:cNvSpPr>
          <p:nvPr/>
        </p:nvSpPr>
        <p:spPr>
          <a:xfrm>
            <a:off x="658368" y="1170432"/>
            <a:ext cx="10561320" cy="31089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</a:pPr>
            <a:r>
              <a:rPr sz="1170" b="0">
                <a:solidFill>
                  <a:srgbClr val="44585C"/>
                </a:solidFill>
                <a:latin typeface="Noto Sans CJK SC"/>
                <a:ea typeface="Noto Sans CJK SC"/>
                <a:cs typeface="Noto Sans CJK SC"/>
              </a:rPr>
              <a:t>输入、前置条件、影响范围和返回状态都先定义清楚，写操作再做四次校验。</a:t>
            </a:r>
            <a:endParaRPr sz="1170" b="0">
              <a:solidFill>
                <a:srgbClr val="6B8185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9" name="Rectangle 18"/>
          <p:cNvSpPr>
            <a:spLocks noGrp="1"/>
          </p:cNvSpPr>
          <p:nvPr/>
        </p:nvSpPr>
        <p:spPr>
          <a:xfrm>
            <a:off x="658368" y="6501384"/>
            <a:ext cx="10835640" cy="10972"/>
          </a:xfrm>
          <a:prstGeom prst="rect">
            <a:avLst/>
          </a:prstGeom>
          <a:solidFill>
            <a:srgbClr val="C9DC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0" name="TextBox 19"/>
          <p:cNvSpPr>
            <a:spLocks noGrp="1"/>
          </p:cNvSpPr>
          <p:nvPr/>
        </p:nvSpPr>
        <p:spPr>
          <a:xfrm>
            <a:off x="658368" y="6547104"/>
            <a:ext cx="237744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780" b="1">
                <a:solidFill>
                  <a:srgbClr val="5C7276"/>
                </a:solidFill>
                <a:latin typeface="Noto Sans CJK SC"/>
                <a:ea typeface="Noto Sans CJK SC"/>
                <a:cs typeface="Noto Sans CJK SC"/>
              </a:rPr>
              <a:t>CUSTOMER SERVICE AI AGENT</a:t>
            </a:r>
            <a:endParaRPr sz="780" b="1">
              <a:solidFill>
                <a:srgbClr val="98ACA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1" name="TextBox 20"/>
          <p:cNvSpPr>
            <a:spLocks noGrp="1"/>
          </p:cNvSpPr>
          <p:nvPr/>
        </p:nvSpPr>
        <p:spPr>
          <a:xfrm>
            <a:off x="10680192" y="6519672"/>
            <a:ext cx="82296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buNone/>
            </a:pPr>
            <a:r>
              <a:rPr sz="880" b="1">
                <a:solidFill>
                  <a:srgbClr val="076B50"/>
                </a:solidFill>
                <a:latin typeface="Noto Sans CJK SC"/>
                <a:ea typeface="Noto Sans CJK SC"/>
                <a:cs typeface="Noto Sans CJK SC"/>
              </a:rPr>
              <a:t>48</a:t>
            </a:r>
            <a:endParaRPr sz="880" b="1">
              <a:solidFill>
                <a:srgbClr val="F28B36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2" name="Rounded Rectangle 21"/>
          <p:cNvSpPr>
            <a:spLocks noGrp="1"/>
          </p:cNvSpPr>
          <p:nvPr/>
        </p:nvSpPr>
        <p:spPr>
          <a:xfrm>
            <a:off x="690372" y="1723644"/>
            <a:ext cx="4736592" cy="4443984"/>
          </a:xfrm>
          <a:prstGeom prst="roundRect">
            <a:avLst/>
          </a:prstGeom>
          <a:solidFill>
            <a:srgbClr val="E3E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3" name="Rounded Rectangle 22"/>
          <p:cNvSpPr>
            <a:spLocks noGrp="1"/>
          </p:cNvSpPr>
          <p:nvPr/>
        </p:nvSpPr>
        <p:spPr>
          <a:xfrm>
            <a:off x="658368" y="1682496"/>
            <a:ext cx="4736592" cy="44439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5" name="TextBox 24"/>
          <p:cNvSpPr>
            <a:spLocks noGrp="1"/>
          </p:cNvSpPr>
          <p:nvPr/>
        </p:nvSpPr>
        <p:spPr>
          <a:xfrm>
            <a:off x="932688" y="1892807"/>
            <a:ext cx="133502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320" b="1">
                <a:solidFill>
                  <a:srgbClr val="14383E"/>
                </a:solidFill>
                <a:latin typeface="Noto Sans CJK SC"/>
                <a:ea typeface="Noto Sans CJK SC"/>
                <a:cs typeface="Noto Sans CJK SC"/>
              </a:rPr>
              <a:t>能力定义示例</a:t>
            </a:r>
            <a:endParaRPr sz="1320" b="1">
              <a:solidFill>
                <a:srgbClr val="14383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6" name="Rounded Rectangle 25"/>
          <p:cNvSpPr>
            <a:spLocks noGrp="1"/>
          </p:cNvSpPr>
          <p:nvPr/>
        </p:nvSpPr>
        <p:spPr>
          <a:xfrm>
            <a:off x="3703320" y="1865376"/>
            <a:ext cx="1353312" cy="256032"/>
          </a:xfrm>
          <a:prstGeom prst="roundRect">
            <a:avLst/>
          </a:prstGeom>
          <a:solidFill>
            <a:srgbClr val="1F63C4"/>
          </a:solidFill>
          <a:ln w="10160">
            <a:solidFill>
              <a:srgbClr val="1F63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7" name="TextBox 26"/>
          <p:cNvSpPr>
            <a:spLocks noGrp="1"/>
          </p:cNvSpPr>
          <p:nvPr/>
        </p:nvSpPr>
        <p:spPr>
          <a:xfrm>
            <a:off x="3721607" y="1874519"/>
            <a:ext cx="1316736" cy="23774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</a:pPr>
            <a:r>
              <a:rPr sz="73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修改收货地址</a:t>
            </a:r>
            <a:endParaRPr sz="73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8" name="Rounded Rectangle 27"/>
          <p:cNvSpPr>
            <a:spLocks noGrp="1"/>
          </p:cNvSpPr>
          <p:nvPr/>
        </p:nvSpPr>
        <p:spPr>
          <a:xfrm>
            <a:off x="932688" y="2395728"/>
            <a:ext cx="4169663" cy="402336"/>
          </a:xfrm>
          <a:prstGeom prst="roundRect">
            <a:avLst/>
          </a:prstGeom>
          <a:solidFill>
            <a:srgbClr val="F0F4F3"/>
          </a:solidFill>
          <a:ln w="8890">
            <a:solidFill>
              <a:srgbClr val="C9D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9" name="TextBox 28"/>
          <p:cNvSpPr>
            <a:spLocks noGrp="1"/>
          </p:cNvSpPr>
          <p:nvPr/>
        </p:nvSpPr>
        <p:spPr>
          <a:xfrm>
            <a:off x="1097280" y="2487168"/>
            <a:ext cx="859536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750" b="1">
                <a:solidFill>
                  <a:srgbClr val="1B5FC4"/>
                </a:solidFill>
                <a:latin typeface="Noto Sans CJK SC"/>
                <a:ea typeface="Noto Sans CJK SC"/>
                <a:cs typeface="Noto Sans CJK SC"/>
              </a:rPr>
              <a:t>业务目标</a:t>
            </a:r>
            <a:endParaRPr sz="750" b="1">
              <a:solidFill>
                <a:srgbClr val="2F80ED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0" name="TextBox 29"/>
          <p:cNvSpPr>
            <a:spLocks noGrp="1"/>
          </p:cNvSpPr>
          <p:nvPr/>
        </p:nvSpPr>
        <p:spPr>
          <a:xfrm>
            <a:off x="1956816" y="2459736"/>
            <a:ext cx="2926080" cy="24688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</a:pPr>
            <a:r>
              <a:rPr sz="680" b="0">
                <a:solidFill>
                  <a:srgbClr val="14383E"/>
                </a:solidFill>
                <a:latin typeface="Noto Sans CJK SC"/>
                <a:ea typeface="Noto Sans CJK SC"/>
                <a:cs typeface="Noto Sans CJK SC"/>
              </a:rPr>
              <a:t>为指定订单更新收货地址</a:t>
            </a:r>
            <a:endParaRPr sz="680" b="0">
              <a:solidFill>
                <a:srgbClr val="14383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1" name="Rounded Rectangle 30"/>
          <p:cNvSpPr>
            <a:spLocks noGrp="1"/>
          </p:cNvSpPr>
          <p:nvPr/>
        </p:nvSpPr>
        <p:spPr>
          <a:xfrm>
            <a:off x="932688" y="2926080"/>
            <a:ext cx="4169663" cy="402336"/>
          </a:xfrm>
          <a:prstGeom prst="roundRect">
            <a:avLst/>
          </a:prstGeom>
          <a:solidFill>
            <a:srgbClr val="F0F4F3"/>
          </a:solidFill>
          <a:ln w="8890">
            <a:solidFill>
              <a:srgbClr val="C9D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2" name="TextBox 31"/>
          <p:cNvSpPr>
            <a:spLocks noGrp="1"/>
          </p:cNvSpPr>
          <p:nvPr/>
        </p:nvSpPr>
        <p:spPr>
          <a:xfrm>
            <a:off x="1097280" y="3017520"/>
            <a:ext cx="859536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750" b="1">
                <a:solidFill>
                  <a:srgbClr val="1B5FC4"/>
                </a:solidFill>
                <a:latin typeface="Noto Sans CJK SC"/>
                <a:ea typeface="Noto Sans CJK SC"/>
                <a:cs typeface="Noto Sans CJK SC"/>
              </a:rPr>
              <a:t>必要输入</a:t>
            </a:r>
            <a:endParaRPr sz="750" b="1">
              <a:solidFill>
                <a:srgbClr val="2F80ED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3" name="TextBox 32"/>
          <p:cNvSpPr>
            <a:spLocks noGrp="1"/>
          </p:cNvSpPr>
          <p:nvPr/>
        </p:nvSpPr>
        <p:spPr>
          <a:xfrm>
            <a:off x="1956816" y="2990088"/>
            <a:ext cx="2926080" cy="24688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</a:pPr>
            <a:r>
              <a:rPr sz="680" b="0">
                <a:solidFill>
                  <a:srgbClr val="14383E"/>
                </a:solidFill>
                <a:latin typeface="Noto Sans CJK SC"/>
                <a:ea typeface="Noto Sans CJK SC"/>
                <a:cs typeface="Noto Sans CJK SC"/>
              </a:rPr>
              <a:t>订单标识、新地址、客户确认信息</a:t>
            </a:r>
            <a:endParaRPr sz="680" b="0">
              <a:solidFill>
                <a:srgbClr val="14383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4" name="Rounded Rectangle 33"/>
          <p:cNvSpPr>
            <a:spLocks noGrp="1"/>
          </p:cNvSpPr>
          <p:nvPr/>
        </p:nvSpPr>
        <p:spPr>
          <a:xfrm>
            <a:off x="932688" y="3456432"/>
            <a:ext cx="4169663" cy="402336"/>
          </a:xfrm>
          <a:prstGeom prst="roundRect">
            <a:avLst/>
          </a:prstGeom>
          <a:solidFill>
            <a:srgbClr val="F0F4F3"/>
          </a:solidFill>
          <a:ln w="8890">
            <a:solidFill>
              <a:srgbClr val="C9D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5" name="TextBox 34"/>
          <p:cNvSpPr>
            <a:spLocks noGrp="1"/>
          </p:cNvSpPr>
          <p:nvPr/>
        </p:nvSpPr>
        <p:spPr>
          <a:xfrm>
            <a:off x="1097280" y="3547872"/>
            <a:ext cx="859536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750" b="1">
                <a:solidFill>
                  <a:srgbClr val="1B5FC4"/>
                </a:solidFill>
                <a:latin typeface="Noto Sans CJK SC"/>
                <a:ea typeface="Noto Sans CJK SC"/>
                <a:cs typeface="Noto Sans CJK SC"/>
              </a:rPr>
              <a:t>前置条件</a:t>
            </a:r>
            <a:endParaRPr sz="750" b="1">
              <a:solidFill>
                <a:srgbClr val="2F80ED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6" name="TextBox 35"/>
          <p:cNvSpPr>
            <a:spLocks noGrp="1"/>
          </p:cNvSpPr>
          <p:nvPr/>
        </p:nvSpPr>
        <p:spPr>
          <a:xfrm>
            <a:off x="1956816" y="3520440"/>
            <a:ext cx="2926080" cy="24688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</a:pPr>
            <a:r>
              <a:rPr sz="680" b="0">
                <a:solidFill>
                  <a:srgbClr val="14383E"/>
                </a:solidFill>
                <a:latin typeface="Noto Sans CJK SC"/>
                <a:ea typeface="Noto Sans CJK SC"/>
                <a:cs typeface="Noto Sans CJK SC"/>
              </a:rPr>
              <a:t>订单尚可修改，地址字段完整且配送范围有效</a:t>
            </a:r>
            <a:endParaRPr sz="680" b="0">
              <a:solidFill>
                <a:srgbClr val="14383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7" name="Rounded Rectangle 36"/>
          <p:cNvSpPr>
            <a:spLocks noGrp="1"/>
          </p:cNvSpPr>
          <p:nvPr/>
        </p:nvSpPr>
        <p:spPr>
          <a:xfrm>
            <a:off x="932688" y="3986783"/>
            <a:ext cx="4169663" cy="402336"/>
          </a:xfrm>
          <a:prstGeom prst="roundRect">
            <a:avLst/>
          </a:prstGeom>
          <a:solidFill>
            <a:srgbClr val="F0F4F3"/>
          </a:solidFill>
          <a:ln w="8890">
            <a:solidFill>
              <a:srgbClr val="C9D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8" name="TextBox 37"/>
          <p:cNvSpPr>
            <a:spLocks noGrp="1"/>
          </p:cNvSpPr>
          <p:nvPr/>
        </p:nvSpPr>
        <p:spPr>
          <a:xfrm>
            <a:off x="1097280" y="4078223"/>
            <a:ext cx="859536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750" b="1">
                <a:solidFill>
                  <a:srgbClr val="1B5FC4"/>
                </a:solidFill>
                <a:latin typeface="Noto Sans CJK SC"/>
                <a:ea typeface="Noto Sans CJK SC"/>
                <a:cs typeface="Noto Sans CJK SC"/>
              </a:rPr>
              <a:t>影响范围</a:t>
            </a:r>
            <a:endParaRPr sz="750" b="1">
              <a:solidFill>
                <a:srgbClr val="2F80ED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9" name="TextBox 38"/>
          <p:cNvSpPr>
            <a:spLocks noGrp="1"/>
          </p:cNvSpPr>
          <p:nvPr/>
        </p:nvSpPr>
        <p:spPr>
          <a:xfrm>
            <a:off x="1956816" y="4050791"/>
            <a:ext cx="2926080" cy="24688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</a:pPr>
            <a:r>
              <a:rPr sz="680" b="0">
                <a:solidFill>
                  <a:srgbClr val="14383E"/>
                </a:solidFill>
                <a:latin typeface="Noto Sans CJK SC"/>
                <a:ea typeface="Noto Sans CJK SC"/>
                <a:cs typeface="Noto Sans CJK SC"/>
              </a:rPr>
              <a:t>只修改收货地址，不修改付款与账户信息</a:t>
            </a:r>
            <a:endParaRPr sz="680" b="0">
              <a:solidFill>
                <a:srgbClr val="14383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0" name="Rounded Rectangle 39"/>
          <p:cNvSpPr>
            <a:spLocks noGrp="1"/>
          </p:cNvSpPr>
          <p:nvPr/>
        </p:nvSpPr>
        <p:spPr>
          <a:xfrm>
            <a:off x="932688" y="4517136"/>
            <a:ext cx="4169663" cy="402336"/>
          </a:xfrm>
          <a:prstGeom prst="roundRect">
            <a:avLst/>
          </a:prstGeom>
          <a:solidFill>
            <a:srgbClr val="F0F4F3"/>
          </a:solidFill>
          <a:ln w="8890">
            <a:solidFill>
              <a:srgbClr val="C9D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41" name="TextBox 40"/>
          <p:cNvSpPr>
            <a:spLocks noGrp="1"/>
          </p:cNvSpPr>
          <p:nvPr/>
        </p:nvSpPr>
        <p:spPr>
          <a:xfrm>
            <a:off x="1097280" y="4608575"/>
            <a:ext cx="859536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750" b="1">
                <a:solidFill>
                  <a:srgbClr val="1B5FC4"/>
                </a:solidFill>
                <a:latin typeface="Noto Sans CJK SC"/>
                <a:ea typeface="Noto Sans CJK SC"/>
                <a:cs typeface="Noto Sans CJK SC"/>
              </a:rPr>
              <a:t>幂等规则</a:t>
            </a:r>
            <a:endParaRPr sz="750" b="1">
              <a:solidFill>
                <a:srgbClr val="2F80ED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2" name="TextBox 41"/>
          <p:cNvSpPr>
            <a:spLocks noGrp="1"/>
          </p:cNvSpPr>
          <p:nvPr/>
        </p:nvSpPr>
        <p:spPr>
          <a:xfrm>
            <a:off x="1956816" y="4581144"/>
            <a:ext cx="2926080" cy="24688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</a:pPr>
            <a:r>
              <a:rPr sz="680" b="0">
                <a:solidFill>
                  <a:srgbClr val="14383E"/>
                </a:solidFill>
                <a:latin typeface="Noto Sans CJK SC"/>
                <a:ea typeface="Noto Sans CJK SC"/>
                <a:cs typeface="Noto Sans CJK SC"/>
              </a:rPr>
              <a:t>相同订单与相同地址重复请求只执行一次</a:t>
            </a:r>
            <a:endParaRPr sz="680" b="0">
              <a:solidFill>
                <a:srgbClr val="14383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3" name="Rounded Rectangle 42"/>
          <p:cNvSpPr>
            <a:spLocks noGrp="1"/>
          </p:cNvSpPr>
          <p:nvPr/>
        </p:nvSpPr>
        <p:spPr>
          <a:xfrm>
            <a:off x="932688" y="5047488"/>
            <a:ext cx="4169663" cy="402336"/>
          </a:xfrm>
          <a:prstGeom prst="roundRect">
            <a:avLst/>
          </a:prstGeom>
          <a:solidFill>
            <a:srgbClr val="F0F4F3"/>
          </a:solidFill>
          <a:ln w="8890">
            <a:solidFill>
              <a:srgbClr val="C9D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44" name="TextBox 43"/>
          <p:cNvSpPr>
            <a:spLocks noGrp="1"/>
          </p:cNvSpPr>
          <p:nvPr/>
        </p:nvSpPr>
        <p:spPr>
          <a:xfrm>
            <a:off x="1097280" y="5138927"/>
            <a:ext cx="859536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750" b="1">
                <a:solidFill>
                  <a:srgbClr val="1B5FC4"/>
                </a:solidFill>
                <a:latin typeface="Noto Sans CJK SC"/>
                <a:ea typeface="Noto Sans CJK SC"/>
                <a:cs typeface="Noto Sans CJK SC"/>
              </a:rPr>
              <a:t>返回状态</a:t>
            </a:r>
            <a:endParaRPr sz="750" b="1">
              <a:solidFill>
                <a:srgbClr val="2F80ED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5" name="TextBox 44"/>
          <p:cNvSpPr>
            <a:spLocks noGrp="1"/>
          </p:cNvSpPr>
          <p:nvPr/>
        </p:nvSpPr>
        <p:spPr>
          <a:xfrm>
            <a:off x="1956816" y="5111496"/>
            <a:ext cx="2926080" cy="24688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</a:pPr>
            <a:r>
              <a:rPr sz="680" b="0">
                <a:solidFill>
                  <a:srgbClr val="14383E"/>
                </a:solidFill>
                <a:latin typeface="Noto Sans CJK SC"/>
                <a:ea typeface="Noto Sans CJK SC"/>
                <a:cs typeface="Noto Sans CJK SC"/>
              </a:rPr>
              <a:t>成功 / 需补充信息 / 不可修改 / 系统异常</a:t>
            </a:r>
            <a:endParaRPr sz="680" b="0">
              <a:solidFill>
                <a:srgbClr val="14383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6" name="Rounded Rectangle 45"/>
          <p:cNvSpPr>
            <a:spLocks noGrp="1"/>
          </p:cNvSpPr>
          <p:nvPr/>
        </p:nvSpPr>
        <p:spPr>
          <a:xfrm>
            <a:off x="5664708" y="1723644"/>
            <a:ext cx="5870448" cy="4443984"/>
          </a:xfrm>
          <a:prstGeom prst="roundRect">
            <a:avLst/>
          </a:prstGeom>
          <a:solidFill>
            <a:srgbClr val="E3E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47" name="Rounded Rectangle 46"/>
          <p:cNvSpPr>
            <a:spLocks noGrp="1"/>
          </p:cNvSpPr>
          <p:nvPr/>
        </p:nvSpPr>
        <p:spPr>
          <a:xfrm>
            <a:off x="5632704" y="1682496"/>
            <a:ext cx="5870448" cy="44439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8B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49" name="TextBox 48"/>
          <p:cNvSpPr>
            <a:spLocks noGrp="1"/>
          </p:cNvSpPr>
          <p:nvPr/>
        </p:nvSpPr>
        <p:spPr>
          <a:xfrm>
            <a:off x="5925312" y="1892807"/>
            <a:ext cx="19202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320" b="1">
                <a:solidFill>
                  <a:srgbClr val="14383E"/>
                </a:solidFill>
                <a:latin typeface="Noto Sans CJK SC"/>
                <a:ea typeface="Noto Sans CJK SC"/>
                <a:cs typeface="Noto Sans CJK SC"/>
              </a:rPr>
              <a:t>写操作的四次校验</a:t>
            </a:r>
            <a:endParaRPr sz="1320" b="1">
              <a:solidFill>
                <a:srgbClr val="14383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0" name="Rounded Rectangle 49"/>
          <p:cNvSpPr>
            <a:spLocks noGrp="1"/>
          </p:cNvSpPr>
          <p:nvPr/>
        </p:nvSpPr>
        <p:spPr>
          <a:xfrm>
            <a:off x="5925312" y="2395728"/>
            <a:ext cx="5285232" cy="557784"/>
          </a:xfrm>
          <a:prstGeom prst="roundRect">
            <a:avLst/>
          </a:prstGeom>
          <a:solidFill>
            <a:srgbClr val="E8F6F0"/>
          </a:solidFill>
          <a:ln w="10160">
            <a:solidFill>
              <a:srgbClr val="0A8F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51" name="Oval 50"/>
          <p:cNvSpPr>
            <a:spLocks noGrp="1"/>
          </p:cNvSpPr>
          <p:nvPr/>
        </p:nvSpPr>
        <p:spPr>
          <a:xfrm>
            <a:off x="6126480" y="2523744"/>
            <a:ext cx="292608" cy="292608"/>
          </a:xfrm>
          <a:prstGeom prst="ellipse">
            <a:avLst/>
          </a:prstGeom>
          <a:solidFill>
            <a:srgbClr val="07714F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52" name="TextBox 51"/>
          <p:cNvSpPr>
            <a:spLocks noGrp="1"/>
          </p:cNvSpPr>
          <p:nvPr/>
        </p:nvSpPr>
        <p:spPr>
          <a:xfrm>
            <a:off x="6126480" y="2526487"/>
            <a:ext cx="292608" cy="2871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72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01</a:t>
            </a:r>
            <a:endParaRPr sz="72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3" name="TextBox 52"/>
          <p:cNvSpPr>
            <a:spLocks noGrp="1"/>
          </p:cNvSpPr>
          <p:nvPr/>
        </p:nvSpPr>
        <p:spPr>
          <a:xfrm>
            <a:off x="6565392" y="2496312"/>
            <a:ext cx="987552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850" b="1">
                <a:solidFill>
                  <a:srgbClr val="076B50"/>
                </a:solidFill>
                <a:latin typeface="Noto Sans CJK SC"/>
                <a:ea typeface="Noto Sans CJK SC"/>
                <a:cs typeface="Noto Sans CJK SC"/>
              </a:rPr>
              <a:t>场景校验</a:t>
            </a:r>
            <a:endParaRPr sz="850" b="1">
              <a:solidFill>
                <a:srgbClr val="0A8F6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4" name="TextBox 53"/>
          <p:cNvSpPr>
            <a:spLocks noGrp="1"/>
          </p:cNvSpPr>
          <p:nvPr/>
        </p:nvSpPr>
        <p:spPr>
          <a:xfrm>
            <a:off x="7607808" y="2468880"/>
            <a:ext cx="3328416" cy="27432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</a:pPr>
            <a:r>
              <a:rPr sz="690" b="0">
                <a:solidFill>
                  <a:srgbClr val="14383E"/>
                </a:solidFill>
                <a:latin typeface="Noto Sans CJK SC"/>
                <a:ea typeface="Noto Sans CJK SC"/>
                <a:cs typeface="Noto Sans CJK SC"/>
              </a:rPr>
              <a:t>skill 工具白名单：该场景允许哪些写工具可见</a:t>
            </a:r>
            <a:endParaRPr sz="690" b="0">
              <a:solidFill>
                <a:srgbClr val="14383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5" name="Down Arrow 54"/>
          <p:cNvSpPr>
            <a:spLocks noGrp="1"/>
          </p:cNvSpPr>
          <p:nvPr/>
        </p:nvSpPr>
        <p:spPr>
          <a:xfrm>
            <a:off x="8439912" y="2980944"/>
            <a:ext cx="256032" cy="109728"/>
          </a:xfrm>
          <a:prstGeom prst="downArrow">
            <a:avLst/>
          </a:prstGeom>
          <a:solidFill>
            <a:srgbClr val="0A8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56" name="Rounded Rectangle 55"/>
          <p:cNvSpPr>
            <a:spLocks noGrp="1"/>
          </p:cNvSpPr>
          <p:nvPr/>
        </p:nvSpPr>
        <p:spPr>
          <a:xfrm>
            <a:off x="5925312" y="3108960"/>
            <a:ext cx="5285232" cy="557784"/>
          </a:xfrm>
          <a:prstGeom prst="roundRect">
            <a:avLst/>
          </a:prstGeom>
          <a:solidFill>
            <a:srgbClr val="EAF2FF"/>
          </a:solidFill>
          <a:ln w="10160"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57" name="Oval 56"/>
          <p:cNvSpPr>
            <a:spLocks noGrp="1"/>
          </p:cNvSpPr>
          <p:nvPr/>
        </p:nvSpPr>
        <p:spPr>
          <a:xfrm>
            <a:off x="6126480" y="3236976"/>
            <a:ext cx="292608" cy="292608"/>
          </a:xfrm>
          <a:prstGeom prst="ellipse">
            <a:avLst/>
          </a:prstGeom>
          <a:solidFill>
            <a:srgbClr val="1F63C4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58" name="TextBox 57"/>
          <p:cNvSpPr>
            <a:spLocks noGrp="1"/>
          </p:cNvSpPr>
          <p:nvPr/>
        </p:nvSpPr>
        <p:spPr>
          <a:xfrm>
            <a:off x="6126480" y="3239719"/>
            <a:ext cx="292608" cy="2871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72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02</a:t>
            </a:r>
            <a:endParaRPr sz="72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9" name="TextBox 58"/>
          <p:cNvSpPr>
            <a:spLocks noGrp="1"/>
          </p:cNvSpPr>
          <p:nvPr/>
        </p:nvSpPr>
        <p:spPr>
          <a:xfrm>
            <a:off x="6565392" y="3209544"/>
            <a:ext cx="987552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850" b="1">
                <a:solidFill>
                  <a:srgbClr val="1B5FC4"/>
                </a:solidFill>
                <a:latin typeface="Noto Sans CJK SC"/>
                <a:ea typeface="Noto Sans CJK SC"/>
                <a:cs typeface="Noto Sans CJK SC"/>
              </a:rPr>
              <a:t>计划校验</a:t>
            </a:r>
            <a:endParaRPr sz="850" b="1">
              <a:solidFill>
                <a:srgbClr val="2F80ED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0" name="TextBox 59"/>
          <p:cNvSpPr>
            <a:spLocks noGrp="1"/>
          </p:cNvSpPr>
          <p:nvPr/>
        </p:nvSpPr>
        <p:spPr>
          <a:xfrm>
            <a:off x="7607808" y="3182112"/>
            <a:ext cx="3328416" cy="27432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</a:pPr>
            <a:r>
              <a:rPr sz="690" b="0">
                <a:solidFill>
                  <a:srgbClr val="14383E"/>
                </a:solidFill>
                <a:latin typeface="Noto Sans CJK SC"/>
                <a:ea typeface="Noto Sans CJK SC"/>
                <a:cs typeface="Noto Sans CJK SC"/>
              </a:rPr>
              <a:t>统计计划中的写步骤；≥2 个写操作整体转人工</a:t>
            </a:r>
            <a:endParaRPr sz="690" b="0">
              <a:solidFill>
                <a:srgbClr val="14383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1" name="Down Arrow 60"/>
          <p:cNvSpPr>
            <a:spLocks noGrp="1"/>
          </p:cNvSpPr>
          <p:nvPr/>
        </p:nvSpPr>
        <p:spPr>
          <a:xfrm>
            <a:off x="8439912" y="3694176"/>
            <a:ext cx="256032" cy="109728"/>
          </a:xfrm>
          <a:prstGeom prst="downArrow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62" name="Rounded Rectangle 61"/>
          <p:cNvSpPr>
            <a:spLocks noGrp="1"/>
          </p:cNvSpPr>
          <p:nvPr/>
        </p:nvSpPr>
        <p:spPr>
          <a:xfrm>
            <a:off x="5925312" y="3822191"/>
            <a:ext cx="5285232" cy="557784"/>
          </a:xfrm>
          <a:prstGeom prst="roundRect">
            <a:avLst/>
          </a:prstGeom>
          <a:solidFill>
            <a:srgbClr val="FFF0E4"/>
          </a:solidFill>
          <a:ln w="10160">
            <a:solidFill>
              <a:srgbClr val="F28B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63" name="Oval 62"/>
          <p:cNvSpPr>
            <a:spLocks noGrp="1"/>
          </p:cNvSpPr>
          <p:nvPr/>
        </p:nvSpPr>
        <p:spPr>
          <a:xfrm>
            <a:off x="6126480" y="3950207"/>
            <a:ext cx="292608" cy="292608"/>
          </a:xfrm>
          <a:prstGeom prst="ellipse">
            <a:avLst/>
          </a:prstGeom>
          <a:solidFill>
            <a:srgbClr val="BC6414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64" name="TextBox 63"/>
          <p:cNvSpPr>
            <a:spLocks noGrp="1"/>
          </p:cNvSpPr>
          <p:nvPr/>
        </p:nvSpPr>
        <p:spPr>
          <a:xfrm>
            <a:off x="6126480" y="3952951"/>
            <a:ext cx="292608" cy="2871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72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03</a:t>
            </a:r>
            <a:endParaRPr sz="72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5" name="TextBox 64"/>
          <p:cNvSpPr>
            <a:spLocks noGrp="1"/>
          </p:cNvSpPr>
          <p:nvPr/>
        </p:nvSpPr>
        <p:spPr>
          <a:xfrm>
            <a:off x="6565392" y="3922776"/>
            <a:ext cx="987552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850" b="1">
                <a:solidFill>
                  <a:srgbClr val="9A5210"/>
                </a:solidFill>
                <a:latin typeface="Noto Sans CJK SC"/>
                <a:ea typeface="Noto Sans CJK SC"/>
                <a:cs typeface="Noto Sans CJK SC"/>
              </a:rPr>
              <a:t>运行校验</a:t>
            </a:r>
            <a:endParaRPr sz="850" b="1">
              <a:solidFill>
                <a:srgbClr val="F28B36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6" name="TextBox 65"/>
          <p:cNvSpPr>
            <a:spLocks noGrp="1"/>
          </p:cNvSpPr>
          <p:nvPr/>
        </p:nvSpPr>
        <p:spPr>
          <a:xfrm>
            <a:off x="7607808" y="3895344"/>
            <a:ext cx="3328416" cy="27432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</a:pPr>
            <a:r>
              <a:rPr sz="690" b="0">
                <a:solidFill>
                  <a:srgbClr val="14383E"/>
                </a:solidFill>
                <a:latin typeface="Noto Sans CJK SC"/>
                <a:ea typeface="Noto Sans CJK SC"/>
                <a:cs typeface="Noto Sans CJK SC"/>
              </a:rPr>
              <a:t>客户确认、订单状态、eligibility 不满足时，mutation 工具直接拒绝调用</a:t>
            </a:r>
            <a:endParaRPr sz="690" b="0">
              <a:solidFill>
                <a:srgbClr val="14383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7" name="Down Arrow 66"/>
          <p:cNvSpPr>
            <a:spLocks noGrp="1"/>
          </p:cNvSpPr>
          <p:nvPr/>
        </p:nvSpPr>
        <p:spPr>
          <a:xfrm>
            <a:off x="8439912" y="4407407"/>
            <a:ext cx="256032" cy="109728"/>
          </a:xfrm>
          <a:prstGeom prst="downArrow">
            <a:avLst/>
          </a:prstGeom>
          <a:solidFill>
            <a:srgbClr val="F28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68" name="Rounded Rectangle 67"/>
          <p:cNvSpPr>
            <a:spLocks noGrp="1"/>
          </p:cNvSpPr>
          <p:nvPr/>
        </p:nvSpPr>
        <p:spPr>
          <a:xfrm>
            <a:off x="5925312" y="4535424"/>
            <a:ext cx="5285232" cy="557784"/>
          </a:xfrm>
          <a:prstGeom prst="roundRect">
            <a:avLst/>
          </a:prstGeom>
          <a:solidFill>
            <a:srgbClr val="FDECE9"/>
          </a:solidFill>
          <a:ln w="10160">
            <a:solidFill>
              <a:srgbClr val="E257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69" name="Oval 68"/>
          <p:cNvSpPr>
            <a:spLocks noGrp="1"/>
          </p:cNvSpPr>
          <p:nvPr/>
        </p:nvSpPr>
        <p:spPr>
          <a:xfrm>
            <a:off x="6126480" y="4663440"/>
            <a:ext cx="292608" cy="292608"/>
          </a:xfrm>
          <a:prstGeom prst="ellipse">
            <a:avLst/>
          </a:prstGeom>
          <a:solidFill>
            <a:srgbClr val="C23B3B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70" name="TextBox 69"/>
          <p:cNvSpPr>
            <a:spLocks noGrp="1"/>
          </p:cNvSpPr>
          <p:nvPr/>
        </p:nvSpPr>
        <p:spPr>
          <a:xfrm>
            <a:off x="6126480" y="4666183"/>
            <a:ext cx="292608" cy="2871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72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04</a:t>
            </a:r>
            <a:endParaRPr sz="72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1" name="TextBox 70"/>
          <p:cNvSpPr>
            <a:spLocks noGrp="1"/>
          </p:cNvSpPr>
          <p:nvPr/>
        </p:nvSpPr>
        <p:spPr>
          <a:xfrm>
            <a:off x="6565392" y="4636008"/>
            <a:ext cx="987552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850" b="1">
                <a:solidFill>
                  <a:srgbClr val="B8362C"/>
                </a:solidFill>
                <a:latin typeface="Noto Sans CJK SC"/>
                <a:ea typeface="Noto Sans CJK SC"/>
                <a:cs typeface="Noto Sans CJK SC"/>
              </a:rPr>
              <a:t>服务端校验</a:t>
            </a:r>
            <a:endParaRPr sz="850" b="1">
              <a:solidFill>
                <a:srgbClr val="E2574C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2" name="TextBox 71"/>
          <p:cNvSpPr>
            <a:spLocks noGrp="1"/>
          </p:cNvSpPr>
          <p:nvPr/>
        </p:nvSpPr>
        <p:spPr>
          <a:xfrm>
            <a:off x="7607808" y="4608576"/>
            <a:ext cx="3328416" cy="27432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</a:pPr>
            <a:r>
              <a:rPr sz="690" b="0">
                <a:solidFill>
                  <a:srgbClr val="14383E"/>
                </a:solidFill>
                <a:latin typeface="Noto Sans CJK SC"/>
                <a:ea typeface="Noto Sans CJK SC"/>
                <a:cs typeface="Noto Sans CJK SC"/>
              </a:rPr>
              <a:t>幂等键 + 写配额(fail-closed)+ 审计审计记录</a:t>
            </a:r>
            <a:endParaRPr sz="690" b="0">
              <a:solidFill>
                <a:srgbClr val="14383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3" name="Rounded Rectangle 72"/>
          <p:cNvSpPr>
            <a:spLocks noGrp="1"/>
          </p:cNvSpPr>
          <p:nvPr/>
        </p:nvSpPr>
        <p:spPr>
          <a:xfrm>
            <a:off x="5925312" y="5413248"/>
            <a:ext cx="2395728" cy="457200"/>
          </a:xfrm>
          <a:prstGeom prst="roundRect">
            <a:avLst/>
          </a:prstGeom>
          <a:solidFill>
            <a:srgbClr val="E8F6F0"/>
          </a:solidFill>
          <a:ln w="10160">
            <a:solidFill>
              <a:srgbClr val="0A8F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74" name="TextBox 73"/>
          <p:cNvSpPr>
            <a:spLocks noGrp="1"/>
          </p:cNvSpPr>
          <p:nvPr/>
        </p:nvSpPr>
        <p:spPr>
          <a:xfrm>
            <a:off x="5925312" y="5522976"/>
            <a:ext cx="2395728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760" b="1">
                <a:solidFill>
                  <a:srgbClr val="076B50"/>
                </a:solidFill>
                <a:latin typeface="Noto Sans CJK SC"/>
                <a:ea typeface="Noto Sans CJK SC"/>
                <a:cs typeface="Noto Sans CJK SC"/>
              </a:rPr>
              <a:t>四项通过 → 能力网关执行</a:t>
            </a:r>
            <a:endParaRPr sz="760" b="1">
              <a:solidFill>
                <a:srgbClr val="0A8F6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5" name="Rounded Rectangle 74"/>
          <p:cNvSpPr>
            <a:spLocks noGrp="1"/>
          </p:cNvSpPr>
          <p:nvPr/>
        </p:nvSpPr>
        <p:spPr>
          <a:xfrm>
            <a:off x="8503920" y="5413248"/>
            <a:ext cx="2706624" cy="457200"/>
          </a:xfrm>
          <a:prstGeom prst="roundRect">
            <a:avLst/>
          </a:prstGeom>
          <a:solidFill>
            <a:srgbClr val="FDECE9"/>
          </a:solidFill>
          <a:ln w="10160">
            <a:solidFill>
              <a:srgbClr val="E257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76" name="TextBox 75"/>
          <p:cNvSpPr>
            <a:spLocks noGrp="1"/>
          </p:cNvSpPr>
          <p:nvPr/>
        </p:nvSpPr>
        <p:spPr>
          <a:xfrm>
            <a:off x="8503920" y="5522976"/>
            <a:ext cx="2706624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760" b="1">
                <a:solidFill>
                  <a:srgbClr val="B8362C"/>
                </a:solidFill>
                <a:latin typeface="Noto Sans CJK SC"/>
                <a:ea typeface="Noto Sans CJK SC"/>
                <a:cs typeface="Noto Sans CJK SC"/>
              </a:rPr>
              <a:t>任一不通过 → 补充信息或转人工</a:t>
            </a:r>
            <a:endParaRPr sz="760" b="1">
              <a:solidFill>
                <a:srgbClr val="E2574C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7" name="圆角矩形 76"/>
          <p:cNvSpPr>
            <a:spLocks noGrp="1"/>
          </p:cNvSpPr>
          <p:nvPr/>
        </p:nvSpPr>
        <p:spPr>
          <a:xfrm>
            <a:off x="6565583" y="127635"/>
            <a:ext cx="4937760" cy="365760"/>
          </a:xfrm>
          <a:prstGeom prst="roundRect">
            <a:avLst>
              <a:gd name="adj" fmla="val 20833"/>
            </a:avLst>
          </a:prstGeom>
          <a:solidFill>
            <a:srgbClr val="F7FBF9"/>
          </a:solidFill>
          <a:ln w="12668">
            <a:solidFill>
              <a:srgbClr val="F7FBF9"/>
            </a:solidFill>
            <a:prstDash val="solid"/>
          </a:ln>
        </p:spPr>
        <p:txBody>
          <a:bodyPr/>
          <a:p/>
        </p:txBody>
      </p:sp>
      <p:sp>
        <p:nvSpPr>
          <p:cNvPr id="78" name="圆角矩形 77"/>
          <p:cNvSpPr>
            <a:spLocks noGrp="1"/>
          </p:cNvSpPr>
          <p:nvPr/>
        </p:nvSpPr>
        <p:spPr>
          <a:xfrm>
            <a:off x="6657023" y="164783"/>
            <a:ext cx="1154430" cy="264795"/>
          </a:xfrm>
          <a:prstGeom prst="roundRect">
            <a:avLst>
              <a:gd name="adj" fmla="val 28777"/>
            </a:avLst>
          </a:prstGeom>
          <a:solidFill>
            <a:srgbClr val="FFFFFF"/>
          </a:solidFill>
          <a:ln w="12668">
            <a:solidFill>
              <a:srgbClr val="C9DCD7"/>
            </a:solidFill>
            <a:prstDash val="solid"/>
          </a:ln>
        </p:spPr>
        <p:txBody>
          <a:bodyPr/>
          <a:p/>
        </p:txBody>
      </p:sp>
      <p:sp>
        <p:nvSpPr>
          <p:cNvPr id="79" name="矩形 78"/>
          <p:cNvSpPr>
            <a:spLocks noGrp="1"/>
          </p:cNvSpPr>
          <p:nvPr/>
        </p:nvSpPr>
        <p:spPr>
          <a:xfrm>
            <a:off x="6657023" y="187643"/>
            <a:ext cx="1154430" cy="182880"/>
          </a:xfrm>
          <a:prstGeom prst="rect">
            <a:avLst/>
          </a:prstGeom>
        </p:spPr>
        <p:txBody>
          <a:bodyPr anchor="ctr"/>
          <a:lstStyle/>
          <a:p>
            <a:pPr algn="ctr">
              <a:defRPr sz="650" b="0">
                <a:solidFill>
                  <a:srgbClr val="44585C"/>
                </a:solidFill>
              </a:defRPr>
            </a:pPr>
            <a:r>
              <a:t>理解</a:t>
            </a:r>
          </a:p>
        </p:txBody>
      </p:sp>
      <p:sp>
        <p:nvSpPr>
          <p:cNvPr id="80" name="圆角矩形 79"/>
          <p:cNvSpPr>
            <a:spLocks noGrp="1"/>
          </p:cNvSpPr>
          <p:nvPr/>
        </p:nvSpPr>
        <p:spPr>
          <a:xfrm>
            <a:off x="7857173" y="164783"/>
            <a:ext cx="1154430" cy="264795"/>
          </a:xfrm>
          <a:prstGeom prst="roundRect">
            <a:avLst>
              <a:gd name="adj" fmla="val 28777"/>
            </a:avLst>
          </a:prstGeom>
          <a:solidFill>
            <a:srgbClr val="007574"/>
          </a:solidFill>
          <a:ln w="12668">
            <a:solidFill>
              <a:srgbClr val="007574"/>
            </a:solidFill>
            <a:prstDash val="solid"/>
          </a:ln>
        </p:spPr>
        <p:txBody>
          <a:bodyPr/>
          <a:p/>
        </p:txBody>
      </p:sp>
      <p:sp>
        <p:nvSpPr>
          <p:cNvPr id="81" name="矩形 80"/>
          <p:cNvSpPr>
            <a:spLocks noGrp="1"/>
          </p:cNvSpPr>
          <p:nvPr/>
        </p:nvSpPr>
        <p:spPr>
          <a:xfrm>
            <a:off x="7857173" y="187643"/>
            <a:ext cx="1154430" cy="182880"/>
          </a:xfrm>
          <a:prstGeom prst="rect">
            <a:avLst/>
          </a:prstGeom>
        </p:spPr>
        <p:txBody>
          <a:bodyPr anchor="ctr"/>
          <a:lstStyle/>
          <a:p>
            <a:pPr algn="ctr">
              <a:defRPr sz="660" b="1">
                <a:solidFill>
                  <a:srgbClr val="FFFFFF"/>
                </a:solidFill>
              </a:defRPr>
            </a:pPr>
            <a:r>
              <a:t>查询</a:t>
            </a:r>
          </a:p>
        </p:txBody>
      </p:sp>
      <p:sp>
        <p:nvSpPr>
          <p:cNvPr id="82" name="圆角矩形 81"/>
          <p:cNvSpPr>
            <a:spLocks noGrp="1"/>
          </p:cNvSpPr>
          <p:nvPr/>
        </p:nvSpPr>
        <p:spPr>
          <a:xfrm>
            <a:off x="9057323" y="164783"/>
            <a:ext cx="1154430" cy="264795"/>
          </a:xfrm>
          <a:prstGeom prst="roundRect">
            <a:avLst>
              <a:gd name="adj" fmla="val 28777"/>
            </a:avLst>
          </a:prstGeom>
          <a:solidFill>
            <a:srgbClr val="FFFFFF"/>
          </a:solidFill>
          <a:ln w="12668">
            <a:solidFill>
              <a:srgbClr val="C9DCD7"/>
            </a:solidFill>
            <a:prstDash val="solid"/>
          </a:ln>
        </p:spPr>
        <p:txBody>
          <a:bodyPr/>
          <a:p/>
        </p:txBody>
      </p:sp>
      <p:sp>
        <p:nvSpPr>
          <p:cNvPr id="83" name="矩形 82"/>
          <p:cNvSpPr>
            <a:spLocks noGrp="1"/>
          </p:cNvSpPr>
          <p:nvPr/>
        </p:nvSpPr>
        <p:spPr>
          <a:xfrm>
            <a:off x="9057323" y="187643"/>
            <a:ext cx="1154430" cy="182880"/>
          </a:xfrm>
          <a:prstGeom prst="rect">
            <a:avLst/>
          </a:prstGeom>
        </p:spPr>
        <p:txBody>
          <a:bodyPr anchor="ctr"/>
          <a:lstStyle/>
          <a:p>
            <a:pPr algn="ctr">
              <a:defRPr sz="650" b="0">
                <a:solidFill>
                  <a:srgbClr val="44585C"/>
                </a:solidFill>
              </a:defRPr>
            </a:pPr>
            <a:r>
              <a:t>决策</a:t>
            </a:r>
          </a:p>
        </p:txBody>
      </p:sp>
      <p:sp>
        <p:nvSpPr>
          <p:cNvPr id="84" name="圆角矩形 83"/>
          <p:cNvSpPr>
            <a:spLocks noGrp="1"/>
          </p:cNvSpPr>
          <p:nvPr/>
        </p:nvSpPr>
        <p:spPr>
          <a:xfrm>
            <a:off x="10257473" y="164783"/>
            <a:ext cx="1154430" cy="264795"/>
          </a:xfrm>
          <a:prstGeom prst="roundRect">
            <a:avLst>
              <a:gd name="adj" fmla="val 28777"/>
            </a:avLst>
          </a:prstGeom>
          <a:solidFill>
            <a:srgbClr val="007574"/>
          </a:solidFill>
          <a:ln w="12668">
            <a:solidFill>
              <a:srgbClr val="007574"/>
            </a:solidFill>
            <a:prstDash val="solid"/>
          </a:ln>
        </p:spPr>
        <p:txBody>
          <a:bodyPr/>
          <a:p/>
        </p:txBody>
      </p:sp>
      <p:sp>
        <p:nvSpPr>
          <p:cNvPr id="85" name="矩形 84"/>
          <p:cNvSpPr>
            <a:spLocks noGrp="1"/>
          </p:cNvSpPr>
          <p:nvPr/>
        </p:nvSpPr>
        <p:spPr>
          <a:xfrm>
            <a:off x="10257473" y="187643"/>
            <a:ext cx="1154430" cy="182880"/>
          </a:xfrm>
          <a:prstGeom prst="rect">
            <a:avLst/>
          </a:prstGeom>
        </p:spPr>
        <p:txBody>
          <a:bodyPr anchor="ctr"/>
          <a:lstStyle/>
          <a:p>
            <a:pPr algn="ctr">
              <a:defRPr sz="660" b="1">
                <a:solidFill>
                  <a:srgbClr val="FFFFFF"/>
                </a:solidFill>
              </a:defRPr>
            </a:pPr>
            <a:r>
              <a:t>执行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>
            <a:spLocks noGrp="1"/>
          </p:cNvSpPr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" name="Rectangle 2"/>
          <p:cNvSpPr>
            <a:spLocks noGrp="1"/>
          </p:cNvSpPr>
          <p:nvPr/>
        </p:nvSpPr>
        <p:spPr>
          <a:xfrm>
            <a:off x="0" y="0"/>
            <a:ext cx="41148" cy="6858000"/>
          </a:xfrm>
          <a:prstGeom prst="rect">
            <a:avLst/>
          </a:prstGeom>
          <a:solidFill>
            <a:srgbClr val="0A8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4" name="Oval 3"/>
          <p:cNvSpPr>
            <a:spLocks noGrp="1"/>
          </p:cNvSpPr>
          <p:nvPr/>
        </p:nvSpPr>
        <p:spPr>
          <a:xfrm>
            <a:off x="658368" y="384048"/>
            <a:ext cx="73152" cy="73152"/>
          </a:xfrm>
          <a:prstGeom prst="ellipse">
            <a:avLst/>
          </a:prstGeom>
          <a:solidFill>
            <a:srgbClr val="0A8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5" name="Rectangle 4"/>
          <p:cNvSpPr>
            <a:spLocks noGrp="1"/>
          </p:cNvSpPr>
          <p:nvPr/>
        </p:nvSpPr>
        <p:spPr>
          <a:xfrm>
            <a:off x="768096" y="420624"/>
            <a:ext cx="411480" cy="16459"/>
          </a:xfrm>
          <a:prstGeom prst="rect">
            <a:avLst/>
          </a:prstGeom>
          <a:solidFill>
            <a:srgbClr val="0A8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6" name="TextBox 5"/>
          <p:cNvSpPr>
            <a:spLocks noGrp="1"/>
          </p:cNvSpPr>
          <p:nvPr/>
        </p:nvSpPr>
        <p:spPr>
          <a:xfrm>
            <a:off x="1225296" y="256032"/>
            <a:ext cx="41148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050" b="1">
                <a:solidFill>
                  <a:srgbClr val="076B50"/>
                </a:solidFill>
                <a:latin typeface="Noto Sans CJK SC"/>
                <a:ea typeface="Noto Sans CJK SC"/>
                <a:cs typeface="Noto Sans CJK SC"/>
              </a:rPr>
              <a:t>CHAPTER 6 · 受控执行</a:t>
            </a:r>
            <a:endParaRPr sz="1050" b="1">
              <a:solidFill>
                <a:srgbClr val="F28B36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" name="TextBox 6"/>
          <p:cNvSpPr>
            <a:spLocks noGrp="1"/>
          </p:cNvSpPr>
          <p:nvPr/>
        </p:nvSpPr>
        <p:spPr>
          <a:xfrm>
            <a:off x="658368" y="694944"/>
            <a:ext cx="10652760" cy="47548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</a:pPr>
            <a:r>
              <a:rPr sz="2720" b="1" i="0">
                <a:solidFill>
                  <a:srgbClr val="14383E"/>
                </a:solidFill>
                <a:latin typeface="Noto Sans CJK SC"/>
                <a:ea typeface="Noto Sans CJK SC"/>
                <a:cs typeface="Noto Sans CJK SC"/>
              </a:rPr>
              <a:t>写操作的三项公共控制</a:t>
            </a:r>
            <a:endParaRPr sz="2720" b="1" i="0">
              <a:solidFill>
                <a:srgbClr val="14383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8" name="TextBox 7"/>
          <p:cNvSpPr>
            <a:spLocks noGrp="1"/>
          </p:cNvSpPr>
          <p:nvPr/>
        </p:nvSpPr>
        <p:spPr>
          <a:xfrm>
            <a:off x="658368" y="1170432"/>
            <a:ext cx="10561320" cy="31089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</a:pPr>
            <a:r>
              <a:rPr sz="1170" b="0" i="0">
                <a:solidFill>
                  <a:srgbClr val="44585C"/>
                </a:solidFill>
                <a:latin typeface="Noto Sans CJK SC"/>
                <a:ea typeface="Noto Sans CJK SC"/>
                <a:cs typeface="Noto Sans CJK SC"/>
              </a:rPr>
              <a:t>客户是否同意、请求是否重复、系统实际做了什么，分别由三套机制回答。</a:t>
            </a:r>
            <a:endParaRPr sz="1170" b="0" i="0">
              <a:solidFill>
                <a:srgbClr val="6B8185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9" name="Rectangle 8"/>
          <p:cNvSpPr>
            <a:spLocks noGrp="1"/>
          </p:cNvSpPr>
          <p:nvPr/>
        </p:nvSpPr>
        <p:spPr>
          <a:xfrm>
            <a:off x="658368" y="6501384"/>
            <a:ext cx="10835640" cy="10972"/>
          </a:xfrm>
          <a:prstGeom prst="rect">
            <a:avLst/>
          </a:prstGeom>
          <a:solidFill>
            <a:srgbClr val="C9DC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0" name="TextBox 9"/>
          <p:cNvSpPr>
            <a:spLocks noGrp="1"/>
          </p:cNvSpPr>
          <p:nvPr/>
        </p:nvSpPr>
        <p:spPr>
          <a:xfrm>
            <a:off x="658368" y="6547104"/>
            <a:ext cx="237744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780" b="1" i="0">
                <a:solidFill>
                  <a:srgbClr val="5C7276"/>
                </a:solidFill>
                <a:latin typeface="Noto Sans CJK SC"/>
                <a:ea typeface="Noto Sans CJK SC"/>
                <a:cs typeface="Noto Sans CJK SC"/>
              </a:rPr>
              <a:t>CUSTOMER SERVICE AI AGENT</a:t>
            </a:r>
            <a:endParaRPr sz="780" b="1" i="0">
              <a:solidFill>
                <a:srgbClr val="98ACA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1" name="TextBox 10"/>
          <p:cNvSpPr>
            <a:spLocks noGrp="1"/>
          </p:cNvSpPr>
          <p:nvPr/>
        </p:nvSpPr>
        <p:spPr>
          <a:xfrm>
            <a:off x="10680192" y="6519672"/>
            <a:ext cx="82296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buNone/>
            </a:pPr>
            <a:r>
              <a:rPr sz="880" b="1">
                <a:solidFill>
                  <a:srgbClr val="076B50"/>
                </a:solidFill>
                <a:latin typeface="Noto Sans CJK SC"/>
                <a:ea typeface="Noto Sans CJK SC"/>
                <a:cs typeface="Noto Sans CJK SC"/>
              </a:rPr>
              <a:t>49</a:t>
            </a:r>
            <a:endParaRPr sz="880" b="1">
              <a:solidFill>
                <a:srgbClr val="F28B36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2" name="Rounded Rectangle 11"/>
          <p:cNvSpPr>
            <a:spLocks noGrp="1"/>
          </p:cNvSpPr>
          <p:nvPr/>
        </p:nvSpPr>
        <p:spPr>
          <a:xfrm>
            <a:off x="749808" y="1700784"/>
            <a:ext cx="1975104" cy="1389888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4" name="Oval 13"/>
          <p:cNvSpPr>
            <a:spLocks noGrp="1"/>
          </p:cNvSpPr>
          <p:nvPr/>
        </p:nvSpPr>
        <p:spPr>
          <a:xfrm>
            <a:off x="914400" y="1938528"/>
            <a:ext cx="329184" cy="329184"/>
          </a:xfrm>
          <a:prstGeom prst="ellipse">
            <a:avLst/>
          </a:prstGeom>
          <a:solidFill>
            <a:srgbClr val="1F63C4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5" name="TextBox 14"/>
          <p:cNvSpPr>
            <a:spLocks noGrp="1"/>
          </p:cNvSpPr>
          <p:nvPr/>
        </p:nvSpPr>
        <p:spPr>
          <a:xfrm>
            <a:off x="914400" y="1943100"/>
            <a:ext cx="329184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800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1</a:t>
            </a:r>
            <a:endParaRPr sz="800" b="1" i="0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6" name="TextBox 15"/>
          <p:cNvSpPr>
            <a:spLocks noGrp="1"/>
          </p:cNvSpPr>
          <p:nvPr/>
        </p:nvSpPr>
        <p:spPr>
          <a:xfrm>
            <a:off x="1353312" y="1901952"/>
            <a:ext cx="1133856" cy="25603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buNone/>
            </a:pPr>
            <a:r>
              <a:rPr sz="1010" b="1" i="0">
                <a:solidFill>
                  <a:srgbClr val="14383E"/>
                </a:solidFill>
                <a:latin typeface="Noto Sans CJK SC"/>
                <a:ea typeface="Noto Sans CJK SC"/>
                <a:cs typeface="Noto Sans CJK SC"/>
              </a:rPr>
              <a:t>提出动作</a:t>
            </a:r>
            <a:endParaRPr sz="1010" b="1" i="0">
              <a:solidFill>
                <a:srgbClr val="14383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7" name="TextBox 16"/>
          <p:cNvSpPr>
            <a:spLocks noGrp="1"/>
          </p:cNvSpPr>
          <p:nvPr/>
        </p:nvSpPr>
        <p:spPr>
          <a:xfrm>
            <a:off x="914400" y="2377440"/>
            <a:ext cx="1591056" cy="43891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buNone/>
            </a:pPr>
            <a:r>
              <a:rPr sz="720" b="0" i="0">
                <a:solidFill>
                  <a:srgbClr val="44585C"/>
                </a:solidFill>
                <a:latin typeface="Noto Sans CJK SC"/>
                <a:ea typeface="Noto Sans CJK SC"/>
                <a:cs typeface="Noto Sans CJK SC"/>
              </a:rPr>
              <a:t>系统说明将修改什么</a:t>
            </a:r>
            <a:endParaRPr sz="720" b="0" i="0">
              <a:solidFill>
                <a:srgbClr val="6B8185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8" name="Right Arrow 17"/>
          <p:cNvSpPr>
            <a:spLocks noGrp="1"/>
          </p:cNvSpPr>
          <p:nvPr/>
        </p:nvSpPr>
        <p:spPr>
          <a:xfrm>
            <a:off x="2743200" y="2157984"/>
            <a:ext cx="164592" cy="292608"/>
          </a:xfrm>
          <a:prstGeom prst="rightArrow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9" name="Rounded Rectangle 18"/>
          <p:cNvSpPr>
            <a:spLocks noGrp="1"/>
          </p:cNvSpPr>
          <p:nvPr/>
        </p:nvSpPr>
        <p:spPr>
          <a:xfrm>
            <a:off x="2962656" y="1700784"/>
            <a:ext cx="1975104" cy="1389888"/>
          </a:xfrm>
          <a:prstGeom prst="roundRect">
            <a:avLst/>
          </a:prstGeom>
          <a:solidFill>
            <a:srgbClr val="FFF0E4"/>
          </a:solidFill>
          <a:ln w="12700">
            <a:solidFill>
              <a:srgbClr val="F28B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1" name="Oval 20"/>
          <p:cNvSpPr>
            <a:spLocks noGrp="1"/>
          </p:cNvSpPr>
          <p:nvPr/>
        </p:nvSpPr>
        <p:spPr>
          <a:xfrm>
            <a:off x="3127248" y="1938528"/>
            <a:ext cx="329184" cy="329184"/>
          </a:xfrm>
          <a:prstGeom prst="ellipse">
            <a:avLst/>
          </a:prstGeom>
          <a:solidFill>
            <a:srgbClr val="BC6414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2" name="TextBox 21"/>
          <p:cNvSpPr>
            <a:spLocks noGrp="1"/>
          </p:cNvSpPr>
          <p:nvPr/>
        </p:nvSpPr>
        <p:spPr>
          <a:xfrm>
            <a:off x="3127248" y="1943100"/>
            <a:ext cx="329184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800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2</a:t>
            </a:r>
            <a:endParaRPr sz="800" b="1" i="0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3" name="TextBox 22"/>
          <p:cNvSpPr>
            <a:spLocks noGrp="1"/>
          </p:cNvSpPr>
          <p:nvPr/>
        </p:nvSpPr>
        <p:spPr>
          <a:xfrm>
            <a:off x="3566160" y="1901952"/>
            <a:ext cx="1133856" cy="25603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buNone/>
            </a:pPr>
            <a:r>
              <a:rPr sz="1010" b="1" i="0">
                <a:solidFill>
                  <a:srgbClr val="14383E"/>
                </a:solidFill>
                <a:latin typeface="Noto Sans CJK SC"/>
                <a:ea typeface="Noto Sans CJK SC"/>
                <a:cs typeface="Noto Sans CJK SC"/>
              </a:rPr>
              <a:t>客户确认</a:t>
            </a:r>
            <a:endParaRPr sz="1010" b="1" i="0">
              <a:solidFill>
                <a:srgbClr val="14383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4" name="TextBox 23"/>
          <p:cNvSpPr>
            <a:spLocks noGrp="1"/>
          </p:cNvSpPr>
          <p:nvPr/>
        </p:nvSpPr>
        <p:spPr>
          <a:xfrm>
            <a:off x="3127248" y="2377440"/>
            <a:ext cx="1591056" cy="43891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buNone/>
            </a:pPr>
            <a:r>
              <a:rPr sz="720" b="0" i="0">
                <a:solidFill>
                  <a:srgbClr val="44585C"/>
                </a:solidFill>
                <a:latin typeface="Noto Sans CJK SC"/>
                <a:ea typeface="Noto Sans CJK SC"/>
                <a:cs typeface="Noto Sans CJK SC"/>
              </a:rPr>
              <a:t>确认对象、范围与关键字段</a:t>
            </a:r>
            <a:endParaRPr sz="720" b="0" i="0">
              <a:solidFill>
                <a:srgbClr val="6B8185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5" name="Right Arrow 24"/>
          <p:cNvSpPr>
            <a:spLocks noGrp="1"/>
          </p:cNvSpPr>
          <p:nvPr/>
        </p:nvSpPr>
        <p:spPr>
          <a:xfrm>
            <a:off x="4956048" y="2157984"/>
            <a:ext cx="164592" cy="292608"/>
          </a:xfrm>
          <a:prstGeom prst="rightArrow">
            <a:avLst/>
          </a:prstGeom>
          <a:solidFill>
            <a:srgbClr val="F28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6" name="Rounded Rectangle 25"/>
          <p:cNvSpPr>
            <a:spLocks noGrp="1"/>
          </p:cNvSpPr>
          <p:nvPr/>
        </p:nvSpPr>
        <p:spPr>
          <a:xfrm>
            <a:off x="5175504" y="1700784"/>
            <a:ext cx="1975104" cy="1389888"/>
          </a:xfrm>
          <a:prstGeom prst="roundRect">
            <a:avLst/>
          </a:prstGeom>
          <a:solidFill>
            <a:srgbClr val="E6F7F6"/>
          </a:solidFill>
          <a:ln w="12700">
            <a:solidFill>
              <a:srgbClr val="00A7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8" name="Oval 27"/>
          <p:cNvSpPr>
            <a:spLocks noGrp="1"/>
          </p:cNvSpPr>
          <p:nvPr/>
        </p:nvSpPr>
        <p:spPr>
          <a:xfrm>
            <a:off x="5340096" y="1938528"/>
            <a:ext cx="329184" cy="329184"/>
          </a:xfrm>
          <a:prstGeom prst="ellipse">
            <a:avLst/>
          </a:prstGeom>
          <a:solidFill>
            <a:srgbClr val="007574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9" name="TextBox 28"/>
          <p:cNvSpPr>
            <a:spLocks noGrp="1"/>
          </p:cNvSpPr>
          <p:nvPr/>
        </p:nvSpPr>
        <p:spPr>
          <a:xfrm>
            <a:off x="5340096" y="1943100"/>
            <a:ext cx="329184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800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3</a:t>
            </a:r>
            <a:endParaRPr sz="800" b="1" i="0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0" name="TextBox 29"/>
          <p:cNvSpPr>
            <a:spLocks noGrp="1"/>
          </p:cNvSpPr>
          <p:nvPr/>
        </p:nvSpPr>
        <p:spPr>
          <a:xfrm>
            <a:off x="5779008" y="1901952"/>
            <a:ext cx="1133856" cy="25603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buNone/>
            </a:pPr>
            <a:r>
              <a:rPr sz="1010" b="1" i="0">
                <a:solidFill>
                  <a:srgbClr val="14383E"/>
                </a:solidFill>
                <a:latin typeface="Noto Sans CJK SC"/>
                <a:ea typeface="Noto Sans CJK SC"/>
                <a:cs typeface="Noto Sans CJK SC"/>
              </a:rPr>
              <a:t>状态复核</a:t>
            </a:r>
            <a:endParaRPr sz="1010" b="1" i="0">
              <a:solidFill>
                <a:srgbClr val="14383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1" name="TextBox 30"/>
          <p:cNvSpPr>
            <a:spLocks noGrp="1"/>
          </p:cNvSpPr>
          <p:nvPr/>
        </p:nvSpPr>
        <p:spPr>
          <a:xfrm>
            <a:off x="5340096" y="2377440"/>
            <a:ext cx="1591056" cy="43891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buNone/>
            </a:pPr>
            <a:r>
              <a:rPr sz="720" b="0" i="0">
                <a:solidFill>
                  <a:srgbClr val="44585C"/>
                </a:solidFill>
                <a:latin typeface="Noto Sans CJK SC"/>
                <a:ea typeface="Noto Sans CJK SC"/>
                <a:cs typeface="Noto Sans CJK SC"/>
              </a:rPr>
              <a:t>再次查询订单与履约状态</a:t>
            </a:r>
            <a:endParaRPr sz="720" b="0" i="0">
              <a:solidFill>
                <a:srgbClr val="6B8185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2" name="Right Arrow 31"/>
          <p:cNvSpPr>
            <a:spLocks noGrp="1"/>
          </p:cNvSpPr>
          <p:nvPr/>
        </p:nvSpPr>
        <p:spPr>
          <a:xfrm>
            <a:off x="7168896" y="2157984"/>
            <a:ext cx="164592" cy="292608"/>
          </a:xfrm>
          <a:prstGeom prst="rightArrow">
            <a:avLst/>
          </a:prstGeom>
          <a:solidFill>
            <a:srgbClr val="00A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3" name="Rounded Rectangle 32"/>
          <p:cNvSpPr>
            <a:spLocks noGrp="1"/>
          </p:cNvSpPr>
          <p:nvPr/>
        </p:nvSpPr>
        <p:spPr>
          <a:xfrm>
            <a:off x="7388352" y="1700784"/>
            <a:ext cx="1975104" cy="1389888"/>
          </a:xfrm>
          <a:prstGeom prst="roundRect">
            <a:avLst/>
          </a:prstGeom>
          <a:solidFill>
            <a:srgbClr val="FDECE9"/>
          </a:solidFill>
          <a:ln w="12700">
            <a:solidFill>
              <a:srgbClr val="E257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5" name="Oval 34"/>
          <p:cNvSpPr>
            <a:spLocks noGrp="1"/>
          </p:cNvSpPr>
          <p:nvPr/>
        </p:nvSpPr>
        <p:spPr>
          <a:xfrm>
            <a:off x="7552944" y="1938528"/>
            <a:ext cx="329184" cy="329184"/>
          </a:xfrm>
          <a:prstGeom prst="ellipse">
            <a:avLst/>
          </a:prstGeom>
          <a:solidFill>
            <a:srgbClr val="C23B3B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6" name="TextBox 35"/>
          <p:cNvSpPr>
            <a:spLocks noGrp="1"/>
          </p:cNvSpPr>
          <p:nvPr/>
        </p:nvSpPr>
        <p:spPr>
          <a:xfrm>
            <a:off x="7552944" y="1943100"/>
            <a:ext cx="329184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800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4</a:t>
            </a:r>
            <a:endParaRPr sz="800" b="1" i="0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7" name="TextBox 36"/>
          <p:cNvSpPr>
            <a:spLocks noGrp="1"/>
          </p:cNvSpPr>
          <p:nvPr/>
        </p:nvSpPr>
        <p:spPr>
          <a:xfrm>
            <a:off x="7991856" y="1901952"/>
            <a:ext cx="1133856" cy="25603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buNone/>
            </a:pPr>
            <a:r>
              <a:rPr sz="1010" b="1" i="0">
                <a:solidFill>
                  <a:srgbClr val="14383E"/>
                </a:solidFill>
                <a:latin typeface="Noto Sans CJK SC"/>
                <a:ea typeface="Noto Sans CJK SC"/>
                <a:cs typeface="Noto Sans CJK SC"/>
              </a:rPr>
              <a:t>幂等写入</a:t>
            </a:r>
            <a:endParaRPr sz="1010" b="1" i="0">
              <a:solidFill>
                <a:srgbClr val="14383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8" name="TextBox 37"/>
          <p:cNvSpPr>
            <a:spLocks noGrp="1"/>
          </p:cNvSpPr>
          <p:nvPr/>
        </p:nvSpPr>
        <p:spPr>
          <a:xfrm>
            <a:off x="7552944" y="2377440"/>
            <a:ext cx="1591056" cy="43891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buNone/>
            </a:pPr>
            <a:r>
              <a:rPr sz="720" b="0" i="0">
                <a:solidFill>
                  <a:srgbClr val="44585C"/>
                </a:solidFill>
                <a:latin typeface="Noto Sans CJK SC"/>
                <a:ea typeface="Noto Sans CJK SC"/>
                <a:cs typeface="Noto Sans CJK SC"/>
              </a:rPr>
              <a:t>以业务键执行一次写操作</a:t>
            </a:r>
            <a:endParaRPr sz="720" b="0" i="0">
              <a:solidFill>
                <a:srgbClr val="6B8185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9" name="Right Arrow 38"/>
          <p:cNvSpPr>
            <a:spLocks noGrp="1"/>
          </p:cNvSpPr>
          <p:nvPr/>
        </p:nvSpPr>
        <p:spPr>
          <a:xfrm>
            <a:off x="9381744" y="2157984"/>
            <a:ext cx="164592" cy="292608"/>
          </a:xfrm>
          <a:prstGeom prst="rightArrow">
            <a:avLst/>
          </a:prstGeom>
          <a:solidFill>
            <a:srgbClr val="E257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40" name="Rounded Rectangle 39"/>
          <p:cNvSpPr>
            <a:spLocks noGrp="1"/>
          </p:cNvSpPr>
          <p:nvPr/>
        </p:nvSpPr>
        <p:spPr>
          <a:xfrm>
            <a:off x="9601200" y="1700784"/>
            <a:ext cx="1975104" cy="1389888"/>
          </a:xfrm>
          <a:prstGeom prst="roundRect">
            <a:avLst/>
          </a:prstGeom>
          <a:solidFill>
            <a:srgbClr val="EFEEFF"/>
          </a:solidFill>
          <a:ln w="12700">
            <a:solidFill>
              <a:srgbClr val="6B6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42" name="Oval 41"/>
          <p:cNvSpPr>
            <a:spLocks noGrp="1"/>
          </p:cNvSpPr>
          <p:nvPr/>
        </p:nvSpPr>
        <p:spPr>
          <a:xfrm>
            <a:off x="9765792" y="1938528"/>
            <a:ext cx="329184" cy="329184"/>
          </a:xfrm>
          <a:prstGeom prst="ellipse">
            <a:avLst/>
          </a:prstGeom>
          <a:solidFill>
            <a:srgbClr val="5356BE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43" name="TextBox 42"/>
          <p:cNvSpPr>
            <a:spLocks noGrp="1"/>
          </p:cNvSpPr>
          <p:nvPr/>
        </p:nvSpPr>
        <p:spPr>
          <a:xfrm>
            <a:off x="9765792" y="1943100"/>
            <a:ext cx="329184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800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5</a:t>
            </a:r>
            <a:endParaRPr sz="800" b="1" i="0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4" name="TextBox 43"/>
          <p:cNvSpPr>
            <a:spLocks noGrp="1"/>
          </p:cNvSpPr>
          <p:nvPr/>
        </p:nvSpPr>
        <p:spPr>
          <a:xfrm>
            <a:off x="10204704" y="1901952"/>
            <a:ext cx="1133856" cy="25603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buNone/>
            </a:pPr>
            <a:r>
              <a:rPr sz="1010" b="1" i="0">
                <a:solidFill>
                  <a:srgbClr val="14383E"/>
                </a:solidFill>
                <a:latin typeface="Noto Sans CJK SC"/>
                <a:ea typeface="Noto Sans CJK SC"/>
                <a:cs typeface="Noto Sans CJK SC"/>
              </a:rPr>
              <a:t>回写审计</a:t>
            </a:r>
            <a:endParaRPr sz="1010" b="1" i="0">
              <a:solidFill>
                <a:srgbClr val="14383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5" name="TextBox 44"/>
          <p:cNvSpPr>
            <a:spLocks noGrp="1"/>
          </p:cNvSpPr>
          <p:nvPr/>
        </p:nvSpPr>
        <p:spPr>
          <a:xfrm>
            <a:off x="9765792" y="2377440"/>
            <a:ext cx="1591056" cy="43891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buNone/>
            </a:pPr>
            <a:r>
              <a:rPr sz="720" b="0" i="0">
                <a:solidFill>
                  <a:srgbClr val="44585C"/>
                </a:solidFill>
                <a:latin typeface="Noto Sans CJK SC"/>
                <a:ea typeface="Noto Sans CJK SC"/>
                <a:cs typeface="Noto Sans CJK SC"/>
              </a:rPr>
              <a:t>记录结果、原因和责任</a:t>
            </a:r>
            <a:endParaRPr sz="720" b="0" i="0">
              <a:solidFill>
                <a:srgbClr val="6B8185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6" name="Rounded Rectangle 45"/>
          <p:cNvSpPr>
            <a:spLocks noGrp="1"/>
          </p:cNvSpPr>
          <p:nvPr/>
        </p:nvSpPr>
        <p:spPr>
          <a:xfrm>
            <a:off x="749808" y="3657600"/>
            <a:ext cx="4425696" cy="4937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8B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47" name="Rounded Rectangle 46"/>
          <p:cNvSpPr>
            <a:spLocks noGrp="1"/>
          </p:cNvSpPr>
          <p:nvPr/>
        </p:nvSpPr>
        <p:spPr>
          <a:xfrm>
            <a:off x="896112" y="3776472"/>
            <a:ext cx="804672" cy="256032"/>
          </a:xfrm>
          <a:prstGeom prst="roundRect">
            <a:avLst/>
          </a:prstGeom>
          <a:solidFill>
            <a:srgbClr val="BC6414"/>
          </a:solidFill>
          <a:ln w="10160">
            <a:solidFill>
              <a:srgbClr val="BC6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48" name="TextBox 47"/>
          <p:cNvSpPr>
            <a:spLocks noGrp="1"/>
          </p:cNvSpPr>
          <p:nvPr/>
        </p:nvSpPr>
        <p:spPr>
          <a:xfrm>
            <a:off x="914400" y="3785615"/>
            <a:ext cx="768096" cy="23774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</a:pPr>
            <a:r>
              <a:rPr sz="710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客户确认</a:t>
            </a:r>
            <a:endParaRPr sz="710" b="1" i="0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9" name="TextBox 48"/>
          <p:cNvSpPr>
            <a:spLocks noGrp="1"/>
          </p:cNvSpPr>
          <p:nvPr/>
        </p:nvSpPr>
        <p:spPr>
          <a:xfrm>
            <a:off x="1865376" y="3758184"/>
            <a:ext cx="3145536" cy="25603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</a:pPr>
            <a:r>
              <a:rPr sz="750" b="0" i="0">
                <a:solidFill>
                  <a:srgbClr val="14383E"/>
                </a:solidFill>
                <a:latin typeface="Noto Sans CJK SC"/>
                <a:ea typeface="Noto Sans CJK SC"/>
                <a:cs typeface="Noto Sans CJK SC"/>
              </a:rPr>
              <a:t>确认内容必须与最终写入参数一致</a:t>
            </a:r>
            <a:endParaRPr sz="750" b="0" i="0">
              <a:solidFill>
                <a:srgbClr val="14383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0" name="Rounded Rectangle 49"/>
          <p:cNvSpPr>
            <a:spLocks noGrp="1"/>
          </p:cNvSpPr>
          <p:nvPr/>
        </p:nvSpPr>
        <p:spPr>
          <a:xfrm>
            <a:off x="2962656" y="4343400"/>
            <a:ext cx="4425696" cy="4937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A7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51" name="Rounded Rectangle 50"/>
          <p:cNvSpPr>
            <a:spLocks noGrp="1"/>
          </p:cNvSpPr>
          <p:nvPr/>
        </p:nvSpPr>
        <p:spPr>
          <a:xfrm>
            <a:off x="3108960" y="4462272"/>
            <a:ext cx="804672" cy="256032"/>
          </a:xfrm>
          <a:prstGeom prst="roundRect">
            <a:avLst/>
          </a:prstGeom>
          <a:solidFill>
            <a:srgbClr val="007574"/>
          </a:solidFill>
          <a:ln w="10160">
            <a:solidFill>
              <a:srgbClr val="0075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52" name="TextBox 51"/>
          <p:cNvSpPr>
            <a:spLocks noGrp="1"/>
          </p:cNvSpPr>
          <p:nvPr/>
        </p:nvSpPr>
        <p:spPr>
          <a:xfrm>
            <a:off x="3127248" y="4471416"/>
            <a:ext cx="768096" cy="23774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</a:pPr>
            <a:r>
              <a:rPr sz="710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幂等控制</a:t>
            </a:r>
            <a:endParaRPr sz="710" b="1" i="0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3" name="TextBox 52"/>
          <p:cNvSpPr>
            <a:spLocks noGrp="1"/>
          </p:cNvSpPr>
          <p:nvPr/>
        </p:nvSpPr>
        <p:spPr>
          <a:xfrm>
            <a:off x="4078224" y="4443984"/>
            <a:ext cx="3145536" cy="25603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</a:pPr>
            <a:r>
              <a:rPr sz="750" b="0" i="0">
                <a:solidFill>
                  <a:srgbClr val="14383E"/>
                </a:solidFill>
                <a:latin typeface="Noto Sans CJK SC"/>
                <a:ea typeface="Noto Sans CJK SC"/>
                <a:cs typeface="Noto Sans CJK SC"/>
              </a:rPr>
              <a:t>相同业务键重复请求只返回既有结果</a:t>
            </a:r>
            <a:endParaRPr sz="750" b="0" i="0">
              <a:solidFill>
                <a:srgbClr val="14383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4" name="Rounded Rectangle 53"/>
          <p:cNvSpPr>
            <a:spLocks noGrp="1"/>
          </p:cNvSpPr>
          <p:nvPr/>
        </p:nvSpPr>
        <p:spPr>
          <a:xfrm>
            <a:off x="749808" y="5029200"/>
            <a:ext cx="10405872" cy="4937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B6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55" name="Rounded Rectangle 54"/>
          <p:cNvSpPr>
            <a:spLocks noGrp="1"/>
          </p:cNvSpPr>
          <p:nvPr/>
        </p:nvSpPr>
        <p:spPr>
          <a:xfrm>
            <a:off x="896112" y="5148072"/>
            <a:ext cx="804672" cy="256032"/>
          </a:xfrm>
          <a:prstGeom prst="roundRect">
            <a:avLst/>
          </a:prstGeom>
          <a:solidFill>
            <a:srgbClr val="5356BE"/>
          </a:solidFill>
          <a:ln w="10160">
            <a:solidFill>
              <a:srgbClr val="535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56" name="TextBox 55"/>
          <p:cNvSpPr>
            <a:spLocks noGrp="1"/>
          </p:cNvSpPr>
          <p:nvPr/>
        </p:nvSpPr>
        <p:spPr>
          <a:xfrm>
            <a:off x="914400" y="5157216"/>
            <a:ext cx="768096" cy="23774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</a:pPr>
            <a:r>
              <a:rPr sz="710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审计记录</a:t>
            </a:r>
            <a:endParaRPr sz="710" b="1" i="0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7" name="TextBox 56"/>
          <p:cNvSpPr>
            <a:spLocks noGrp="1"/>
          </p:cNvSpPr>
          <p:nvPr/>
        </p:nvSpPr>
        <p:spPr>
          <a:xfrm>
            <a:off x="1865376" y="5129784"/>
            <a:ext cx="9125712" cy="25603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</a:pPr>
            <a:r>
              <a:rPr sz="750" b="0" i="0">
                <a:solidFill>
                  <a:srgbClr val="14383E"/>
                </a:solidFill>
                <a:latin typeface="Noto Sans CJK SC"/>
                <a:ea typeface="Noto Sans CJK SC"/>
                <a:cs typeface="Noto Sans CJK SC"/>
              </a:rPr>
              <a:t>输入、确认、校验、调用、结果和人工责任全部留痕</a:t>
            </a:r>
            <a:endParaRPr sz="750" b="0" i="0">
              <a:solidFill>
                <a:srgbClr val="14383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8" name="Rounded Rectangle 57"/>
          <p:cNvSpPr>
            <a:spLocks noGrp="1"/>
          </p:cNvSpPr>
          <p:nvPr/>
        </p:nvSpPr>
        <p:spPr>
          <a:xfrm>
            <a:off x="7571231" y="3657600"/>
            <a:ext cx="3584448" cy="1179576"/>
          </a:xfrm>
          <a:prstGeom prst="roundRect">
            <a:avLst/>
          </a:prstGeom>
          <a:solidFill>
            <a:srgbClr val="FDECE9"/>
          </a:solidFill>
          <a:ln w="11430">
            <a:solidFill>
              <a:srgbClr val="E257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59" name="TextBox 58"/>
          <p:cNvSpPr>
            <a:spLocks noGrp="1"/>
          </p:cNvSpPr>
          <p:nvPr/>
        </p:nvSpPr>
        <p:spPr>
          <a:xfrm>
            <a:off x="7818120" y="3849624"/>
            <a:ext cx="3072384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1000" b="1" i="0">
                <a:solidFill>
                  <a:srgbClr val="B8362C"/>
                </a:solidFill>
                <a:latin typeface="Noto Sans CJK SC"/>
                <a:ea typeface="Noto Sans CJK SC"/>
                <a:cs typeface="Noto Sans CJK SC"/>
              </a:rPr>
              <a:t>任一条件不满足，写操作不发生</a:t>
            </a:r>
            <a:endParaRPr sz="1000" b="1" i="0">
              <a:solidFill>
                <a:srgbClr val="E2574C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0" name="TextBox 59"/>
          <p:cNvSpPr>
            <a:spLocks noGrp="1"/>
          </p:cNvSpPr>
          <p:nvPr/>
        </p:nvSpPr>
        <p:spPr>
          <a:xfrm>
            <a:off x="7818120" y="4224528"/>
            <a:ext cx="3072384" cy="36576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</a:pPr>
            <a:r>
              <a:rPr sz="720" b="0" i="0">
                <a:solidFill>
                  <a:srgbClr val="14383E"/>
                </a:solidFill>
                <a:latin typeface="Noto Sans CJK SC"/>
                <a:ea typeface="Noto Sans CJK SC"/>
                <a:cs typeface="Noto Sans CJK SC"/>
              </a:rPr>
              <a:t>客户未确认　·　订单状态变化　·　幂等键冲突
权限不足　·　业务系统返回不可执行</a:t>
            </a:r>
            <a:endParaRPr sz="720" b="0" i="0">
              <a:solidFill>
                <a:srgbClr val="14383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1" name="Rectangle 60"/>
          <p:cNvSpPr>
            <a:spLocks noGrp="1"/>
          </p:cNvSpPr>
          <p:nvPr/>
        </p:nvSpPr>
        <p:spPr>
          <a:xfrm>
            <a:off x="0" y="0"/>
            <a:ext cx="41148" cy="6858000"/>
          </a:xfrm>
          <a:prstGeom prst="rect">
            <a:avLst/>
          </a:prstGeom>
          <a:solidFill>
            <a:srgbClr val="0A8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62" name="圆角矩形 61"/>
          <p:cNvSpPr>
            <a:spLocks noGrp="1"/>
          </p:cNvSpPr>
          <p:nvPr/>
        </p:nvSpPr>
        <p:spPr>
          <a:xfrm>
            <a:off x="6565583" y="127635"/>
            <a:ext cx="4937760" cy="365760"/>
          </a:xfrm>
          <a:prstGeom prst="roundRect">
            <a:avLst>
              <a:gd name="adj" fmla="val 20833"/>
            </a:avLst>
          </a:prstGeom>
          <a:solidFill>
            <a:srgbClr val="F7FBF9"/>
          </a:solidFill>
          <a:ln w="12668">
            <a:solidFill>
              <a:srgbClr val="F7FBF9"/>
            </a:solidFill>
            <a:prstDash val="solid"/>
          </a:ln>
        </p:spPr>
        <p:txBody>
          <a:bodyPr/>
          <a:p/>
        </p:txBody>
      </p:sp>
      <p:sp>
        <p:nvSpPr>
          <p:cNvPr id="63" name="圆角矩形 62"/>
          <p:cNvSpPr>
            <a:spLocks noGrp="1"/>
          </p:cNvSpPr>
          <p:nvPr/>
        </p:nvSpPr>
        <p:spPr>
          <a:xfrm>
            <a:off x="6657023" y="164783"/>
            <a:ext cx="1154430" cy="264795"/>
          </a:xfrm>
          <a:prstGeom prst="roundRect">
            <a:avLst>
              <a:gd name="adj" fmla="val 28777"/>
            </a:avLst>
          </a:prstGeom>
          <a:solidFill>
            <a:srgbClr val="FFFFFF"/>
          </a:solidFill>
          <a:ln w="12668">
            <a:solidFill>
              <a:srgbClr val="C9DCD7"/>
            </a:solidFill>
            <a:prstDash val="solid"/>
          </a:ln>
        </p:spPr>
        <p:txBody>
          <a:bodyPr/>
          <a:p/>
        </p:txBody>
      </p:sp>
      <p:sp>
        <p:nvSpPr>
          <p:cNvPr id="64" name="矩形 63"/>
          <p:cNvSpPr>
            <a:spLocks noGrp="1"/>
          </p:cNvSpPr>
          <p:nvPr/>
        </p:nvSpPr>
        <p:spPr>
          <a:xfrm>
            <a:off x="6657023" y="187643"/>
            <a:ext cx="1154430" cy="182880"/>
          </a:xfrm>
          <a:prstGeom prst="rect">
            <a:avLst/>
          </a:prstGeom>
        </p:spPr>
        <p:txBody>
          <a:bodyPr anchor="ctr"/>
          <a:lstStyle/>
          <a:p>
            <a:pPr algn="ctr">
              <a:defRPr sz="650" b="0">
                <a:solidFill>
                  <a:srgbClr val="44585C"/>
                </a:solidFill>
              </a:defRPr>
            </a:pPr>
            <a:r>
              <a:t>理解</a:t>
            </a:r>
          </a:p>
        </p:txBody>
      </p:sp>
      <p:sp>
        <p:nvSpPr>
          <p:cNvPr id="65" name="圆角矩形 64"/>
          <p:cNvSpPr>
            <a:spLocks noGrp="1"/>
          </p:cNvSpPr>
          <p:nvPr/>
        </p:nvSpPr>
        <p:spPr>
          <a:xfrm>
            <a:off x="7857173" y="164783"/>
            <a:ext cx="1154430" cy="264795"/>
          </a:xfrm>
          <a:prstGeom prst="roundRect">
            <a:avLst>
              <a:gd name="adj" fmla="val 28777"/>
            </a:avLst>
          </a:prstGeom>
          <a:solidFill>
            <a:srgbClr val="007574"/>
          </a:solidFill>
          <a:ln w="12668">
            <a:solidFill>
              <a:srgbClr val="007574"/>
            </a:solidFill>
            <a:prstDash val="solid"/>
          </a:ln>
        </p:spPr>
        <p:txBody>
          <a:bodyPr/>
          <a:p/>
        </p:txBody>
      </p:sp>
      <p:sp>
        <p:nvSpPr>
          <p:cNvPr id="66" name="矩形 65"/>
          <p:cNvSpPr>
            <a:spLocks noGrp="1"/>
          </p:cNvSpPr>
          <p:nvPr/>
        </p:nvSpPr>
        <p:spPr>
          <a:xfrm>
            <a:off x="7857173" y="187643"/>
            <a:ext cx="1154430" cy="182880"/>
          </a:xfrm>
          <a:prstGeom prst="rect">
            <a:avLst/>
          </a:prstGeom>
        </p:spPr>
        <p:txBody>
          <a:bodyPr anchor="ctr"/>
          <a:lstStyle/>
          <a:p>
            <a:pPr algn="ctr">
              <a:defRPr sz="660" b="1">
                <a:solidFill>
                  <a:srgbClr val="FFFFFF"/>
                </a:solidFill>
              </a:defRPr>
            </a:pPr>
            <a:r>
              <a:t>查询</a:t>
            </a:r>
          </a:p>
        </p:txBody>
      </p:sp>
      <p:sp>
        <p:nvSpPr>
          <p:cNvPr id="67" name="圆角矩形 66"/>
          <p:cNvSpPr>
            <a:spLocks noGrp="1"/>
          </p:cNvSpPr>
          <p:nvPr/>
        </p:nvSpPr>
        <p:spPr>
          <a:xfrm>
            <a:off x="9057323" y="164783"/>
            <a:ext cx="1154430" cy="264795"/>
          </a:xfrm>
          <a:prstGeom prst="roundRect">
            <a:avLst>
              <a:gd name="adj" fmla="val 28777"/>
            </a:avLst>
          </a:prstGeom>
          <a:solidFill>
            <a:srgbClr val="FFFFFF"/>
          </a:solidFill>
          <a:ln w="12668">
            <a:solidFill>
              <a:srgbClr val="C9DCD7"/>
            </a:solidFill>
            <a:prstDash val="solid"/>
          </a:ln>
        </p:spPr>
        <p:txBody>
          <a:bodyPr/>
          <a:p/>
        </p:txBody>
      </p:sp>
      <p:sp>
        <p:nvSpPr>
          <p:cNvPr id="68" name="矩形 67"/>
          <p:cNvSpPr>
            <a:spLocks noGrp="1"/>
          </p:cNvSpPr>
          <p:nvPr/>
        </p:nvSpPr>
        <p:spPr>
          <a:xfrm>
            <a:off x="9057323" y="187643"/>
            <a:ext cx="1154430" cy="182880"/>
          </a:xfrm>
          <a:prstGeom prst="rect">
            <a:avLst/>
          </a:prstGeom>
        </p:spPr>
        <p:txBody>
          <a:bodyPr anchor="ctr"/>
          <a:lstStyle/>
          <a:p>
            <a:pPr algn="ctr">
              <a:defRPr sz="650" b="0">
                <a:solidFill>
                  <a:srgbClr val="44585C"/>
                </a:solidFill>
              </a:defRPr>
            </a:pPr>
            <a:r>
              <a:t>决策</a:t>
            </a:r>
          </a:p>
        </p:txBody>
      </p:sp>
      <p:sp>
        <p:nvSpPr>
          <p:cNvPr id="69" name="圆角矩形 68"/>
          <p:cNvSpPr>
            <a:spLocks noGrp="1"/>
          </p:cNvSpPr>
          <p:nvPr/>
        </p:nvSpPr>
        <p:spPr>
          <a:xfrm>
            <a:off x="10257473" y="164783"/>
            <a:ext cx="1154430" cy="264795"/>
          </a:xfrm>
          <a:prstGeom prst="roundRect">
            <a:avLst>
              <a:gd name="adj" fmla="val 28777"/>
            </a:avLst>
          </a:prstGeom>
          <a:solidFill>
            <a:srgbClr val="007574"/>
          </a:solidFill>
          <a:ln w="12668">
            <a:solidFill>
              <a:srgbClr val="007574"/>
            </a:solidFill>
            <a:prstDash val="solid"/>
          </a:ln>
        </p:spPr>
        <p:txBody>
          <a:bodyPr/>
          <a:p/>
        </p:txBody>
      </p:sp>
      <p:sp>
        <p:nvSpPr>
          <p:cNvPr id="70" name="矩形 69"/>
          <p:cNvSpPr>
            <a:spLocks noGrp="1"/>
          </p:cNvSpPr>
          <p:nvPr/>
        </p:nvSpPr>
        <p:spPr>
          <a:xfrm>
            <a:off x="10257473" y="187643"/>
            <a:ext cx="1154430" cy="182880"/>
          </a:xfrm>
          <a:prstGeom prst="rect">
            <a:avLst/>
          </a:prstGeom>
        </p:spPr>
        <p:txBody>
          <a:bodyPr anchor="ctr"/>
          <a:lstStyle/>
          <a:p>
            <a:pPr algn="ctr">
              <a:defRPr sz="660" b="1">
                <a:solidFill>
                  <a:srgbClr val="FFFFFF"/>
                </a:solidFill>
              </a:defRPr>
            </a:pPr>
            <a:r>
              <a:t>执行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hape 0"/>
          <p:cNvSpPr>
            <a:spLocks noGrp="1"/>
          </p:cNvSpPr>
          <p:nvPr/>
        </p:nvSpPr>
        <p:spPr>
          <a:xfrm>
            <a:off x="0" y="0"/>
            <a:ext cx="41148" cy="6858000"/>
          </a:xfrm>
          <a:prstGeom prst="rect">
            <a:avLst/>
          </a:prstGeom>
          <a:solidFill>
            <a:srgbClr val="0A8F6A"/>
          </a:solidFill>
          <a:ln w="12700">
            <a:solidFill>
              <a:srgbClr val="F28B2D"/>
            </a:solidFill>
            <a:prstDash val="solid"/>
          </a:ln>
        </p:spPr>
        <p:txBody>
          <a:bodyPr/>
          <a:lstStyle/>
          <a:p/>
        </p:txBody>
      </p:sp>
      <p:sp>
        <p:nvSpPr>
          <p:cNvPr id="3" name="Shape 1"/>
          <p:cNvSpPr>
            <a:spLocks noGrp="1"/>
          </p:cNvSpPr>
          <p:nvPr/>
        </p:nvSpPr>
        <p:spPr>
          <a:xfrm>
            <a:off x="658368" y="429768"/>
            <a:ext cx="237744" cy="0"/>
          </a:xfrm>
          <a:prstGeom prst="line">
            <a:avLst/>
          </a:prstGeom>
          <a:noFill/>
          <a:ln w="15875">
            <a:solidFill>
              <a:srgbClr val="0A8F6A"/>
            </a:solidFill>
            <a:prstDash val="solid"/>
          </a:ln>
        </p:spPr>
        <p:txBody>
          <a:bodyPr/>
          <a:lstStyle/>
          <a:p/>
        </p:txBody>
      </p:sp>
      <p:sp>
        <p:nvSpPr>
          <p:cNvPr id="4" name="Text 2"/>
          <p:cNvSpPr>
            <a:spLocks noGrp="1"/>
          </p:cNvSpPr>
          <p:nvPr/>
        </p:nvSpPr>
        <p:spPr>
          <a:xfrm>
            <a:off x="941832" y="292608"/>
            <a:ext cx="3474720" cy="2286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r>
              <a:rPr sz="1050" b="1">
                <a:solidFill>
                  <a:srgbClr val="076B50"/>
                </a:solidFill>
                <a:latin typeface="Noto Sans CJK SC"/>
                <a:ea typeface="Noto Sans CJK SC"/>
                <a:cs typeface="Noto Sans CJK SC"/>
              </a:rPr>
              <a:t>CHAPTER 6 · 受控执行</a:t>
            </a:r>
            <a:endParaRPr sz="1050" b="1">
              <a:solidFill>
                <a:srgbClr val="F28B36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" name="Text 3"/>
          <p:cNvSpPr>
            <a:spLocks noGrp="1"/>
          </p:cNvSpPr>
          <p:nvPr/>
        </p:nvSpPr>
        <p:spPr>
          <a:xfrm>
            <a:off x="640080" y="667512"/>
            <a:ext cx="10698480" cy="43891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buNone/>
            </a:pPr>
            <a:r>
              <a:rPr sz="2550" b="1">
                <a:solidFill>
                  <a:srgbClr val="163B36"/>
                </a:solidFill>
                <a:latin typeface="Noto Sans CJK SC"/>
                <a:ea typeface="Noto Sans CJK SC"/>
                <a:cs typeface="Noto Sans CJK SC"/>
              </a:rPr>
              <a:t>错误恢复路径</a:t>
            </a:r>
            <a:endParaRPr sz="2550"/>
          </a:p>
        </p:txBody>
      </p:sp>
      <p:sp>
        <p:nvSpPr>
          <p:cNvPr id="6" name="Text 4"/>
          <p:cNvSpPr>
            <a:spLocks noGrp="1"/>
          </p:cNvSpPr>
          <p:nvPr/>
        </p:nvSpPr>
        <p:spPr>
          <a:xfrm>
            <a:off x="640080" y="1115568"/>
            <a:ext cx="10424160" cy="30175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r>
              <a:rPr sz="1170">
                <a:solidFill>
                  <a:srgbClr val="44585C"/>
                </a:solidFill>
                <a:latin typeface="Noto Sans CJK SC"/>
                <a:ea typeface="Noto Sans CJK SC"/>
                <a:cs typeface="Noto Sans CJK SC"/>
              </a:rPr>
              <a:t>每类错误都有检测信号、恢复动作和最终状态，不能停在“执行了一半但结果未知”。</a:t>
            </a:r>
            <a:endParaRPr sz="1170">
              <a:solidFill>
                <a:srgbClr val="6B8185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" name="Shape 5"/>
          <p:cNvSpPr>
            <a:spLocks noGrp="1"/>
          </p:cNvSpPr>
          <p:nvPr/>
        </p:nvSpPr>
        <p:spPr>
          <a:xfrm>
            <a:off x="10533888" y="54864"/>
            <a:ext cx="1298448" cy="713232"/>
          </a:xfrm>
          <a:prstGeom prst="ellipse">
            <a:avLst/>
          </a:prstGeom>
          <a:solidFill>
            <a:srgbClr val="F28B2D">
              <a:alpha val="8000"/>
            </a:srgbClr>
          </a:solidFill>
          <a:ln w="12700">
            <a:solidFill>
              <a:srgbClr val="F28B2D">
                <a:alpha val="0"/>
              </a:srgbClr>
            </a:solidFill>
            <a:prstDash val="solid"/>
          </a:ln>
        </p:spPr>
        <p:txBody>
          <a:bodyPr/>
          <a:lstStyle/>
          <a:p/>
        </p:txBody>
      </p:sp>
      <p:sp>
        <p:nvSpPr>
          <p:cNvPr id="8" name="Shape 6"/>
          <p:cNvSpPr>
            <a:spLocks noGrp="1"/>
          </p:cNvSpPr>
          <p:nvPr/>
        </p:nvSpPr>
        <p:spPr>
          <a:xfrm>
            <a:off x="9802368" y="283464"/>
            <a:ext cx="36576" cy="36576"/>
          </a:xfrm>
          <a:prstGeom prst="ellipse">
            <a:avLst/>
          </a:prstGeom>
          <a:solidFill>
            <a:srgbClr val="C6DCD5"/>
          </a:solidFill>
          <a:ln w="12700">
            <a:solidFill>
              <a:srgbClr val="C6DCD5"/>
            </a:solidFill>
            <a:prstDash val="solid"/>
          </a:ln>
        </p:spPr>
        <p:txBody>
          <a:bodyPr/>
          <a:lstStyle/>
          <a:p/>
        </p:txBody>
      </p:sp>
      <p:sp>
        <p:nvSpPr>
          <p:cNvPr id="9" name="Shape 7"/>
          <p:cNvSpPr>
            <a:spLocks noGrp="1"/>
          </p:cNvSpPr>
          <p:nvPr/>
        </p:nvSpPr>
        <p:spPr>
          <a:xfrm>
            <a:off x="9930384" y="283464"/>
            <a:ext cx="36576" cy="36576"/>
          </a:xfrm>
          <a:prstGeom prst="ellipse">
            <a:avLst/>
          </a:prstGeom>
          <a:solidFill>
            <a:srgbClr val="F28B2D"/>
          </a:solidFill>
          <a:ln w="12700">
            <a:solidFill>
              <a:srgbClr val="F28B2D"/>
            </a:solidFill>
            <a:prstDash val="solid"/>
          </a:ln>
        </p:spPr>
        <p:txBody>
          <a:bodyPr/>
          <a:lstStyle/>
          <a:p/>
        </p:txBody>
      </p:sp>
      <p:sp>
        <p:nvSpPr>
          <p:cNvPr id="10" name="Shape 8"/>
          <p:cNvSpPr>
            <a:spLocks noGrp="1"/>
          </p:cNvSpPr>
          <p:nvPr/>
        </p:nvSpPr>
        <p:spPr>
          <a:xfrm>
            <a:off x="10058400" y="283464"/>
            <a:ext cx="36576" cy="36576"/>
          </a:xfrm>
          <a:prstGeom prst="ellipse">
            <a:avLst/>
          </a:prstGeom>
          <a:solidFill>
            <a:srgbClr val="C6DCD5"/>
          </a:solidFill>
          <a:ln w="12700">
            <a:solidFill>
              <a:srgbClr val="C6DCD5"/>
            </a:solidFill>
            <a:prstDash val="solid"/>
          </a:ln>
        </p:spPr>
        <p:txBody>
          <a:bodyPr/>
          <a:lstStyle/>
          <a:p/>
        </p:txBody>
      </p:sp>
      <p:sp>
        <p:nvSpPr>
          <p:cNvPr id="11" name="Shape 9"/>
          <p:cNvSpPr>
            <a:spLocks noGrp="1"/>
          </p:cNvSpPr>
          <p:nvPr/>
        </p:nvSpPr>
        <p:spPr>
          <a:xfrm>
            <a:off x="10186416" y="283464"/>
            <a:ext cx="36576" cy="36576"/>
          </a:xfrm>
          <a:prstGeom prst="ellipse">
            <a:avLst/>
          </a:prstGeom>
          <a:solidFill>
            <a:srgbClr val="C6DCD5"/>
          </a:solidFill>
          <a:ln w="12700">
            <a:solidFill>
              <a:srgbClr val="C6DCD5"/>
            </a:solidFill>
            <a:prstDash val="solid"/>
          </a:ln>
        </p:spPr>
        <p:txBody>
          <a:bodyPr/>
          <a:lstStyle/>
          <a:p/>
        </p:txBody>
      </p:sp>
      <p:sp>
        <p:nvSpPr>
          <p:cNvPr id="12" name="Shape 10"/>
          <p:cNvSpPr>
            <a:spLocks noGrp="1"/>
          </p:cNvSpPr>
          <p:nvPr/>
        </p:nvSpPr>
        <p:spPr>
          <a:xfrm>
            <a:off x="10314432" y="283464"/>
            <a:ext cx="36576" cy="36576"/>
          </a:xfrm>
          <a:prstGeom prst="ellipse">
            <a:avLst/>
          </a:prstGeom>
          <a:solidFill>
            <a:srgbClr val="C6DCD5"/>
          </a:solidFill>
          <a:ln w="12700">
            <a:solidFill>
              <a:srgbClr val="C6DCD5"/>
            </a:solidFill>
            <a:prstDash val="solid"/>
          </a:ln>
        </p:spPr>
        <p:txBody>
          <a:bodyPr/>
          <a:lstStyle/>
          <a:p/>
        </p:txBody>
      </p:sp>
      <p:sp>
        <p:nvSpPr>
          <p:cNvPr id="13" name="Shape 11"/>
          <p:cNvSpPr>
            <a:spLocks noGrp="1"/>
          </p:cNvSpPr>
          <p:nvPr/>
        </p:nvSpPr>
        <p:spPr>
          <a:xfrm>
            <a:off x="10442448" y="283464"/>
            <a:ext cx="36576" cy="36576"/>
          </a:xfrm>
          <a:prstGeom prst="ellipse">
            <a:avLst/>
          </a:prstGeom>
          <a:solidFill>
            <a:srgbClr val="C6DCD5"/>
          </a:solidFill>
          <a:ln w="12700">
            <a:solidFill>
              <a:srgbClr val="C6DCD5"/>
            </a:solidFill>
            <a:prstDash val="solid"/>
          </a:ln>
        </p:spPr>
        <p:txBody>
          <a:bodyPr/>
          <a:lstStyle/>
          <a:p/>
        </p:txBody>
      </p:sp>
      <p:sp>
        <p:nvSpPr>
          <p:cNvPr id="14" name="Shape 12"/>
          <p:cNvSpPr>
            <a:spLocks noGrp="1"/>
          </p:cNvSpPr>
          <p:nvPr/>
        </p:nvSpPr>
        <p:spPr>
          <a:xfrm>
            <a:off x="640080" y="6528816"/>
            <a:ext cx="10927080" cy="0"/>
          </a:xfrm>
          <a:prstGeom prst="line">
            <a:avLst/>
          </a:prstGeom>
          <a:noFill/>
          <a:ln w="10160">
            <a:solidFill>
              <a:srgbClr val="D8E7E2"/>
            </a:solidFill>
            <a:prstDash val="solid"/>
          </a:ln>
        </p:spPr>
        <p:txBody>
          <a:bodyPr/>
          <a:lstStyle/>
          <a:p/>
        </p:txBody>
      </p:sp>
      <p:sp>
        <p:nvSpPr>
          <p:cNvPr id="15" name="Text 13"/>
          <p:cNvSpPr>
            <a:spLocks noGrp="1"/>
          </p:cNvSpPr>
          <p:nvPr/>
        </p:nvSpPr>
        <p:spPr>
          <a:xfrm>
            <a:off x="658368" y="6565392"/>
            <a:ext cx="3108960" cy="16459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buNone/>
            </a:pPr>
            <a:r>
              <a:rPr sz="750">
                <a:solidFill>
                  <a:srgbClr val="55696A"/>
                </a:solidFill>
                <a:latin typeface="Noto Sans CJK SC"/>
                <a:ea typeface="Noto Sans CJK SC"/>
                <a:cs typeface="Noto Sans CJK SC"/>
              </a:rPr>
              <a:t>CUSTOMER SERVICE AI AGENT</a:t>
            </a:r>
            <a:endParaRPr sz="750"/>
          </a:p>
        </p:txBody>
      </p:sp>
      <p:sp>
        <p:nvSpPr>
          <p:cNvPr id="16" name="Text 14"/>
          <p:cNvSpPr>
            <a:spLocks noGrp="1"/>
          </p:cNvSpPr>
          <p:nvPr/>
        </p:nvSpPr>
        <p:spPr>
          <a:xfrm>
            <a:off x="10881360" y="6537960"/>
            <a:ext cx="658368" cy="18288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</a:pPr>
            <a:r>
              <a:rPr sz="880" b="1">
                <a:solidFill>
                  <a:srgbClr val="076B50"/>
                </a:solidFill>
                <a:latin typeface="Noto Sans CJK SC"/>
                <a:ea typeface="Noto Sans CJK SC"/>
                <a:cs typeface="Noto Sans CJK SC"/>
              </a:rPr>
              <a:t>52</a:t>
            </a:r>
            <a:endParaRPr sz="880" b="1">
              <a:solidFill>
                <a:srgbClr val="F28B36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5" name="Rectangle 64"/>
          <p:cNvSpPr>
            <a:spLocks noGrp="1"/>
          </p:cNvSpPr>
          <p:nvPr/>
        </p:nvSpPr>
        <p:spPr>
          <a:xfrm>
            <a:off x="0" y="0"/>
            <a:ext cx="41148" cy="6858000"/>
          </a:xfrm>
          <a:prstGeom prst="rect">
            <a:avLst/>
          </a:prstGeom>
          <a:solidFill>
            <a:srgbClr val="0A8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77" name="Rounded Rectangle 76"/>
          <p:cNvSpPr>
            <a:spLocks noGrp="1"/>
          </p:cNvSpPr>
          <p:nvPr/>
        </p:nvSpPr>
        <p:spPr>
          <a:xfrm>
            <a:off x="713232" y="1591056"/>
            <a:ext cx="10533888" cy="274320"/>
          </a:xfrm>
          <a:prstGeom prst="roundRect">
            <a:avLst>
              <a:gd name="adj" fmla="val 4000"/>
            </a:avLst>
          </a:prstGeom>
          <a:solidFill>
            <a:srgbClr val="F7FBF9"/>
          </a:solidFill>
          <a:ln w="13970">
            <a:solidFill>
              <a:srgbClr val="C9D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78" name="TextBox 77"/>
          <p:cNvSpPr>
            <a:spLocks noGrp="1"/>
          </p:cNvSpPr>
          <p:nvPr/>
        </p:nvSpPr>
        <p:spPr>
          <a:xfrm>
            <a:off x="841248" y="1655064"/>
            <a:ext cx="170078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740" b="1">
                <a:solidFill>
                  <a:srgbClr val="44585C"/>
                </a:solidFill>
                <a:latin typeface="Noto Sans CJK SC"/>
                <a:ea typeface="Noto Sans CJK SC"/>
                <a:cs typeface="Noto Sans CJK SC"/>
              </a:rPr>
              <a:t>失败类型</a:t>
            </a:r>
            <a:endParaRPr sz="740" b="1">
              <a:solidFill>
                <a:srgbClr val="44585C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9" name="TextBox 78"/>
          <p:cNvSpPr>
            <a:spLocks noGrp="1"/>
          </p:cNvSpPr>
          <p:nvPr/>
        </p:nvSpPr>
        <p:spPr>
          <a:xfrm>
            <a:off x="2724912" y="1655064"/>
            <a:ext cx="294436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740" b="1">
                <a:solidFill>
                  <a:srgbClr val="44585C"/>
                </a:solidFill>
                <a:latin typeface="Noto Sans CJK SC"/>
                <a:ea typeface="Noto Sans CJK SC"/>
                <a:cs typeface="Noto Sans CJK SC"/>
              </a:rPr>
              <a:t>检测信号（代码字段）</a:t>
            </a:r>
            <a:endParaRPr sz="740" b="1">
              <a:solidFill>
                <a:srgbClr val="44585C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80" name="TextBox 79"/>
          <p:cNvSpPr>
            <a:spLocks noGrp="1"/>
          </p:cNvSpPr>
          <p:nvPr/>
        </p:nvSpPr>
        <p:spPr>
          <a:xfrm>
            <a:off x="5852159" y="1655064"/>
            <a:ext cx="294436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740" b="1">
                <a:solidFill>
                  <a:srgbClr val="44585C"/>
                </a:solidFill>
                <a:latin typeface="Noto Sans CJK SC"/>
                <a:ea typeface="Noto Sans CJK SC"/>
                <a:cs typeface="Noto Sans CJK SC"/>
              </a:rPr>
              <a:t>恢复动作</a:t>
            </a:r>
            <a:endParaRPr sz="740" b="1">
              <a:solidFill>
                <a:srgbClr val="44585C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81" name="TextBox 80"/>
          <p:cNvSpPr>
            <a:spLocks noGrp="1"/>
          </p:cNvSpPr>
          <p:nvPr/>
        </p:nvSpPr>
        <p:spPr>
          <a:xfrm>
            <a:off x="8979408" y="1655064"/>
            <a:ext cx="221284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740" b="1">
                <a:solidFill>
                  <a:srgbClr val="44585C"/>
                </a:solidFill>
                <a:latin typeface="Noto Sans CJK SC"/>
                <a:ea typeface="Noto Sans CJK SC"/>
                <a:cs typeface="Noto Sans CJK SC"/>
              </a:rPr>
              <a:t>落点状态</a:t>
            </a:r>
            <a:endParaRPr sz="740" b="1">
              <a:solidFill>
                <a:srgbClr val="44585C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82" name="Rounded Rectangle 81"/>
          <p:cNvSpPr>
            <a:spLocks noGrp="1"/>
          </p:cNvSpPr>
          <p:nvPr/>
        </p:nvSpPr>
        <p:spPr>
          <a:xfrm>
            <a:off x="713232" y="1901952"/>
            <a:ext cx="10533888" cy="34747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9D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83" name="Rounded Rectangle 82"/>
          <p:cNvSpPr>
            <a:spLocks noGrp="1"/>
          </p:cNvSpPr>
          <p:nvPr/>
        </p:nvSpPr>
        <p:spPr>
          <a:xfrm>
            <a:off x="713232" y="1901952"/>
            <a:ext cx="54864" cy="347472"/>
          </a:xfrm>
          <a:prstGeom prst="roundRect">
            <a:avLst>
              <a:gd name="adj" fmla="val 4000"/>
            </a:avLst>
          </a:prstGeom>
          <a:solidFill>
            <a:srgbClr val="6B6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84" name="TextBox 83"/>
          <p:cNvSpPr>
            <a:spLocks noGrp="1"/>
          </p:cNvSpPr>
          <p:nvPr/>
        </p:nvSpPr>
        <p:spPr>
          <a:xfrm>
            <a:off x="859536" y="2002536"/>
            <a:ext cx="166420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780" b="1">
                <a:solidFill>
                  <a:srgbClr val="14383E"/>
                </a:solidFill>
                <a:latin typeface="Noto Sans CJK SC"/>
                <a:ea typeface="Noto Sans CJK SC"/>
                <a:cs typeface="Noto Sans CJK SC"/>
              </a:rPr>
              <a:t>模型供应商故障</a:t>
            </a:r>
            <a:endParaRPr sz="780" b="1">
              <a:solidFill>
                <a:srgbClr val="14383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85" name="TextBox 84"/>
          <p:cNvSpPr>
            <a:spLocks noGrp="1"/>
          </p:cNvSpPr>
          <p:nvPr/>
        </p:nvSpPr>
        <p:spPr>
          <a:xfrm>
            <a:off x="2724912" y="2011680"/>
            <a:ext cx="294436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650" b="0">
                <a:solidFill>
                  <a:srgbClr val="44585C"/>
                </a:solidFill>
                <a:latin typeface="Courier New" panose="02070409020205090404"/>
                <a:ea typeface="Courier New" panose="02070409020205090404"/>
                <a:cs typeface="Courier New" panose="02070409020205090404"/>
              </a:rPr>
              <a:t>熔断状态 · 连续失败计数</a:t>
            </a:r>
            <a:endParaRPr sz="650" b="0">
              <a:solidFill>
                <a:srgbClr val="44585C"/>
              </a:solidFill>
              <a:latin typeface="Courier New" panose="02070409020205090404"/>
              <a:ea typeface="Courier New" panose="02070409020205090404"/>
              <a:cs typeface="Courier New" panose="02070409020205090404"/>
            </a:endParaRPr>
          </a:p>
        </p:txBody>
      </p:sp>
      <p:sp>
        <p:nvSpPr>
          <p:cNvPr id="86" name="TextBox 85"/>
          <p:cNvSpPr>
            <a:spLocks noGrp="1"/>
          </p:cNvSpPr>
          <p:nvPr/>
        </p:nvSpPr>
        <p:spPr>
          <a:xfrm>
            <a:off x="5852159" y="2002536"/>
            <a:ext cx="29443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740" b="0">
                <a:solidFill>
                  <a:srgbClr val="14383E"/>
                </a:solidFill>
                <a:latin typeface="Noto Sans CJK SC"/>
                <a:ea typeface="Noto Sans CJK SC"/>
                <a:cs typeface="Noto Sans CJK SC"/>
              </a:rPr>
              <a:t>切换备用通道，本请求粘滞不回跳</a:t>
            </a:r>
            <a:endParaRPr sz="740" b="0">
              <a:solidFill>
                <a:srgbClr val="14383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87" name="TextBox 86"/>
          <p:cNvSpPr>
            <a:spLocks noGrp="1"/>
          </p:cNvSpPr>
          <p:nvPr/>
        </p:nvSpPr>
        <p:spPr>
          <a:xfrm>
            <a:off x="8979408" y="2002536"/>
            <a:ext cx="221284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740" b="1">
                <a:solidFill>
                  <a:srgbClr val="4A4EB0"/>
                </a:solidFill>
                <a:latin typeface="Noto Sans CJK SC"/>
                <a:ea typeface="Noto Sans CJK SC"/>
                <a:cs typeface="Noto Sans CJK SC"/>
              </a:rPr>
              <a:t>降级原因写入审计</a:t>
            </a:r>
            <a:endParaRPr sz="740" b="1">
              <a:solidFill>
                <a:srgbClr val="4A4EB0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88" name="Rounded Rectangle 87"/>
          <p:cNvSpPr>
            <a:spLocks noGrp="1"/>
          </p:cNvSpPr>
          <p:nvPr/>
        </p:nvSpPr>
        <p:spPr>
          <a:xfrm>
            <a:off x="713232" y="2286000"/>
            <a:ext cx="10533888" cy="34747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9D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89" name="Rounded Rectangle 88"/>
          <p:cNvSpPr>
            <a:spLocks noGrp="1"/>
          </p:cNvSpPr>
          <p:nvPr/>
        </p:nvSpPr>
        <p:spPr>
          <a:xfrm>
            <a:off x="713232" y="2286000"/>
            <a:ext cx="54864" cy="347472"/>
          </a:xfrm>
          <a:prstGeom prst="roundRect">
            <a:avLst>
              <a:gd name="adj" fmla="val 4000"/>
            </a:avLst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90" name="TextBox 89"/>
          <p:cNvSpPr>
            <a:spLocks noGrp="1"/>
          </p:cNvSpPr>
          <p:nvPr/>
        </p:nvSpPr>
        <p:spPr>
          <a:xfrm>
            <a:off x="859536" y="2386584"/>
            <a:ext cx="166420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780" b="1">
                <a:solidFill>
                  <a:srgbClr val="14383E"/>
                </a:solidFill>
                <a:latin typeface="Noto Sans CJK SC"/>
                <a:ea typeface="Noto Sans CJK SC"/>
                <a:cs typeface="Noto Sans CJK SC"/>
              </a:rPr>
              <a:t>输出解析失败</a:t>
            </a:r>
            <a:endParaRPr sz="780" b="1">
              <a:solidFill>
                <a:srgbClr val="14383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91" name="TextBox 90"/>
          <p:cNvSpPr>
            <a:spLocks noGrp="1"/>
          </p:cNvSpPr>
          <p:nvPr/>
        </p:nvSpPr>
        <p:spPr>
          <a:xfrm>
            <a:off x="2724912" y="2395728"/>
            <a:ext cx="294436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650" b="0">
                <a:solidFill>
                  <a:srgbClr val="44585C"/>
                </a:solidFill>
                <a:latin typeface="Courier New" panose="02070409020205090404"/>
                <a:ea typeface="Courier New" panose="02070409020205090404"/>
                <a:cs typeface="Courier New" panose="02070409020205090404"/>
              </a:rPr>
              <a:t>结构提取 / 类型化解析异常</a:t>
            </a:r>
            <a:endParaRPr sz="650" b="0">
              <a:solidFill>
                <a:srgbClr val="44585C"/>
              </a:solidFill>
              <a:latin typeface="Courier New" panose="02070409020205090404"/>
              <a:ea typeface="Courier New" panose="02070409020205090404"/>
              <a:cs typeface="Courier New" panose="02070409020205090404"/>
            </a:endParaRPr>
          </a:p>
        </p:txBody>
      </p:sp>
      <p:sp>
        <p:nvSpPr>
          <p:cNvPr id="92" name="TextBox 91"/>
          <p:cNvSpPr>
            <a:spLocks noGrp="1"/>
          </p:cNvSpPr>
          <p:nvPr/>
        </p:nvSpPr>
        <p:spPr>
          <a:xfrm>
            <a:off x="5852159" y="2386584"/>
            <a:ext cx="29443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740" b="0">
                <a:solidFill>
                  <a:srgbClr val="14383E"/>
                </a:solidFill>
                <a:latin typeface="Noto Sans CJK SC"/>
                <a:ea typeface="Noto Sans CJK SC"/>
                <a:cs typeface="Noto Sans CJK SC"/>
              </a:rPr>
              <a:t>走确定性降级兜底，不反复重试</a:t>
            </a:r>
            <a:endParaRPr sz="740" b="0">
              <a:solidFill>
                <a:srgbClr val="14383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93" name="TextBox 92"/>
          <p:cNvSpPr>
            <a:spLocks noGrp="1"/>
          </p:cNvSpPr>
          <p:nvPr/>
        </p:nvSpPr>
        <p:spPr>
          <a:xfrm>
            <a:off x="8979408" y="2386584"/>
            <a:ext cx="221284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740" b="1">
                <a:solidFill>
                  <a:srgbClr val="1B5FC4"/>
                </a:solidFill>
                <a:latin typeface="Noto Sans CJK SC"/>
                <a:ea typeface="Noto Sans CJK SC"/>
                <a:cs typeface="Noto Sans CJK SC"/>
              </a:rPr>
              <a:t>降级回复或转人工</a:t>
            </a:r>
            <a:endParaRPr sz="740" b="1">
              <a:solidFill>
                <a:srgbClr val="1B5FC4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94" name="Rounded Rectangle 93"/>
          <p:cNvSpPr>
            <a:spLocks noGrp="1"/>
          </p:cNvSpPr>
          <p:nvPr/>
        </p:nvSpPr>
        <p:spPr>
          <a:xfrm>
            <a:off x="713232" y="2670048"/>
            <a:ext cx="10533888" cy="34747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9D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95" name="Rounded Rectangle 94"/>
          <p:cNvSpPr>
            <a:spLocks noGrp="1"/>
          </p:cNvSpPr>
          <p:nvPr/>
        </p:nvSpPr>
        <p:spPr>
          <a:xfrm>
            <a:off x="713232" y="2670048"/>
            <a:ext cx="54864" cy="347472"/>
          </a:xfrm>
          <a:prstGeom prst="roundRect">
            <a:avLst>
              <a:gd name="adj" fmla="val 4000"/>
            </a:avLst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96" name="TextBox 95"/>
          <p:cNvSpPr>
            <a:spLocks noGrp="1"/>
          </p:cNvSpPr>
          <p:nvPr/>
        </p:nvSpPr>
        <p:spPr>
          <a:xfrm>
            <a:off x="859536" y="2770632"/>
            <a:ext cx="166420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780" b="1">
                <a:solidFill>
                  <a:srgbClr val="14383E"/>
                </a:solidFill>
                <a:latin typeface="Noto Sans CJK SC"/>
                <a:ea typeface="Noto Sans CJK SC"/>
                <a:cs typeface="Noto Sans CJK SC"/>
              </a:rPr>
              <a:t>生成质量不达标</a:t>
            </a:r>
            <a:endParaRPr sz="780" b="1">
              <a:solidFill>
                <a:srgbClr val="14383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97" name="TextBox 96"/>
          <p:cNvSpPr>
            <a:spLocks noGrp="1"/>
          </p:cNvSpPr>
          <p:nvPr/>
        </p:nvSpPr>
        <p:spPr>
          <a:xfrm>
            <a:off x="2724912" y="2779776"/>
            <a:ext cx="294436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650" b="0">
                <a:solidFill>
                  <a:srgbClr val="44585C"/>
                </a:solidFill>
                <a:latin typeface="Courier New" panose="02070409020205090404"/>
                <a:ea typeface="Courier New" panose="02070409020205090404"/>
                <a:cs typeface="Courier New" panose="02070409020205090404"/>
              </a:rPr>
              <a:t>生成复审判定 RETRY</a:t>
            </a:r>
            <a:endParaRPr sz="650" b="0">
              <a:solidFill>
                <a:srgbClr val="44585C"/>
              </a:solidFill>
              <a:latin typeface="Courier New" panose="02070409020205090404"/>
              <a:ea typeface="Courier New" panose="02070409020205090404"/>
              <a:cs typeface="Courier New" panose="02070409020205090404"/>
            </a:endParaRPr>
          </a:p>
        </p:txBody>
      </p:sp>
      <p:sp>
        <p:nvSpPr>
          <p:cNvPr id="98" name="TextBox 97"/>
          <p:cNvSpPr>
            <a:spLocks noGrp="1"/>
          </p:cNvSpPr>
          <p:nvPr/>
        </p:nvSpPr>
        <p:spPr>
          <a:xfrm>
            <a:off x="5852159" y="2770632"/>
            <a:ext cx="29443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740" b="0">
                <a:solidFill>
                  <a:srgbClr val="14383E"/>
                </a:solidFill>
                <a:latin typeface="Noto Sans CJK SC"/>
                <a:ea typeface="Noto Sans CJK SC"/>
                <a:cs typeface="Noto Sans CJK SC"/>
              </a:rPr>
              <a:t>重跑一次，且强制 dryRun 不写库</a:t>
            </a:r>
            <a:endParaRPr sz="740" b="0">
              <a:solidFill>
                <a:srgbClr val="14383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99" name="TextBox 98"/>
          <p:cNvSpPr>
            <a:spLocks noGrp="1"/>
          </p:cNvSpPr>
          <p:nvPr/>
        </p:nvSpPr>
        <p:spPr>
          <a:xfrm>
            <a:off x="8979408" y="2770632"/>
            <a:ext cx="221284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740" b="1">
                <a:solidFill>
                  <a:srgbClr val="1B5FC4"/>
                </a:solidFill>
                <a:latin typeface="Noto Sans CJK SC"/>
                <a:ea typeface="Noto Sans CJK SC"/>
                <a:cs typeface="Noto Sans CJK SC"/>
              </a:rPr>
              <a:t>仍不过 → 转人工</a:t>
            </a:r>
            <a:endParaRPr sz="740" b="1">
              <a:solidFill>
                <a:srgbClr val="1B5FC4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00" name="Rounded Rectangle 99"/>
          <p:cNvSpPr>
            <a:spLocks noGrp="1"/>
          </p:cNvSpPr>
          <p:nvPr/>
        </p:nvSpPr>
        <p:spPr>
          <a:xfrm>
            <a:off x="713232" y="3054096"/>
            <a:ext cx="10533888" cy="34747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9D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101" name="Rounded Rectangle 100"/>
          <p:cNvSpPr>
            <a:spLocks noGrp="1"/>
          </p:cNvSpPr>
          <p:nvPr/>
        </p:nvSpPr>
        <p:spPr>
          <a:xfrm>
            <a:off x="713232" y="3054096"/>
            <a:ext cx="54864" cy="347472"/>
          </a:xfrm>
          <a:prstGeom prst="roundRect">
            <a:avLst>
              <a:gd name="adj" fmla="val 4000"/>
            </a:avLst>
          </a:prstGeom>
          <a:solidFill>
            <a:srgbClr val="00A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102" name="TextBox 101"/>
          <p:cNvSpPr>
            <a:spLocks noGrp="1"/>
          </p:cNvSpPr>
          <p:nvPr/>
        </p:nvSpPr>
        <p:spPr>
          <a:xfrm>
            <a:off x="859536" y="3154679"/>
            <a:ext cx="166420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780" b="1">
                <a:solidFill>
                  <a:srgbClr val="14383E"/>
                </a:solidFill>
                <a:latin typeface="Noto Sans CJK SC"/>
                <a:ea typeface="Noto Sans CJK SC"/>
                <a:cs typeface="Noto Sans CJK SC"/>
              </a:rPr>
              <a:t>工具调用失败或超时</a:t>
            </a:r>
            <a:endParaRPr sz="780" b="1">
              <a:solidFill>
                <a:srgbClr val="14383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03" name="TextBox 102"/>
          <p:cNvSpPr>
            <a:spLocks noGrp="1"/>
          </p:cNvSpPr>
          <p:nvPr/>
        </p:nvSpPr>
        <p:spPr>
          <a:xfrm>
            <a:off x="2724912" y="3163824"/>
            <a:ext cx="294436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650" b="0">
                <a:solidFill>
                  <a:srgbClr val="44585C"/>
                </a:solidFill>
                <a:latin typeface="Courier New" panose="02070409020205090404"/>
                <a:ea typeface="Courier New" panose="02070409020205090404"/>
                <a:cs typeface="Courier New" panose="02070409020205090404"/>
              </a:rPr>
              <a:t>业务错误码 / 超时无响应</a:t>
            </a:r>
            <a:endParaRPr sz="650" b="0">
              <a:solidFill>
                <a:srgbClr val="44585C"/>
              </a:solidFill>
              <a:latin typeface="Courier New" panose="02070409020205090404"/>
              <a:ea typeface="Courier New" panose="02070409020205090404"/>
              <a:cs typeface="Courier New" panose="02070409020205090404"/>
            </a:endParaRPr>
          </a:p>
        </p:txBody>
      </p:sp>
      <p:sp>
        <p:nvSpPr>
          <p:cNvPr id="104" name="TextBox 103"/>
          <p:cNvSpPr>
            <a:spLocks noGrp="1"/>
          </p:cNvSpPr>
          <p:nvPr/>
        </p:nvSpPr>
        <p:spPr>
          <a:xfrm>
            <a:off x="5852159" y="3154679"/>
            <a:ext cx="29443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740" b="0">
                <a:solidFill>
                  <a:srgbClr val="14383E"/>
                </a:solidFill>
                <a:latin typeface="Noto Sans CJK SC"/>
                <a:ea typeface="Noto Sans CJK SC"/>
                <a:cs typeface="Noto Sans CJK SC"/>
              </a:rPr>
              <a:t>按场景契约条件表退出</a:t>
            </a:r>
            <a:endParaRPr sz="740" b="0">
              <a:solidFill>
                <a:srgbClr val="14383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05" name="TextBox 104"/>
          <p:cNvSpPr>
            <a:spLocks noGrp="1"/>
          </p:cNvSpPr>
          <p:nvPr/>
        </p:nvSpPr>
        <p:spPr>
          <a:xfrm>
            <a:off x="8979408" y="3154679"/>
            <a:ext cx="221284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740" b="1">
                <a:solidFill>
                  <a:srgbClr val="00706F"/>
                </a:solidFill>
                <a:latin typeface="Noto Sans CJK SC"/>
                <a:ea typeface="Noto Sans CJK SC"/>
                <a:cs typeface="Noto Sans CJK SC"/>
              </a:rPr>
              <a:t>通用兜底 → 转人工</a:t>
            </a:r>
            <a:endParaRPr sz="740" b="1">
              <a:solidFill>
                <a:srgbClr val="00706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06" name="Rounded Rectangle 105"/>
          <p:cNvSpPr>
            <a:spLocks noGrp="1"/>
          </p:cNvSpPr>
          <p:nvPr/>
        </p:nvSpPr>
        <p:spPr>
          <a:xfrm>
            <a:off x="713232" y="3438144"/>
            <a:ext cx="10533888" cy="34747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9D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107" name="Rounded Rectangle 106"/>
          <p:cNvSpPr>
            <a:spLocks noGrp="1"/>
          </p:cNvSpPr>
          <p:nvPr/>
        </p:nvSpPr>
        <p:spPr>
          <a:xfrm>
            <a:off x="713232" y="3438144"/>
            <a:ext cx="54864" cy="347472"/>
          </a:xfrm>
          <a:prstGeom prst="roundRect">
            <a:avLst>
              <a:gd name="adj" fmla="val 4000"/>
            </a:avLst>
          </a:prstGeom>
          <a:solidFill>
            <a:srgbClr val="0A8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108" name="TextBox 107"/>
          <p:cNvSpPr>
            <a:spLocks noGrp="1"/>
          </p:cNvSpPr>
          <p:nvPr/>
        </p:nvSpPr>
        <p:spPr>
          <a:xfrm>
            <a:off x="859536" y="3538727"/>
            <a:ext cx="166420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780" b="1">
                <a:solidFill>
                  <a:srgbClr val="14383E"/>
                </a:solidFill>
                <a:latin typeface="Noto Sans CJK SC"/>
                <a:ea typeface="Noto Sans CJK SC"/>
                <a:cs typeface="Noto Sans CJK SC"/>
              </a:rPr>
              <a:t>写操作重复提交</a:t>
            </a:r>
            <a:endParaRPr sz="780" b="1">
              <a:solidFill>
                <a:srgbClr val="14383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09" name="TextBox 108"/>
          <p:cNvSpPr>
            <a:spLocks noGrp="1"/>
          </p:cNvSpPr>
          <p:nvPr/>
        </p:nvSpPr>
        <p:spPr>
          <a:xfrm>
            <a:off x="2724912" y="3547872"/>
            <a:ext cx="294436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650" b="0">
                <a:solidFill>
                  <a:srgbClr val="44585C"/>
                </a:solidFill>
                <a:latin typeface="Courier New" panose="02070409020205090404"/>
                <a:ea typeface="Courier New" panose="02070409020205090404"/>
                <a:cs typeface="Courier New" panose="02070409020205090404"/>
              </a:rPr>
              <a:t>检测到同轮重复写入</a:t>
            </a:r>
            <a:endParaRPr sz="650" b="0">
              <a:solidFill>
                <a:srgbClr val="44585C"/>
              </a:solidFill>
              <a:latin typeface="Courier New" panose="02070409020205090404"/>
              <a:ea typeface="Courier New" panose="02070409020205090404"/>
              <a:cs typeface="Courier New" panose="02070409020205090404"/>
            </a:endParaRPr>
          </a:p>
        </p:txBody>
      </p:sp>
      <p:sp>
        <p:nvSpPr>
          <p:cNvPr id="110" name="TextBox 109"/>
          <p:cNvSpPr>
            <a:spLocks noGrp="1"/>
          </p:cNvSpPr>
          <p:nvPr/>
        </p:nvSpPr>
        <p:spPr>
          <a:xfrm>
            <a:off x="5852159" y="3538727"/>
            <a:ext cx="29443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740" b="0">
                <a:solidFill>
                  <a:srgbClr val="14383E"/>
                </a:solidFill>
                <a:latin typeface="Noto Sans CJK SC"/>
                <a:ea typeface="Noto Sans CJK SC"/>
                <a:cs typeface="Noto Sans CJK SC"/>
              </a:rPr>
              <a:t>幂等键命中，直接返回既有结果</a:t>
            </a:r>
            <a:endParaRPr sz="740" b="0">
              <a:solidFill>
                <a:srgbClr val="14383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11" name="TextBox 110"/>
          <p:cNvSpPr>
            <a:spLocks noGrp="1"/>
          </p:cNvSpPr>
          <p:nvPr/>
        </p:nvSpPr>
        <p:spPr>
          <a:xfrm>
            <a:off x="8979408" y="3538727"/>
            <a:ext cx="221284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740" b="1">
                <a:solidFill>
                  <a:srgbClr val="076B50"/>
                </a:solidFill>
                <a:latin typeface="Noto Sans CJK SC"/>
                <a:ea typeface="Noto Sans CJK SC"/>
                <a:cs typeface="Noto Sans CJK SC"/>
              </a:rPr>
              <a:t>不产生第二次写入</a:t>
            </a:r>
            <a:endParaRPr sz="740" b="1">
              <a:solidFill>
                <a:srgbClr val="076B50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12" name="Rounded Rectangle 111"/>
          <p:cNvSpPr>
            <a:spLocks noGrp="1"/>
          </p:cNvSpPr>
          <p:nvPr/>
        </p:nvSpPr>
        <p:spPr>
          <a:xfrm>
            <a:off x="713232" y="3822191"/>
            <a:ext cx="10533888" cy="34747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9D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113" name="Rounded Rectangle 112"/>
          <p:cNvSpPr>
            <a:spLocks noGrp="1"/>
          </p:cNvSpPr>
          <p:nvPr/>
        </p:nvSpPr>
        <p:spPr>
          <a:xfrm>
            <a:off x="713232" y="3822191"/>
            <a:ext cx="54864" cy="347472"/>
          </a:xfrm>
          <a:prstGeom prst="roundRect">
            <a:avLst>
              <a:gd name="adj" fmla="val 4000"/>
            </a:avLst>
          </a:prstGeom>
          <a:solidFill>
            <a:srgbClr val="0A8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114" name="TextBox 113"/>
          <p:cNvSpPr>
            <a:spLocks noGrp="1"/>
          </p:cNvSpPr>
          <p:nvPr/>
        </p:nvSpPr>
        <p:spPr>
          <a:xfrm>
            <a:off x="859536" y="3922776"/>
            <a:ext cx="166420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780" b="1">
                <a:solidFill>
                  <a:srgbClr val="14383E"/>
                </a:solidFill>
                <a:latin typeface="Noto Sans CJK SC"/>
                <a:ea typeface="Noto Sans CJK SC"/>
                <a:cs typeface="Noto Sans CJK SC"/>
              </a:rPr>
              <a:t>写成功但显示未同步</a:t>
            </a:r>
            <a:endParaRPr sz="780" b="1">
              <a:solidFill>
                <a:srgbClr val="14383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15" name="TextBox 114"/>
          <p:cNvSpPr>
            <a:spLocks noGrp="1"/>
          </p:cNvSpPr>
          <p:nvPr/>
        </p:nvSpPr>
        <p:spPr>
          <a:xfrm>
            <a:off x="2724912" y="3931920"/>
            <a:ext cx="294436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650" b="0">
                <a:solidFill>
                  <a:srgbClr val="44585C"/>
                </a:solidFill>
                <a:latin typeface="Courier New" panose="02070409020205090404"/>
                <a:ea typeface="Courier New" panose="02070409020205090404"/>
                <a:cs typeface="Courier New" panose="02070409020205090404"/>
              </a:rPr>
              <a:t>业务已更新，展示快照待同步</a:t>
            </a:r>
            <a:endParaRPr sz="650" b="0">
              <a:solidFill>
                <a:srgbClr val="44585C"/>
              </a:solidFill>
              <a:latin typeface="Courier New" panose="02070409020205090404"/>
              <a:ea typeface="Courier New" panose="02070409020205090404"/>
              <a:cs typeface="Courier New" panose="02070409020205090404"/>
            </a:endParaRPr>
          </a:p>
        </p:txBody>
      </p:sp>
      <p:sp>
        <p:nvSpPr>
          <p:cNvPr id="116" name="TextBox 115"/>
          <p:cNvSpPr>
            <a:spLocks noGrp="1"/>
          </p:cNvSpPr>
          <p:nvPr/>
        </p:nvSpPr>
        <p:spPr>
          <a:xfrm>
            <a:off x="5852159" y="3922776"/>
            <a:ext cx="29443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740" b="0">
                <a:solidFill>
                  <a:srgbClr val="14383E"/>
                </a:solidFill>
                <a:latin typeface="Noto Sans CJK SC"/>
                <a:ea typeface="Noto Sans CJK SC"/>
                <a:cs typeface="Noto Sans CJK SC"/>
              </a:rPr>
              <a:t>视为已接受，改用显示同步中话术</a:t>
            </a:r>
            <a:endParaRPr sz="740" b="0">
              <a:solidFill>
                <a:srgbClr val="14383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17" name="TextBox 116"/>
          <p:cNvSpPr>
            <a:spLocks noGrp="1"/>
          </p:cNvSpPr>
          <p:nvPr/>
        </p:nvSpPr>
        <p:spPr>
          <a:xfrm>
            <a:off x="8979408" y="3922776"/>
            <a:ext cx="221284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740" b="1">
                <a:solidFill>
                  <a:srgbClr val="076B50"/>
                </a:solidFill>
                <a:latin typeface="Noto Sans CJK SC"/>
                <a:ea typeface="Noto Sans CJK SC"/>
                <a:cs typeface="Noto Sans CJK SC"/>
              </a:rPr>
              <a:t>不报失败、不让客户重提</a:t>
            </a:r>
            <a:endParaRPr sz="740" b="1">
              <a:solidFill>
                <a:srgbClr val="076B50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18" name="Rounded Rectangle 117"/>
          <p:cNvSpPr>
            <a:spLocks noGrp="1"/>
          </p:cNvSpPr>
          <p:nvPr/>
        </p:nvSpPr>
        <p:spPr>
          <a:xfrm>
            <a:off x="713232" y="4206240"/>
            <a:ext cx="10533888" cy="34747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9D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119" name="Rounded Rectangle 118"/>
          <p:cNvSpPr>
            <a:spLocks noGrp="1"/>
          </p:cNvSpPr>
          <p:nvPr/>
        </p:nvSpPr>
        <p:spPr>
          <a:xfrm>
            <a:off x="713232" y="4206240"/>
            <a:ext cx="54864" cy="347472"/>
          </a:xfrm>
          <a:prstGeom prst="roundRect">
            <a:avLst>
              <a:gd name="adj" fmla="val 4000"/>
            </a:avLst>
          </a:prstGeom>
          <a:solidFill>
            <a:srgbClr val="F28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120" name="TextBox 119"/>
          <p:cNvSpPr>
            <a:spLocks noGrp="1"/>
          </p:cNvSpPr>
          <p:nvPr/>
        </p:nvSpPr>
        <p:spPr>
          <a:xfrm>
            <a:off x="859536" y="4306824"/>
            <a:ext cx="166420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780" b="1">
                <a:solidFill>
                  <a:srgbClr val="14383E"/>
                </a:solidFill>
                <a:latin typeface="Noto Sans CJK SC"/>
                <a:ea typeface="Noto Sans CJK SC"/>
                <a:cs typeface="Noto Sans CJK SC"/>
              </a:rPr>
              <a:t>多意图 worker 降级</a:t>
            </a:r>
            <a:endParaRPr sz="780" b="1">
              <a:solidFill>
                <a:srgbClr val="14383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21" name="TextBox 120"/>
          <p:cNvSpPr>
            <a:spLocks noGrp="1"/>
          </p:cNvSpPr>
          <p:nvPr/>
        </p:nvSpPr>
        <p:spPr>
          <a:xfrm>
            <a:off x="2724912" y="4315968"/>
            <a:ext cx="294436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650" b="0">
                <a:solidFill>
                  <a:srgbClr val="44585C"/>
                </a:solidFill>
                <a:latin typeface="Courier New" panose="02070409020205090404"/>
                <a:ea typeface="Courier New" panose="02070409020205090404"/>
                <a:cs typeface="Courier New" panose="02070409020205090404"/>
              </a:rPr>
              <a:t>子任务失败 / 合并失败</a:t>
            </a:r>
            <a:endParaRPr sz="650" b="0">
              <a:solidFill>
                <a:srgbClr val="44585C"/>
              </a:solidFill>
              <a:latin typeface="Courier New" panose="02070409020205090404"/>
              <a:ea typeface="Courier New" panose="02070409020205090404"/>
              <a:cs typeface="Courier New" panose="02070409020205090404"/>
            </a:endParaRPr>
          </a:p>
        </p:txBody>
      </p:sp>
      <p:sp>
        <p:nvSpPr>
          <p:cNvPr id="122" name="TextBox 121"/>
          <p:cNvSpPr>
            <a:spLocks noGrp="1"/>
          </p:cNvSpPr>
          <p:nvPr/>
        </p:nvSpPr>
        <p:spPr>
          <a:xfrm>
            <a:off x="5852159" y="4306824"/>
            <a:ext cx="29443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740" b="0">
                <a:solidFill>
                  <a:srgbClr val="14383E"/>
                </a:solidFill>
                <a:latin typeface="Noto Sans CJK SC"/>
                <a:ea typeface="Noto Sans CJK SC"/>
                <a:cs typeface="Noto Sans CJK SC"/>
              </a:rPr>
              <a:t>整轮作废，不拼装半个答案</a:t>
            </a:r>
            <a:endParaRPr sz="740" b="0">
              <a:solidFill>
                <a:srgbClr val="14383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23" name="TextBox 122"/>
          <p:cNvSpPr>
            <a:spLocks noGrp="1"/>
          </p:cNvSpPr>
          <p:nvPr/>
        </p:nvSpPr>
        <p:spPr>
          <a:xfrm>
            <a:off x="8979408" y="4306824"/>
            <a:ext cx="221284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740" b="1">
                <a:solidFill>
                  <a:srgbClr val="9A5210"/>
                </a:solidFill>
                <a:latin typeface="Noto Sans CJK SC"/>
                <a:ea typeface="Noto Sans CJK SC"/>
                <a:cs typeface="Noto Sans CJK SC"/>
              </a:rPr>
              <a:t>转人工</a:t>
            </a:r>
            <a:endParaRPr sz="740" b="1">
              <a:solidFill>
                <a:srgbClr val="9A5210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24" name="Rounded Rectangle 123"/>
          <p:cNvSpPr>
            <a:spLocks noGrp="1"/>
          </p:cNvSpPr>
          <p:nvPr/>
        </p:nvSpPr>
        <p:spPr>
          <a:xfrm>
            <a:off x="713232" y="4590288"/>
            <a:ext cx="10533888" cy="34747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9D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125" name="Rounded Rectangle 124"/>
          <p:cNvSpPr>
            <a:spLocks noGrp="1"/>
          </p:cNvSpPr>
          <p:nvPr/>
        </p:nvSpPr>
        <p:spPr>
          <a:xfrm>
            <a:off x="713232" y="4590288"/>
            <a:ext cx="54864" cy="347472"/>
          </a:xfrm>
          <a:prstGeom prst="roundRect">
            <a:avLst>
              <a:gd name="adj" fmla="val 4000"/>
            </a:avLst>
          </a:prstGeom>
          <a:solidFill>
            <a:srgbClr val="F28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126" name="TextBox 125"/>
          <p:cNvSpPr>
            <a:spLocks noGrp="1"/>
          </p:cNvSpPr>
          <p:nvPr/>
        </p:nvSpPr>
        <p:spPr>
          <a:xfrm>
            <a:off x="859536" y="4690872"/>
            <a:ext cx="166420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780" b="1">
                <a:solidFill>
                  <a:srgbClr val="14383E"/>
                </a:solidFill>
                <a:latin typeface="Noto Sans CJK SC"/>
                <a:ea typeface="Noto Sans CJK SC"/>
                <a:cs typeface="Noto Sans CJK SC"/>
              </a:rPr>
              <a:t>编排整体回退</a:t>
            </a:r>
            <a:endParaRPr sz="780" b="1">
              <a:solidFill>
                <a:srgbClr val="14383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27" name="TextBox 126"/>
          <p:cNvSpPr>
            <a:spLocks noGrp="1"/>
          </p:cNvSpPr>
          <p:nvPr/>
        </p:nvSpPr>
        <p:spPr>
          <a:xfrm>
            <a:off x="2724912" y="4700016"/>
            <a:ext cx="294436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650" b="0">
                <a:solidFill>
                  <a:srgbClr val="44585C"/>
                </a:solidFill>
                <a:latin typeface="Courier New" panose="02070409020205090404"/>
                <a:ea typeface="Courier New" panose="02070409020205090404"/>
                <a:cs typeface="Courier New" panose="02070409020205090404"/>
              </a:rPr>
              <a:t>主流程进入回退</a:t>
            </a:r>
            <a:endParaRPr sz="650" b="0">
              <a:solidFill>
                <a:srgbClr val="44585C"/>
              </a:solidFill>
              <a:latin typeface="Courier New" panose="02070409020205090404"/>
              <a:ea typeface="Courier New" panose="02070409020205090404"/>
              <a:cs typeface="Courier New" panose="02070409020205090404"/>
            </a:endParaRPr>
          </a:p>
        </p:txBody>
      </p:sp>
      <p:sp>
        <p:nvSpPr>
          <p:cNvPr id="128" name="TextBox 127"/>
          <p:cNvSpPr>
            <a:spLocks noGrp="1"/>
          </p:cNvSpPr>
          <p:nvPr/>
        </p:nvSpPr>
        <p:spPr>
          <a:xfrm>
            <a:off x="5852159" y="4690872"/>
            <a:ext cx="29443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740" b="0">
                <a:solidFill>
                  <a:srgbClr val="14383E"/>
                </a:solidFill>
                <a:latin typeface="Noto Sans CJK SC"/>
                <a:ea typeface="Noto Sans CJK SC"/>
                <a:cs typeface="Noto Sans CJK SC"/>
              </a:rPr>
              <a:t>退回单意图处理</a:t>
            </a:r>
            <a:endParaRPr sz="740" b="0">
              <a:solidFill>
                <a:srgbClr val="14383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29" name="TextBox 128"/>
          <p:cNvSpPr>
            <a:spLocks noGrp="1"/>
          </p:cNvSpPr>
          <p:nvPr/>
        </p:nvSpPr>
        <p:spPr>
          <a:xfrm>
            <a:off x="8979408" y="4690872"/>
            <a:ext cx="221284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740" b="1">
                <a:solidFill>
                  <a:srgbClr val="9A5210"/>
                </a:solidFill>
                <a:latin typeface="Noto Sans CJK SC"/>
                <a:ea typeface="Noto Sans CJK SC"/>
                <a:cs typeface="Noto Sans CJK SC"/>
              </a:rPr>
              <a:t>按单意图正常出口</a:t>
            </a:r>
            <a:endParaRPr sz="740" b="1">
              <a:solidFill>
                <a:srgbClr val="9A5210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30" name="Rounded Rectangle 129"/>
          <p:cNvSpPr>
            <a:spLocks noGrp="1"/>
          </p:cNvSpPr>
          <p:nvPr/>
        </p:nvSpPr>
        <p:spPr>
          <a:xfrm>
            <a:off x="713232" y="5029199"/>
            <a:ext cx="10533888" cy="329184"/>
          </a:xfrm>
          <a:prstGeom prst="roundRect">
            <a:avLst>
              <a:gd name="adj" fmla="val 28000"/>
            </a:avLst>
          </a:prstGeom>
          <a:solidFill>
            <a:srgbClr val="FF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131" name="TextBox 130"/>
          <p:cNvSpPr>
            <a:spLocks noGrp="1"/>
          </p:cNvSpPr>
          <p:nvPr/>
        </p:nvSpPr>
        <p:spPr>
          <a:xfrm>
            <a:off x="896112" y="5111496"/>
            <a:ext cx="1016812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740" b="1">
                <a:solidFill>
                  <a:srgbClr val="9A5210"/>
                </a:solidFill>
                <a:latin typeface="Noto Sans CJK SC"/>
                <a:ea typeface="Noto Sans CJK SC"/>
                <a:cs typeface="Noto Sans CJK SC"/>
              </a:rPr>
              <a:t>四个允许的落点：补问客户 · 等待确认 · 转人工 · 明确终止。恢复动作最多重试一次；重试固定 dryRun，不在重试里产生副作用。</a:t>
            </a:r>
            <a:endParaRPr sz="740" b="1">
              <a:solidFill>
                <a:srgbClr val="9A5210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32" name="圆角矩形 131"/>
          <p:cNvSpPr>
            <a:spLocks noGrp="1"/>
          </p:cNvSpPr>
          <p:nvPr/>
        </p:nvSpPr>
        <p:spPr>
          <a:xfrm>
            <a:off x="6565583" y="127635"/>
            <a:ext cx="4937760" cy="365760"/>
          </a:xfrm>
          <a:prstGeom prst="roundRect">
            <a:avLst>
              <a:gd name="adj" fmla="val 20833"/>
            </a:avLst>
          </a:prstGeom>
          <a:solidFill>
            <a:srgbClr val="F7FBF9"/>
          </a:solidFill>
          <a:ln w="12668">
            <a:solidFill>
              <a:srgbClr val="F7FBF9"/>
            </a:solidFill>
            <a:prstDash val="solid"/>
          </a:ln>
        </p:spPr>
        <p:txBody>
          <a:bodyPr/>
          <a:p/>
        </p:txBody>
      </p:sp>
      <p:sp>
        <p:nvSpPr>
          <p:cNvPr id="133" name="圆角矩形 132"/>
          <p:cNvSpPr>
            <a:spLocks noGrp="1"/>
          </p:cNvSpPr>
          <p:nvPr/>
        </p:nvSpPr>
        <p:spPr>
          <a:xfrm>
            <a:off x="6657023" y="164783"/>
            <a:ext cx="1154430" cy="264795"/>
          </a:xfrm>
          <a:prstGeom prst="roundRect">
            <a:avLst>
              <a:gd name="adj" fmla="val 28777"/>
            </a:avLst>
          </a:prstGeom>
          <a:solidFill>
            <a:srgbClr val="FFFFFF"/>
          </a:solidFill>
          <a:ln w="12668">
            <a:solidFill>
              <a:srgbClr val="C9DCD7"/>
            </a:solidFill>
            <a:prstDash val="solid"/>
          </a:ln>
        </p:spPr>
        <p:txBody>
          <a:bodyPr/>
          <a:p/>
        </p:txBody>
      </p:sp>
      <p:sp>
        <p:nvSpPr>
          <p:cNvPr id="134" name="矩形 133"/>
          <p:cNvSpPr>
            <a:spLocks noGrp="1"/>
          </p:cNvSpPr>
          <p:nvPr/>
        </p:nvSpPr>
        <p:spPr>
          <a:xfrm>
            <a:off x="6657023" y="187643"/>
            <a:ext cx="1154430" cy="182880"/>
          </a:xfrm>
          <a:prstGeom prst="rect">
            <a:avLst/>
          </a:prstGeom>
        </p:spPr>
        <p:txBody>
          <a:bodyPr anchor="ctr"/>
          <a:lstStyle/>
          <a:p>
            <a:pPr algn="ctr">
              <a:defRPr sz="650" b="0">
                <a:solidFill>
                  <a:srgbClr val="44585C"/>
                </a:solidFill>
              </a:defRPr>
            </a:pPr>
            <a:r>
              <a:t>理解</a:t>
            </a:r>
          </a:p>
        </p:txBody>
      </p:sp>
      <p:sp>
        <p:nvSpPr>
          <p:cNvPr id="135" name="圆角矩形 134"/>
          <p:cNvSpPr>
            <a:spLocks noGrp="1"/>
          </p:cNvSpPr>
          <p:nvPr/>
        </p:nvSpPr>
        <p:spPr>
          <a:xfrm>
            <a:off x="7857173" y="164783"/>
            <a:ext cx="1154430" cy="264795"/>
          </a:xfrm>
          <a:prstGeom prst="roundRect">
            <a:avLst>
              <a:gd name="adj" fmla="val 28777"/>
            </a:avLst>
          </a:prstGeom>
          <a:solidFill>
            <a:srgbClr val="007574"/>
          </a:solidFill>
          <a:ln w="12668">
            <a:solidFill>
              <a:srgbClr val="007574"/>
            </a:solidFill>
            <a:prstDash val="solid"/>
          </a:ln>
        </p:spPr>
        <p:txBody>
          <a:bodyPr/>
          <a:p/>
        </p:txBody>
      </p:sp>
      <p:sp>
        <p:nvSpPr>
          <p:cNvPr id="136" name="矩形 135"/>
          <p:cNvSpPr>
            <a:spLocks noGrp="1"/>
          </p:cNvSpPr>
          <p:nvPr/>
        </p:nvSpPr>
        <p:spPr>
          <a:xfrm>
            <a:off x="7857173" y="187643"/>
            <a:ext cx="1154430" cy="182880"/>
          </a:xfrm>
          <a:prstGeom prst="rect">
            <a:avLst/>
          </a:prstGeom>
        </p:spPr>
        <p:txBody>
          <a:bodyPr anchor="ctr"/>
          <a:lstStyle/>
          <a:p>
            <a:pPr algn="ctr">
              <a:defRPr sz="660" b="1">
                <a:solidFill>
                  <a:srgbClr val="FFFFFF"/>
                </a:solidFill>
              </a:defRPr>
            </a:pPr>
            <a:r>
              <a:t>查询</a:t>
            </a:r>
          </a:p>
        </p:txBody>
      </p:sp>
      <p:sp>
        <p:nvSpPr>
          <p:cNvPr id="137" name="圆角矩形 136"/>
          <p:cNvSpPr>
            <a:spLocks noGrp="1"/>
          </p:cNvSpPr>
          <p:nvPr/>
        </p:nvSpPr>
        <p:spPr>
          <a:xfrm>
            <a:off x="9057323" y="164783"/>
            <a:ext cx="1154430" cy="264795"/>
          </a:xfrm>
          <a:prstGeom prst="roundRect">
            <a:avLst>
              <a:gd name="adj" fmla="val 28777"/>
            </a:avLst>
          </a:prstGeom>
          <a:solidFill>
            <a:srgbClr val="FFFFFF"/>
          </a:solidFill>
          <a:ln w="12668">
            <a:solidFill>
              <a:srgbClr val="C9DCD7"/>
            </a:solidFill>
            <a:prstDash val="solid"/>
          </a:ln>
        </p:spPr>
        <p:txBody>
          <a:bodyPr/>
          <a:p/>
        </p:txBody>
      </p:sp>
      <p:sp>
        <p:nvSpPr>
          <p:cNvPr id="138" name="矩形 137"/>
          <p:cNvSpPr>
            <a:spLocks noGrp="1"/>
          </p:cNvSpPr>
          <p:nvPr/>
        </p:nvSpPr>
        <p:spPr>
          <a:xfrm>
            <a:off x="9057323" y="187643"/>
            <a:ext cx="1154430" cy="182880"/>
          </a:xfrm>
          <a:prstGeom prst="rect">
            <a:avLst/>
          </a:prstGeom>
        </p:spPr>
        <p:txBody>
          <a:bodyPr anchor="ctr"/>
          <a:lstStyle/>
          <a:p>
            <a:pPr algn="ctr">
              <a:defRPr sz="650" b="0">
                <a:solidFill>
                  <a:srgbClr val="44585C"/>
                </a:solidFill>
              </a:defRPr>
            </a:pPr>
            <a:r>
              <a:t>决策</a:t>
            </a:r>
          </a:p>
        </p:txBody>
      </p:sp>
      <p:sp>
        <p:nvSpPr>
          <p:cNvPr id="139" name="圆角矩形 138"/>
          <p:cNvSpPr>
            <a:spLocks noGrp="1"/>
          </p:cNvSpPr>
          <p:nvPr/>
        </p:nvSpPr>
        <p:spPr>
          <a:xfrm>
            <a:off x="10257473" y="164783"/>
            <a:ext cx="1154430" cy="264795"/>
          </a:xfrm>
          <a:prstGeom prst="roundRect">
            <a:avLst>
              <a:gd name="adj" fmla="val 28777"/>
            </a:avLst>
          </a:prstGeom>
          <a:solidFill>
            <a:srgbClr val="007574"/>
          </a:solidFill>
          <a:ln w="12668">
            <a:solidFill>
              <a:srgbClr val="007574"/>
            </a:solidFill>
            <a:prstDash val="solid"/>
          </a:ln>
        </p:spPr>
        <p:txBody>
          <a:bodyPr/>
          <a:p/>
        </p:txBody>
      </p:sp>
      <p:sp>
        <p:nvSpPr>
          <p:cNvPr id="140" name="矩形 139"/>
          <p:cNvSpPr>
            <a:spLocks noGrp="1"/>
          </p:cNvSpPr>
          <p:nvPr/>
        </p:nvSpPr>
        <p:spPr>
          <a:xfrm>
            <a:off x="10257473" y="187643"/>
            <a:ext cx="1154430" cy="182880"/>
          </a:xfrm>
          <a:prstGeom prst="rect">
            <a:avLst/>
          </a:prstGeom>
        </p:spPr>
        <p:txBody>
          <a:bodyPr anchor="ctr"/>
          <a:lstStyle/>
          <a:p>
            <a:pPr algn="ctr">
              <a:defRPr sz="660" b="1">
                <a:solidFill>
                  <a:srgbClr val="FFFFFF"/>
                </a:solidFill>
              </a:defRPr>
            </a:pPr>
            <a:r>
              <a:t>执行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hape 0"/>
          <p:cNvSpPr>
            <a:spLocks noGrp="1"/>
          </p:cNvSpPr>
          <p:nvPr/>
        </p:nvSpPr>
        <p:spPr>
          <a:xfrm>
            <a:off x="0" y="0"/>
            <a:ext cx="41148" cy="6858000"/>
          </a:xfrm>
          <a:prstGeom prst="rect">
            <a:avLst/>
          </a:prstGeom>
          <a:solidFill>
            <a:srgbClr val="0A8F6A"/>
          </a:solidFill>
          <a:ln w="12700">
            <a:solidFill>
              <a:srgbClr val="F28B2D"/>
            </a:solidFill>
            <a:prstDash val="solid"/>
          </a:ln>
        </p:spPr>
        <p:txBody>
          <a:bodyPr/>
          <a:lstStyle/>
          <a:p/>
        </p:txBody>
      </p:sp>
      <p:sp>
        <p:nvSpPr>
          <p:cNvPr id="3" name="Shape 1"/>
          <p:cNvSpPr>
            <a:spLocks noGrp="1"/>
          </p:cNvSpPr>
          <p:nvPr/>
        </p:nvSpPr>
        <p:spPr>
          <a:xfrm>
            <a:off x="658368" y="429768"/>
            <a:ext cx="237744" cy="0"/>
          </a:xfrm>
          <a:prstGeom prst="line">
            <a:avLst/>
          </a:prstGeom>
          <a:noFill/>
          <a:ln w="15875">
            <a:solidFill>
              <a:srgbClr val="0A8F6A"/>
            </a:solidFill>
            <a:prstDash val="solid"/>
          </a:ln>
        </p:spPr>
        <p:txBody>
          <a:bodyPr/>
          <a:lstStyle/>
          <a:p/>
        </p:txBody>
      </p:sp>
      <p:sp>
        <p:nvSpPr>
          <p:cNvPr id="4" name="Text 2"/>
          <p:cNvSpPr>
            <a:spLocks noGrp="1"/>
          </p:cNvSpPr>
          <p:nvPr/>
        </p:nvSpPr>
        <p:spPr>
          <a:xfrm>
            <a:off x="941832" y="292608"/>
            <a:ext cx="3474720" cy="2286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r>
              <a:rPr sz="1050" b="1">
                <a:solidFill>
                  <a:srgbClr val="076B50"/>
                </a:solidFill>
                <a:latin typeface="Noto Sans CJK SC"/>
                <a:ea typeface="Noto Sans CJK SC"/>
                <a:cs typeface="Noto Sans CJK SC"/>
              </a:rPr>
              <a:t>CHAPTER 6 · 受控执行</a:t>
            </a:r>
            <a:endParaRPr sz="1050" b="1">
              <a:solidFill>
                <a:srgbClr val="F28B36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" name="Text 3"/>
          <p:cNvSpPr>
            <a:spLocks noGrp="1"/>
          </p:cNvSpPr>
          <p:nvPr/>
        </p:nvSpPr>
        <p:spPr>
          <a:xfrm>
            <a:off x="640080" y="667512"/>
            <a:ext cx="10698480" cy="43891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buNone/>
            </a:pPr>
            <a:r>
              <a:rPr sz="2550" b="1">
                <a:solidFill>
                  <a:srgbClr val="163B36"/>
                </a:solidFill>
                <a:latin typeface="Noto Sans CJK SC"/>
                <a:ea typeface="Noto Sans CJK SC"/>
                <a:cs typeface="Noto Sans CJK SC"/>
              </a:rPr>
              <a:t>有状态续跑与人工回交</a:t>
            </a:r>
            <a:endParaRPr sz="2550"/>
          </a:p>
        </p:txBody>
      </p:sp>
      <p:sp>
        <p:nvSpPr>
          <p:cNvPr id="6" name="Text 4"/>
          <p:cNvSpPr>
            <a:spLocks noGrp="1"/>
          </p:cNvSpPr>
          <p:nvPr/>
        </p:nvSpPr>
        <p:spPr>
          <a:xfrm>
            <a:off x="640080" y="1115568"/>
            <a:ext cx="10424160" cy="30175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r>
              <a:rPr sz="1170">
                <a:solidFill>
                  <a:srgbClr val="44585C"/>
                </a:solidFill>
                <a:latin typeface="Noto Sans CJK SC"/>
                <a:ea typeface="Noto Sans CJK SC"/>
                <a:cs typeface="Noto Sans CJK SC"/>
              </a:rPr>
              <a:t>各渠道已经支持 Pending、人工接管和超时释放；下一步是把状态名称和 owner 统一起来。</a:t>
            </a:r>
            <a:endParaRPr sz="1170">
              <a:solidFill>
                <a:srgbClr val="6B8185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" name="Shape 5"/>
          <p:cNvSpPr>
            <a:spLocks noGrp="1"/>
          </p:cNvSpPr>
          <p:nvPr/>
        </p:nvSpPr>
        <p:spPr>
          <a:xfrm>
            <a:off x="10533888" y="54864"/>
            <a:ext cx="1298448" cy="713232"/>
          </a:xfrm>
          <a:prstGeom prst="ellipse">
            <a:avLst/>
          </a:prstGeom>
          <a:solidFill>
            <a:srgbClr val="E8F6F2"/>
          </a:solidFill>
          <a:ln w="12700">
            <a:solidFill>
              <a:srgbClr val="F28B2D">
                <a:alpha val="0"/>
              </a:srgbClr>
            </a:solidFill>
            <a:prstDash val="solid"/>
          </a:ln>
        </p:spPr>
        <p:txBody>
          <a:bodyPr/>
          <a:lstStyle/>
          <a:p/>
        </p:txBody>
      </p:sp>
      <p:sp>
        <p:nvSpPr>
          <p:cNvPr id="8" name="Shape 6"/>
          <p:cNvSpPr>
            <a:spLocks noGrp="1"/>
          </p:cNvSpPr>
          <p:nvPr/>
        </p:nvSpPr>
        <p:spPr>
          <a:xfrm>
            <a:off x="9802368" y="283464"/>
            <a:ext cx="36576" cy="36576"/>
          </a:xfrm>
          <a:prstGeom prst="ellipse">
            <a:avLst/>
          </a:prstGeom>
          <a:solidFill>
            <a:srgbClr val="C6DCD5"/>
          </a:solidFill>
          <a:ln w="12700">
            <a:solidFill>
              <a:srgbClr val="C6DCD5"/>
            </a:solidFill>
            <a:prstDash val="solid"/>
          </a:ln>
        </p:spPr>
        <p:txBody>
          <a:bodyPr/>
          <a:lstStyle/>
          <a:p/>
        </p:txBody>
      </p:sp>
      <p:sp>
        <p:nvSpPr>
          <p:cNvPr id="9" name="Shape 7"/>
          <p:cNvSpPr>
            <a:spLocks noGrp="1"/>
          </p:cNvSpPr>
          <p:nvPr/>
        </p:nvSpPr>
        <p:spPr>
          <a:xfrm>
            <a:off x="9930384" y="283464"/>
            <a:ext cx="36576" cy="36576"/>
          </a:xfrm>
          <a:prstGeom prst="ellipse">
            <a:avLst/>
          </a:prstGeom>
          <a:solidFill>
            <a:srgbClr val="F28B2D"/>
          </a:solidFill>
          <a:ln w="12700">
            <a:solidFill>
              <a:srgbClr val="F28B2D"/>
            </a:solidFill>
            <a:prstDash val="solid"/>
          </a:ln>
        </p:spPr>
        <p:txBody>
          <a:bodyPr/>
          <a:lstStyle/>
          <a:p/>
        </p:txBody>
      </p:sp>
      <p:sp>
        <p:nvSpPr>
          <p:cNvPr id="10" name="Shape 8"/>
          <p:cNvSpPr>
            <a:spLocks noGrp="1"/>
          </p:cNvSpPr>
          <p:nvPr/>
        </p:nvSpPr>
        <p:spPr>
          <a:xfrm>
            <a:off x="10058400" y="283464"/>
            <a:ext cx="36576" cy="36576"/>
          </a:xfrm>
          <a:prstGeom prst="ellipse">
            <a:avLst/>
          </a:prstGeom>
          <a:solidFill>
            <a:srgbClr val="C6DCD5"/>
          </a:solidFill>
          <a:ln w="12700">
            <a:solidFill>
              <a:srgbClr val="C6DCD5"/>
            </a:solidFill>
            <a:prstDash val="solid"/>
          </a:ln>
        </p:spPr>
        <p:txBody>
          <a:bodyPr/>
          <a:lstStyle/>
          <a:p/>
        </p:txBody>
      </p:sp>
      <p:sp>
        <p:nvSpPr>
          <p:cNvPr id="11" name="Shape 9"/>
          <p:cNvSpPr>
            <a:spLocks noGrp="1"/>
          </p:cNvSpPr>
          <p:nvPr/>
        </p:nvSpPr>
        <p:spPr>
          <a:xfrm>
            <a:off x="10186416" y="283464"/>
            <a:ext cx="36576" cy="36576"/>
          </a:xfrm>
          <a:prstGeom prst="ellipse">
            <a:avLst/>
          </a:prstGeom>
          <a:solidFill>
            <a:srgbClr val="C6DCD5"/>
          </a:solidFill>
          <a:ln w="12700">
            <a:solidFill>
              <a:srgbClr val="C6DCD5"/>
            </a:solidFill>
            <a:prstDash val="solid"/>
          </a:ln>
        </p:spPr>
        <p:txBody>
          <a:bodyPr/>
          <a:lstStyle/>
          <a:p/>
        </p:txBody>
      </p:sp>
      <p:sp>
        <p:nvSpPr>
          <p:cNvPr id="12" name="Shape 10"/>
          <p:cNvSpPr>
            <a:spLocks noGrp="1"/>
          </p:cNvSpPr>
          <p:nvPr/>
        </p:nvSpPr>
        <p:spPr>
          <a:xfrm>
            <a:off x="10314432" y="283464"/>
            <a:ext cx="36576" cy="36576"/>
          </a:xfrm>
          <a:prstGeom prst="ellipse">
            <a:avLst/>
          </a:prstGeom>
          <a:solidFill>
            <a:srgbClr val="C6DCD5"/>
          </a:solidFill>
          <a:ln w="12700">
            <a:solidFill>
              <a:srgbClr val="C6DCD5"/>
            </a:solidFill>
            <a:prstDash val="solid"/>
          </a:ln>
        </p:spPr>
        <p:txBody>
          <a:bodyPr/>
          <a:lstStyle/>
          <a:p/>
        </p:txBody>
      </p:sp>
      <p:sp>
        <p:nvSpPr>
          <p:cNvPr id="13" name="Shape 11"/>
          <p:cNvSpPr>
            <a:spLocks noGrp="1"/>
          </p:cNvSpPr>
          <p:nvPr/>
        </p:nvSpPr>
        <p:spPr>
          <a:xfrm>
            <a:off x="10442448" y="283464"/>
            <a:ext cx="36576" cy="36576"/>
          </a:xfrm>
          <a:prstGeom prst="ellipse">
            <a:avLst/>
          </a:prstGeom>
          <a:solidFill>
            <a:srgbClr val="C6DCD5"/>
          </a:solidFill>
          <a:ln w="12700">
            <a:solidFill>
              <a:srgbClr val="C6DCD5"/>
            </a:solidFill>
            <a:prstDash val="solid"/>
          </a:ln>
        </p:spPr>
        <p:txBody>
          <a:bodyPr/>
          <a:lstStyle/>
          <a:p/>
        </p:txBody>
      </p:sp>
      <p:sp>
        <p:nvSpPr>
          <p:cNvPr id="14" name="Shape 12"/>
          <p:cNvSpPr>
            <a:spLocks noGrp="1"/>
          </p:cNvSpPr>
          <p:nvPr/>
        </p:nvSpPr>
        <p:spPr>
          <a:xfrm>
            <a:off x="640080" y="6528816"/>
            <a:ext cx="10927080" cy="0"/>
          </a:xfrm>
          <a:prstGeom prst="line">
            <a:avLst/>
          </a:prstGeom>
          <a:noFill/>
          <a:ln w="10160">
            <a:solidFill>
              <a:srgbClr val="D8E7E2"/>
            </a:solidFill>
            <a:prstDash val="solid"/>
          </a:ln>
        </p:spPr>
        <p:txBody>
          <a:bodyPr/>
          <a:lstStyle/>
          <a:p/>
        </p:txBody>
      </p:sp>
      <p:sp>
        <p:nvSpPr>
          <p:cNvPr id="15" name="Text 13"/>
          <p:cNvSpPr>
            <a:spLocks noGrp="1"/>
          </p:cNvSpPr>
          <p:nvPr/>
        </p:nvSpPr>
        <p:spPr>
          <a:xfrm>
            <a:off x="658368" y="6565392"/>
            <a:ext cx="3108960" cy="16459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buNone/>
            </a:pPr>
            <a:r>
              <a:rPr sz="750">
                <a:solidFill>
                  <a:srgbClr val="55696A"/>
                </a:solidFill>
                <a:latin typeface="Noto Sans CJK SC"/>
                <a:ea typeface="Noto Sans CJK SC"/>
                <a:cs typeface="Noto Sans CJK SC"/>
              </a:rPr>
              <a:t>CUSTOMER SERVICE AI AGENT</a:t>
            </a:r>
            <a:endParaRPr sz="750"/>
          </a:p>
        </p:txBody>
      </p:sp>
      <p:sp>
        <p:nvSpPr>
          <p:cNvPr id="16" name="Text 14"/>
          <p:cNvSpPr>
            <a:spLocks noGrp="1"/>
          </p:cNvSpPr>
          <p:nvPr/>
        </p:nvSpPr>
        <p:spPr>
          <a:xfrm>
            <a:off x="10881360" y="6537960"/>
            <a:ext cx="658368" cy="18288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</a:pPr>
            <a:r>
              <a:rPr sz="880" b="1">
                <a:solidFill>
                  <a:srgbClr val="076B50"/>
                </a:solidFill>
                <a:latin typeface="Noto Sans CJK SC"/>
                <a:ea typeface="Noto Sans CJK SC"/>
                <a:cs typeface="Noto Sans CJK SC"/>
              </a:rPr>
              <a:t>53</a:t>
            </a:r>
            <a:endParaRPr sz="880" b="1">
              <a:solidFill>
                <a:srgbClr val="F28B36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5" name="Rectangle 64"/>
          <p:cNvSpPr>
            <a:spLocks noGrp="1"/>
          </p:cNvSpPr>
          <p:nvPr/>
        </p:nvSpPr>
        <p:spPr>
          <a:xfrm>
            <a:off x="0" y="0"/>
            <a:ext cx="41148" cy="6858000"/>
          </a:xfrm>
          <a:prstGeom prst="rect">
            <a:avLst/>
          </a:prstGeom>
          <a:solidFill>
            <a:srgbClr val="0A8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77" name="Rounded Rectangle 76"/>
          <p:cNvSpPr>
            <a:spLocks noGrp="1"/>
          </p:cNvSpPr>
          <p:nvPr/>
        </p:nvSpPr>
        <p:spPr>
          <a:xfrm>
            <a:off x="713232" y="1591056"/>
            <a:ext cx="10533888" cy="274320"/>
          </a:xfrm>
          <a:prstGeom prst="roundRect">
            <a:avLst>
              <a:gd name="adj" fmla="val 4000"/>
            </a:avLst>
          </a:prstGeom>
          <a:solidFill>
            <a:srgbClr val="F7FBF9"/>
          </a:solidFill>
          <a:ln w="13970">
            <a:solidFill>
              <a:srgbClr val="C9D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78" name="TextBox 77"/>
          <p:cNvSpPr>
            <a:spLocks noGrp="1"/>
          </p:cNvSpPr>
          <p:nvPr/>
        </p:nvSpPr>
        <p:spPr>
          <a:xfrm>
            <a:off x="841248" y="1655064"/>
            <a:ext cx="170078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740" b="1">
                <a:solidFill>
                  <a:srgbClr val="44585C"/>
                </a:solidFill>
                <a:latin typeface="Noto Sans CJK SC"/>
                <a:ea typeface="Noto Sans CJK SC"/>
                <a:cs typeface="Noto Sans CJK SC"/>
              </a:rPr>
              <a:t>运行状态</a:t>
            </a:r>
            <a:endParaRPr sz="740" b="1">
              <a:solidFill>
                <a:srgbClr val="44585C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9" name="TextBox 78"/>
          <p:cNvSpPr>
            <a:spLocks noGrp="1"/>
          </p:cNvSpPr>
          <p:nvPr/>
        </p:nvSpPr>
        <p:spPr>
          <a:xfrm>
            <a:off x="2724912" y="1655064"/>
            <a:ext cx="294436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740" b="1">
                <a:solidFill>
                  <a:srgbClr val="44585C"/>
                </a:solidFill>
                <a:latin typeface="Noto Sans CJK SC"/>
                <a:ea typeface="Noto Sans CJK SC"/>
                <a:cs typeface="Noto Sans CJK SC"/>
              </a:rPr>
              <a:t>触发信号</a:t>
            </a:r>
            <a:endParaRPr sz="740" b="1">
              <a:solidFill>
                <a:srgbClr val="44585C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80" name="TextBox 79"/>
          <p:cNvSpPr>
            <a:spLocks noGrp="1"/>
          </p:cNvSpPr>
          <p:nvPr/>
        </p:nvSpPr>
        <p:spPr>
          <a:xfrm>
            <a:off x="5852159" y="1655064"/>
            <a:ext cx="294436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740" b="1">
                <a:solidFill>
                  <a:srgbClr val="44585C"/>
                </a:solidFill>
                <a:latin typeface="Noto Sans CJK SC"/>
                <a:ea typeface="Noto Sans CJK SC"/>
                <a:cs typeface="Noto Sans CJK SC"/>
              </a:rPr>
              <a:t>系统动作</a:t>
            </a:r>
            <a:endParaRPr sz="740" b="1">
              <a:solidFill>
                <a:srgbClr val="44585C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81" name="TextBox 80"/>
          <p:cNvSpPr>
            <a:spLocks noGrp="1"/>
          </p:cNvSpPr>
          <p:nvPr/>
        </p:nvSpPr>
        <p:spPr>
          <a:xfrm>
            <a:off x="8979408" y="1655064"/>
            <a:ext cx="221284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740" b="1">
                <a:solidFill>
                  <a:srgbClr val="44585C"/>
                </a:solidFill>
                <a:latin typeface="Noto Sans CJK SC"/>
                <a:ea typeface="Noto Sans CJK SC"/>
                <a:cs typeface="Noto Sans CJK SC"/>
              </a:rPr>
              <a:t>责任落点</a:t>
            </a:r>
            <a:endParaRPr sz="740" b="1">
              <a:solidFill>
                <a:srgbClr val="44585C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82" name="Rounded Rectangle 81"/>
          <p:cNvSpPr>
            <a:spLocks noGrp="1"/>
          </p:cNvSpPr>
          <p:nvPr/>
        </p:nvSpPr>
        <p:spPr>
          <a:xfrm>
            <a:off x="713232" y="1901952"/>
            <a:ext cx="10533888" cy="34747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9D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83" name="Rounded Rectangle 82"/>
          <p:cNvSpPr>
            <a:spLocks noGrp="1"/>
          </p:cNvSpPr>
          <p:nvPr/>
        </p:nvSpPr>
        <p:spPr>
          <a:xfrm>
            <a:off x="713232" y="1901952"/>
            <a:ext cx="54864" cy="347472"/>
          </a:xfrm>
          <a:prstGeom prst="roundRect">
            <a:avLst>
              <a:gd name="adj" fmla="val 4000"/>
            </a:avLst>
          </a:prstGeom>
          <a:solidFill>
            <a:srgbClr val="6B6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84" name="TextBox 83"/>
          <p:cNvSpPr>
            <a:spLocks noGrp="1"/>
          </p:cNvSpPr>
          <p:nvPr/>
        </p:nvSpPr>
        <p:spPr>
          <a:xfrm>
            <a:off x="859536" y="2002536"/>
            <a:ext cx="166420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780" b="1">
                <a:solidFill>
                  <a:srgbClr val="14383E"/>
                </a:solidFill>
                <a:latin typeface="Noto Sans CJK SC"/>
                <a:ea typeface="Noto Sans CJK SC"/>
                <a:cs typeface="Noto Sans CJK SC"/>
              </a:rPr>
              <a:t>等待客户信息</a:t>
            </a:r>
            <a:endParaRPr sz="780" b="1">
              <a:solidFill>
                <a:srgbClr val="14383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85" name="TextBox 84"/>
          <p:cNvSpPr>
            <a:spLocks noGrp="1"/>
          </p:cNvSpPr>
          <p:nvPr/>
        </p:nvSpPr>
        <p:spPr>
          <a:xfrm>
            <a:off x="2724912" y="2011680"/>
            <a:ext cx="294436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650" b="0">
                <a:solidFill>
                  <a:srgbClr val="44585C"/>
                </a:solidFill>
                <a:latin typeface="Courier New" panose="02070409020205090404"/>
                <a:ea typeface="Courier New" panose="02070409020205090404"/>
                <a:cs typeface="Courier New" panose="02070409020205090404"/>
              </a:rPr>
              <a:t>缺少必要字段；补问已经发出</a:t>
            </a:r>
            <a:endParaRPr sz="650" b="0">
              <a:solidFill>
                <a:srgbClr val="44585C"/>
              </a:solidFill>
              <a:latin typeface="Courier New" panose="02070409020205090404"/>
              <a:ea typeface="Courier New" panose="02070409020205090404"/>
              <a:cs typeface="Courier New" panose="02070409020205090404"/>
            </a:endParaRPr>
          </a:p>
        </p:txBody>
      </p:sp>
      <p:sp>
        <p:nvSpPr>
          <p:cNvPr id="86" name="TextBox 85"/>
          <p:cNvSpPr>
            <a:spLocks noGrp="1"/>
          </p:cNvSpPr>
          <p:nvPr/>
        </p:nvSpPr>
        <p:spPr>
          <a:xfrm>
            <a:off x="5852159" y="2002536"/>
            <a:ext cx="29443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740" b="0">
                <a:solidFill>
                  <a:srgbClr val="14383E"/>
                </a:solidFill>
                <a:latin typeface="Noto Sans CJK SC"/>
                <a:ea typeface="Noto Sans CJK SC"/>
                <a:cs typeface="Noto Sans CJK SC"/>
              </a:rPr>
              <a:t>保存缺口、已知事实和下一步</a:t>
            </a:r>
            <a:endParaRPr sz="740" b="0">
              <a:solidFill>
                <a:srgbClr val="14383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87" name="TextBox 86"/>
          <p:cNvSpPr>
            <a:spLocks noGrp="1"/>
          </p:cNvSpPr>
          <p:nvPr/>
        </p:nvSpPr>
        <p:spPr>
          <a:xfrm>
            <a:off x="8979408" y="2002536"/>
            <a:ext cx="221284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740" b="1">
                <a:solidFill>
                  <a:srgbClr val="4A4EB0"/>
                </a:solidFill>
                <a:latin typeface="Noto Sans CJK SC"/>
                <a:ea typeface="Noto Sans CJK SC"/>
                <a:cs typeface="Noto Sans CJK SC"/>
              </a:rPr>
              <a:t>客户补充后续跑</a:t>
            </a:r>
            <a:endParaRPr sz="740" b="1">
              <a:solidFill>
                <a:srgbClr val="4A4EB0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88" name="Rounded Rectangle 87"/>
          <p:cNvSpPr>
            <a:spLocks noGrp="1"/>
          </p:cNvSpPr>
          <p:nvPr/>
        </p:nvSpPr>
        <p:spPr>
          <a:xfrm>
            <a:off x="713232" y="2286000"/>
            <a:ext cx="10533888" cy="34747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9D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89" name="Rounded Rectangle 88"/>
          <p:cNvSpPr>
            <a:spLocks noGrp="1"/>
          </p:cNvSpPr>
          <p:nvPr/>
        </p:nvSpPr>
        <p:spPr>
          <a:xfrm>
            <a:off x="713232" y="2286000"/>
            <a:ext cx="54864" cy="347472"/>
          </a:xfrm>
          <a:prstGeom prst="roundRect">
            <a:avLst>
              <a:gd name="adj" fmla="val 4000"/>
            </a:avLst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90" name="TextBox 89"/>
          <p:cNvSpPr>
            <a:spLocks noGrp="1"/>
          </p:cNvSpPr>
          <p:nvPr/>
        </p:nvSpPr>
        <p:spPr>
          <a:xfrm>
            <a:off x="859536" y="2386584"/>
            <a:ext cx="166420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780" b="1">
                <a:solidFill>
                  <a:srgbClr val="14383E"/>
                </a:solidFill>
                <a:latin typeface="Noto Sans CJK SC"/>
                <a:ea typeface="Noto Sans CJK SC"/>
                <a:cs typeface="Noto Sans CJK SC"/>
              </a:rPr>
              <a:t>等待客户确认</a:t>
            </a:r>
            <a:endParaRPr sz="780" b="1">
              <a:solidFill>
                <a:srgbClr val="14383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91" name="TextBox 90"/>
          <p:cNvSpPr>
            <a:spLocks noGrp="1"/>
          </p:cNvSpPr>
          <p:nvPr/>
        </p:nvSpPr>
        <p:spPr>
          <a:xfrm>
            <a:off x="2724912" y="2395728"/>
            <a:ext cx="294436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650" b="0">
                <a:solidFill>
                  <a:srgbClr val="44585C"/>
                </a:solidFill>
                <a:latin typeface="Courier New" panose="02070409020205090404"/>
                <a:ea typeface="Courier New" panose="02070409020205090404"/>
                <a:cs typeface="Courier New" panose="02070409020205090404"/>
              </a:rPr>
              <a:t>写操作尚未获得明确授权</a:t>
            </a:r>
            <a:endParaRPr sz="650" b="0">
              <a:solidFill>
                <a:srgbClr val="44585C"/>
              </a:solidFill>
              <a:latin typeface="Courier New" panose="02070409020205090404"/>
              <a:ea typeface="Courier New" panose="02070409020205090404"/>
              <a:cs typeface="Courier New" panose="02070409020205090404"/>
            </a:endParaRPr>
          </a:p>
        </p:txBody>
      </p:sp>
      <p:sp>
        <p:nvSpPr>
          <p:cNvPr id="92" name="TextBox 91"/>
          <p:cNvSpPr>
            <a:spLocks noGrp="1"/>
          </p:cNvSpPr>
          <p:nvPr/>
        </p:nvSpPr>
        <p:spPr>
          <a:xfrm>
            <a:off x="5852159" y="2386584"/>
            <a:ext cx="29443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740" b="0">
                <a:solidFill>
                  <a:srgbClr val="14383E"/>
                </a:solidFill>
                <a:latin typeface="Noto Sans CJK SC"/>
                <a:ea typeface="Noto Sans CJK SC"/>
                <a:cs typeface="Noto Sans CJK SC"/>
              </a:rPr>
              <a:t>锁定执行计划，不产生副作用</a:t>
            </a:r>
            <a:endParaRPr sz="740" b="0">
              <a:solidFill>
                <a:srgbClr val="14383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93" name="TextBox 92"/>
          <p:cNvSpPr>
            <a:spLocks noGrp="1"/>
          </p:cNvSpPr>
          <p:nvPr/>
        </p:nvSpPr>
        <p:spPr>
          <a:xfrm>
            <a:off x="8979408" y="2386584"/>
            <a:ext cx="221284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740" b="1">
                <a:solidFill>
                  <a:srgbClr val="1B5FC4"/>
                </a:solidFill>
                <a:latin typeface="Noto Sans CJK SC"/>
                <a:ea typeface="Noto Sans CJK SC"/>
                <a:cs typeface="Noto Sans CJK SC"/>
              </a:rPr>
              <a:t>确认后继续；拒绝则终止</a:t>
            </a:r>
            <a:endParaRPr sz="740" b="1">
              <a:solidFill>
                <a:srgbClr val="1B5FC4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94" name="Rounded Rectangle 93"/>
          <p:cNvSpPr>
            <a:spLocks noGrp="1"/>
          </p:cNvSpPr>
          <p:nvPr/>
        </p:nvSpPr>
        <p:spPr>
          <a:xfrm>
            <a:off x="713232" y="2670048"/>
            <a:ext cx="10533888" cy="34747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9D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95" name="Rounded Rectangle 94"/>
          <p:cNvSpPr>
            <a:spLocks noGrp="1"/>
          </p:cNvSpPr>
          <p:nvPr/>
        </p:nvSpPr>
        <p:spPr>
          <a:xfrm>
            <a:off x="713232" y="2670048"/>
            <a:ext cx="54864" cy="347472"/>
          </a:xfrm>
          <a:prstGeom prst="roundRect">
            <a:avLst>
              <a:gd name="adj" fmla="val 4000"/>
            </a:avLst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96" name="TextBox 95"/>
          <p:cNvSpPr>
            <a:spLocks noGrp="1"/>
          </p:cNvSpPr>
          <p:nvPr/>
        </p:nvSpPr>
        <p:spPr>
          <a:xfrm>
            <a:off x="859536" y="2770632"/>
            <a:ext cx="166420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780" b="1">
                <a:solidFill>
                  <a:srgbClr val="14383E"/>
                </a:solidFill>
                <a:latin typeface="Noto Sans CJK SC"/>
                <a:ea typeface="Noto Sans CJK SC"/>
                <a:cs typeface="Noto Sans CJK SC"/>
              </a:rPr>
              <a:t>执行中</a:t>
            </a:r>
            <a:endParaRPr sz="780" b="1">
              <a:solidFill>
                <a:srgbClr val="14383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97" name="TextBox 96"/>
          <p:cNvSpPr>
            <a:spLocks noGrp="1"/>
          </p:cNvSpPr>
          <p:nvPr/>
        </p:nvSpPr>
        <p:spPr>
          <a:xfrm>
            <a:off x="2724912" y="2779776"/>
            <a:ext cx="294436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650" b="0">
                <a:solidFill>
                  <a:srgbClr val="44585C"/>
                </a:solidFill>
                <a:latin typeface="Courier New" panose="02070409020205090404"/>
                <a:ea typeface="Courier New" panose="02070409020205090404"/>
                <a:cs typeface="Courier New" panose="02070409020205090404"/>
              </a:rPr>
              <a:t>工具已启动；幂等键已建立</a:t>
            </a:r>
            <a:endParaRPr sz="650" b="0">
              <a:solidFill>
                <a:srgbClr val="44585C"/>
              </a:solidFill>
              <a:latin typeface="Courier New" panose="02070409020205090404"/>
              <a:ea typeface="Courier New" panose="02070409020205090404"/>
              <a:cs typeface="Courier New" panose="02070409020205090404"/>
            </a:endParaRPr>
          </a:p>
        </p:txBody>
      </p:sp>
      <p:sp>
        <p:nvSpPr>
          <p:cNvPr id="98" name="TextBox 97"/>
          <p:cNvSpPr>
            <a:spLocks noGrp="1"/>
          </p:cNvSpPr>
          <p:nvPr/>
        </p:nvSpPr>
        <p:spPr>
          <a:xfrm>
            <a:off x="5852159" y="2770632"/>
            <a:ext cx="29443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740" b="0">
                <a:solidFill>
                  <a:srgbClr val="14383E"/>
                </a:solidFill>
                <a:latin typeface="Noto Sans CJK SC"/>
                <a:ea typeface="Noto Sans CJK SC"/>
                <a:cs typeface="Noto Sans CJK SC"/>
              </a:rPr>
              <a:t>记录阶段、参数摘要和返回</a:t>
            </a:r>
            <a:endParaRPr sz="740" b="0">
              <a:solidFill>
                <a:srgbClr val="14383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99" name="TextBox 98"/>
          <p:cNvSpPr>
            <a:spLocks noGrp="1"/>
          </p:cNvSpPr>
          <p:nvPr/>
        </p:nvSpPr>
        <p:spPr>
          <a:xfrm>
            <a:off x="8979408" y="2770632"/>
            <a:ext cx="221284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740" b="1">
                <a:solidFill>
                  <a:srgbClr val="1B5FC4"/>
                </a:solidFill>
                <a:latin typeface="Noto Sans CJK SC"/>
                <a:ea typeface="Noto Sans CJK SC"/>
                <a:cs typeface="Noto Sans CJK SC"/>
              </a:rPr>
              <a:t>完成或进入异常恢复</a:t>
            </a:r>
            <a:endParaRPr sz="740" b="1">
              <a:solidFill>
                <a:srgbClr val="1B5FC4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00" name="Rounded Rectangle 99"/>
          <p:cNvSpPr>
            <a:spLocks noGrp="1"/>
          </p:cNvSpPr>
          <p:nvPr/>
        </p:nvSpPr>
        <p:spPr>
          <a:xfrm>
            <a:off x="713232" y="3054096"/>
            <a:ext cx="10533888" cy="34747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9D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101" name="Rounded Rectangle 100"/>
          <p:cNvSpPr>
            <a:spLocks noGrp="1"/>
          </p:cNvSpPr>
          <p:nvPr/>
        </p:nvSpPr>
        <p:spPr>
          <a:xfrm>
            <a:off x="713232" y="3054096"/>
            <a:ext cx="54864" cy="347472"/>
          </a:xfrm>
          <a:prstGeom prst="roundRect">
            <a:avLst>
              <a:gd name="adj" fmla="val 4000"/>
            </a:avLst>
          </a:prstGeom>
          <a:solidFill>
            <a:srgbClr val="00A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102" name="TextBox 101"/>
          <p:cNvSpPr>
            <a:spLocks noGrp="1"/>
          </p:cNvSpPr>
          <p:nvPr/>
        </p:nvSpPr>
        <p:spPr>
          <a:xfrm>
            <a:off x="859536" y="3154679"/>
            <a:ext cx="166420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780" b="1">
                <a:solidFill>
                  <a:srgbClr val="14383E"/>
                </a:solidFill>
                <a:latin typeface="Noto Sans CJK SC"/>
                <a:ea typeface="Noto Sans CJK SC"/>
                <a:cs typeface="Noto Sans CJK SC"/>
              </a:rPr>
              <a:t>Pending 观察</a:t>
            </a:r>
            <a:endParaRPr sz="780" b="1">
              <a:solidFill>
                <a:srgbClr val="14383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03" name="TextBox 102"/>
          <p:cNvSpPr>
            <a:spLocks noGrp="1"/>
          </p:cNvSpPr>
          <p:nvPr/>
        </p:nvSpPr>
        <p:spPr>
          <a:xfrm>
            <a:off x="2724912" y="3163824"/>
            <a:ext cx="294436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650" b="0">
                <a:solidFill>
                  <a:srgbClr val="44585C"/>
                </a:solidFill>
                <a:latin typeface="Courier New" panose="02070409020205090404"/>
                <a:ea typeface="Courier New" panose="02070409020205090404"/>
                <a:cs typeface="Courier New" panose="02070409020205090404"/>
              </a:rPr>
              <a:t>已回复；等待客户进一步反馈</a:t>
            </a:r>
            <a:endParaRPr sz="650" b="0">
              <a:solidFill>
                <a:srgbClr val="44585C"/>
              </a:solidFill>
              <a:latin typeface="Courier New" panose="02070409020205090404"/>
              <a:ea typeface="Courier New" panose="02070409020205090404"/>
              <a:cs typeface="Courier New" panose="02070409020205090404"/>
            </a:endParaRPr>
          </a:p>
        </p:txBody>
      </p:sp>
      <p:sp>
        <p:nvSpPr>
          <p:cNvPr id="104" name="TextBox 103"/>
          <p:cNvSpPr>
            <a:spLocks noGrp="1"/>
          </p:cNvSpPr>
          <p:nvPr/>
        </p:nvSpPr>
        <p:spPr>
          <a:xfrm>
            <a:off x="5852159" y="3154679"/>
            <a:ext cx="29443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740" b="0">
                <a:solidFill>
                  <a:srgbClr val="14383E"/>
                </a:solidFill>
                <a:latin typeface="Noto Sans CJK SC"/>
                <a:ea typeface="Noto Sans CJK SC"/>
                <a:cs typeface="Noto Sans CJK SC"/>
              </a:rPr>
              <a:t>保留冷却窗口和处理事实</a:t>
            </a:r>
            <a:endParaRPr sz="740" b="0">
              <a:solidFill>
                <a:srgbClr val="14383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05" name="TextBox 104"/>
          <p:cNvSpPr>
            <a:spLocks noGrp="1"/>
          </p:cNvSpPr>
          <p:nvPr/>
        </p:nvSpPr>
        <p:spPr>
          <a:xfrm>
            <a:off x="8979408" y="3154679"/>
            <a:ext cx="221284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740" b="1">
                <a:solidFill>
                  <a:srgbClr val="00706F"/>
                </a:solidFill>
                <a:latin typeface="Noto Sans CJK SC"/>
                <a:ea typeface="Noto Sans CJK SC"/>
                <a:cs typeface="Noto Sans CJK SC"/>
              </a:rPr>
              <a:t>满足条件后自动收尾</a:t>
            </a:r>
            <a:endParaRPr sz="740" b="1">
              <a:solidFill>
                <a:srgbClr val="00706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06" name="Rounded Rectangle 105"/>
          <p:cNvSpPr>
            <a:spLocks noGrp="1"/>
          </p:cNvSpPr>
          <p:nvPr/>
        </p:nvSpPr>
        <p:spPr>
          <a:xfrm>
            <a:off x="713232" y="3438144"/>
            <a:ext cx="10533888" cy="34747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9D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107" name="Rounded Rectangle 106"/>
          <p:cNvSpPr>
            <a:spLocks noGrp="1"/>
          </p:cNvSpPr>
          <p:nvPr/>
        </p:nvSpPr>
        <p:spPr>
          <a:xfrm>
            <a:off x="713232" y="3438144"/>
            <a:ext cx="54864" cy="347472"/>
          </a:xfrm>
          <a:prstGeom prst="roundRect">
            <a:avLst>
              <a:gd name="adj" fmla="val 4000"/>
            </a:avLst>
          </a:prstGeom>
          <a:solidFill>
            <a:srgbClr val="0A8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108" name="TextBox 107"/>
          <p:cNvSpPr>
            <a:spLocks noGrp="1"/>
          </p:cNvSpPr>
          <p:nvPr/>
        </p:nvSpPr>
        <p:spPr>
          <a:xfrm>
            <a:off x="859536" y="3538727"/>
            <a:ext cx="166420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780" b="1">
                <a:solidFill>
                  <a:srgbClr val="14383E"/>
                </a:solidFill>
                <a:latin typeface="Noto Sans CJK SC"/>
                <a:ea typeface="Noto Sans CJK SC"/>
                <a:cs typeface="Noto Sans CJK SC"/>
              </a:rPr>
              <a:t>人工接管</a:t>
            </a:r>
            <a:endParaRPr sz="780" b="1">
              <a:solidFill>
                <a:srgbClr val="14383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09" name="TextBox 108"/>
          <p:cNvSpPr>
            <a:spLocks noGrp="1"/>
          </p:cNvSpPr>
          <p:nvPr/>
        </p:nvSpPr>
        <p:spPr>
          <a:xfrm>
            <a:off x="2724912" y="3547872"/>
            <a:ext cx="294436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650" b="0">
                <a:solidFill>
                  <a:srgbClr val="44585C"/>
                </a:solidFill>
                <a:latin typeface="Courier New" panose="02070409020205090404"/>
                <a:ea typeface="Courier New" panose="02070409020205090404"/>
                <a:cs typeface="Courier New" panose="02070409020205090404"/>
              </a:rPr>
              <a:t>真人公开回复或显式接手</a:t>
            </a:r>
            <a:endParaRPr sz="650" b="0">
              <a:solidFill>
                <a:srgbClr val="44585C"/>
              </a:solidFill>
              <a:latin typeface="Courier New" panose="02070409020205090404"/>
              <a:ea typeface="Courier New" panose="02070409020205090404"/>
              <a:cs typeface="Courier New" panose="02070409020205090404"/>
            </a:endParaRPr>
          </a:p>
        </p:txBody>
      </p:sp>
      <p:sp>
        <p:nvSpPr>
          <p:cNvPr id="110" name="TextBox 109"/>
          <p:cNvSpPr>
            <a:spLocks noGrp="1"/>
          </p:cNvSpPr>
          <p:nvPr/>
        </p:nvSpPr>
        <p:spPr>
          <a:xfrm>
            <a:off x="5852159" y="3538727"/>
            <a:ext cx="29443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740" b="0">
                <a:solidFill>
                  <a:srgbClr val="14383E"/>
                </a:solidFill>
                <a:latin typeface="Noto Sans CJK SC"/>
                <a:ea typeface="Noto Sans CJK SC"/>
                <a:cs typeface="Noto Sans CJK SC"/>
              </a:rPr>
              <a:t>停止 AI 自动发送</a:t>
            </a:r>
            <a:endParaRPr sz="740" b="0">
              <a:solidFill>
                <a:srgbClr val="14383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11" name="TextBox 110"/>
          <p:cNvSpPr>
            <a:spLocks noGrp="1"/>
          </p:cNvSpPr>
          <p:nvPr/>
        </p:nvSpPr>
        <p:spPr>
          <a:xfrm>
            <a:off x="8979408" y="3538727"/>
            <a:ext cx="221284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740" b="1">
                <a:solidFill>
                  <a:srgbClr val="076B50"/>
                </a:solidFill>
                <a:latin typeface="Noto Sans CJK SC"/>
                <a:ea typeface="Noto Sans CJK SC"/>
                <a:cs typeface="Noto Sans CJK SC"/>
              </a:rPr>
              <a:t>人工负责当前工单</a:t>
            </a:r>
            <a:endParaRPr sz="740" b="1">
              <a:solidFill>
                <a:srgbClr val="076B50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12" name="Rounded Rectangle 111"/>
          <p:cNvSpPr>
            <a:spLocks noGrp="1"/>
          </p:cNvSpPr>
          <p:nvPr/>
        </p:nvSpPr>
        <p:spPr>
          <a:xfrm>
            <a:off x="713232" y="3822191"/>
            <a:ext cx="10533888" cy="34747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9D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113" name="Rounded Rectangle 112"/>
          <p:cNvSpPr>
            <a:spLocks noGrp="1"/>
          </p:cNvSpPr>
          <p:nvPr/>
        </p:nvSpPr>
        <p:spPr>
          <a:xfrm>
            <a:off x="713232" y="3822191"/>
            <a:ext cx="54864" cy="347472"/>
          </a:xfrm>
          <a:prstGeom prst="roundRect">
            <a:avLst>
              <a:gd name="adj" fmla="val 4000"/>
            </a:avLst>
          </a:prstGeom>
          <a:solidFill>
            <a:srgbClr val="0A8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114" name="TextBox 113"/>
          <p:cNvSpPr>
            <a:spLocks noGrp="1"/>
          </p:cNvSpPr>
          <p:nvPr/>
        </p:nvSpPr>
        <p:spPr>
          <a:xfrm>
            <a:off x="859536" y="3922776"/>
            <a:ext cx="166420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780" b="1">
                <a:solidFill>
                  <a:srgbClr val="14383E"/>
                </a:solidFill>
                <a:latin typeface="Noto Sans CJK SC"/>
                <a:ea typeface="Noto Sans CJK SC"/>
                <a:cs typeface="Noto Sans CJK SC"/>
              </a:rPr>
              <a:t>AI 超时</a:t>
            </a:r>
            <a:endParaRPr sz="780" b="1">
              <a:solidFill>
                <a:srgbClr val="14383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15" name="TextBox 114"/>
          <p:cNvSpPr>
            <a:spLocks noGrp="1"/>
          </p:cNvSpPr>
          <p:nvPr/>
        </p:nvSpPr>
        <p:spPr>
          <a:xfrm>
            <a:off x="2724912" y="3931920"/>
            <a:ext cx="294436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650" b="0">
                <a:solidFill>
                  <a:srgbClr val="44585C"/>
                </a:solidFill>
                <a:latin typeface="Courier New" panose="02070409020205090404"/>
                <a:ea typeface="Courier New" panose="02070409020205090404"/>
                <a:cs typeface="Courier New" panose="02070409020205090404"/>
              </a:rPr>
              <a:t>超过服务阈值仍无公开回复</a:t>
            </a:r>
            <a:endParaRPr sz="650" b="0">
              <a:solidFill>
                <a:srgbClr val="44585C"/>
              </a:solidFill>
              <a:latin typeface="Courier New" panose="02070409020205090404"/>
              <a:ea typeface="Courier New" panose="02070409020205090404"/>
              <a:cs typeface="Courier New" panose="02070409020205090404"/>
            </a:endParaRPr>
          </a:p>
        </p:txBody>
      </p:sp>
      <p:sp>
        <p:nvSpPr>
          <p:cNvPr id="116" name="TextBox 115"/>
          <p:cNvSpPr>
            <a:spLocks noGrp="1"/>
          </p:cNvSpPr>
          <p:nvPr/>
        </p:nvSpPr>
        <p:spPr>
          <a:xfrm>
            <a:off x="5852159" y="3922776"/>
            <a:ext cx="29443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740" b="0">
                <a:solidFill>
                  <a:srgbClr val="14383E"/>
                </a:solidFill>
                <a:latin typeface="Noto Sans CJK SC"/>
                <a:ea typeface="Noto Sans CJK SC"/>
                <a:cs typeface="Noto Sans CJK SC"/>
              </a:rPr>
              <a:t>释放 AI 归属并回人工队列</a:t>
            </a:r>
            <a:endParaRPr sz="740" b="0">
              <a:solidFill>
                <a:srgbClr val="14383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17" name="TextBox 116"/>
          <p:cNvSpPr>
            <a:spLocks noGrp="1"/>
          </p:cNvSpPr>
          <p:nvPr/>
        </p:nvSpPr>
        <p:spPr>
          <a:xfrm>
            <a:off x="8979408" y="3922776"/>
            <a:ext cx="221284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740" b="1">
                <a:solidFill>
                  <a:srgbClr val="076B50"/>
                </a:solidFill>
                <a:latin typeface="Noto Sans CJK SC"/>
                <a:ea typeface="Noto Sans CJK SC"/>
                <a:cs typeface="Noto Sans CJK SC"/>
              </a:rPr>
              <a:t>人工继续处理</a:t>
            </a:r>
            <a:endParaRPr sz="740" b="1">
              <a:solidFill>
                <a:srgbClr val="076B50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18" name="Rounded Rectangle 117"/>
          <p:cNvSpPr>
            <a:spLocks noGrp="1"/>
          </p:cNvSpPr>
          <p:nvPr/>
        </p:nvSpPr>
        <p:spPr>
          <a:xfrm>
            <a:off x="713232" y="4206240"/>
            <a:ext cx="10533888" cy="34747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9D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119" name="Rounded Rectangle 118"/>
          <p:cNvSpPr>
            <a:spLocks noGrp="1"/>
          </p:cNvSpPr>
          <p:nvPr/>
        </p:nvSpPr>
        <p:spPr>
          <a:xfrm>
            <a:off x="713232" y="4206240"/>
            <a:ext cx="54864" cy="347472"/>
          </a:xfrm>
          <a:prstGeom prst="roundRect">
            <a:avLst>
              <a:gd name="adj" fmla="val 4000"/>
            </a:avLst>
          </a:prstGeom>
          <a:solidFill>
            <a:srgbClr val="F28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120" name="TextBox 119"/>
          <p:cNvSpPr>
            <a:spLocks noGrp="1"/>
          </p:cNvSpPr>
          <p:nvPr/>
        </p:nvSpPr>
        <p:spPr>
          <a:xfrm>
            <a:off x="859536" y="4306824"/>
            <a:ext cx="166420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780" b="1">
                <a:solidFill>
                  <a:srgbClr val="14383E"/>
                </a:solidFill>
                <a:latin typeface="Noto Sans CJK SC"/>
                <a:ea typeface="Noto Sans CJK SC"/>
                <a:cs typeface="Noto Sans CJK SC"/>
              </a:rPr>
              <a:t>认领租约过期</a:t>
            </a:r>
            <a:endParaRPr sz="780" b="1">
              <a:solidFill>
                <a:srgbClr val="14383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21" name="TextBox 120"/>
          <p:cNvSpPr>
            <a:spLocks noGrp="1"/>
          </p:cNvSpPr>
          <p:nvPr/>
        </p:nvSpPr>
        <p:spPr>
          <a:xfrm>
            <a:off x="2724912" y="4315968"/>
            <a:ext cx="294436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650" b="0">
                <a:solidFill>
                  <a:srgbClr val="44585C"/>
                </a:solidFill>
                <a:latin typeface="Courier New" panose="02070409020205090404"/>
                <a:ea typeface="Courier New" panose="02070409020205090404"/>
                <a:cs typeface="Courier New" panose="02070409020205090404"/>
              </a:rPr>
              <a:t>独占处理窗口失效</a:t>
            </a:r>
            <a:endParaRPr sz="650" b="0">
              <a:solidFill>
                <a:srgbClr val="44585C"/>
              </a:solidFill>
              <a:latin typeface="Courier New" panose="02070409020205090404"/>
              <a:ea typeface="Courier New" panose="02070409020205090404"/>
              <a:cs typeface="Courier New" panose="02070409020205090404"/>
            </a:endParaRPr>
          </a:p>
        </p:txBody>
      </p:sp>
      <p:sp>
        <p:nvSpPr>
          <p:cNvPr id="122" name="TextBox 121"/>
          <p:cNvSpPr>
            <a:spLocks noGrp="1"/>
          </p:cNvSpPr>
          <p:nvPr/>
        </p:nvSpPr>
        <p:spPr>
          <a:xfrm>
            <a:off x="5852159" y="4306824"/>
            <a:ext cx="29443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740" b="0">
                <a:solidFill>
                  <a:srgbClr val="14383E"/>
                </a:solidFill>
                <a:latin typeface="Noto Sans CJK SC"/>
                <a:ea typeface="Noto Sans CJK SC"/>
                <a:cs typeface="Noto Sans CJK SC"/>
              </a:rPr>
              <a:t>解除保留，允许重新认领</a:t>
            </a:r>
            <a:endParaRPr sz="740" b="0">
              <a:solidFill>
                <a:srgbClr val="14383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23" name="TextBox 122"/>
          <p:cNvSpPr>
            <a:spLocks noGrp="1"/>
          </p:cNvSpPr>
          <p:nvPr/>
        </p:nvSpPr>
        <p:spPr>
          <a:xfrm>
            <a:off x="8979408" y="4306824"/>
            <a:ext cx="221284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740" b="1">
                <a:solidFill>
                  <a:srgbClr val="9A5210"/>
                </a:solidFill>
                <a:latin typeface="Noto Sans CJK SC"/>
                <a:ea typeface="Noto Sans CJK SC"/>
                <a:cs typeface="Noto Sans CJK SC"/>
              </a:rPr>
              <a:t>新处理者负责</a:t>
            </a:r>
            <a:endParaRPr sz="740" b="1">
              <a:solidFill>
                <a:srgbClr val="9A5210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24" name="Rounded Rectangle 123"/>
          <p:cNvSpPr>
            <a:spLocks noGrp="1"/>
          </p:cNvSpPr>
          <p:nvPr/>
        </p:nvSpPr>
        <p:spPr>
          <a:xfrm>
            <a:off x="713232" y="4590288"/>
            <a:ext cx="10533888" cy="34747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9D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125" name="Rounded Rectangle 124"/>
          <p:cNvSpPr>
            <a:spLocks noGrp="1"/>
          </p:cNvSpPr>
          <p:nvPr/>
        </p:nvSpPr>
        <p:spPr>
          <a:xfrm>
            <a:off x="713232" y="4590288"/>
            <a:ext cx="54864" cy="347472"/>
          </a:xfrm>
          <a:prstGeom prst="roundRect">
            <a:avLst>
              <a:gd name="adj" fmla="val 4000"/>
            </a:avLst>
          </a:prstGeom>
          <a:solidFill>
            <a:srgbClr val="F28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126" name="TextBox 125"/>
          <p:cNvSpPr>
            <a:spLocks noGrp="1"/>
          </p:cNvSpPr>
          <p:nvPr/>
        </p:nvSpPr>
        <p:spPr>
          <a:xfrm>
            <a:off x="859536" y="4690872"/>
            <a:ext cx="166420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780" b="1">
                <a:solidFill>
                  <a:srgbClr val="14383E"/>
                </a:solidFill>
                <a:latin typeface="Noto Sans CJK SC"/>
                <a:ea typeface="Noto Sans CJK SC"/>
                <a:cs typeface="Noto Sans CJK SC"/>
              </a:rPr>
              <a:t>新动态到达</a:t>
            </a:r>
            <a:endParaRPr sz="780" b="1">
              <a:solidFill>
                <a:srgbClr val="14383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27" name="TextBox 126"/>
          <p:cNvSpPr>
            <a:spLocks noGrp="1"/>
          </p:cNvSpPr>
          <p:nvPr/>
        </p:nvSpPr>
        <p:spPr>
          <a:xfrm>
            <a:off x="2724912" y="4700016"/>
            <a:ext cx="294436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650" b="0">
                <a:solidFill>
                  <a:srgbClr val="44585C"/>
                </a:solidFill>
                <a:latin typeface="Courier New" panose="02070409020205090404"/>
                <a:ea typeface="Courier New" panose="02070409020205090404"/>
                <a:cs typeface="Courier New" panose="02070409020205090404"/>
              </a:rPr>
              <a:t>工单或业务状态已经变化</a:t>
            </a:r>
            <a:endParaRPr sz="650" b="0">
              <a:solidFill>
                <a:srgbClr val="44585C"/>
              </a:solidFill>
              <a:latin typeface="Courier New" panose="02070409020205090404"/>
              <a:ea typeface="Courier New" panose="02070409020205090404"/>
              <a:cs typeface="Courier New" panose="02070409020205090404"/>
            </a:endParaRPr>
          </a:p>
        </p:txBody>
      </p:sp>
      <p:sp>
        <p:nvSpPr>
          <p:cNvPr id="128" name="TextBox 127"/>
          <p:cNvSpPr>
            <a:spLocks noGrp="1"/>
          </p:cNvSpPr>
          <p:nvPr/>
        </p:nvSpPr>
        <p:spPr>
          <a:xfrm>
            <a:off x="5852159" y="4690872"/>
            <a:ext cx="29443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740" b="0">
                <a:solidFill>
                  <a:srgbClr val="14383E"/>
                </a:solidFill>
                <a:latin typeface="Noto Sans CJK SC"/>
                <a:ea typeface="Noto Sans CJK SC"/>
                <a:cs typeface="Noto Sans CJK SC"/>
              </a:rPr>
              <a:t>放弃旧上下文，重新判断</a:t>
            </a:r>
            <a:endParaRPr sz="740" b="0">
              <a:solidFill>
                <a:srgbClr val="14383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29" name="TextBox 128"/>
          <p:cNvSpPr>
            <a:spLocks noGrp="1"/>
          </p:cNvSpPr>
          <p:nvPr/>
        </p:nvSpPr>
        <p:spPr>
          <a:xfrm>
            <a:off x="8979408" y="4690872"/>
            <a:ext cx="221284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740" b="1">
                <a:solidFill>
                  <a:srgbClr val="9A5210"/>
                </a:solidFill>
                <a:latin typeface="Noto Sans CJK SC"/>
                <a:ea typeface="Noto Sans CJK SC"/>
                <a:cs typeface="Noto Sans CJK SC"/>
              </a:rPr>
              <a:t>Agent 或人工重新接管</a:t>
            </a:r>
            <a:endParaRPr sz="740" b="1">
              <a:solidFill>
                <a:srgbClr val="9A5210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30" name="Rounded Rectangle 129"/>
          <p:cNvSpPr>
            <a:spLocks noGrp="1"/>
          </p:cNvSpPr>
          <p:nvPr/>
        </p:nvSpPr>
        <p:spPr>
          <a:xfrm>
            <a:off x="713232" y="5029199"/>
            <a:ext cx="10533888" cy="329184"/>
          </a:xfrm>
          <a:prstGeom prst="roundRect">
            <a:avLst>
              <a:gd name="adj" fmla="val 28000"/>
            </a:avLst>
          </a:prstGeom>
          <a:solidFill>
            <a:srgbClr val="FF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131" name="TextBox 130"/>
          <p:cNvSpPr>
            <a:spLocks noGrp="1"/>
          </p:cNvSpPr>
          <p:nvPr/>
        </p:nvSpPr>
        <p:spPr>
          <a:xfrm>
            <a:off x="896112" y="5111496"/>
            <a:ext cx="1016812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740" b="1">
                <a:solidFill>
                  <a:srgbClr val="9A5210"/>
                </a:solidFill>
                <a:latin typeface="Noto Sans CJK SC"/>
                <a:ea typeface="Noto Sans CJK SC"/>
                <a:cs typeface="Noto Sans CJK SC"/>
              </a:rPr>
              <a:t>状态必须有唯一 owner：等待谁、下一步是什么、是否允许续跑，都不能靠模型猜测。</a:t>
            </a:r>
            <a:endParaRPr sz="740" b="1">
              <a:solidFill>
                <a:srgbClr val="9A5210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32" name="圆角矩形 131"/>
          <p:cNvSpPr>
            <a:spLocks noGrp="1"/>
          </p:cNvSpPr>
          <p:nvPr/>
        </p:nvSpPr>
        <p:spPr>
          <a:xfrm>
            <a:off x="6565583" y="127635"/>
            <a:ext cx="4937760" cy="365760"/>
          </a:xfrm>
          <a:prstGeom prst="roundRect">
            <a:avLst>
              <a:gd name="adj" fmla="val 20833"/>
            </a:avLst>
          </a:prstGeom>
          <a:solidFill>
            <a:srgbClr val="F7FBF9"/>
          </a:solidFill>
          <a:ln w="12668">
            <a:solidFill>
              <a:srgbClr val="F7FBF9"/>
            </a:solidFill>
            <a:prstDash val="solid"/>
          </a:ln>
        </p:spPr>
        <p:txBody>
          <a:bodyPr/>
          <a:p/>
        </p:txBody>
      </p:sp>
      <p:sp>
        <p:nvSpPr>
          <p:cNvPr id="133" name="圆角矩形 132"/>
          <p:cNvSpPr>
            <a:spLocks noGrp="1"/>
          </p:cNvSpPr>
          <p:nvPr/>
        </p:nvSpPr>
        <p:spPr>
          <a:xfrm>
            <a:off x="6657023" y="164783"/>
            <a:ext cx="1154430" cy="264795"/>
          </a:xfrm>
          <a:prstGeom prst="roundRect">
            <a:avLst>
              <a:gd name="adj" fmla="val 28777"/>
            </a:avLst>
          </a:prstGeom>
          <a:solidFill>
            <a:srgbClr val="FFFFFF"/>
          </a:solidFill>
          <a:ln w="12668">
            <a:solidFill>
              <a:srgbClr val="C9DCD7"/>
            </a:solidFill>
            <a:prstDash val="solid"/>
          </a:ln>
        </p:spPr>
        <p:txBody>
          <a:bodyPr/>
          <a:p/>
        </p:txBody>
      </p:sp>
      <p:sp>
        <p:nvSpPr>
          <p:cNvPr id="134" name="矩形 133"/>
          <p:cNvSpPr>
            <a:spLocks noGrp="1"/>
          </p:cNvSpPr>
          <p:nvPr/>
        </p:nvSpPr>
        <p:spPr>
          <a:xfrm>
            <a:off x="6657023" y="187643"/>
            <a:ext cx="1154430" cy="182880"/>
          </a:xfrm>
          <a:prstGeom prst="rect">
            <a:avLst/>
          </a:prstGeom>
        </p:spPr>
        <p:txBody>
          <a:bodyPr anchor="ctr"/>
          <a:lstStyle/>
          <a:p>
            <a:pPr algn="ctr">
              <a:defRPr sz="650" b="0">
                <a:solidFill>
                  <a:srgbClr val="44585C"/>
                </a:solidFill>
              </a:defRPr>
            </a:pPr>
            <a:r>
              <a:t>理解</a:t>
            </a:r>
          </a:p>
        </p:txBody>
      </p:sp>
      <p:sp>
        <p:nvSpPr>
          <p:cNvPr id="135" name="圆角矩形 134"/>
          <p:cNvSpPr>
            <a:spLocks noGrp="1"/>
          </p:cNvSpPr>
          <p:nvPr/>
        </p:nvSpPr>
        <p:spPr>
          <a:xfrm>
            <a:off x="7857173" y="164783"/>
            <a:ext cx="1154430" cy="264795"/>
          </a:xfrm>
          <a:prstGeom prst="roundRect">
            <a:avLst>
              <a:gd name="adj" fmla="val 28777"/>
            </a:avLst>
          </a:prstGeom>
          <a:solidFill>
            <a:srgbClr val="007574"/>
          </a:solidFill>
          <a:ln w="12668">
            <a:solidFill>
              <a:srgbClr val="007574"/>
            </a:solidFill>
            <a:prstDash val="solid"/>
          </a:ln>
        </p:spPr>
        <p:txBody>
          <a:bodyPr/>
          <a:p/>
        </p:txBody>
      </p:sp>
      <p:sp>
        <p:nvSpPr>
          <p:cNvPr id="136" name="矩形 135"/>
          <p:cNvSpPr>
            <a:spLocks noGrp="1"/>
          </p:cNvSpPr>
          <p:nvPr/>
        </p:nvSpPr>
        <p:spPr>
          <a:xfrm>
            <a:off x="7857173" y="187643"/>
            <a:ext cx="1154430" cy="182880"/>
          </a:xfrm>
          <a:prstGeom prst="rect">
            <a:avLst/>
          </a:prstGeom>
        </p:spPr>
        <p:txBody>
          <a:bodyPr anchor="ctr"/>
          <a:lstStyle/>
          <a:p>
            <a:pPr algn="ctr">
              <a:defRPr sz="660" b="1">
                <a:solidFill>
                  <a:srgbClr val="FFFFFF"/>
                </a:solidFill>
              </a:defRPr>
            </a:pPr>
            <a:r>
              <a:t>查询</a:t>
            </a:r>
          </a:p>
        </p:txBody>
      </p:sp>
      <p:sp>
        <p:nvSpPr>
          <p:cNvPr id="137" name="圆角矩形 136"/>
          <p:cNvSpPr>
            <a:spLocks noGrp="1"/>
          </p:cNvSpPr>
          <p:nvPr/>
        </p:nvSpPr>
        <p:spPr>
          <a:xfrm>
            <a:off x="9057323" y="164783"/>
            <a:ext cx="1154430" cy="264795"/>
          </a:xfrm>
          <a:prstGeom prst="roundRect">
            <a:avLst>
              <a:gd name="adj" fmla="val 28777"/>
            </a:avLst>
          </a:prstGeom>
          <a:solidFill>
            <a:srgbClr val="FFFFFF"/>
          </a:solidFill>
          <a:ln w="12668">
            <a:solidFill>
              <a:srgbClr val="C9DCD7"/>
            </a:solidFill>
            <a:prstDash val="solid"/>
          </a:ln>
        </p:spPr>
        <p:txBody>
          <a:bodyPr/>
          <a:p/>
        </p:txBody>
      </p:sp>
      <p:sp>
        <p:nvSpPr>
          <p:cNvPr id="138" name="矩形 137"/>
          <p:cNvSpPr>
            <a:spLocks noGrp="1"/>
          </p:cNvSpPr>
          <p:nvPr/>
        </p:nvSpPr>
        <p:spPr>
          <a:xfrm>
            <a:off x="9057323" y="187643"/>
            <a:ext cx="1154430" cy="182880"/>
          </a:xfrm>
          <a:prstGeom prst="rect">
            <a:avLst/>
          </a:prstGeom>
        </p:spPr>
        <p:txBody>
          <a:bodyPr anchor="ctr"/>
          <a:lstStyle/>
          <a:p>
            <a:pPr algn="ctr">
              <a:defRPr sz="650" b="0">
                <a:solidFill>
                  <a:srgbClr val="44585C"/>
                </a:solidFill>
              </a:defRPr>
            </a:pPr>
            <a:r>
              <a:t>决策</a:t>
            </a:r>
          </a:p>
        </p:txBody>
      </p:sp>
      <p:sp>
        <p:nvSpPr>
          <p:cNvPr id="139" name="圆角矩形 138"/>
          <p:cNvSpPr>
            <a:spLocks noGrp="1"/>
          </p:cNvSpPr>
          <p:nvPr/>
        </p:nvSpPr>
        <p:spPr>
          <a:xfrm>
            <a:off x="10257473" y="164783"/>
            <a:ext cx="1154430" cy="264795"/>
          </a:xfrm>
          <a:prstGeom prst="roundRect">
            <a:avLst>
              <a:gd name="adj" fmla="val 28777"/>
            </a:avLst>
          </a:prstGeom>
          <a:solidFill>
            <a:srgbClr val="007574"/>
          </a:solidFill>
          <a:ln w="12668">
            <a:solidFill>
              <a:srgbClr val="007574"/>
            </a:solidFill>
            <a:prstDash val="solid"/>
          </a:ln>
        </p:spPr>
        <p:txBody>
          <a:bodyPr/>
          <a:p/>
        </p:txBody>
      </p:sp>
      <p:sp>
        <p:nvSpPr>
          <p:cNvPr id="140" name="矩形 139"/>
          <p:cNvSpPr>
            <a:spLocks noGrp="1"/>
          </p:cNvSpPr>
          <p:nvPr/>
        </p:nvSpPr>
        <p:spPr>
          <a:xfrm>
            <a:off x="10257473" y="187643"/>
            <a:ext cx="1154430" cy="182880"/>
          </a:xfrm>
          <a:prstGeom prst="rect">
            <a:avLst/>
          </a:prstGeom>
        </p:spPr>
        <p:txBody>
          <a:bodyPr anchor="ctr"/>
          <a:lstStyle/>
          <a:p>
            <a:pPr algn="ctr">
              <a:defRPr sz="660" b="1">
                <a:solidFill>
                  <a:srgbClr val="FFFFFF"/>
                </a:solidFill>
              </a:defRPr>
            </a:pPr>
            <a:r>
              <a:t>执行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hape 0"/>
          <p:cNvSpPr>
            <a:spLocks noGrp="1"/>
          </p:cNvSpPr>
          <p:nvPr/>
        </p:nvSpPr>
        <p:spPr>
          <a:xfrm>
            <a:off x="0" y="0"/>
            <a:ext cx="41148" cy="6858000"/>
          </a:xfrm>
          <a:prstGeom prst="rect">
            <a:avLst/>
          </a:prstGeom>
          <a:solidFill>
            <a:srgbClr val="0A8F6A"/>
          </a:solidFill>
          <a:ln w="12700">
            <a:solidFill>
              <a:srgbClr val="F28B2D"/>
            </a:solidFill>
            <a:prstDash val="solid"/>
          </a:ln>
        </p:spPr>
        <p:txBody>
          <a:bodyPr/>
          <a:lstStyle/>
          <a:p/>
        </p:txBody>
      </p:sp>
      <p:sp>
        <p:nvSpPr>
          <p:cNvPr id="3" name="Shape 1"/>
          <p:cNvSpPr>
            <a:spLocks noGrp="1"/>
          </p:cNvSpPr>
          <p:nvPr/>
        </p:nvSpPr>
        <p:spPr>
          <a:xfrm>
            <a:off x="658368" y="429768"/>
            <a:ext cx="237744" cy="0"/>
          </a:xfrm>
          <a:prstGeom prst="line">
            <a:avLst/>
          </a:prstGeom>
          <a:noFill/>
          <a:ln w="15875">
            <a:solidFill>
              <a:srgbClr val="0A8F6A"/>
            </a:solidFill>
            <a:prstDash val="solid"/>
          </a:ln>
        </p:spPr>
        <p:txBody>
          <a:bodyPr/>
          <a:lstStyle/>
          <a:p/>
        </p:txBody>
      </p:sp>
      <p:sp>
        <p:nvSpPr>
          <p:cNvPr id="4" name="Text 2"/>
          <p:cNvSpPr>
            <a:spLocks noGrp="1"/>
          </p:cNvSpPr>
          <p:nvPr/>
        </p:nvSpPr>
        <p:spPr>
          <a:xfrm>
            <a:off x="941832" y="292608"/>
            <a:ext cx="3474720" cy="2286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r>
              <a:rPr sz="1050" b="1">
                <a:solidFill>
                  <a:srgbClr val="076B50"/>
                </a:solidFill>
                <a:latin typeface="Noto Sans CJK SC"/>
                <a:ea typeface="Noto Sans CJK SC"/>
                <a:cs typeface="Noto Sans CJK SC"/>
              </a:rPr>
              <a:t>CHAPTER 6 · 受控执行</a:t>
            </a:r>
            <a:endParaRPr sz="1050" b="1">
              <a:solidFill>
                <a:srgbClr val="F28B36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" name="Text 3"/>
          <p:cNvSpPr>
            <a:spLocks noGrp="1"/>
          </p:cNvSpPr>
          <p:nvPr/>
        </p:nvSpPr>
        <p:spPr>
          <a:xfrm>
            <a:off x="640080" y="667512"/>
            <a:ext cx="10698480" cy="43891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buNone/>
            </a:pPr>
            <a:r>
              <a:rPr sz="2550" b="1">
                <a:solidFill>
                  <a:srgbClr val="163B36"/>
                </a:solidFill>
                <a:latin typeface="Noto Sans CJK SC"/>
                <a:ea typeface="Noto Sans CJK SC"/>
                <a:cs typeface="Noto Sans CJK SC"/>
              </a:rPr>
              <a:t>人工介入策略</a:t>
            </a:r>
            <a:endParaRPr sz="2550"/>
          </a:p>
        </p:txBody>
      </p:sp>
      <p:sp>
        <p:nvSpPr>
          <p:cNvPr id="6" name="Text 4"/>
          <p:cNvSpPr>
            <a:spLocks noGrp="1"/>
          </p:cNvSpPr>
          <p:nvPr/>
        </p:nvSpPr>
        <p:spPr>
          <a:xfrm>
            <a:off x="640080" y="1115568"/>
            <a:ext cx="10424160" cy="30175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buNone/>
            </a:pPr>
            <a:r>
              <a:rPr sz="1120">
                <a:solidFill>
                  <a:srgbClr val="44585C"/>
                </a:solidFill>
                <a:latin typeface="Noto Sans CJK SC"/>
                <a:ea typeface="Noto Sans CJK SC"/>
                <a:cs typeface="Noto Sans CJK SC"/>
              </a:rPr>
              <a:t>需要审批时提前介入，运行异常时接管，事后再抽检；交接包避免从头问一遍。</a:t>
            </a:r>
            <a:endParaRPr sz="1120"/>
          </a:p>
        </p:txBody>
      </p:sp>
      <p:sp>
        <p:nvSpPr>
          <p:cNvPr id="7" name="Shape 5"/>
          <p:cNvSpPr>
            <a:spLocks noGrp="1"/>
          </p:cNvSpPr>
          <p:nvPr/>
        </p:nvSpPr>
        <p:spPr>
          <a:xfrm>
            <a:off x="10533888" y="54864"/>
            <a:ext cx="1298448" cy="713232"/>
          </a:xfrm>
          <a:prstGeom prst="ellipse">
            <a:avLst/>
          </a:prstGeom>
          <a:solidFill>
            <a:srgbClr val="F28B2D">
              <a:alpha val="8000"/>
            </a:srgbClr>
          </a:solidFill>
          <a:ln w="12700">
            <a:solidFill>
              <a:srgbClr val="F28B2D">
                <a:alpha val="0"/>
              </a:srgbClr>
            </a:solidFill>
            <a:prstDash val="solid"/>
          </a:ln>
        </p:spPr>
        <p:txBody>
          <a:bodyPr/>
          <a:lstStyle/>
          <a:p/>
        </p:txBody>
      </p:sp>
      <p:sp>
        <p:nvSpPr>
          <p:cNvPr id="8" name="Shape 6"/>
          <p:cNvSpPr>
            <a:spLocks noGrp="1"/>
          </p:cNvSpPr>
          <p:nvPr/>
        </p:nvSpPr>
        <p:spPr>
          <a:xfrm>
            <a:off x="9802368" y="283464"/>
            <a:ext cx="36576" cy="36576"/>
          </a:xfrm>
          <a:prstGeom prst="ellipse">
            <a:avLst/>
          </a:prstGeom>
          <a:solidFill>
            <a:srgbClr val="C6DCD5"/>
          </a:solidFill>
          <a:ln w="12700">
            <a:solidFill>
              <a:srgbClr val="C6DCD5"/>
            </a:solidFill>
            <a:prstDash val="solid"/>
          </a:ln>
        </p:spPr>
        <p:txBody>
          <a:bodyPr/>
          <a:lstStyle/>
          <a:p/>
        </p:txBody>
      </p:sp>
      <p:sp>
        <p:nvSpPr>
          <p:cNvPr id="9" name="Shape 7"/>
          <p:cNvSpPr>
            <a:spLocks noGrp="1"/>
          </p:cNvSpPr>
          <p:nvPr/>
        </p:nvSpPr>
        <p:spPr>
          <a:xfrm>
            <a:off x="9930384" y="283464"/>
            <a:ext cx="36576" cy="36576"/>
          </a:xfrm>
          <a:prstGeom prst="ellipse">
            <a:avLst/>
          </a:prstGeom>
          <a:solidFill>
            <a:srgbClr val="F28B2D"/>
          </a:solidFill>
          <a:ln w="12700">
            <a:solidFill>
              <a:srgbClr val="F28B2D"/>
            </a:solidFill>
            <a:prstDash val="solid"/>
          </a:ln>
        </p:spPr>
        <p:txBody>
          <a:bodyPr/>
          <a:lstStyle/>
          <a:p/>
        </p:txBody>
      </p:sp>
      <p:sp>
        <p:nvSpPr>
          <p:cNvPr id="10" name="Shape 8"/>
          <p:cNvSpPr>
            <a:spLocks noGrp="1"/>
          </p:cNvSpPr>
          <p:nvPr/>
        </p:nvSpPr>
        <p:spPr>
          <a:xfrm>
            <a:off x="10058400" y="283464"/>
            <a:ext cx="36576" cy="36576"/>
          </a:xfrm>
          <a:prstGeom prst="ellipse">
            <a:avLst/>
          </a:prstGeom>
          <a:solidFill>
            <a:srgbClr val="C6DCD5"/>
          </a:solidFill>
          <a:ln w="12700">
            <a:solidFill>
              <a:srgbClr val="C6DCD5"/>
            </a:solidFill>
            <a:prstDash val="solid"/>
          </a:ln>
        </p:spPr>
        <p:txBody>
          <a:bodyPr/>
          <a:lstStyle/>
          <a:p/>
        </p:txBody>
      </p:sp>
      <p:sp>
        <p:nvSpPr>
          <p:cNvPr id="11" name="Shape 9"/>
          <p:cNvSpPr>
            <a:spLocks noGrp="1"/>
          </p:cNvSpPr>
          <p:nvPr/>
        </p:nvSpPr>
        <p:spPr>
          <a:xfrm>
            <a:off x="10186416" y="283464"/>
            <a:ext cx="36576" cy="36576"/>
          </a:xfrm>
          <a:prstGeom prst="ellipse">
            <a:avLst/>
          </a:prstGeom>
          <a:solidFill>
            <a:srgbClr val="C6DCD5"/>
          </a:solidFill>
          <a:ln w="12700">
            <a:solidFill>
              <a:srgbClr val="C6DCD5"/>
            </a:solidFill>
            <a:prstDash val="solid"/>
          </a:ln>
        </p:spPr>
        <p:txBody>
          <a:bodyPr/>
          <a:lstStyle/>
          <a:p/>
        </p:txBody>
      </p:sp>
      <p:sp>
        <p:nvSpPr>
          <p:cNvPr id="12" name="Shape 10"/>
          <p:cNvSpPr>
            <a:spLocks noGrp="1"/>
          </p:cNvSpPr>
          <p:nvPr/>
        </p:nvSpPr>
        <p:spPr>
          <a:xfrm>
            <a:off x="10314432" y="283464"/>
            <a:ext cx="36576" cy="36576"/>
          </a:xfrm>
          <a:prstGeom prst="ellipse">
            <a:avLst/>
          </a:prstGeom>
          <a:solidFill>
            <a:srgbClr val="C6DCD5"/>
          </a:solidFill>
          <a:ln w="12700">
            <a:solidFill>
              <a:srgbClr val="C6DCD5"/>
            </a:solidFill>
            <a:prstDash val="solid"/>
          </a:ln>
        </p:spPr>
        <p:txBody>
          <a:bodyPr/>
          <a:lstStyle/>
          <a:p/>
        </p:txBody>
      </p:sp>
      <p:sp>
        <p:nvSpPr>
          <p:cNvPr id="13" name="Shape 11"/>
          <p:cNvSpPr>
            <a:spLocks noGrp="1"/>
          </p:cNvSpPr>
          <p:nvPr/>
        </p:nvSpPr>
        <p:spPr>
          <a:xfrm>
            <a:off x="10442448" y="283464"/>
            <a:ext cx="36576" cy="36576"/>
          </a:xfrm>
          <a:prstGeom prst="ellipse">
            <a:avLst/>
          </a:prstGeom>
          <a:solidFill>
            <a:srgbClr val="C6DCD5"/>
          </a:solidFill>
          <a:ln w="12700">
            <a:solidFill>
              <a:srgbClr val="C6DCD5"/>
            </a:solidFill>
            <a:prstDash val="solid"/>
          </a:ln>
        </p:spPr>
        <p:txBody>
          <a:bodyPr/>
          <a:lstStyle/>
          <a:p/>
        </p:txBody>
      </p:sp>
      <p:sp>
        <p:nvSpPr>
          <p:cNvPr id="14" name="Shape 12"/>
          <p:cNvSpPr>
            <a:spLocks noGrp="1"/>
          </p:cNvSpPr>
          <p:nvPr/>
        </p:nvSpPr>
        <p:spPr>
          <a:xfrm>
            <a:off x="640080" y="6528816"/>
            <a:ext cx="10927080" cy="0"/>
          </a:xfrm>
          <a:prstGeom prst="line">
            <a:avLst/>
          </a:prstGeom>
          <a:noFill/>
          <a:ln w="10160">
            <a:solidFill>
              <a:srgbClr val="D8E7E2"/>
            </a:solidFill>
            <a:prstDash val="solid"/>
          </a:ln>
        </p:spPr>
        <p:txBody>
          <a:bodyPr/>
          <a:lstStyle/>
          <a:p/>
        </p:txBody>
      </p:sp>
      <p:sp>
        <p:nvSpPr>
          <p:cNvPr id="15" name="Text 13"/>
          <p:cNvSpPr>
            <a:spLocks noGrp="1"/>
          </p:cNvSpPr>
          <p:nvPr/>
        </p:nvSpPr>
        <p:spPr>
          <a:xfrm>
            <a:off x="658368" y="6565392"/>
            <a:ext cx="3108960" cy="16459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buNone/>
            </a:pPr>
            <a:r>
              <a:rPr sz="750">
                <a:solidFill>
                  <a:srgbClr val="55696A"/>
                </a:solidFill>
                <a:latin typeface="Noto Sans CJK SC"/>
                <a:ea typeface="Noto Sans CJK SC"/>
                <a:cs typeface="Noto Sans CJK SC"/>
              </a:rPr>
              <a:t>CUSTOMER SERVICE AI AGENT</a:t>
            </a:r>
            <a:endParaRPr sz="750"/>
          </a:p>
        </p:txBody>
      </p:sp>
      <p:sp>
        <p:nvSpPr>
          <p:cNvPr id="16" name="Text 14"/>
          <p:cNvSpPr>
            <a:spLocks noGrp="1"/>
          </p:cNvSpPr>
          <p:nvPr/>
        </p:nvSpPr>
        <p:spPr>
          <a:xfrm>
            <a:off x="10881360" y="6537960"/>
            <a:ext cx="658368" cy="18288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</a:pPr>
            <a:r>
              <a:rPr sz="880" b="1">
                <a:solidFill>
                  <a:srgbClr val="076B50"/>
                </a:solidFill>
                <a:latin typeface="Noto Sans CJK SC"/>
                <a:ea typeface="Noto Sans CJK SC"/>
                <a:cs typeface="Noto Sans CJK SC"/>
              </a:rPr>
              <a:t>54</a:t>
            </a:r>
            <a:endParaRPr sz="880" b="1">
              <a:solidFill>
                <a:srgbClr val="F28B36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7" name="Shape 15"/>
          <p:cNvSpPr>
            <a:spLocks noGrp="1"/>
          </p:cNvSpPr>
          <p:nvPr/>
        </p:nvSpPr>
        <p:spPr>
          <a:xfrm>
            <a:off x="1554480" y="1965960"/>
            <a:ext cx="9052560" cy="0"/>
          </a:xfrm>
          <a:prstGeom prst="line">
            <a:avLst/>
          </a:prstGeom>
          <a:noFill/>
          <a:ln w="25400">
            <a:solidFill>
              <a:srgbClr val="B7C9C3"/>
            </a:solidFill>
            <a:prstDash val="solid"/>
          </a:ln>
        </p:spPr>
        <p:txBody>
          <a:bodyPr/>
          <a:lstStyle/>
          <a:p/>
        </p:txBody>
      </p:sp>
      <p:sp>
        <p:nvSpPr>
          <p:cNvPr id="18" name="Shape 16"/>
          <p:cNvSpPr>
            <a:spLocks noGrp="1"/>
          </p:cNvSpPr>
          <p:nvPr/>
        </p:nvSpPr>
        <p:spPr>
          <a:xfrm>
            <a:off x="1965960" y="1664208"/>
            <a:ext cx="566928" cy="566928"/>
          </a:xfrm>
          <a:prstGeom prst="ellipse">
            <a:avLst/>
          </a:prstGeom>
          <a:solidFill>
            <a:srgbClr val="1F63C4"/>
          </a:solidFill>
          <a:ln w="6350">
            <a:solidFill>
              <a:srgbClr val="1F63C4"/>
            </a:solidFill>
            <a:prstDash val="solid"/>
          </a:ln>
          <a:effectLst>
            <a:outerShdw blurRad="2147483647" dist="2147483647" algn="bl" rotWithShape="0">
              <a:srgbClr val="74857F">
                <a:alpha val="0"/>
              </a:srgbClr>
            </a:outerShdw>
          </a:effectLst>
        </p:spPr>
        <p:txBody>
          <a:bodyPr/>
          <a:lstStyle/>
          <a:p/>
        </p:txBody>
      </p:sp>
      <p:sp>
        <p:nvSpPr>
          <p:cNvPr id="19" name="Text 17"/>
          <p:cNvSpPr>
            <a:spLocks noGrp="1"/>
          </p:cNvSpPr>
          <p:nvPr/>
        </p:nvSpPr>
        <p:spPr>
          <a:xfrm>
            <a:off x="1965960" y="1664208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01</a:t>
            </a:r>
            <a:endParaRPr sz="1000"/>
          </a:p>
        </p:txBody>
      </p:sp>
      <p:sp>
        <p:nvSpPr>
          <p:cNvPr id="20" name="Shape 18"/>
          <p:cNvSpPr>
            <a:spLocks noGrp="1"/>
          </p:cNvSpPr>
          <p:nvPr/>
        </p:nvSpPr>
        <p:spPr>
          <a:xfrm>
            <a:off x="658368" y="2212848"/>
            <a:ext cx="3154680" cy="2907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F7DEB"/>
            </a:solidFill>
            <a:prstDash val="solid"/>
          </a:ln>
          <a:effectLst>
            <a:outerShdw blurRad="2147483647" dist="2147483647" algn="bl" rotWithShape="0">
              <a:srgbClr val="74857F">
                <a:alpha val="0"/>
              </a:srgbClr>
            </a:outerShdw>
          </a:effectLst>
        </p:spPr>
        <p:txBody>
          <a:bodyPr/>
          <a:lstStyle/>
          <a:p/>
        </p:txBody>
      </p:sp>
      <p:sp>
        <p:nvSpPr>
          <p:cNvPr id="21" name="Text 19"/>
          <p:cNvSpPr>
            <a:spLocks noGrp="1"/>
          </p:cNvSpPr>
          <p:nvPr/>
        </p:nvSpPr>
        <p:spPr>
          <a:xfrm>
            <a:off x="877824" y="2432304"/>
            <a:ext cx="2697480" cy="29260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1500" b="1">
                <a:solidFill>
                  <a:srgbClr val="163B36"/>
                </a:solidFill>
                <a:latin typeface="Noto Sans CJK SC"/>
                <a:ea typeface="Noto Sans CJK SC"/>
                <a:cs typeface="Noto Sans CJK SC"/>
              </a:rPr>
              <a:t>事前审批</a:t>
            </a:r>
            <a:endParaRPr sz="1500"/>
          </a:p>
        </p:txBody>
      </p:sp>
      <p:sp>
        <p:nvSpPr>
          <p:cNvPr id="22" name="Shape 20"/>
          <p:cNvSpPr>
            <a:spLocks noGrp="1"/>
          </p:cNvSpPr>
          <p:nvPr/>
        </p:nvSpPr>
        <p:spPr>
          <a:xfrm>
            <a:off x="859536" y="2880360"/>
            <a:ext cx="841248" cy="256032"/>
          </a:xfrm>
          <a:prstGeom prst="roundRect">
            <a:avLst/>
          </a:prstGeom>
          <a:solidFill>
            <a:srgbClr val="EAF2FF"/>
          </a:solidFill>
          <a:ln w="10160">
            <a:solidFill>
              <a:srgbClr val="2F7DEB"/>
            </a:solidFill>
            <a:prstDash val="solid"/>
          </a:ln>
        </p:spPr>
        <p:txBody>
          <a:bodyPr/>
          <a:lstStyle/>
          <a:p/>
        </p:txBody>
      </p:sp>
      <p:sp>
        <p:nvSpPr>
          <p:cNvPr id="23" name="Text 21"/>
          <p:cNvSpPr>
            <a:spLocks noGrp="1"/>
          </p:cNvSpPr>
          <p:nvPr/>
        </p:nvSpPr>
        <p:spPr>
          <a:xfrm>
            <a:off x="859536" y="2880360"/>
            <a:ext cx="841248" cy="25603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870" b="1">
                <a:solidFill>
                  <a:srgbClr val="1B5FC4"/>
                </a:solidFill>
                <a:latin typeface="Noto Sans CJK SC"/>
                <a:ea typeface="Noto Sans CJK SC"/>
                <a:cs typeface="Noto Sans CJK SC"/>
              </a:rPr>
              <a:t>触发条件</a:t>
            </a:r>
            <a:endParaRPr sz="870"/>
          </a:p>
        </p:txBody>
      </p:sp>
      <p:sp>
        <p:nvSpPr>
          <p:cNvPr id="24" name="Text 22"/>
          <p:cNvSpPr>
            <a:spLocks noGrp="1"/>
          </p:cNvSpPr>
          <p:nvPr/>
        </p:nvSpPr>
        <p:spPr>
          <a:xfrm>
            <a:off x="1828800" y="2834640"/>
            <a:ext cx="1755648" cy="53035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buNone/>
            </a:pPr>
            <a:r>
              <a:rPr sz="930">
                <a:solidFill>
                  <a:srgbClr val="163B36"/>
                </a:solidFill>
                <a:latin typeface="Noto Sans CJK SC"/>
                <a:ea typeface="Noto Sans CJK SC"/>
                <a:cs typeface="Noto Sans CJK SC"/>
              </a:rPr>
              <a:t>冷启动、中高风险场景</a:t>
            </a:r>
            <a:endParaRPr sz="930"/>
          </a:p>
          <a:p>
            <a:pPr marL="0" indent="0" algn="l">
              <a:buNone/>
            </a:pPr>
            <a:r>
              <a:rPr sz="930">
                <a:solidFill>
                  <a:srgbClr val="163B36"/>
                </a:solidFill>
                <a:latin typeface="Noto Sans CJK SC"/>
                <a:ea typeface="Noto Sans CJK SC"/>
                <a:cs typeface="Noto Sans CJK SC"/>
              </a:rPr>
              <a:t>自动发送白名单未开放</a:t>
            </a:r>
            <a:endParaRPr sz="930"/>
          </a:p>
        </p:txBody>
      </p:sp>
      <p:sp>
        <p:nvSpPr>
          <p:cNvPr id="25" name="Shape 23"/>
          <p:cNvSpPr>
            <a:spLocks noGrp="1"/>
          </p:cNvSpPr>
          <p:nvPr/>
        </p:nvSpPr>
        <p:spPr>
          <a:xfrm>
            <a:off x="859536" y="3502152"/>
            <a:ext cx="2743200" cy="0"/>
          </a:xfrm>
          <a:prstGeom prst="line">
            <a:avLst/>
          </a:prstGeom>
          <a:noFill/>
          <a:ln w="10160">
            <a:solidFill>
              <a:srgbClr val="D8E7E2"/>
            </a:solidFill>
            <a:prstDash val="solid"/>
          </a:ln>
        </p:spPr>
        <p:txBody>
          <a:bodyPr/>
          <a:lstStyle/>
          <a:p/>
        </p:txBody>
      </p:sp>
      <p:sp>
        <p:nvSpPr>
          <p:cNvPr id="26" name="Shape 24"/>
          <p:cNvSpPr>
            <a:spLocks noGrp="1"/>
          </p:cNvSpPr>
          <p:nvPr/>
        </p:nvSpPr>
        <p:spPr>
          <a:xfrm>
            <a:off x="859536" y="3685032"/>
            <a:ext cx="841248" cy="256032"/>
          </a:xfrm>
          <a:prstGeom prst="roundRect">
            <a:avLst/>
          </a:prstGeom>
          <a:solidFill>
            <a:srgbClr val="EAF2FF"/>
          </a:solidFill>
          <a:ln w="10160">
            <a:solidFill>
              <a:srgbClr val="2F7DEB"/>
            </a:solidFill>
            <a:prstDash val="solid"/>
          </a:ln>
        </p:spPr>
        <p:txBody>
          <a:bodyPr/>
          <a:lstStyle/>
          <a:p/>
        </p:txBody>
      </p:sp>
      <p:sp>
        <p:nvSpPr>
          <p:cNvPr id="27" name="Text 25"/>
          <p:cNvSpPr>
            <a:spLocks noGrp="1"/>
          </p:cNvSpPr>
          <p:nvPr/>
        </p:nvSpPr>
        <p:spPr>
          <a:xfrm>
            <a:off x="859536" y="3685032"/>
            <a:ext cx="841248" cy="25603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870" b="1">
                <a:solidFill>
                  <a:srgbClr val="1B5FC4"/>
                </a:solidFill>
                <a:latin typeface="Noto Sans CJK SC"/>
                <a:ea typeface="Noto Sans CJK SC"/>
                <a:cs typeface="Noto Sans CJK SC"/>
              </a:rPr>
              <a:t>人工动作</a:t>
            </a:r>
            <a:endParaRPr sz="870"/>
          </a:p>
        </p:txBody>
      </p:sp>
      <p:sp>
        <p:nvSpPr>
          <p:cNvPr id="28" name="Text 26"/>
          <p:cNvSpPr>
            <a:spLocks noGrp="1"/>
          </p:cNvSpPr>
          <p:nvPr/>
        </p:nvSpPr>
        <p:spPr>
          <a:xfrm>
            <a:off x="1828800" y="3639312"/>
            <a:ext cx="1755648" cy="43891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buNone/>
            </a:pPr>
            <a:r>
              <a:rPr sz="930">
                <a:solidFill>
                  <a:srgbClr val="163B36"/>
                </a:solidFill>
                <a:latin typeface="Noto Sans CJK SC"/>
                <a:ea typeface="Noto Sans CJK SC"/>
                <a:cs typeface="Noto Sans CJK SC"/>
              </a:rPr>
              <a:t>审核建议回复与执行计划</a:t>
            </a:r>
            <a:endParaRPr sz="930"/>
          </a:p>
        </p:txBody>
      </p:sp>
      <p:sp>
        <p:nvSpPr>
          <p:cNvPr id="29" name="Shape 27"/>
          <p:cNvSpPr>
            <a:spLocks noGrp="1"/>
          </p:cNvSpPr>
          <p:nvPr/>
        </p:nvSpPr>
        <p:spPr>
          <a:xfrm>
            <a:off x="859536" y="4279392"/>
            <a:ext cx="841248" cy="256032"/>
          </a:xfrm>
          <a:prstGeom prst="roundRect">
            <a:avLst/>
          </a:prstGeom>
          <a:solidFill>
            <a:srgbClr val="EAF2FF"/>
          </a:solidFill>
          <a:ln w="10160">
            <a:solidFill>
              <a:srgbClr val="2F7DEB"/>
            </a:solidFill>
            <a:prstDash val="solid"/>
          </a:ln>
        </p:spPr>
        <p:txBody>
          <a:bodyPr/>
          <a:lstStyle/>
          <a:p/>
        </p:txBody>
      </p:sp>
      <p:sp>
        <p:nvSpPr>
          <p:cNvPr id="30" name="Text 28"/>
          <p:cNvSpPr>
            <a:spLocks noGrp="1"/>
          </p:cNvSpPr>
          <p:nvPr/>
        </p:nvSpPr>
        <p:spPr>
          <a:xfrm>
            <a:off x="859536" y="4279392"/>
            <a:ext cx="841248" cy="25603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870" b="1">
                <a:solidFill>
                  <a:srgbClr val="1B5FC4"/>
                </a:solidFill>
                <a:latin typeface="Noto Sans CJK SC"/>
                <a:ea typeface="Noto Sans CJK SC"/>
                <a:cs typeface="Noto Sans CJK SC"/>
              </a:rPr>
              <a:t>系统保留</a:t>
            </a:r>
            <a:endParaRPr sz="870"/>
          </a:p>
        </p:txBody>
      </p:sp>
      <p:sp>
        <p:nvSpPr>
          <p:cNvPr id="31" name="Text 29"/>
          <p:cNvSpPr>
            <a:spLocks noGrp="1"/>
          </p:cNvSpPr>
          <p:nvPr/>
        </p:nvSpPr>
        <p:spPr>
          <a:xfrm>
            <a:off x="1828800" y="4233672"/>
            <a:ext cx="1755648" cy="43891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buNone/>
            </a:pPr>
            <a:r>
              <a:rPr sz="930">
                <a:solidFill>
                  <a:srgbClr val="163B36"/>
                </a:solidFill>
                <a:latin typeface="Noto Sans CJK SC"/>
                <a:ea typeface="Noto Sans CJK SC"/>
                <a:cs typeface="Noto Sans CJK SC"/>
              </a:rPr>
              <a:t>保留判断依据和待执行动作</a:t>
            </a:r>
            <a:endParaRPr sz="930"/>
          </a:p>
        </p:txBody>
      </p:sp>
      <p:sp>
        <p:nvSpPr>
          <p:cNvPr id="32" name="Shape 30"/>
          <p:cNvSpPr>
            <a:spLocks noGrp="1"/>
          </p:cNvSpPr>
          <p:nvPr/>
        </p:nvSpPr>
        <p:spPr>
          <a:xfrm>
            <a:off x="5376672" y="1664208"/>
            <a:ext cx="566928" cy="566928"/>
          </a:xfrm>
          <a:prstGeom prst="ellipse">
            <a:avLst/>
          </a:prstGeom>
          <a:solidFill>
            <a:srgbClr val="BC6414"/>
          </a:solidFill>
          <a:ln w="6350">
            <a:solidFill>
              <a:srgbClr val="BC6414"/>
            </a:solidFill>
            <a:prstDash val="solid"/>
          </a:ln>
          <a:effectLst>
            <a:outerShdw blurRad="2147483647" dist="2147483647" algn="bl" rotWithShape="0">
              <a:srgbClr val="74857F">
                <a:alpha val="0"/>
              </a:srgbClr>
            </a:outerShdw>
          </a:effectLst>
        </p:spPr>
        <p:txBody>
          <a:bodyPr/>
          <a:lstStyle/>
          <a:p/>
        </p:txBody>
      </p:sp>
      <p:sp>
        <p:nvSpPr>
          <p:cNvPr id="33" name="Text 31"/>
          <p:cNvSpPr>
            <a:spLocks noGrp="1"/>
          </p:cNvSpPr>
          <p:nvPr/>
        </p:nvSpPr>
        <p:spPr>
          <a:xfrm>
            <a:off x="5376672" y="1664208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02</a:t>
            </a:r>
            <a:endParaRPr sz="1000"/>
          </a:p>
        </p:txBody>
      </p:sp>
      <p:sp>
        <p:nvSpPr>
          <p:cNvPr id="34" name="Shape 32"/>
          <p:cNvSpPr>
            <a:spLocks noGrp="1"/>
          </p:cNvSpPr>
          <p:nvPr/>
        </p:nvSpPr>
        <p:spPr>
          <a:xfrm>
            <a:off x="4069080" y="2212848"/>
            <a:ext cx="3154680" cy="2907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8B2D"/>
            </a:solidFill>
            <a:prstDash val="solid"/>
          </a:ln>
          <a:effectLst>
            <a:outerShdw blurRad="2147483647" dist="2147483647" algn="bl" rotWithShape="0">
              <a:srgbClr val="74857F">
                <a:alpha val="0"/>
              </a:srgbClr>
            </a:outerShdw>
          </a:effectLst>
        </p:spPr>
        <p:txBody>
          <a:bodyPr/>
          <a:lstStyle/>
          <a:p/>
        </p:txBody>
      </p:sp>
      <p:sp>
        <p:nvSpPr>
          <p:cNvPr id="35" name="Text 33"/>
          <p:cNvSpPr>
            <a:spLocks noGrp="1"/>
          </p:cNvSpPr>
          <p:nvPr/>
        </p:nvSpPr>
        <p:spPr>
          <a:xfrm>
            <a:off x="4288536" y="2432304"/>
            <a:ext cx="2697480" cy="29260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1500" b="1">
                <a:solidFill>
                  <a:srgbClr val="163B36"/>
                </a:solidFill>
                <a:latin typeface="Noto Sans CJK SC"/>
                <a:ea typeface="Noto Sans CJK SC"/>
                <a:cs typeface="Noto Sans CJK SC"/>
              </a:rPr>
              <a:t>事中接管</a:t>
            </a:r>
            <a:endParaRPr sz="1500"/>
          </a:p>
        </p:txBody>
      </p:sp>
      <p:sp>
        <p:nvSpPr>
          <p:cNvPr id="36" name="Shape 34"/>
          <p:cNvSpPr>
            <a:spLocks noGrp="1"/>
          </p:cNvSpPr>
          <p:nvPr/>
        </p:nvSpPr>
        <p:spPr>
          <a:xfrm>
            <a:off x="4270248" y="2880360"/>
            <a:ext cx="841248" cy="256032"/>
          </a:xfrm>
          <a:prstGeom prst="roundRect">
            <a:avLst/>
          </a:prstGeom>
          <a:solidFill>
            <a:srgbClr val="FFF1E4"/>
          </a:solidFill>
          <a:ln w="10160">
            <a:solidFill>
              <a:srgbClr val="F28B2D"/>
            </a:solidFill>
            <a:prstDash val="solid"/>
          </a:ln>
        </p:spPr>
        <p:txBody>
          <a:bodyPr/>
          <a:lstStyle/>
          <a:p/>
        </p:txBody>
      </p:sp>
      <p:sp>
        <p:nvSpPr>
          <p:cNvPr id="37" name="Text 35"/>
          <p:cNvSpPr>
            <a:spLocks noGrp="1"/>
          </p:cNvSpPr>
          <p:nvPr/>
        </p:nvSpPr>
        <p:spPr>
          <a:xfrm>
            <a:off x="4270248" y="2880360"/>
            <a:ext cx="841248" cy="25603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870" b="1">
                <a:solidFill>
                  <a:srgbClr val="9A5210"/>
                </a:solidFill>
                <a:latin typeface="Noto Sans CJK SC"/>
                <a:ea typeface="Noto Sans CJK SC"/>
                <a:cs typeface="Noto Sans CJK SC"/>
              </a:rPr>
              <a:t>触发条件</a:t>
            </a:r>
            <a:endParaRPr sz="870"/>
          </a:p>
        </p:txBody>
      </p:sp>
      <p:sp>
        <p:nvSpPr>
          <p:cNvPr id="38" name="Text 36"/>
          <p:cNvSpPr>
            <a:spLocks noGrp="1"/>
          </p:cNvSpPr>
          <p:nvPr/>
        </p:nvSpPr>
        <p:spPr>
          <a:xfrm>
            <a:off x="5239512" y="2834640"/>
            <a:ext cx="1755648" cy="53035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buNone/>
            </a:pPr>
            <a:r>
              <a:rPr sz="930">
                <a:solidFill>
                  <a:srgbClr val="163B36"/>
                </a:solidFill>
                <a:latin typeface="Noto Sans CJK SC"/>
                <a:ea typeface="Noto Sans CJK SC"/>
                <a:cs typeface="Noto Sans CJK SC"/>
              </a:rPr>
              <a:t>投诉、规则冲突、系统异常</a:t>
            </a:r>
            <a:endParaRPr sz="930"/>
          </a:p>
          <a:p>
            <a:pPr marL="0" indent="0" algn="l">
              <a:buNone/>
            </a:pPr>
            <a:r>
              <a:rPr sz="930">
                <a:solidFill>
                  <a:srgbClr val="163B36"/>
                </a:solidFill>
                <a:latin typeface="Noto Sans CJK SC"/>
                <a:ea typeface="Noto Sans CJK SC"/>
                <a:cs typeface="Noto Sans CJK SC"/>
              </a:rPr>
              <a:t>客户主动要求人工</a:t>
            </a:r>
            <a:endParaRPr sz="930"/>
          </a:p>
        </p:txBody>
      </p:sp>
      <p:sp>
        <p:nvSpPr>
          <p:cNvPr id="39" name="Shape 37"/>
          <p:cNvSpPr>
            <a:spLocks noGrp="1"/>
          </p:cNvSpPr>
          <p:nvPr/>
        </p:nvSpPr>
        <p:spPr>
          <a:xfrm>
            <a:off x="4270248" y="3502152"/>
            <a:ext cx="2743200" cy="0"/>
          </a:xfrm>
          <a:prstGeom prst="line">
            <a:avLst/>
          </a:prstGeom>
          <a:noFill/>
          <a:ln w="10160">
            <a:solidFill>
              <a:srgbClr val="D8E7E2"/>
            </a:solidFill>
            <a:prstDash val="solid"/>
          </a:ln>
        </p:spPr>
        <p:txBody>
          <a:bodyPr/>
          <a:lstStyle/>
          <a:p/>
        </p:txBody>
      </p:sp>
      <p:sp>
        <p:nvSpPr>
          <p:cNvPr id="40" name="Shape 38"/>
          <p:cNvSpPr>
            <a:spLocks noGrp="1"/>
          </p:cNvSpPr>
          <p:nvPr/>
        </p:nvSpPr>
        <p:spPr>
          <a:xfrm>
            <a:off x="4270248" y="3685032"/>
            <a:ext cx="841248" cy="256032"/>
          </a:xfrm>
          <a:prstGeom prst="roundRect">
            <a:avLst/>
          </a:prstGeom>
          <a:solidFill>
            <a:srgbClr val="FFF1E4"/>
          </a:solidFill>
          <a:ln w="10160">
            <a:solidFill>
              <a:srgbClr val="F28B2D"/>
            </a:solidFill>
            <a:prstDash val="solid"/>
          </a:ln>
        </p:spPr>
        <p:txBody>
          <a:bodyPr/>
          <a:lstStyle/>
          <a:p/>
        </p:txBody>
      </p:sp>
      <p:sp>
        <p:nvSpPr>
          <p:cNvPr id="41" name="Text 39"/>
          <p:cNvSpPr>
            <a:spLocks noGrp="1"/>
          </p:cNvSpPr>
          <p:nvPr/>
        </p:nvSpPr>
        <p:spPr>
          <a:xfrm>
            <a:off x="4270248" y="3685032"/>
            <a:ext cx="841248" cy="25603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870" b="1">
                <a:solidFill>
                  <a:srgbClr val="9A5210"/>
                </a:solidFill>
                <a:latin typeface="Noto Sans CJK SC"/>
                <a:ea typeface="Noto Sans CJK SC"/>
                <a:cs typeface="Noto Sans CJK SC"/>
              </a:rPr>
              <a:t>人工动作</a:t>
            </a:r>
            <a:endParaRPr sz="870"/>
          </a:p>
        </p:txBody>
      </p:sp>
      <p:sp>
        <p:nvSpPr>
          <p:cNvPr id="42" name="Text 40"/>
          <p:cNvSpPr>
            <a:spLocks noGrp="1"/>
          </p:cNvSpPr>
          <p:nvPr/>
        </p:nvSpPr>
        <p:spPr>
          <a:xfrm>
            <a:off x="5239512" y="3639312"/>
            <a:ext cx="1755648" cy="43891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buNone/>
            </a:pPr>
            <a:r>
              <a:rPr sz="930">
                <a:solidFill>
                  <a:srgbClr val="163B36"/>
                </a:solidFill>
                <a:latin typeface="Noto Sans CJK SC"/>
                <a:ea typeface="Noto Sans CJK SC"/>
                <a:cs typeface="Noto Sans CJK SC"/>
              </a:rPr>
              <a:t>继续处理当前工单</a:t>
            </a:r>
            <a:endParaRPr sz="930"/>
          </a:p>
        </p:txBody>
      </p:sp>
      <p:sp>
        <p:nvSpPr>
          <p:cNvPr id="43" name="Shape 41"/>
          <p:cNvSpPr>
            <a:spLocks noGrp="1"/>
          </p:cNvSpPr>
          <p:nvPr/>
        </p:nvSpPr>
        <p:spPr>
          <a:xfrm>
            <a:off x="4270248" y="4279392"/>
            <a:ext cx="841248" cy="256032"/>
          </a:xfrm>
          <a:prstGeom prst="roundRect">
            <a:avLst/>
          </a:prstGeom>
          <a:solidFill>
            <a:srgbClr val="FFF1E4"/>
          </a:solidFill>
          <a:ln w="10160">
            <a:solidFill>
              <a:srgbClr val="F28B2D"/>
            </a:solidFill>
            <a:prstDash val="solid"/>
          </a:ln>
        </p:spPr>
        <p:txBody>
          <a:bodyPr/>
          <a:lstStyle/>
          <a:p/>
        </p:txBody>
      </p:sp>
      <p:sp>
        <p:nvSpPr>
          <p:cNvPr id="44" name="Text 42"/>
          <p:cNvSpPr>
            <a:spLocks noGrp="1"/>
          </p:cNvSpPr>
          <p:nvPr/>
        </p:nvSpPr>
        <p:spPr>
          <a:xfrm>
            <a:off x="4270248" y="4279392"/>
            <a:ext cx="841248" cy="25603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870" b="1">
                <a:solidFill>
                  <a:srgbClr val="9A5210"/>
                </a:solidFill>
                <a:latin typeface="Noto Sans CJK SC"/>
                <a:ea typeface="Noto Sans CJK SC"/>
                <a:cs typeface="Noto Sans CJK SC"/>
              </a:rPr>
              <a:t>系统保留</a:t>
            </a:r>
            <a:endParaRPr sz="870"/>
          </a:p>
        </p:txBody>
      </p:sp>
      <p:sp>
        <p:nvSpPr>
          <p:cNvPr id="45" name="Text 43"/>
          <p:cNvSpPr>
            <a:spLocks noGrp="1"/>
          </p:cNvSpPr>
          <p:nvPr/>
        </p:nvSpPr>
        <p:spPr>
          <a:xfrm>
            <a:off x="5239512" y="4233672"/>
            <a:ext cx="1755648" cy="43891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buNone/>
            </a:pPr>
            <a:r>
              <a:rPr sz="930">
                <a:solidFill>
                  <a:srgbClr val="163B36"/>
                </a:solidFill>
                <a:latin typeface="Noto Sans CJK SC"/>
                <a:ea typeface="Noto Sans CJK SC"/>
                <a:cs typeface="Noto Sans CJK SC"/>
              </a:rPr>
              <a:t>携带已收集信息与工具结果</a:t>
            </a:r>
            <a:endParaRPr sz="930"/>
          </a:p>
        </p:txBody>
      </p:sp>
      <p:sp>
        <p:nvSpPr>
          <p:cNvPr id="46" name="Shape 44"/>
          <p:cNvSpPr>
            <a:spLocks noGrp="1"/>
          </p:cNvSpPr>
          <p:nvPr/>
        </p:nvSpPr>
        <p:spPr>
          <a:xfrm>
            <a:off x="8787384" y="1664208"/>
            <a:ext cx="566928" cy="566928"/>
          </a:xfrm>
          <a:prstGeom prst="ellipse">
            <a:avLst/>
          </a:prstGeom>
          <a:solidFill>
            <a:srgbClr val="07714F"/>
          </a:solidFill>
          <a:ln w="6350">
            <a:solidFill>
              <a:srgbClr val="07714F"/>
            </a:solidFill>
            <a:prstDash val="solid"/>
          </a:ln>
          <a:effectLst>
            <a:outerShdw blurRad="2147483647" dist="2147483647" algn="bl" rotWithShape="0">
              <a:srgbClr val="74857F">
                <a:alpha val="0"/>
              </a:srgbClr>
            </a:outerShdw>
          </a:effectLst>
        </p:spPr>
        <p:txBody>
          <a:bodyPr/>
          <a:lstStyle/>
          <a:p/>
        </p:txBody>
      </p:sp>
      <p:sp>
        <p:nvSpPr>
          <p:cNvPr id="47" name="Text 45"/>
          <p:cNvSpPr>
            <a:spLocks noGrp="1"/>
          </p:cNvSpPr>
          <p:nvPr/>
        </p:nvSpPr>
        <p:spPr>
          <a:xfrm>
            <a:off x="8787384" y="1664208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03</a:t>
            </a:r>
            <a:endParaRPr sz="1000"/>
          </a:p>
        </p:txBody>
      </p:sp>
      <p:sp>
        <p:nvSpPr>
          <p:cNvPr id="48" name="Shape 46"/>
          <p:cNvSpPr>
            <a:spLocks noGrp="1"/>
          </p:cNvSpPr>
          <p:nvPr/>
        </p:nvSpPr>
        <p:spPr>
          <a:xfrm>
            <a:off x="7479792" y="2212848"/>
            <a:ext cx="3154680" cy="2907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7966F"/>
            </a:solidFill>
            <a:prstDash val="solid"/>
          </a:ln>
          <a:effectLst>
            <a:outerShdw blurRad="2147483647" dist="2147483647" algn="bl" rotWithShape="0">
              <a:srgbClr val="74857F">
                <a:alpha val="0"/>
              </a:srgbClr>
            </a:outerShdw>
          </a:effectLst>
        </p:spPr>
        <p:txBody>
          <a:bodyPr/>
          <a:lstStyle/>
          <a:p/>
        </p:txBody>
      </p:sp>
      <p:sp>
        <p:nvSpPr>
          <p:cNvPr id="49" name="Text 47"/>
          <p:cNvSpPr>
            <a:spLocks noGrp="1"/>
          </p:cNvSpPr>
          <p:nvPr/>
        </p:nvSpPr>
        <p:spPr>
          <a:xfrm>
            <a:off x="7699248" y="2432304"/>
            <a:ext cx="2697480" cy="29260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1500" b="1">
                <a:solidFill>
                  <a:srgbClr val="163B36"/>
                </a:solidFill>
                <a:latin typeface="Noto Sans CJK SC"/>
                <a:ea typeface="Noto Sans CJK SC"/>
                <a:cs typeface="Noto Sans CJK SC"/>
              </a:rPr>
              <a:t>事后抽检</a:t>
            </a:r>
            <a:endParaRPr sz="1500"/>
          </a:p>
        </p:txBody>
      </p:sp>
      <p:sp>
        <p:nvSpPr>
          <p:cNvPr id="50" name="Shape 48"/>
          <p:cNvSpPr>
            <a:spLocks noGrp="1"/>
          </p:cNvSpPr>
          <p:nvPr/>
        </p:nvSpPr>
        <p:spPr>
          <a:xfrm>
            <a:off x="7680960" y="2880360"/>
            <a:ext cx="841248" cy="256032"/>
          </a:xfrm>
          <a:prstGeom prst="roundRect">
            <a:avLst/>
          </a:prstGeom>
          <a:solidFill>
            <a:srgbClr val="E8F7F1"/>
          </a:solidFill>
          <a:ln w="10160">
            <a:solidFill>
              <a:srgbClr val="07966F"/>
            </a:solidFill>
            <a:prstDash val="solid"/>
          </a:ln>
        </p:spPr>
        <p:txBody>
          <a:bodyPr/>
          <a:lstStyle/>
          <a:p/>
        </p:txBody>
      </p:sp>
      <p:sp>
        <p:nvSpPr>
          <p:cNvPr id="51" name="Text 49"/>
          <p:cNvSpPr>
            <a:spLocks noGrp="1"/>
          </p:cNvSpPr>
          <p:nvPr/>
        </p:nvSpPr>
        <p:spPr>
          <a:xfrm>
            <a:off x="7680960" y="2880360"/>
            <a:ext cx="841248" cy="25603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870" b="1">
                <a:solidFill>
                  <a:srgbClr val="076B50"/>
                </a:solidFill>
                <a:latin typeface="Noto Sans CJK SC"/>
                <a:ea typeface="Noto Sans CJK SC"/>
                <a:cs typeface="Noto Sans CJK SC"/>
              </a:rPr>
              <a:t>触发条件</a:t>
            </a:r>
            <a:endParaRPr sz="870"/>
          </a:p>
        </p:txBody>
      </p:sp>
      <p:sp>
        <p:nvSpPr>
          <p:cNvPr id="52" name="Text 50"/>
          <p:cNvSpPr>
            <a:spLocks noGrp="1"/>
          </p:cNvSpPr>
          <p:nvPr/>
        </p:nvSpPr>
        <p:spPr>
          <a:xfrm>
            <a:off x="8650224" y="2834640"/>
            <a:ext cx="1755648" cy="53035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buNone/>
            </a:pPr>
            <a:r>
              <a:rPr sz="930">
                <a:solidFill>
                  <a:srgbClr val="163B36"/>
                </a:solidFill>
                <a:latin typeface="Noto Sans CJK SC"/>
                <a:ea typeface="Noto Sans CJK SC"/>
                <a:cs typeface="Noto Sans CJK SC"/>
              </a:rPr>
              <a:t>已自动发送或完成业务动作</a:t>
            </a:r>
            <a:endParaRPr sz="930"/>
          </a:p>
          <a:p>
            <a:pPr marL="0" indent="0" algn="l">
              <a:buNone/>
            </a:pPr>
            <a:r>
              <a:rPr sz="930">
                <a:solidFill>
                  <a:srgbClr val="163B36"/>
                </a:solidFill>
                <a:latin typeface="Noto Sans CJK SC"/>
                <a:ea typeface="Noto Sans CJK SC"/>
                <a:cs typeface="Noto Sans CJK SC"/>
              </a:rPr>
              <a:t>按场景和风险抽样</a:t>
            </a:r>
            <a:endParaRPr sz="930"/>
          </a:p>
        </p:txBody>
      </p:sp>
      <p:sp>
        <p:nvSpPr>
          <p:cNvPr id="53" name="Shape 51"/>
          <p:cNvSpPr>
            <a:spLocks noGrp="1"/>
          </p:cNvSpPr>
          <p:nvPr/>
        </p:nvSpPr>
        <p:spPr>
          <a:xfrm>
            <a:off x="7680960" y="3502152"/>
            <a:ext cx="2743200" cy="0"/>
          </a:xfrm>
          <a:prstGeom prst="line">
            <a:avLst/>
          </a:prstGeom>
          <a:noFill/>
          <a:ln w="10160">
            <a:solidFill>
              <a:srgbClr val="D8E7E2"/>
            </a:solidFill>
            <a:prstDash val="solid"/>
          </a:ln>
        </p:spPr>
        <p:txBody>
          <a:bodyPr/>
          <a:lstStyle/>
          <a:p/>
        </p:txBody>
      </p:sp>
      <p:sp>
        <p:nvSpPr>
          <p:cNvPr id="54" name="Shape 52"/>
          <p:cNvSpPr>
            <a:spLocks noGrp="1"/>
          </p:cNvSpPr>
          <p:nvPr/>
        </p:nvSpPr>
        <p:spPr>
          <a:xfrm>
            <a:off x="7680960" y="3685032"/>
            <a:ext cx="841248" cy="256032"/>
          </a:xfrm>
          <a:prstGeom prst="roundRect">
            <a:avLst/>
          </a:prstGeom>
          <a:solidFill>
            <a:srgbClr val="E8F7F1"/>
          </a:solidFill>
          <a:ln w="10160">
            <a:solidFill>
              <a:srgbClr val="07966F"/>
            </a:solidFill>
            <a:prstDash val="solid"/>
          </a:ln>
        </p:spPr>
        <p:txBody>
          <a:bodyPr/>
          <a:lstStyle/>
          <a:p/>
        </p:txBody>
      </p:sp>
      <p:sp>
        <p:nvSpPr>
          <p:cNvPr id="55" name="Text 53"/>
          <p:cNvSpPr>
            <a:spLocks noGrp="1"/>
          </p:cNvSpPr>
          <p:nvPr/>
        </p:nvSpPr>
        <p:spPr>
          <a:xfrm>
            <a:off x="7680960" y="3685032"/>
            <a:ext cx="841248" cy="25603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870" b="1">
                <a:solidFill>
                  <a:srgbClr val="076B50"/>
                </a:solidFill>
                <a:latin typeface="Noto Sans CJK SC"/>
                <a:ea typeface="Noto Sans CJK SC"/>
                <a:cs typeface="Noto Sans CJK SC"/>
              </a:rPr>
              <a:t>人工动作</a:t>
            </a:r>
            <a:endParaRPr sz="870"/>
          </a:p>
        </p:txBody>
      </p:sp>
      <p:sp>
        <p:nvSpPr>
          <p:cNvPr id="56" name="Text 54"/>
          <p:cNvSpPr>
            <a:spLocks noGrp="1"/>
          </p:cNvSpPr>
          <p:nvPr/>
        </p:nvSpPr>
        <p:spPr>
          <a:xfrm>
            <a:off x="8650224" y="3639312"/>
            <a:ext cx="1755648" cy="43891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buNone/>
            </a:pPr>
            <a:r>
              <a:rPr sz="930">
                <a:solidFill>
                  <a:srgbClr val="163B36"/>
                </a:solidFill>
                <a:latin typeface="Noto Sans CJK SC"/>
                <a:ea typeface="Noto Sans CJK SC"/>
                <a:cs typeface="Noto Sans CJK SC"/>
              </a:rPr>
              <a:t>检查事实、语气和结果</a:t>
            </a:r>
            <a:endParaRPr sz="930"/>
          </a:p>
        </p:txBody>
      </p:sp>
      <p:sp>
        <p:nvSpPr>
          <p:cNvPr id="57" name="Shape 55"/>
          <p:cNvSpPr>
            <a:spLocks noGrp="1"/>
          </p:cNvSpPr>
          <p:nvPr/>
        </p:nvSpPr>
        <p:spPr>
          <a:xfrm>
            <a:off x="7680960" y="4279392"/>
            <a:ext cx="841248" cy="256032"/>
          </a:xfrm>
          <a:prstGeom prst="roundRect">
            <a:avLst/>
          </a:prstGeom>
          <a:solidFill>
            <a:srgbClr val="E8F7F1"/>
          </a:solidFill>
          <a:ln w="10160">
            <a:solidFill>
              <a:srgbClr val="07966F"/>
            </a:solidFill>
            <a:prstDash val="solid"/>
          </a:ln>
        </p:spPr>
        <p:txBody>
          <a:bodyPr/>
          <a:lstStyle/>
          <a:p/>
        </p:txBody>
      </p:sp>
      <p:sp>
        <p:nvSpPr>
          <p:cNvPr id="58" name="Text 56"/>
          <p:cNvSpPr>
            <a:spLocks noGrp="1"/>
          </p:cNvSpPr>
          <p:nvPr/>
        </p:nvSpPr>
        <p:spPr>
          <a:xfrm>
            <a:off x="7680960" y="4279392"/>
            <a:ext cx="841248" cy="25603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870" b="1">
                <a:solidFill>
                  <a:srgbClr val="076B50"/>
                </a:solidFill>
                <a:latin typeface="Noto Sans CJK SC"/>
                <a:ea typeface="Noto Sans CJK SC"/>
                <a:cs typeface="Noto Sans CJK SC"/>
              </a:rPr>
              <a:t>系统保留</a:t>
            </a:r>
            <a:endParaRPr sz="870"/>
          </a:p>
        </p:txBody>
      </p:sp>
      <p:sp>
        <p:nvSpPr>
          <p:cNvPr id="59" name="Text 57"/>
          <p:cNvSpPr>
            <a:spLocks noGrp="1"/>
          </p:cNvSpPr>
          <p:nvPr/>
        </p:nvSpPr>
        <p:spPr>
          <a:xfrm>
            <a:off x="8650224" y="4233672"/>
            <a:ext cx="1755648" cy="43891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buNone/>
            </a:pPr>
            <a:r>
              <a:rPr sz="930">
                <a:solidFill>
                  <a:srgbClr val="163B36"/>
                </a:solidFill>
                <a:latin typeface="Noto Sans CJK SC"/>
                <a:ea typeface="Noto Sans CJK SC"/>
                <a:cs typeface="Noto Sans CJK SC"/>
              </a:rPr>
              <a:t>将问题回流评测与改进池</a:t>
            </a:r>
            <a:endParaRPr sz="930"/>
          </a:p>
        </p:txBody>
      </p:sp>
      <p:sp>
        <p:nvSpPr>
          <p:cNvPr id="60" name="Shape 58"/>
          <p:cNvSpPr>
            <a:spLocks noGrp="1"/>
          </p:cNvSpPr>
          <p:nvPr/>
        </p:nvSpPr>
        <p:spPr>
          <a:xfrm>
            <a:off x="658368" y="5376672"/>
            <a:ext cx="10899648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7E2"/>
            </a:solidFill>
            <a:prstDash val="solid"/>
          </a:ln>
        </p:spPr>
        <p:txBody>
          <a:bodyPr/>
          <a:lstStyle/>
          <a:p/>
        </p:txBody>
      </p:sp>
      <p:sp>
        <p:nvSpPr>
          <p:cNvPr id="61" name="Text 59"/>
          <p:cNvSpPr>
            <a:spLocks noGrp="1"/>
          </p:cNvSpPr>
          <p:nvPr/>
        </p:nvSpPr>
        <p:spPr>
          <a:xfrm>
            <a:off x="896112" y="5532120"/>
            <a:ext cx="1051560" cy="2286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buNone/>
            </a:pPr>
            <a:r>
              <a:rPr sz="1080" b="1">
                <a:solidFill>
                  <a:srgbClr val="0D5E50"/>
                </a:solidFill>
                <a:latin typeface="Noto Sans CJK SC"/>
                <a:ea typeface="Noto Sans CJK SC"/>
                <a:cs typeface="Noto Sans CJK SC"/>
              </a:rPr>
              <a:t>人工接管包</a:t>
            </a:r>
            <a:endParaRPr sz="1080"/>
          </a:p>
        </p:txBody>
      </p:sp>
      <p:sp>
        <p:nvSpPr>
          <p:cNvPr id="62" name="Shape 60"/>
          <p:cNvSpPr>
            <a:spLocks noGrp="1"/>
          </p:cNvSpPr>
          <p:nvPr/>
        </p:nvSpPr>
        <p:spPr>
          <a:xfrm>
            <a:off x="1993392" y="5486400"/>
            <a:ext cx="1371600" cy="274320"/>
          </a:xfrm>
          <a:prstGeom prst="roundRect">
            <a:avLst/>
          </a:prstGeom>
          <a:solidFill>
            <a:srgbClr val="EAF2FF"/>
          </a:solidFill>
          <a:ln w="10160">
            <a:solidFill>
              <a:srgbClr val="2F7DEB"/>
            </a:solidFill>
            <a:prstDash val="solid"/>
          </a:ln>
        </p:spPr>
        <p:txBody>
          <a:bodyPr/>
          <a:lstStyle/>
          <a:p/>
        </p:txBody>
      </p:sp>
      <p:sp>
        <p:nvSpPr>
          <p:cNvPr id="63" name="Text 61"/>
          <p:cNvSpPr>
            <a:spLocks noGrp="1"/>
          </p:cNvSpPr>
          <p:nvPr/>
        </p:nvSpPr>
        <p:spPr>
          <a:xfrm>
            <a:off x="1993392" y="548640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830" b="1">
                <a:solidFill>
                  <a:srgbClr val="1B5FC4"/>
                </a:solidFill>
                <a:latin typeface="Noto Sans CJK SC"/>
                <a:ea typeface="Noto Sans CJK SC"/>
                <a:cs typeface="Noto Sans CJK SC"/>
              </a:rPr>
              <a:t>客户诉求</a:t>
            </a:r>
            <a:endParaRPr sz="830"/>
          </a:p>
        </p:txBody>
      </p:sp>
      <p:sp>
        <p:nvSpPr>
          <p:cNvPr id="64" name="Shape 62"/>
          <p:cNvSpPr>
            <a:spLocks noGrp="1"/>
          </p:cNvSpPr>
          <p:nvPr/>
        </p:nvSpPr>
        <p:spPr>
          <a:xfrm>
            <a:off x="3520440" y="5486400"/>
            <a:ext cx="1371600" cy="274320"/>
          </a:xfrm>
          <a:prstGeom prst="roundRect">
            <a:avLst/>
          </a:prstGeom>
          <a:solidFill>
            <a:srgbClr val="E7F8F7"/>
          </a:solidFill>
          <a:ln w="10160">
            <a:solidFill>
              <a:srgbClr val="0BA7A5"/>
            </a:solidFill>
            <a:prstDash val="solid"/>
          </a:ln>
        </p:spPr>
        <p:txBody>
          <a:bodyPr/>
          <a:lstStyle/>
          <a:p/>
        </p:txBody>
      </p:sp>
      <p:sp>
        <p:nvSpPr>
          <p:cNvPr id="65" name="Text 63"/>
          <p:cNvSpPr>
            <a:spLocks noGrp="1"/>
          </p:cNvSpPr>
          <p:nvPr/>
        </p:nvSpPr>
        <p:spPr>
          <a:xfrm>
            <a:off x="3520440" y="548640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830" b="1">
                <a:solidFill>
                  <a:srgbClr val="00706F"/>
                </a:solidFill>
                <a:latin typeface="Noto Sans CJK SC"/>
                <a:ea typeface="Noto Sans CJK SC"/>
                <a:cs typeface="Noto Sans CJK SC"/>
              </a:rPr>
              <a:t>已提取字段</a:t>
            </a:r>
            <a:endParaRPr sz="830"/>
          </a:p>
        </p:txBody>
      </p:sp>
      <p:sp>
        <p:nvSpPr>
          <p:cNvPr id="66" name="Shape 64"/>
          <p:cNvSpPr>
            <a:spLocks noGrp="1"/>
          </p:cNvSpPr>
          <p:nvPr/>
        </p:nvSpPr>
        <p:spPr>
          <a:xfrm>
            <a:off x="5047488" y="5486400"/>
            <a:ext cx="1371600" cy="274320"/>
          </a:xfrm>
          <a:prstGeom prst="roundRect">
            <a:avLst/>
          </a:prstGeom>
          <a:solidFill>
            <a:srgbClr val="EAF2FF"/>
          </a:solidFill>
          <a:ln w="10160">
            <a:solidFill>
              <a:srgbClr val="2F7DEB"/>
            </a:solidFill>
            <a:prstDash val="solid"/>
          </a:ln>
        </p:spPr>
        <p:txBody>
          <a:bodyPr/>
          <a:lstStyle/>
          <a:p/>
        </p:txBody>
      </p:sp>
      <p:sp>
        <p:nvSpPr>
          <p:cNvPr id="67" name="Text 65"/>
          <p:cNvSpPr>
            <a:spLocks noGrp="1"/>
          </p:cNvSpPr>
          <p:nvPr/>
        </p:nvSpPr>
        <p:spPr>
          <a:xfrm>
            <a:off x="5047488" y="548640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830" b="1">
                <a:solidFill>
                  <a:srgbClr val="1B5FC4"/>
                </a:solidFill>
                <a:latin typeface="Noto Sans CJK SC"/>
                <a:ea typeface="Noto Sans CJK SC"/>
                <a:cs typeface="Noto Sans CJK SC"/>
              </a:rPr>
              <a:t>订单 / 履约状态</a:t>
            </a:r>
            <a:endParaRPr sz="830"/>
          </a:p>
        </p:txBody>
      </p:sp>
      <p:sp>
        <p:nvSpPr>
          <p:cNvPr id="68" name="Shape 66"/>
          <p:cNvSpPr>
            <a:spLocks noGrp="1"/>
          </p:cNvSpPr>
          <p:nvPr/>
        </p:nvSpPr>
        <p:spPr>
          <a:xfrm>
            <a:off x="6574536" y="5486400"/>
            <a:ext cx="1371600" cy="274320"/>
          </a:xfrm>
          <a:prstGeom prst="roundRect">
            <a:avLst/>
          </a:prstGeom>
          <a:solidFill>
            <a:srgbClr val="E7F8F7"/>
          </a:solidFill>
          <a:ln w="10160">
            <a:solidFill>
              <a:srgbClr val="0BA7A5"/>
            </a:solidFill>
            <a:prstDash val="solid"/>
          </a:ln>
        </p:spPr>
        <p:txBody>
          <a:bodyPr/>
          <a:lstStyle/>
          <a:p/>
        </p:txBody>
      </p:sp>
      <p:sp>
        <p:nvSpPr>
          <p:cNvPr id="69" name="Text 67"/>
          <p:cNvSpPr>
            <a:spLocks noGrp="1"/>
          </p:cNvSpPr>
          <p:nvPr/>
        </p:nvSpPr>
        <p:spPr>
          <a:xfrm>
            <a:off x="6574536" y="548640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830" b="1">
                <a:solidFill>
                  <a:srgbClr val="00706F"/>
                </a:solidFill>
                <a:latin typeface="Noto Sans CJK SC"/>
                <a:ea typeface="Noto Sans CJK SC"/>
                <a:cs typeface="Noto Sans CJK SC"/>
              </a:rPr>
              <a:t>AI 判断依据</a:t>
            </a:r>
            <a:endParaRPr sz="830"/>
          </a:p>
        </p:txBody>
      </p:sp>
      <p:sp>
        <p:nvSpPr>
          <p:cNvPr id="70" name="Shape 68"/>
          <p:cNvSpPr>
            <a:spLocks noGrp="1"/>
          </p:cNvSpPr>
          <p:nvPr/>
        </p:nvSpPr>
        <p:spPr>
          <a:xfrm>
            <a:off x="8101584" y="5486400"/>
            <a:ext cx="1371600" cy="274320"/>
          </a:xfrm>
          <a:prstGeom prst="roundRect">
            <a:avLst/>
          </a:prstGeom>
          <a:solidFill>
            <a:srgbClr val="EAF2FF"/>
          </a:solidFill>
          <a:ln w="10160">
            <a:solidFill>
              <a:srgbClr val="2F7DEB"/>
            </a:solidFill>
            <a:prstDash val="solid"/>
          </a:ln>
        </p:spPr>
        <p:txBody>
          <a:bodyPr/>
          <a:lstStyle/>
          <a:p/>
        </p:txBody>
      </p:sp>
      <p:sp>
        <p:nvSpPr>
          <p:cNvPr id="71" name="Text 69"/>
          <p:cNvSpPr>
            <a:spLocks noGrp="1"/>
          </p:cNvSpPr>
          <p:nvPr/>
        </p:nvSpPr>
        <p:spPr>
          <a:xfrm>
            <a:off x="8101584" y="548640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830" b="1">
                <a:solidFill>
                  <a:srgbClr val="1B5FC4"/>
                </a:solidFill>
                <a:latin typeface="Noto Sans CJK SC"/>
                <a:ea typeface="Noto Sans CJK SC"/>
                <a:cs typeface="Noto Sans CJK SC"/>
              </a:rPr>
              <a:t>已执行动作</a:t>
            </a:r>
            <a:endParaRPr sz="830"/>
          </a:p>
        </p:txBody>
      </p:sp>
      <p:sp>
        <p:nvSpPr>
          <p:cNvPr id="72" name="Shape 70"/>
          <p:cNvSpPr>
            <a:spLocks noGrp="1"/>
          </p:cNvSpPr>
          <p:nvPr/>
        </p:nvSpPr>
        <p:spPr>
          <a:xfrm>
            <a:off x="9628632" y="5486400"/>
            <a:ext cx="1371600" cy="274320"/>
          </a:xfrm>
          <a:prstGeom prst="roundRect">
            <a:avLst/>
          </a:prstGeom>
          <a:solidFill>
            <a:srgbClr val="E7F8F7"/>
          </a:solidFill>
          <a:ln w="10160">
            <a:solidFill>
              <a:srgbClr val="0BA7A5"/>
            </a:solidFill>
            <a:prstDash val="solid"/>
          </a:ln>
        </p:spPr>
        <p:txBody>
          <a:bodyPr/>
          <a:lstStyle/>
          <a:p/>
        </p:txBody>
      </p:sp>
      <p:sp>
        <p:nvSpPr>
          <p:cNvPr id="73" name="Text 71"/>
          <p:cNvSpPr>
            <a:spLocks noGrp="1"/>
          </p:cNvSpPr>
          <p:nvPr/>
        </p:nvSpPr>
        <p:spPr>
          <a:xfrm>
            <a:off x="9628632" y="548640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830" b="1">
                <a:solidFill>
                  <a:srgbClr val="00706F"/>
                </a:solidFill>
                <a:latin typeface="Noto Sans CJK SC"/>
                <a:ea typeface="Noto Sans CJK SC"/>
                <a:cs typeface="Noto Sans CJK SC"/>
              </a:rPr>
              <a:t>下一步建议</a:t>
            </a:r>
            <a:endParaRPr sz="830"/>
          </a:p>
        </p:txBody>
      </p:sp>
      <p:sp>
        <p:nvSpPr>
          <p:cNvPr id="74" name="Text 72"/>
          <p:cNvSpPr>
            <a:spLocks noGrp="1"/>
          </p:cNvSpPr>
          <p:nvPr/>
        </p:nvSpPr>
        <p:spPr>
          <a:xfrm>
            <a:off x="2971800" y="6153912"/>
            <a:ext cx="6400800" cy="25603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950">
                <a:solidFill>
                  <a:srgbClr val="44585C"/>
                </a:solidFill>
                <a:latin typeface="Noto Sans CJK SC"/>
                <a:ea typeface="Noto Sans CJK SC"/>
                <a:cs typeface="Noto Sans CJK SC"/>
              </a:rPr>
              <a:t>配置原则：按场景和风险分配人工资源，不使用统一流量比例。</a:t>
            </a:r>
            <a:endParaRPr sz="950"/>
          </a:p>
        </p:txBody>
      </p:sp>
      <p:sp>
        <p:nvSpPr>
          <p:cNvPr id="75" name="Rectangle 74"/>
          <p:cNvSpPr>
            <a:spLocks noGrp="1"/>
          </p:cNvSpPr>
          <p:nvPr/>
        </p:nvSpPr>
        <p:spPr>
          <a:xfrm>
            <a:off x="0" y="0"/>
            <a:ext cx="41148" cy="6858000"/>
          </a:xfrm>
          <a:prstGeom prst="rect">
            <a:avLst/>
          </a:prstGeom>
          <a:solidFill>
            <a:srgbClr val="0A8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76" name="圆角矩形 75"/>
          <p:cNvSpPr>
            <a:spLocks noGrp="1"/>
          </p:cNvSpPr>
          <p:nvPr/>
        </p:nvSpPr>
        <p:spPr>
          <a:xfrm>
            <a:off x="6565583" y="127635"/>
            <a:ext cx="4937760" cy="365760"/>
          </a:xfrm>
          <a:prstGeom prst="roundRect">
            <a:avLst>
              <a:gd name="adj" fmla="val 20833"/>
            </a:avLst>
          </a:prstGeom>
          <a:solidFill>
            <a:srgbClr val="F7FBF9"/>
          </a:solidFill>
          <a:ln w="12668">
            <a:solidFill>
              <a:srgbClr val="F7FBF9"/>
            </a:solidFill>
            <a:prstDash val="solid"/>
          </a:ln>
        </p:spPr>
        <p:txBody>
          <a:bodyPr/>
          <a:p/>
        </p:txBody>
      </p:sp>
      <p:sp>
        <p:nvSpPr>
          <p:cNvPr id="77" name="圆角矩形 76"/>
          <p:cNvSpPr>
            <a:spLocks noGrp="1"/>
          </p:cNvSpPr>
          <p:nvPr/>
        </p:nvSpPr>
        <p:spPr>
          <a:xfrm>
            <a:off x="6657023" y="164783"/>
            <a:ext cx="1154430" cy="264795"/>
          </a:xfrm>
          <a:prstGeom prst="roundRect">
            <a:avLst>
              <a:gd name="adj" fmla="val 28777"/>
            </a:avLst>
          </a:prstGeom>
          <a:solidFill>
            <a:srgbClr val="FFFFFF"/>
          </a:solidFill>
          <a:ln w="12668">
            <a:solidFill>
              <a:srgbClr val="C9DCD7"/>
            </a:solidFill>
            <a:prstDash val="solid"/>
          </a:ln>
        </p:spPr>
        <p:txBody>
          <a:bodyPr/>
          <a:p/>
        </p:txBody>
      </p:sp>
      <p:sp>
        <p:nvSpPr>
          <p:cNvPr id="78" name="矩形 77"/>
          <p:cNvSpPr>
            <a:spLocks noGrp="1"/>
          </p:cNvSpPr>
          <p:nvPr/>
        </p:nvSpPr>
        <p:spPr>
          <a:xfrm>
            <a:off x="6657023" y="187643"/>
            <a:ext cx="1154430" cy="182880"/>
          </a:xfrm>
          <a:prstGeom prst="rect">
            <a:avLst/>
          </a:prstGeom>
        </p:spPr>
        <p:txBody>
          <a:bodyPr anchor="ctr"/>
          <a:lstStyle/>
          <a:p>
            <a:pPr algn="ctr">
              <a:defRPr sz="650" b="0">
                <a:solidFill>
                  <a:srgbClr val="44585C"/>
                </a:solidFill>
              </a:defRPr>
            </a:pPr>
            <a:r>
              <a:t>理解</a:t>
            </a:r>
          </a:p>
        </p:txBody>
      </p:sp>
      <p:sp>
        <p:nvSpPr>
          <p:cNvPr id="79" name="圆角矩形 78"/>
          <p:cNvSpPr>
            <a:spLocks noGrp="1"/>
          </p:cNvSpPr>
          <p:nvPr/>
        </p:nvSpPr>
        <p:spPr>
          <a:xfrm>
            <a:off x="7857173" y="164783"/>
            <a:ext cx="1154430" cy="264795"/>
          </a:xfrm>
          <a:prstGeom prst="roundRect">
            <a:avLst>
              <a:gd name="adj" fmla="val 28777"/>
            </a:avLst>
          </a:prstGeom>
          <a:solidFill>
            <a:srgbClr val="007574"/>
          </a:solidFill>
          <a:ln w="12668">
            <a:solidFill>
              <a:srgbClr val="007574"/>
            </a:solidFill>
            <a:prstDash val="solid"/>
          </a:ln>
        </p:spPr>
        <p:txBody>
          <a:bodyPr/>
          <a:p/>
        </p:txBody>
      </p:sp>
      <p:sp>
        <p:nvSpPr>
          <p:cNvPr id="80" name="矩形 79"/>
          <p:cNvSpPr>
            <a:spLocks noGrp="1"/>
          </p:cNvSpPr>
          <p:nvPr/>
        </p:nvSpPr>
        <p:spPr>
          <a:xfrm>
            <a:off x="7857173" y="187643"/>
            <a:ext cx="1154430" cy="182880"/>
          </a:xfrm>
          <a:prstGeom prst="rect">
            <a:avLst/>
          </a:prstGeom>
        </p:spPr>
        <p:txBody>
          <a:bodyPr anchor="ctr"/>
          <a:lstStyle/>
          <a:p>
            <a:pPr algn="ctr">
              <a:defRPr sz="660" b="1">
                <a:solidFill>
                  <a:srgbClr val="FFFFFF"/>
                </a:solidFill>
              </a:defRPr>
            </a:pPr>
            <a:r>
              <a:t>查询</a:t>
            </a:r>
          </a:p>
        </p:txBody>
      </p:sp>
      <p:sp>
        <p:nvSpPr>
          <p:cNvPr id="81" name="圆角矩形 80"/>
          <p:cNvSpPr>
            <a:spLocks noGrp="1"/>
          </p:cNvSpPr>
          <p:nvPr/>
        </p:nvSpPr>
        <p:spPr>
          <a:xfrm>
            <a:off x="9057323" y="164783"/>
            <a:ext cx="1154430" cy="264795"/>
          </a:xfrm>
          <a:prstGeom prst="roundRect">
            <a:avLst>
              <a:gd name="adj" fmla="val 28777"/>
            </a:avLst>
          </a:prstGeom>
          <a:solidFill>
            <a:srgbClr val="FFFFFF"/>
          </a:solidFill>
          <a:ln w="12668">
            <a:solidFill>
              <a:srgbClr val="C9DCD7"/>
            </a:solidFill>
            <a:prstDash val="solid"/>
          </a:ln>
        </p:spPr>
        <p:txBody>
          <a:bodyPr/>
          <a:p/>
        </p:txBody>
      </p:sp>
      <p:sp>
        <p:nvSpPr>
          <p:cNvPr id="82" name="矩形 81"/>
          <p:cNvSpPr>
            <a:spLocks noGrp="1"/>
          </p:cNvSpPr>
          <p:nvPr/>
        </p:nvSpPr>
        <p:spPr>
          <a:xfrm>
            <a:off x="9057323" y="187643"/>
            <a:ext cx="1154430" cy="182880"/>
          </a:xfrm>
          <a:prstGeom prst="rect">
            <a:avLst/>
          </a:prstGeom>
        </p:spPr>
        <p:txBody>
          <a:bodyPr anchor="ctr"/>
          <a:lstStyle/>
          <a:p>
            <a:pPr algn="ctr">
              <a:defRPr sz="650" b="0">
                <a:solidFill>
                  <a:srgbClr val="44585C"/>
                </a:solidFill>
              </a:defRPr>
            </a:pPr>
            <a:r>
              <a:t>决策</a:t>
            </a:r>
          </a:p>
        </p:txBody>
      </p:sp>
      <p:sp>
        <p:nvSpPr>
          <p:cNvPr id="83" name="圆角矩形 82"/>
          <p:cNvSpPr>
            <a:spLocks noGrp="1"/>
          </p:cNvSpPr>
          <p:nvPr/>
        </p:nvSpPr>
        <p:spPr>
          <a:xfrm>
            <a:off x="10257473" y="164783"/>
            <a:ext cx="1154430" cy="264795"/>
          </a:xfrm>
          <a:prstGeom prst="roundRect">
            <a:avLst>
              <a:gd name="adj" fmla="val 28777"/>
            </a:avLst>
          </a:prstGeom>
          <a:solidFill>
            <a:srgbClr val="007574"/>
          </a:solidFill>
          <a:ln w="12668">
            <a:solidFill>
              <a:srgbClr val="007574"/>
            </a:solidFill>
            <a:prstDash val="solid"/>
          </a:ln>
        </p:spPr>
        <p:txBody>
          <a:bodyPr/>
          <a:p/>
        </p:txBody>
      </p:sp>
      <p:sp>
        <p:nvSpPr>
          <p:cNvPr id="84" name="矩形 83"/>
          <p:cNvSpPr>
            <a:spLocks noGrp="1"/>
          </p:cNvSpPr>
          <p:nvPr/>
        </p:nvSpPr>
        <p:spPr>
          <a:xfrm>
            <a:off x="10257473" y="187643"/>
            <a:ext cx="1154430" cy="182880"/>
          </a:xfrm>
          <a:prstGeom prst="rect">
            <a:avLst/>
          </a:prstGeom>
        </p:spPr>
        <p:txBody>
          <a:bodyPr anchor="ctr"/>
          <a:lstStyle/>
          <a:p>
            <a:pPr algn="ctr">
              <a:defRPr sz="660" b="1">
                <a:solidFill>
                  <a:srgbClr val="FFFFFF"/>
                </a:solidFill>
              </a:defRPr>
            </a:pPr>
            <a:r>
              <a:t>执行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hape 0"/>
          <p:cNvSpPr>
            <a:spLocks noGrp="1"/>
          </p:cNvSpPr>
          <p:nvPr/>
        </p:nvSpPr>
        <p:spPr>
          <a:xfrm>
            <a:off x="16459" y="16459"/>
            <a:ext cx="38405" cy="6825082"/>
          </a:xfrm>
          <a:prstGeom prst="rect">
            <a:avLst/>
          </a:prstGeom>
          <a:solidFill>
            <a:srgbClr val="0A8F6A"/>
          </a:solidFill>
          <a:ln w="12700">
            <a:solidFill>
              <a:srgbClr val="12B07D"/>
            </a:solidFill>
            <a:prstDash val="solid"/>
          </a:ln>
        </p:spPr>
        <p:txBody>
          <a:bodyPr/>
          <a:lstStyle/>
          <a:p/>
        </p:txBody>
      </p:sp>
      <p:sp>
        <p:nvSpPr>
          <p:cNvPr id="4" name="Shape 2"/>
          <p:cNvSpPr>
            <a:spLocks noGrp="1"/>
          </p:cNvSpPr>
          <p:nvPr/>
        </p:nvSpPr>
        <p:spPr>
          <a:xfrm>
            <a:off x="10104120" y="73152"/>
            <a:ext cx="1874520" cy="1353312"/>
          </a:xfrm>
          <a:prstGeom prst="ellipse">
            <a:avLst/>
          </a:prstGeom>
          <a:solidFill>
            <a:srgbClr val="E8F7F1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/>
        </p:txBody>
      </p:sp>
      <p:sp>
        <p:nvSpPr>
          <p:cNvPr id="5" name="Shape 3"/>
          <p:cNvSpPr>
            <a:spLocks noGrp="1"/>
          </p:cNvSpPr>
          <p:nvPr/>
        </p:nvSpPr>
        <p:spPr>
          <a:xfrm>
            <a:off x="91440" y="5596128"/>
            <a:ext cx="1719072" cy="1051560"/>
          </a:xfrm>
          <a:prstGeom prst="ellipse">
            <a:avLst/>
          </a:prstGeom>
          <a:solidFill>
            <a:srgbClr val="FFF2E8">
              <a:alpha val="68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/>
        </p:txBody>
      </p:sp>
      <p:sp>
        <p:nvSpPr>
          <p:cNvPr id="6" name="Shape 4"/>
          <p:cNvSpPr>
            <a:spLocks noGrp="1"/>
          </p:cNvSpPr>
          <p:nvPr/>
        </p:nvSpPr>
        <p:spPr>
          <a:xfrm>
            <a:off x="658368" y="393192"/>
            <a:ext cx="68580" cy="68580"/>
          </a:xfrm>
          <a:prstGeom prst="ellipse">
            <a:avLst/>
          </a:prstGeom>
          <a:solidFill>
            <a:srgbClr val="0A8F6A"/>
          </a:solidFill>
          <a:ln w="12700">
            <a:solidFill>
              <a:srgbClr val="12B07D"/>
            </a:solidFill>
            <a:prstDash val="solid"/>
          </a:ln>
        </p:spPr>
        <p:txBody>
          <a:bodyPr/>
          <a:lstStyle/>
          <a:p/>
        </p:txBody>
      </p:sp>
      <p:sp>
        <p:nvSpPr>
          <p:cNvPr id="7" name="Shape 5"/>
          <p:cNvSpPr>
            <a:spLocks noGrp="1"/>
          </p:cNvSpPr>
          <p:nvPr/>
        </p:nvSpPr>
        <p:spPr>
          <a:xfrm>
            <a:off x="768096" y="427939"/>
            <a:ext cx="411480" cy="0"/>
          </a:xfrm>
          <a:prstGeom prst="line">
            <a:avLst/>
          </a:prstGeom>
          <a:noFill/>
          <a:ln w="15875">
            <a:solidFill>
              <a:srgbClr val="0A8F6A"/>
            </a:solidFill>
            <a:prstDash val="solid"/>
          </a:ln>
        </p:spPr>
        <p:txBody>
          <a:bodyPr/>
          <a:lstStyle/>
          <a:p/>
        </p:txBody>
      </p:sp>
      <p:sp>
        <p:nvSpPr>
          <p:cNvPr id="8" name="Text 6"/>
          <p:cNvSpPr>
            <a:spLocks noGrp="1"/>
          </p:cNvSpPr>
          <p:nvPr/>
        </p:nvSpPr>
        <p:spPr>
          <a:xfrm>
            <a:off x="1234440" y="265176"/>
            <a:ext cx="2331720" cy="31089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r>
              <a:rPr sz="1050" b="1">
                <a:solidFill>
                  <a:srgbClr val="076B50"/>
                </a:solidFill>
                <a:latin typeface="Noto Sans CJK SC"/>
                <a:ea typeface="Noto Sans CJK SC"/>
                <a:cs typeface="Noto Sans CJK SC"/>
              </a:rPr>
              <a:t>CHAPTER 7 · 证据、评测与价值</a:t>
            </a:r>
            <a:endParaRPr sz="1050" b="1">
              <a:solidFill>
                <a:srgbClr val="0A8F6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9" name="Shape 7"/>
          <p:cNvSpPr>
            <a:spLocks noGrp="1"/>
          </p:cNvSpPr>
          <p:nvPr/>
        </p:nvSpPr>
        <p:spPr>
          <a:xfrm>
            <a:off x="9829800" y="301752"/>
            <a:ext cx="68580" cy="68580"/>
          </a:xfrm>
          <a:prstGeom prst="ellipse">
            <a:avLst/>
          </a:prstGeom>
          <a:solidFill>
            <a:srgbClr val="C7DAD6"/>
          </a:solidFill>
          <a:ln w="12700">
            <a:solidFill>
              <a:srgbClr val="C7DAD6"/>
            </a:solidFill>
            <a:prstDash val="solid"/>
          </a:ln>
        </p:spPr>
        <p:txBody>
          <a:bodyPr/>
          <a:lstStyle/>
          <a:p/>
        </p:txBody>
      </p:sp>
      <p:sp>
        <p:nvSpPr>
          <p:cNvPr id="10" name="Shape 8"/>
          <p:cNvSpPr>
            <a:spLocks noGrp="1"/>
          </p:cNvSpPr>
          <p:nvPr/>
        </p:nvSpPr>
        <p:spPr>
          <a:xfrm>
            <a:off x="10040112" y="301752"/>
            <a:ext cx="68580" cy="68580"/>
          </a:xfrm>
          <a:prstGeom prst="ellipse">
            <a:avLst/>
          </a:prstGeom>
          <a:solidFill>
            <a:srgbClr val="C7DAD6"/>
          </a:solidFill>
          <a:ln w="12700">
            <a:solidFill>
              <a:srgbClr val="C7DAD6"/>
            </a:solidFill>
            <a:prstDash val="solid"/>
          </a:ln>
        </p:spPr>
        <p:txBody>
          <a:bodyPr/>
          <a:lstStyle/>
          <a:p/>
        </p:txBody>
      </p:sp>
      <p:sp>
        <p:nvSpPr>
          <p:cNvPr id="11" name="Shape 9"/>
          <p:cNvSpPr>
            <a:spLocks noGrp="1"/>
          </p:cNvSpPr>
          <p:nvPr/>
        </p:nvSpPr>
        <p:spPr>
          <a:xfrm>
            <a:off x="10250424" y="301752"/>
            <a:ext cx="68580" cy="68580"/>
          </a:xfrm>
          <a:prstGeom prst="ellipse">
            <a:avLst/>
          </a:prstGeom>
          <a:solidFill>
            <a:srgbClr val="C7DAD6"/>
          </a:solidFill>
          <a:ln w="12700">
            <a:solidFill>
              <a:srgbClr val="C7DAD6"/>
            </a:solidFill>
            <a:prstDash val="solid"/>
          </a:ln>
        </p:spPr>
        <p:txBody>
          <a:bodyPr/>
          <a:lstStyle/>
          <a:p/>
        </p:txBody>
      </p:sp>
      <p:sp>
        <p:nvSpPr>
          <p:cNvPr id="12" name="Shape 10"/>
          <p:cNvSpPr>
            <a:spLocks noGrp="1"/>
          </p:cNvSpPr>
          <p:nvPr/>
        </p:nvSpPr>
        <p:spPr>
          <a:xfrm>
            <a:off x="10460736" y="301752"/>
            <a:ext cx="68580" cy="68580"/>
          </a:xfrm>
          <a:prstGeom prst="ellipse">
            <a:avLst/>
          </a:prstGeom>
          <a:solidFill>
            <a:srgbClr val="12B07D"/>
          </a:solidFill>
          <a:ln w="12700">
            <a:solidFill>
              <a:srgbClr val="12B07D"/>
            </a:solidFill>
            <a:prstDash val="solid"/>
          </a:ln>
        </p:spPr>
        <p:txBody>
          <a:bodyPr/>
          <a:lstStyle/>
          <a:p/>
        </p:txBody>
      </p:sp>
      <p:sp>
        <p:nvSpPr>
          <p:cNvPr id="13" name="Shape 11"/>
          <p:cNvSpPr>
            <a:spLocks noGrp="1"/>
          </p:cNvSpPr>
          <p:nvPr/>
        </p:nvSpPr>
        <p:spPr>
          <a:xfrm>
            <a:off x="10671048" y="301752"/>
            <a:ext cx="68580" cy="68580"/>
          </a:xfrm>
          <a:prstGeom prst="ellipse">
            <a:avLst/>
          </a:prstGeom>
          <a:solidFill>
            <a:srgbClr val="C7DAD6"/>
          </a:solidFill>
          <a:ln w="12700">
            <a:solidFill>
              <a:srgbClr val="C7DAD6"/>
            </a:solidFill>
            <a:prstDash val="solid"/>
          </a:ln>
        </p:spPr>
        <p:txBody>
          <a:bodyPr/>
          <a:lstStyle/>
          <a:p/>
        </p:txBody>
      </p:sp>
      <p:sp>
        <p:nvSpPr>
          <p:cNvPr id="14" name="Shape 12"/>
          <p:cNvSpPr>
            <a:spLocks noGrp="1"/>
          </p:cNvSpPr>
          <p:nvPr/>
        </p:nvSpPr>
        <p:spPr>
          <a:xfrm>
            <a:off x="10881360" y="301752"/>
            <a:ext cx="68580" cy="68580"/>
          </a:xfrm>
          <a:prstGeom prst="ellipse">
            <a:avLst/>
          </a:prstGeom>
          <a:solidFill>
            <a:srgbClr val="C7DAD6"/>
          </a:solidFill>
          <a:ln w="12700">
            <a:solidFill>
              <a:srgbClr val="C7DAD6"/>
            </a:solidFill>
            <a:prstDash val="solid"/>
          </a:ln>
        </p:spPr>
        <p:txBody>
          <a:bodyPr/>
          <a:lstStyle/>
          <a:p/>
        </p:txBody>
      </p:sp>
      <p:sp>
        <p:nvSpPr>
          <p:cNvPr id="15" name="Shape 13"/>
          <p:cNvSpPr>
            <a:spLocks noGrp="1"/>
          </p:cNvSpPr>
          <p:nvPr/>
        </p:nvSpPr>
        <p:spPr>
          <a:xfrm>
            <a:off x="11091672" y="301752"/>
            <a:ext cx="68580" cy="68580"/>
          </a:xfrm>
          <a:prstGeom prst="ellipse">
            <a:avLst/>
          </a:prstGeom>
          <a:solidFill>
            <a:srgbClr val="C7DAD6"/>
          </a:solidFill>
          <a:ln w="12700">
            <a:solidFill>
              <a:srgbClr val="C7DAD6"/>
            </a:solidFill>
            <a:prstDash val="solid"/>
          </a:ln>
        </p:spPr>
        <p:txBody>
          <a:bodyPr/>
          <a:lstStyle/>
          <a:p/>
        </p:txBody>
      </p:sp>
      <p:sp>
        <p:nvSpPr>
          <p:cNvPr id="16" name="Shape 14"/>
          <p:cNvSpPr>
            <a:spLocks noGrp="1"/>
          </p:cNvSpPr>
          <p:nvPr/>
        </p:nvSpPr>
        <p:spPr>
          <a:xfrm>
            <a:off x="11301984" y="301752"/>
            <a:ext cx="68580" cy="68580"/>
          </a:xfrm>
          <a:prstGeom prst="ellipse">
            <a:avLst/>
          </a:prstGeom>
          <a:solidFill>
            <a:srgbClr val="C7DAD6"/>
          </a:solidFill>
          <a:ln w="12700">
            <a:solidFill>
              <a:srgbClr val="C7DAD6"/>
            </a:solidFill>
            <a:prstDash val="solid"/>
          </a:ln>
        </p:spPr>
        <p:txBody>
          <a:bodyPr/>
          <a:lstStyle/>
          <a:p/>
        </p:txBody>
      </p:sp>
      <p:sp>
        <p:nvSpPr>
          <p:cNvPr id="17" name="Text 15"/>
          <p:cNvSpPr>
            <a:spLocks noGrp="1"/>
          </p:cNvSpPr>
          <p:nvPr/>
        </p:nvSpPr>
        <p:spPr>
          <a:xfrm>
            <a:off x="658368" y="713232"/>
            <a:ext cx="10652760" cy="49377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2550" b="1">
                <a:solidFill>
                  <a:srgbClr val="14383E"/>
                </a:solidFill>
                <a:latin typeface="Noto Sans CJK SC"/>
                <a:ea typeface="Noto Sans CJK SC"/>
                <a:cs typeface="Noto Sans CJK SC"/>
              </a:rPr>
              <a:t>第七章 · 证据、评测与价值</a:t>
            </a:r>
            <a:endParaRPr sz="2550"/>
          </a:p>
        </p:txBody>
      </p:sp>
      <p:sp>
        <p:nvSpPr>
          <p:cNvPr id="18" name="Text 16"/>
          <p:cNvSpPr>
            <a:spLocks noGrp="1"/>
          </p:cNvSpPr>
          <p:nvPr/>
        </p:nvSpPr>
        <p:spPr>
          <a:xfrm>
            <a:off x="658368" y="1197864"/>
            <a:ext cx="10469880" cy="29260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r>
              <a:rPr sz="1170">
                <a:solidFill>
                  <a:srgbClr val="44585C"/>
                </a:solidFill>
                <a:latin typeface="Noto Sans CJK SC"/>
                <a:ea typeface="Noto Sans CJK SC"/>
                <a:cs typeface="Noto Sans CJK SC"/>
              </a:rPr>
              <a:t>这一块回答：怎么证明它做对了，值不值。共 10 页，约 29 分钟。</a:t>
            </a:r>
            <a:endParaRPr sz="1170">
              <a:solidFill>
                <a:srgbClr val="6B8185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9" name="Shape 17"/>
          <p:cNvSpPr>
            <a:spLocks noGrp="1"/>
          </p:cNvSpPr>
          <p:nvPr/>
        </p:nvSpPr>
        <p:spPr>
          <a:xfrm>
            <a:off x="658368" y="6510528"/>
            <a:ext cx="10835640" cy="0"/>
          </a:xfrm>
          <a:prstGeom prst="line">
            <a:avLst/>
          </a:prstGeom>
          <a:noFill/>
          <a:ln w="11430">
            <a:solidFill>
              <a:srgbClr val="D7E7E3"/>
            </a:solidFill>
            <a:prstDash val="solid"/>
          </a:ln>
        </p:spPr>
        <p:txBody>
          <a:bodyPr/>
          <a:lstStyle/>
          <a:p/>
        </p:txBody>
      </p:sp>
      <p:sp>
        <p:nvSpPr>
          <p:cNvPr id="20" name="Text 18"/>
          <p:cNvSpPr>
            <a:spLocks noGrp="1"/>
          </p:cNvSpPr>
          <p:nvPr/>
        </p:nvSpPr>
        <p:spPr>
          <a:xfrm>
            <a:off x="658368" y="6556248"/>
            <a:ext cx="2103120" cy="16459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750" b="1" spc="40">
                <a:solidFill>
                  <a:srgbClr val="5C7276"/>
                </a:solidFill>
                <a:latin typeface="Noto Sans CJK SC"/>
                <a:ea typeface="Noto Sans CJK SC"/>
                <a:cs typeface="Noto Sans CJK SC"/>
              </a:rPr>
              <a:t>CUSTOMER SERVICE AI AGENT</a:t>
            </a:r>
            <a:endParaRPr sz="750"/>
          </a:p>
        </p:txBody>
      </p:sp>
      <p:sp>
        <p:nvSpPr>
          <p:cNvPr id="63" name="Rectangle 62"/>
          <p:cNvSpPr>
            <a:spLocks noGrp="1"/>
          </p:cNvSpPr>
          <p:nvPr/>
        </p:nvSpPr>
        <p:spPr>
          <a:xfrm>
            <a:off x="0" y="0"/>
            <a:ext cx="41148" cy="6858000"/>
          </a:xfrm>
          <a:prstGeom prst="rect">
            <a:avLst/>
          </a:prstGeom>
          <a:solidFill>
            <a:srgbClr val="0A8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64" name="圆角矩形 63"/>
          <p:cNvSpPr>
            <a:spLocks noGrp="1"/>
          </p:cNvSpPr>
          <p:nvPr/>
        </p:nvSpPr>
        <p:spPr>
          <a:xfrm>
            <a:off x="657225" y="2362200"/>
            <a:ext cx="10877550" cy="2419350"/>
          </a:xfrm>
          <a:prstGeom prst="roundRect">
            <a:avLst>
              <a:gd name="adj" fmla="val 2222"/>
            </a:avLst>
          </a:prstGeom>
          <a:solidFill>
            <a:srgbClr val="EAF2FF"/>
          </a:solidFill>
          <a:ln w="12668">
            <a:solidFill>
              <a:srgbClr val="2F80ED"/>
            </a:solidFill>
            <a:prstDash val="solid"/>
          </a:ln>
        </p:spPr>
        <p:txBody>
          <a:bodyPr/>
          <a:p/>
        </p:txBody>
      </p:sp>
      <p:sp>
        <p:nvSpPr>
          <p:cNvPr id="65" name="圆角矩形 64"/>
          <p:cNvSpPr>
            <a:spLocks noGrp="1"/>
          </p:cNvSpPr>
          <p:nvPr/>
        </p:nvSpPr>
        <p:spPr>
          <a:xfrm>
            <a:off x="950976" y="2633472"/>
            <a:ext cx="1628775" cy="87630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668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67" name="矩形 66"/>
          <p:cNvSpPr>
            <a:spLocks noGrp="1"/>
          </p:cNvSpPr>
          <p:nvPr/>
        </p:nvSpPr>
        <p:spPr>
          <a:xfrm>
            <a:off x="1046988" y="2743200"/>
            <a:ext cx="1438275" cy="647700"/>
          </a:xfrm>
          <a:prstGeom prst="rect">
            <a:avLst/>
          </a:prstGeom>
        </p:spPr>
        <p:txBody>
          <a:bodyPr anchor="ctr"/>
          <a:lstStyle/>
          <a:p>
            <a:pPr algn="ctr">
              <a:defRPr sz="740" b="0">
                <a:solidFill>
                  <a:srgbClr val="14383E"/>
                </a:solidFill>
              </a:defRPr>
            </a:pPr>
            <a:r>
              <a:t>单票 Trace：</a:t>
            </a:r>
            <a:br/>
            <a:r>
              <a:t>需要记录的六类信息</a:t>
            </a:r>
          </a:p>
        </p:txBody>
      </p:sp>
      <p:sp>
        <p:nvSpPr>
          <p:cNvPr id="68" name="圆角矩形 67"/>
          <p:cNvSpPr>
            <a:spLocks noGrp="1"/>
          </p:cNvSpPr>
          <p:nvPr/>
        </p:nvSpPr>
        <p:spPr>
          <a:xfrm>
            <a:off x="2679192" y="2633472"/>
            <a:ext cx="1628775" cy="87630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668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70" name="矩形 69"/>
          <p:cNvSpPr>
            <a:spLocks noGrp="1"/>
          </p:cNvSpPr>
          <p:nvPr/>
        </p:nvSpPr>
        <p:spPr>
          <a:xfrm>
            <a:off x="2775204" y="2743200"/>
            <a:ext cx="1438275" cy="647700"/>
          </a:xfrm>
          <a:prstGeom prst="rect">
            <a:avLst/>
          </a:prstGeom>
        </p:spPr>
        <p:txBody>
          <a:bodyPr anchor="ctr"/>
          <a:lstStyle/>
          <a:p>
            <a:pPr algn="ctr">
              <a:defRPr sz="740" b="0">
                <a:solidFill>
                  <a:srgbClr val="14383E"/>
                </a:solidFill>
              </a:defRPr>
            </a:pPr>
            <a:r>
              <a:t>Skill 日报看板与改进闭环</a:t>
            </a:r>
          </a:p>
        </p:txBody>
      </p:sp>
      <p:sp>
        <p:nvSpPr>
          <p:cNvPr id="71" name="圆角矩形 70"/>
          <p:cNvSpPr>
            <a:spLocks noGrp="1"/>
          </p:cNvSpPr>
          <p:nvPr/>
        </p:nvSpPr>
        <p:spPr>
          <a:xfrm>
            <a:off x="4416552" y="2633472"/>
            <a:ext cx="1628775" cy="87630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668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73" name="矩形 72"/>
          <p:cNvSpPr>
            <a:spLocks noGrp="1"/>
          </p:cNvSpPr>
          <p:nvPr/>
        </p:nvSpPr>
        <p:spPr>
          <a:xfrm>
            <a:off x="4512564" y="2743200"/>
            <a:ext cx="1438275" cy="647700"/>
          </a:xfrm>
          <a:prstGeom prst="rect">
            <a:avLst/>
          </a:prstGeom>
        </p:spPr>
        <p:txBody>
          <a:bodyPr anchor="ctr"/>
          <a:lstStyle/>
          <a:p>
            <a:pPr algn="ctr">
              <a:defRPr sz="740" b="0">
                <a:solidFill>
                  <a:srgbClr val="14383E"/>
                </a:solidFill>
              </a:defRPr>
            </a:pPr>
            <a:r>
              <a:t>能力缺口到新能力：候选、验证与放行</a:t>
            </a:r>
          </a:p>
        </p:txBody>
      </p:sp>
      <p:sp>
        <p:nvSpPr>
          <p:cNvPr id="74" name="圆角矩形 73"/>
          <p:cNvSpPr>
            <a:spLocks noGrp="1"/>
          </p:cNvSpPr>
          <p:nvPr/>
        </p:nvSpPr>
        <p:spPr>
          <a:xfrm>
            <a:off x="6144768" y="2633472"/>
            <a:ext cx="1628775" cy="87630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668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76" name="矩形 75"/>
          <p:cNvSpPr>
            <a:spLocks noGrp="1"/>
          </p:cNvSpPr>
          <p:nvPr/>
        </p:nvSpPr>
        <p:spPr>
          <a:xfrm>
            <a:off x="6240780" y="2743200"/>
            <a:ext cx="1438275" cy="647700"/>
          </a:xfrm>
          <a:prstGeom prst="rect">
            <a:avLst/>
          </a:prstGeom>
        </p:spPr>
        <p:txBody>
          <a:bodyPr anchor="ctr"/>
          <a:lstStyle/>
          <a:p>
            <a:pPr algn="ctr">
              <a:defRPr sz="740" b="0">
                <a:solidFill>
                  <a:srgbClr val="14383E"/>
                </a:solidFill>
              </a:defRPr>
            </a:pPr>
            <a:r>
              <a:t>评测集：159 个冻结用例</a:t>
            </a:r>
          </a:p>
        </p:txBody>
      </p:sp>
      <p:sp>
        <p:nvSpPr>
          <p:cNvPr id="77" name="圆角矩形 76"/>
          <p:cNvSpPr>
            <a:spLocks noGrp="1"/>
          </p:cNvSpPr>
          <p:nvPr/>
        </p:nvSpPr>
        <p:spPr>
          <a:xfrm>
            <a:off x="7882127" y="2633472"/>
            <a:ext cx="1628775" cy="87630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668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79" name="矩形 78"/>
          <p:cNvSpPr>
            <a:spLocks noGrp="1"/>
          </p:cNvSpPr>
          <p:nvPr/>
        </p:nvSpPr>
        <p:spPr>
          <a:xfrm>
            <a:off x="7978140" y="2743200"/>
            <a:ext cx="1438275" cy="647700"/>
          </a:xfrm>
          <a:prstGeom prst="rect">
            <a:avLst/>
          </a:prstGeom>
        </p:spPr>
        <p:txBody>
          <a:bodyPr anchor="ctr"/>
          <a:lstStyle/>
          <a:p>
            <a:pPr algn="ctr">
              <a:defRPr sz="740" b="0">
                <a:solidFill>
                  <a:srgbClr val="14383E"/>
                </a:solidFill>
              </a:defRPr>
            </a:pPr>
            <a:r>
              <a:t>AI Gate：候选版本与基线的对比回放</a:t>
            </a:r>
          </a:p>
        </p:txBody>
      </p:sp>
      <p:sp>
        <p:nvSpPr>
          <p:cNvPr id="80" name="圆角矩形 79"/>
          <p:cNvSpPr>
            <a:spLocks noGrp="1"/>
          </p:cNvSpPr>
          <p:nvPr/>
        </p:nvSpPr>
        <p:spPr>
          <a:xfrm>
            <a:off x="9619488" y="2633472"/>
            <a:ext cx="1628775" cy="87630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668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82" name="矩形 81"/>
          <p:cNvSpPr>
            <a:spLocks noGrp="1"/>
          </p:cNvSpPr>
          <p:nvPr/>
        </p:nvSpPr>
        <p:spPr>
          <a:xfrm>
            <a:off x="9715500" y="2743200"/>
            <a:ext cx="1438275" cy="647700"/>
          </a:xfrm>
          <a:prstGeom prst="rect">
            <a:avLst/>
          </a:prstGeom>
        </p:spPr>
        <p:txBody>
          <a:bodyPr anchor="ctr"/>
          <a:lstStyle/>
          <a:p>
            <a:pPr algn="ctr">
              <a:defRPr sz="740" b="0">
                <a:solidFill>
                  <a:srgbClr val="14383E"/>
                </a:solidFill>
              </a:defRPr>
            </a:pPr>
            <a:r>
              <a:t>QA 影子打分：独立评审，不参与放行</a:t>
            </a:r>
          </a:p>
        </p:txBody>
      </p:sp>
      <p:sp>
        <p:nvSpPr>
          <p:cNvPr id="83" name="圆角矩形 82"/>
          <p:cNvSpPr>
            <a:spLocks noGrp="1"/>
          </p:cNvSpPr>
          <p:nvPr/>
        </p:nvSpPr>
        <p:spPr>
          <a:xfrm>
            <a:off x="2679192" y="3639312"/>
            <a:ext cx="1628775" cy="87630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668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85" name="矩形 84"/>
          <p:cNvSpPr>
            <a:spLocks noGrp="1"/>
          </p:cNvSpPr>
          <p:nvPr/>
        </p:nvSpPr>
        <p:spPr>
          <a:xfrm>
            <a:off x="2775204" y="3749039"/>
            <a:ext cx="1438275" cy="647700"/>
          </a:xfrm>
          <a:prstGeom prst="rect">
            <a:avLst/>
          </a:prstGeom>
        </p:spPr>
        <p:txBody>
          <a:bodyPr anchor="ctr"/>
          <a:lstStyle/>
          <a:p>
            <a:pPr algn="ctr">
              <a:defRPr sz="740" b="0">
                <a:solidFill>
                  <a:srgbClr val="14383E"/>
                </a:solidFill>
              </a:defRPr>
            </a:pPr>
            <a:r>
              <a:t>评测与发布验证闭环</a:t>
            </a:r>
          </a:p>
        </p:txBody>
      </p:sp>
      <p:sp>
        <p:nvSpPr>
          <p:cNvPr id="86" name="圆角矩形 85"/>
          <p:cNvSpPr>
            <a:spLocks noGrp="1"/>
          </p:cNvSpPr>
          <p:nvPr/>
        </p:nvSpPr>
        <p:spPr>
          <a:xfrm>
            <a:off x="4416552" y="3639312"/>
            <a:ext cx="1628775" cy="87630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668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88" name="矩形 87"/>
          <p:cNvSpPr>
            <a:spLocks noGrp="1"/>
          </p:cNvSpPr>
          <p:nvPr/>
        </p:nvSpPr>
        <p:spPr>
          <a:xfrm>
            <a:off x="4512564" y="3749039"/>
            <a:ext cx="1438275" cy="647700"/>
          </a:xfrm>
          <a:prstGeom prst="rect">
            <a:avLst/>
          </a:prstGeom>
        </p:spPr>
        <p:txBody>
          <a:bodyPr anchor="ctr"/>
          <a:lstStyle/>
          <a:p>
            <a:pPr algn="ctr">
              <a:defRPr sz="740" b="0">
                <a:solidFill>
                  <a:srgbClr val="14383E"/>
                </a:solidFill>
              </a:defRPr>
            </a:pPr>
            <a:r>
              <a:t>运营漏斗：从 100 到约 7</a:t>
            </a:r>
          </a:p>
        </p:txBody>
      </p:sp>
      <p:sp>
        <p:nvSpPr>
          <p:cNvPr id="89" name="圆角矩形 88"/>
          <p:cNvSpPr>
            <a:spLocks noGrp="1"/>
          </p:cNvSpPr>
          <p:nvPr/>
        </p:nvSpPr>
        <p:spPr>
          <a:xfrm>
            <a:off x="6144768" y="3639312"/>
            <a:ext cx="1628775" cy="87630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668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91" name="矩形 90"/>
          <p:cNvSpPr>
            <a:spLocks noGrp="1"/>
          </p:cNvSpPr>
          <p:nvPr/>
        </p:nvSpPr>
        <p:spPr>
          <a:xfrm>
            <a:off x="6240780" y="3749039"/>
            <a:ext cx="1438275" cy="647700"/>
          </a:xfrm>
          <a:prstGeom prst="rect">
            <a:avLst/>
          </a:prstGeom>
        </p:spPr>
        <p:txBody>
          <a:bodyPr anchor="ctr"/>
          <a:lstStyle/>
          <a:p>
            <a:pPr algn="ctr">
              <a:defRPr sz="740" b="0">
                <a:solidFill>
                  <a:srgbClr val="14383E"/>
                </a:solidFill>
              </a:defRPr>
            </a:pPr>
            <a:r>
              <a:t>阶段价值与全成本</a:t>
            </a:r>
          </a:p>
        </p:txBody>
      </p:sp>
      <p:sp>
        <p:nvSpPr>
          <p:cNvPr id="92" name="圆角矩形 91"/>
          <p:cNvSpPr>
            <a:spLocks noGrp="1"/>
          </p:cNvSpPr>
          <p:nvPr/>
        </p:nvSpPr>
        <p:spPr>
          <a:xfrm>
            <a:off x="7882127" y="3639312"/>
            <a:ext cx="1628775" cy="87630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668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94" name="矩形 93"/>
          <p:cNvSpPr>
            <a:spLocks noGrp="1"/>
          </p:cNvSpPr>
          <p:nvPr/>
        </p:nvSpPr>
        <p:spPr>
          <a:xfrm>
            <a:off x="7978140" y="3749039"/>
            <a:ext cx="1438275" cy="647700"/>
          </a:xfrm>
          <a:prstGeom prst="rect">
            <a:avLst/>
          </a:prstGeom>
        </p:spPr>
        <p:txBody>
          <a:bodyPr anchor="ctr"/>
          <a:lstStyle/>
          <a:p>
            <a:pPr algn="ctr">
              <a:defRPr sz="740" b="0">
                <a:solidFill>
                  <a:srgbClr val="14383E"/>
                </a:solidFill>
              </a:defRPr>
            </a:pPr>
            <a:r>
              <a:t>成熟度演进：按场景逐步开放处理权</a:t>
            </a:r>
          </a:p>
        </p:txBody>
      </p:sp>
      <p:sp>
        <p:nvSpPr>
          <p:cNvPr id="113" name="圆角矩形 112"/>
          <p:cNvSpPr>
            <a:spLocks noGrp="1"/>
          </p:cNvSpPr>
          <p:nvPr/>
        </p:nvSpPr>
        <p:spPr>
          <a:xfrm>
            <a:off x="657225" y="5486400"/>
            <a:ext cx="10877550" cy="609600"/>
          </a:xfrm>
          <a:prstGeom prst="roundRect">
            <a:avLst>
              <a:gd name="adj" fmla="val 12500"/>
            </a:avLst>
          </a:prstGeom>
          <a:solidFill>
            <a:srgbClr val="F7FBF9"/>
          </a:solidFill>
          <a:ln w="12668">
            <a:solidFill>
              <a:srgbClr val="BFD9D4"/>
            </a:solidFill>
            <a:prstDash val="solid"/>
          </a:ln>
        </p:spPr>
        <p:txBody>
          <a:bodyPr/>
          <a:p/>
        </p:txBody>
      </p:sp>
      <p:sp>
        <p:nvSpPr>
          <p:cNvPr id="114" name="矩形 113"/>
          <p:cNvSpPr>
            <a:spLocks noGrp="1"/>
          </p:cNvSpPr>
          <p:nvPr/>
        </p:nvSpPr>
        <p:spPr>
          <a:xfrm>
            <a:off x="876300" y="5562600"/>
            <a:ext cx="1238250" cy="190500"/>
          </a:xfrm>
          <a:prstGeom prst="rect">
            <a:avLst/>
          </a:prstGeom>
        </p:spPr>
        <p:txBody>
          <a:bodyPr anchor="ctr"/>
          <a:lstStyle/>
          <a:p>
            <a:pPr algn="l">
              <a:defRPr sz="720" b="1">
                <a:solidFill>
                  <a:srgbClr val="2F80ED"/>
                </a:solidFill>
              </a:defRPr>
            </a:pPr>
            <a:r>
              <a:t>这一章</a:t>
            </a:r>
          </a:p>
        </p:txBody>
      </p:sp>
      <p:sp>
        <p:nvSpPr>
          <p:cNvPr id="115" name="矩形 114"/>
          <p:cNvSpPr>
            <a:spLocks noGrp="1"/>
          </p:cNvSpPr>
          <p:nvPr/>
        </p:nvSpPr>
        <p:spPr>
          <a:xfrm>
            <a:off x="876300" y="5753100"/>
            <a:ext cx="1238250" cy="190500"/>
          </a:xfrm>
          <a:prstGeom prst="rect">
            <a:avLst/>
          </a:prstGeom>
        </p:spPr>
        <p:txBody>
          <a:bodyPr anchor="ctr"/>
          <a:lstStyle/>
          <a:p>
            <a:pPr algn="l">
              <a:defRPr sz="720" b="1">
                <a:solidFill>
                  <a:srgbClr val="2F80ED"/>
                </a:solidFill>
              </a:defRPr>
            </a:pPr>
            <a:r>
              <a:t>服务哪一步</a:t>
            </a:r>
          </a:p>
        </p:txBody>
      </p:sp>
      <p:sp>
        <p:nvSpPr>
          <p:cNvPr id="116" name="矩形 115"/>
          <p:cNvSpPr>
            <a:spLocks noGrp="1"/>
          </p:cNvSpPr>
          <p:nvPr/>
        </p:nvSpPr>
        <p:spPr>
          <a:xfrm>
            <a:off x="2247900" y="5619750"/>
            <a:ext cx="9525" cy="342900"/>
          </a:xfrm>
          <a:prstGeom prst="rect">
            <a:avLst/>
          </a:prstGeom>
          <a:solidFill>
            <a:srgbClr val="C7DAD6"/>
          </a:solidFill>
          <a:ln w="12668">
            <a:solidFill>
              <a:srgbClr val="C7DAD6"/>
            </a:solidFill>
            <a:prstDash val="solid"/>
          </a:ln>
        </p:spPr>
        <p:txBody>
          <a:bodyPr/>
          <a:p/>
        </p:txBody>
      </p:sp>
      <p:sp>
        <p:nvSpPr>
          <p:cNvPr id="117" name="矩形 116"/>
          <p:cNvSpPr>
            <a:spLocks noGrp="1"/>
          </p:cNvSpPr>
          <p:nvPr/>
        </p:nvSpPr>
        <p:spPr>
          <a:xfrm>
            <a:off x="2438400" y="5562600"/>
            <a:ext cx="6286500" cy="381000"/>
          </a:xfrm>
          <a:prstGeom prst="rect">
            <a:avLst/>
          </a:prstGeom>
        </p:spPr>
        <p:txBody>
          <a:bodyPr anchor="ctr"/>
          <a:lstStyle/>
          <a:p>
            <a:pPr algn="l">
              <a:defRPr sz="840" b="1">
                <a:solidFill>
                  <a:srgbClr val="14383E"/>
                </a:solidFill>
              </a:defRPr>
            </a:pPr>
            <a:r>
              <a:t>理解和决策的错最难发现，靠证据和评测兜住。</a:t>
            </a:r>
          </a:p>
        </p:txBody>
      </p:sp>
      <p:sp>
        <p:nvSpPr>
          <p:cNvPr id="118" name="圆角矩形 117"/>
          <p:cNvSpPr>
            <a:spLocks noGrp="1"/>
          </p:cNvSpPr>
          <p:nvPr/>
        </p:nvSpPr>
        <p:spPr>
          <a:xfrm>
            <a:off x="9067800" y="5581650"/>
            <a:ext cx="514350" cy="209550"/>
          </a:xfrm>
          <a:prstGeom prst="roundRect">
            <a:avLst>
              <a:gd name="adj" fmla="val 36364"/>
            </a:avLst>
          </a:prstGeom>
          <a:solidFill>
            <a:srgbClr val="2F80ED"/>
          </a:solidFill>
          <a:ln w="12668">
            <a:solidFill>
              <a:srgbClr val="2F80ED"/>
            </a:solidFill>
            <a:prstDash val="solid"/>
          </a:ln>
        </p:spPr>
        <p:txBody>
          <a:bodyPr/>
          <a:p/>
        </p:txBody>
      </p:sp>
      <p:sp>
        <p:nvSpPr>
          <p:cNvPr id="119" name="矩形 118"/>
          <p:cNvSpPr>
            <a:spLocks noGrp="1"/>
          </p:cNvSpPr>
          <p:nvPr/>
        </p:nvSpPr>
        <p:spPr>
          <a:xfrm>
            <a:off x="9067800" y="5581650"/>
            <a:ext cx="514350" cy="209550"/>
          </a:xfrm>
          <a:prstGeom prst="rect">
            <a:avLst/>
          </a:prstGeom>
        </p:spPr>
        <p:txBody>
          <a:bodyPr anchor="ctr"/>
          <a:lstStyle/>
          <a:p>
            <a:pPr algn="ctr">
              <a:defRPr sz="680" b="1">
                <a:solidFill>
                  <a:srgbClr val="FFFFFF"/>
                </a:solidFill>
              </a:defRPr>
            </a:pPr>
            <a:r>
              <a:t>理解</a:t>
            </a:r>
          </a:p>
        </p:txBody>
      </p:sp>
      <p:sp>
        <p:nvSpPr>
          <p:cNvPr id="120" name="圆角矩形 119"/>
          <p:cNvSpPr>
            <a:spLocks noGrp="1"/>
          </p:cNvSpPr>
          <p:nvPr/>
        </p:nvSpPr>
        <p:spPr>
          <a:xfrm>
            <a:off x="9658350" y="5581650"/>
            <a:ext cx="514350" cy="209550"/>
          </a:xfrm>
          <a:prstGeom prst="roundRect">
            <a:avLst>
              <a:gd name="adj" fmla="val 36364"/>
            </a:avLst>
          </a:prstGeom>
          <a:solidFill>
            <a:srgbClr val="FFFFFF"/>
          </a:solidFill>
          <a:ln w="12668">
            <a:solidFill>
              <a:srgbClr val="C7DAD6"/>
            </a:solidFill>
            <a:prstDash val="solid"/>
          </a:ln>
        </p:spPr>
        <p:txBody>
          <a:bodyPr/>
          <a:p/>
        </p:txBody>
      </p:sp>
      <p:sp>
        <p:nvSpPr>
          <p:cNvPr id="121" name="矩形 120"/>
          <p:cNvSpPr>
            <a:spLocks noGrp="1"/>
          </p:cNvSpPr>
          <p:nvPr/>
        </p:nvSpPr>
        <p:spPr>
          <a:xfrm>
            <a:off x="9658350" y="5581650"/>
            <a:ext cx="514350" cy="209550"/>
          </a:xfrm>
          <a:prstGeom prst="rect">
            <a:avLst/>
          </a:prstGeom>
        </p:spPr>
        <p:txBody>
          <a:bodyPr anchor="ctr"/>
          <a:lstStyle/>
          <a:p>
            <a:pPr algn="ctr">
              <a:defRPr sz="680" b="0">
                <a:solidFill>
                  <a:srgbClr val="44585C"/>
                </a:solidFill>
              </a:defRPr>
            </a:pPr>
            <a:r>
              <a:t>查询</a:t>
            </a:r>
          </a:p>
        </p:txBody>
      </p:sp>
      <p:sp>
        <p:nvSpPr>
          <p:cNvPr id="122" name="圆角矩形 121"/>
          <p:cNvSpPr>
            <a:spLocks noGrp="1"/>
          </p:cNvSpPr>
          <p:nvPr/>
        </p:nvSpPr>
        <p:spPr>
          <a:xfrm>
            <a:off x="10248900" y="5581650"/>
            <a:ext cx="514350" cy="209550"/>
          </a:xfrm>
          <a:prstGeom prst="roundRect">
            <a:avLst>
              <a:gd name="adj" fmla="val 36364"/>
            </a:avLst>
          </a:prstGeom>
          <a:solidFill>
            <a:srgbClr val="2F80ED"/>
          </a:solidFill>
          <a:ln w="12668">
            <a:solidFill>
              <a:srgbClr val="2F80ED"/>
            </a:solidFill>
            <a:prstDash val="solid"/>
          </a:ln>
        </p:spPr>
        <p:txBody>
          <a:bodyPr/>
          <a:p/>
        </p:txBody>
      </p:sp>
      <p:sp>
        <p:nvSpPr>
          <p:cNvPr id="123" name="矩形 122"/>
          <p:cNvSpPr>
            <a:spLocks noGrp="1"/>
          </p:cNvSpPr>
          <p:nvPr/>
        </p:nvSpPr>
        <p:spPr>
          <a:xfrm>
            <a:off x="10248900" y="5581650"/>
            <a:ext cx="514350" cy="209550"/>
          </a:xfrm>
          <a:prstGeom prst="rect">
            <a:avLst/>
          </a:prstGeom>
        </p:spPr>
        <p:txBody>
          <a:bodyPr anchor="ctr"/>
          <a:lstStyle/>
          <a:p>
            <a:pPr algn="ctr">
              <a:defRPr sz="680" b="1">
                <a:solidFill>
                  <a:srgbClr val="FFFFFF"/>
                </a:solidFill>
              </a:defRPr>
            </a:pPr>
            <a:r>
              <a:t>决策</a:t>
            </a:r>
          </a:p>
        </p:txBody>
      </p:sp>
      <p:sp>
        <p:nvSpPr>
          <p:cNvPr id="124" name="圆角矩形 123"/>
          <p:cNvSpPr>
            <a:spLocks noGrp="1"/>
          </p:cNvSpPr>
          <p:nvPr/>
        </p:nvSpPr>
        <p:spPr>
          <a:xfrm>
            <a:off x="10839450" y="5581650"/>
            <a:ext cx="514350" cy="209550"/>
          </a:xfrm>
          <a:prstGeom prst="roundRect">
            <a:avLst>
              <a:gd name="adj" fmla="val 36364"/>
            </a:avLst>
          </a:prstGeom>
          <a:solidFill>
            <a:srgbClr val="FFFFFF"/>
          </a:solidFill>
          <a:ln w="12668">
            <a:solidFill>
              <a:srgbClr val="C7DAD6"/>
            </a:solidFill>
            <a:prstDash val="solid"/>
          </a:ln>
        </p:spPr>
        <p:txBody>
          <a:bodyPr/>
          <a:p/>
        </p:txBody>
      </p:sp>
      <p:sp>
        <p:nvSpPr>
          <p:cNvPr id="125" name="矩形 124"/>
          <p:cNvSpPr>
            <a:spLocks noGrp="1"/>
          </p:cNvSpPr>
          <p:nvPr/>
        </p:nvSpPr>
        <p:spPr>
          <a:xfrm>
            <a:off x="10839450" y="5581650"/>
            <a:ext cx="514350" cy="209550"/>
          </a:xfrm>
          <a:prstGeom prst="rect">
            <a:avLst/>
          </a:prstGeom>
        </p:spPr>
        <p:txBody>
          <a:bodyPr anchor="ctr"/>
          <a:lstStyle/>
          <a:p>
            <a:pPr algn="ctr">
              <a:defRPr sz="680" b="0">
                <a:solidFill>
                  <a:srgbClr val="44585C"/>
                </a:solidFill>
              </a:defRPr>
            </a:pPr>
            <a:r>
              <a:t>执行</a:t>
            </a:r>
          </a:p>
        </p:txBody>
      </p:sp>
      <p:sp>
        <p:nvSpPr>
          <p:cNvPr id="126" name="矩形 125"/>
          <p:cNvSpPr>
            <a:spLocks noGrp="1"/>
          </p:cNvSpPr>
          <p:nvPr/>
        </p:nvSpPr>
        <p:spPr>
          <a:xfrm>
            <a:off x="657225" y="6172200"/>
            <a:ext cx="10877550" cy="190500"/>
          </a:xfrm>
          <a:prstGeom prst="rect">
            <a:avLst/>
          </a:prstGeom>
        </p:spPr>
        <p:txBody>
          <a:bodyPr anchor="ctr"/>
          <a:lstStyle/>
          <a:p>
            <a:pPr algn="l">
              <a:defRPr sz="720" b="0">
                <a:solidFill>
                  <a:srgbClr val="44585C"/>
                </a:solidFill>
              </a:defRPr>
            </a:pPr>
            <a:r>
              <a:t>本章讲完进入收尾与 Q&amp;A。</a:t>
            </a:r>
          </a:p>
        </p:txBody>
      </p:sp>
      <p:sp>
        <p:nvSpPr>
          <p:cNvPr id="127" name="圆角矩形 126"/>
          <p:cNvSpPr>
            <a:spLocks noGrp="1"/>
          </p:cNvSpPr>
          <p:nvPr/>
        </p:nvSpPr>
        <p:spPr>
          <a:xfrm>
            <a:off x="6565583" y="127635"/>
            <a:ext cx="4937760" cy="365760"/>
          </a:xfrm>
          <a:prstGeom prst="roundRect">
            <a:avLst>
              <a:gd name="adj" fmla="val 20833"/>
            </a:avLst>
          </a:prstGeom>
          <a:solidFill>
            <a:srgbClr val="F7FBF9"/>
          </a:solidFill>
          <a:ln w="12668">
            <a:solidFill>
              <a:srgbClr val="F7FBF9"/>
            </a:solidFill>
            <a:prstDash val="solid"/>
          </a:ln>
        </p:spPr>
        <p:txBody>
          <a:bodyPr/>
          <a:p/>
        </p:txBody>
      </p:sp>
      <p:sp>
        <p:nvSpPr>
          <p:cNvPr id="128" name="圆角矩形 127"/>
          <p:cNvSpPr>
            <a:spLocks noGrp="1"/>
          </p:cNvSpPr>
          <p:nvPr/>
        </p:nvSpPr>
        <p:spPr>
          <a:xfrm>
            <a:off x="6657023" y="164783"/>
            <a:ext cx="1154430" cy="264795"/>
          </a:xfrm>
          <a:prstGeom prst="roundRect">
            <a:avLst>
              <a:gd name="adj" fmla="val 28777"/>
            </a:avLst>
          </a:prstGeom>
          <a:solidFill>
            <a:srgbClr val="007574"/>
          </a:solidFill>
          <a:ln w="12668">
            <a:solidFill>
              <a:srgbClr val="007574"/>
            </a:solidFill>
            <a:prstDash val="solid"/>
          </a:ln>
        </p:spPr>
        <p:txBody>
          <a:bodyPr/>
          <a:p/>
        </p:txBody>
      </p:sp>
      <p:sp>
        <p:nvSpPr>
          <p:cNvPr id="129" name="矩形 128"/>
          <p:cNvSpPr>
            <a:spLocks noGrp="1"/>
          </p:cNvSpPr>
          <p:nvPr/>
        </p:nvSpPr>
        <p:spPr>
          <a:xfrm>
            <a:off x="6657023" y="187643"/>
            <a:ext cx="1154430" cy="182880"/>
          </a:xfrm>
          <a:prstGeom prst="rect">
            <a:avLst/>
          </a:prstGeom>
        </p:spPr>
        <p:txBody>
          <a:bodyPr anchor="ctr"/>
          <a:lstStyle/>
          <a:p>
            <a:pPr algn="ctr">
              <a:defRPr sz="660" b="1">
                <a:solidFill>
                  <a:srgbClr val="FFFFFF"/>
                </a:solidFill>
              </a:defRPr>
            </a:pPr>
            <a:r>
              <a:t>理解</a:t>
            </a:r>
          </a:p>
        </p:txBody>
      </p:sp>
      <p:sp>
        <p:nvSpPr>
          <p:cNvPr id="130" name="圆角矩形 129"/>
          <p:cNvSpPr>
            <a:spLocks noGrp="1"/>
          </p:cNvSpPr>
          <p:nvPr/>
        </p:nvSpPr>
        <p:spPr>
          <a:xfrm>
            <a:off x="7857173" y="164783"/>
            <a:ext cx="1154430" cy="264795"/>
          </a:xfrm>
          <a:prstGeom prst="roundRect">
            <a:avLst>
              <a:gd name="adj" fmla="val 28777"/>
            </a:avLst>
          </a:prstGeom>
          <a:solidFill>
            <a:srgbClr val="FFFFFF"/>
          </a:solidFill>
          <a:ln w="12668">
            <a:solidFill>
              <a:srgbClr val="C9DCD7"/>
            </a:solidFill>
            <a:prstDash val="solid"/>
          </a:ln>
        </p:spPr>
        <p:txBody>
          <a:bodyPr/>
          <a:p/>
        </p:txBody>
      </p:sp>
      <p:sp>
        <p:nvSpPr>
          <p:cNvPr id="131" name="矩形 130"/>
          <p:cNvSpPr>
            <a:spLocks noGrp="1"/>
          </p:cNvSpPr>
          <p:nvPr/>
        </p:nvSpPr>
        <p:spPr>
          <a:xfrm>
            <a:off x="7857173" y="187643"/>
            <a:ext cx="1154430" cy="182880"/>
          </a:xfrm>
          <a:prstGeom prst="rect">
            <a:avLst/>
          </a:prstGeom>
        </p:spPr>
        <p:txBody>
          <a:bodyPr anchor="ctr"/>
          <a:lstStyle/>
          <a:p>
            <a:pPr algn="ctr">
              <a:defRPr sz="650" b="0">
                <a:solidFill>
                  <a:srgbClr val="44585C"/>
                </a:solidFill>
              </a:defRPr>
            </a:pPr>
            <a:r>
              <a:t>查询</a:t>
            </a:r>
          </a:p>
        </p:txBody>
      </p:sp>
      <p:sp>
        <p:nvSpPr>
          <p:cNvPr id="132" name="圆角矩形 131"/>
          <p:cNvSpPr>
            <a:spLocks noGrp="1"/>
          </p:cNvSpPr>
          <p:nvPr/>
        </p:nvSpPr>
        <p:spPr>
          <a:xfrm>
            <a:off x="9057323" y="164783"/>
            <a:ext cx="1154430" cy="264795"/>
          </a:xfrm>
          <a:prstGeom prst="roundRect">
            <a:avLst>
              <a:gd name="adj" fmla="val 28777"/>
            </a:avLst>
          </a:prstGeom>
          <a:solidFill>
            <a:srgbClr val="007574"/>
          </a:solidFill>
          <a:ln w="12668">
            <a:solidFill>
              <a:srgbClr val="007574"/>
            </a:solidFill>
            <a:prstDash val="solid"/>
          </a:ln>
        </p:spPr>
        <p:txBody>
          <a:bodyPr/>
          <a:p/>
        </p:txBody>
      </p:sp>
      <p:sp>
        <p:nvSpPr>
          <p:cNvPr id="133" name="矩形 132"/>
          <p:cNvSpPr>
            <a:spLocks noGrp="1"/>
          </p:cNvSpPr>
          <p:nvPr/>
        </p:nvSpPr>
        <p:spPr>
          <a:xfrm>
            <a:off x="9057323" y="187643"/>
            <a:ext cx="1154430" cy="182880"/>
          </a:xfrm>
          <a:prstGeom prst="rect">
            <a:avLst/>
          </a:prstGeom>
        </p:spPr>
        <p:txBody>
          <a:bodyPr anchor="ctr"/>
          <a:lstStyle/>
          <a:p>
            <a:pPr algn="ctr">
              <a:defRPr sz="660" b="1">
                <a:solidFill>
                  <a:srgbClr val="FFFFFF"/>
                </a:solidFill>
              </a:defRPr>
            </a:pPr>
            <a:r>
              <a:t>决策</a:t>
            </a:r>
          </a:p>
        </p:txBody>
      </p:sp>
      <p:sp>
        <p:nvSpPr>
          <p:cNvPr id="134" name="圆角矩形 133"/>
          <p:cNvSpPr>
            <a:spLocks noGrp="1"/>
          </p:cNvSpPr>
          <p:nvPr/>
        </p:nvSpPr>
        <p:spPr>
          <a:xfrm>
            <a:off x="10257473" y="164783"/>
            <a:ext cx="1154430" cy="264795"/>
          </a:xfrm>
          <a:prstGeom prst="roundRect">
            <a:avLst>
              <a:gd name="adj" fmla="val 28777"/>
            </a:avLst>
          </a:prstGeom>
          <a:solidFill>
            <a:srgbClr val="FFFFFF"/>
          </a:solidFill>
          <a:ln w="12668">
            <a:solidFill>
              <a:srgbClr val="C9DCD7"/>
            </a:solidFill>
            <a:prstDash val="solid"/>
          </a:ln>
        </p:spPr>
        <p:txBody>
          <a:bodyPr/>
          <a:p/>
        </p:txBody>
      </p:sp>
      <p:sp>
        <p:nvSpPr>
          <p:cNvPr id="135" name="矩形 134"/>
          <p:cNvSpPr>
            <a:spLocks noGrp="1"/>
          </p:cNvSpPr>
          <p:nvPr/>
        </p:nvSpPr>
        <p:spPr>
          <a:xfrm>
            <a:off x="10257473" y="187643"/>
            <a:ext cx="1154430" cy="182880"/>
          </a:xfrm>
          <a:prstGeom prst="rect">
            <a:avLst/>
          </a:prstGeom>
        </p:spPr>
        <p:txBody>
          <a:bodyPr anchor="ctr"/>
          <a:lstStyle/>
          <a:p>
            <a:pPr algn="ctr">
              <a:defRPr sz="650" b="0">
                <a:solidFill>
                  <a:srgbClr val="44585C"/>
                </a:solidFill>
              </a:defRPr>
            </a:pPr>
            <a:r>
              <a:t>执行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hape 0"/>
          <p:cNvSpPr>
            <a:spLocks noGrp="1"/>
          </p:cNvSpPr>
          <p:nvPr/>
        </p:nvSpPr>
        <p:spPr>
          <a:xfrm>
            <a:off x="0" y="0"/>
            <a:ext cx="41148" cy="6858000"/>
          </a:xfrm>
          <a:prstGeom prst="rect">
            <a:avLst/>
          </a:prstGeom>
          <a:solidFill>
            <a:srgbClr val="0A8F6A"/>
          </a:solidFill>
          <a:ln w="12700">
            <a:solidFill>
              <a:srgbClr val="6C63DF"/>
            </a:solidFill>
            <a:prstDash val="solid"/>
          </a:ln>
        </p:spPr>
        <p:txBody>
          <a:bodyPr/>
          <a:lstStyle/>
          <a:p/>
        </p:txBody>
      </p:sp>
      <p:sp>
        <p:nvSpPr>
          <p:cNvPr id="3" name="Shape 1"/>
          <p:cNvSpPr>
            <a:spLocks noGrp="1"/>
          </p:cNvSpPr>
          <p:nvPr/>
        </p:nvSpPr>
        <p:spPr>
          <a:xfrm>
            <a:off x="658368" y="429768"/>
            <a:ext cx="237744" cy="0"/>
          </a:xfrm>
          <a:prstGeom prst="line">
            <a:avLst/>
          </a:prstGeom>
          <a:noFill/>
          <a:ln w="15875">
            <a:solidFill>
              <a:srgbClr val="0A8F6A"/>
            </a:solidFill>
            <a:prstDash val="solid"/>
          </a:ln>
        </p:spPr>
        <p:txBody>
          <a:bodyPr/>
          <a:lstStyle/>
          <a:p/>
        </p:txBody>
      </p:sp>
      <p:sp>
        <p:nvSpPr>
          <p:cNvPr id="4" name="Text 2"/>
          <p:cNvSpPr>
            <a:spLocks noGrp="1"/>
          </p:cNvSpPr>
          <p:nvPr/>
        </p:nvSpPr>
        <p:spPr>
          <a:xfrm>
            <a:off x="941832" y="292608"/>
            <a:ext cx="3474720" cy="2286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r>
              <a:rPr sz="1050" b="1">
                <a:solidFill>
                  <a:srgbClr val="076B50"/>
                </a:solidFill>
                <a:latin typeface="Noto Sans CJK SC"/>
                <a:ea typeface="Noto Sans CJK SC"/>
                <a:cs typeface="Noto Sans CJK SC"/>
              </a:rPr>
              <a:t>CHAPTER 7 · 证据、评测与价值</a:t>
            </a:r>
            <a:endParaRPr sz="1050" b="1">
              <a:solidFill>
                <a:srgbClr val="6B6FD8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" name="Text 3"/>
          <p:cNvSpPr>
            <a:spLocks noGrp="1"/>
          </p:cNvSpPr>
          <p:nvPr/>
        </p:nvSpPr>
        <p:spPr>
          <a:xfrm>
            <a:off x="640080" y="667512"/>
            <a:ext cx="10698480" cy="43891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buNone/>
            </a:pPr>
            <a:r>
              <a:rPr sz="2550" b="1">
                <a:solidFill>
                  <a:srgbClr val="163B36"/>
                </a:solidFill>
                <a:latin typeface="Noto Sans CJK SC"/>
                <a:ea typeface="Noto Sans CJK SC"/>
                <a:cs typeface="Noto Sans CJK SC"/>
              </a:rPr>
              <a:t>单票 Trace：需要记录的六类信息</a:t>
            </a:r>
            <a:endParaRPr sz="2550"/>
          </a:p>
        </p:txBody>
      </p:sp>
      <p:sp>
        <p:nvSpPr>
          <p:cNvPr id="6" name="Text 4"/>
          <p:cNvSpPr>
            <a:spLocks noGrp="1"/>
          </p:cNvSpPr>
          <p:nvPr/>
        </p:nvSpPr>
        <p:spPr>
          <a:xfrm>
            <a:off x="640080" y="1115568"/>
            <a:ext cx="10424160" cy="30175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r>
              <a:rPr sz="1170">
                <a:solidFill>
                  <a:srgbClr val="44585C"/>
                </a:solidFill>
                <a:latin typeface="Noto Sans CJK SC"/>
                <a:ea typeface="Noto Sans CJK SC"/>
                <a:cs typeface="Noto Sans CJK SC"/>
              </a:rPr>
              <a:t>模型版本、输入事实、判断、工具调用、成本和最终责任都在同一条轨迹里。</a:t>
            </a:r>
            <a:endParaRPr sz="1170">
              <a:solidFill>
                <a:srgbClr val="6B8185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" name="Shape 5"/>
          <p:cNvSpPr>
            <a:spLocks noGrp="1"/>
          </p:cNvSpPr>
          <p:nvPr/>
        </p:nvSpPr>
        <p:spPr>
          <a:xfrm>
            <a:off x="10533888" y="54864"/>
            <a:ext cx="1298448" cy="713232"/>
          </a:xfrm>
          <a:prstGeom prst="ellipse">
            <a:avLst/>
          </a:prstGeom>
          <a:solidFill>
            <a:srgbClr val="6C63DF">
              <a:alpha val="8000"/>
            </a:srgbClr>
          </a:solidFill>
          <a:ln w="12700">
            <a:solidFill>
              <a:srgbClr val="6C63DF">
                <a:alpha val="0"/>
              </a:srgbClr>
            </a:solidFill>
            <a:prstDash val="solid"/>
          </a:ln>
        </p:spPr>
        <p:txBody>
          <a:bodyPr/>
          <a:lstStyle/>
          <a:p/>
        </p:txBody>
      </p:sp>
      <p:sp>
        <p:nvSpPr>
          <p:cNvPr id="8" name="Shape 6"/>
          <p:cNvSpPr>
            <a:spLocks noGrp="1"/>
          </p:cNvSpPr>
          <p:nvPr/>
        </p:nvSpPr>
        <p:spPr>
          <a:xfrm>
            <a:off x="9802368" y="283464"/>
            <a:ext cx="36576" cy="36576"/>
          </a:xfrm>
          <a:prstGeom prst="ellipse">
            <a:avLst/>
          </a:prstGeom>
          <a:solidFill>
            <a:srgbClr val="C6DCD5"/>
          </a:solidFill>
          <a:ln w="12700">
            <a:solidFill>
              <a:srgbClr val="C6DCD5"/>
            </a:solidFill>
            <a:prstDash val="solid"/>
          </a:ln>
        </p:spPr>
        <p:txBody>
          <a:bodyPr/>
          <a:lstStyle/>
          <a:p/>
        </p:txBody>
      </p:sp>
      <p:sp>
        <p:nvSpPr>
          <p:cNvPr id="9" name="Shape 7"/>
          <p:cNvSpPr>
            <a:spLocks noGrp="1"/>
          </p:cNvSpPr>
          <p:nvPr/>
        </p:nvSpPr>
        <p:spPr>
          <a:xfrm>
            <a:off x="9930384" y="283464"/>
            <a:ext cx="36576" cy="36576"/>
          </a:xfrm>
          <a:prstGeom prst="ellipse">
            <a:avLst/>
          </a:prstGeom>
          <a:solidFill>
            <a:srgbClr val="6C63DF"/>
          </a:solidFill>
          <a:ln w="12700">
            <a:solidFill>
              <a:srgbClr val="6C63DF"/>
            </a:solidFill>
            <a:prstDash val="solid"/>
          </a:ln>
        </p:spPr>
        <p:txBody>
          <a:bodyPr/>
          <a:lstStyle/>
          <a:p/>
        </p:txBody>
      </p:sp>
      <p:sp>
        <p:nvSpPr>
          <p:cNvPr id="10" name="Shape 8"/>
          <p:cNvSpPr>
            <a:spLocks noGrp="1"/>
          </p:cNvSpPr>
          <p:nvPr/>
        </p:nvSpPr>
        <p:spPr>
          <a:xfrm>
            <a:off x="10058400" y="283464"/>
            <a:ext cx="36576" cy="36576"/>
          </a:xfrm>
          <a:prstGeom prst="ellipse">
            <a:avLst/>
          </a:prstGeom>
          <a:solidFill>
            <a:srgbClr val="C6DCD5"/>
          </a:solidFill>
          <a:ln w="12700">
            <a:solidFill>
              <a:srgbClr val="C6DCD5"/>
            </a:solidFill>
            <a:prstDash val="solid"/>
          </a:ln>
        </p:spPr>
        <p:txBody>
          <a:bodyPr/>
          <a:lstStyle/>
          <a:p/>
        </p:txBody>
      </p:sp>
      <p:sp>
        <p:nvSpPr>
          <p:cNvPr id="11" name="Shape 9"/>
          <p:cNvSpPr>
            <a:spLocks noGrp="1"/>
          </p:cNvSpPr>
          <p:nvPr/>
        </p:nvSpPr>
        <p:spPr>
          <a:xfrm>
            <a:off x="10186416" y="283464"/>
            <a:ext cx="36576" cy="36576"/>
          </a:xfrm>
          <a:prstGeom prst="ellipse">
            <a:avLst/>
          </a:prstGeom>
          <a:solidFill>
            <a:srgbClr val="C6DCD5"/>
          </a:solidFill>
          <a:ln w="12700">
            <a:solidFill>
              <a:srgbClr val="C6DCD5"/>
            </a:solidFill>
            <a:prstDash val="solid"/>
          </a:ln>
        </p:spPr>
        <p:txBody>
          <a:bodyPr/>
          <a:lstStyle/>
          <a:p/>
        </p:txBody>
      </p:sp>
      <p:sp>
        <p:nvSpPr>
          <p:cNvPr id="12" name="Shape 10"/>
          <p:cNvSpPr>
            <a:spLocks noGrp="1"/>
          </p:cNvSpPr>
          <p:nvPr/>
        </p:nvSpPr>
        <p:spPr>
          <a:xfrm>
            <a:off x="10314432" y="283464"/>
            <a:ext cx="36576" cy="36576"/>
          </a:xfrm>
          <a:prstGeom prst="ellipse">
            <a:avLst/>
          </a:prstGeom>
          <a:solidFill>
            <a:srgbClr val="C6DCD5"/>
          </a:solidFill>
          <a:ln w="12700">
            <a:solidFill>
              <a:srgbClr val="C6DCD5"/>
            </a:solidFill>
            <a:prstDash val="solid"/>
          </a:ln>
        </p:spPr>
        <p:txBody>
          <a:bodyPr/>
          <a:lstStyle/>
          <a:p/>
        </p:txBody>
      </p:sp>
      <p:sp>
        <p:nvSpPr>
          <p:cNvPr id="13" name="Shape 11"/>
          <p:cNvSpPr>
            <a:spLocks noGrp="1"/>
          </p:cNvSpPr>
          <p:nvPr/>
        </p:nvSpPr>
        <p:spPr>
          <a:xfrm>
            <a:off x="10442448" y="283464"/>
            <a:ext cx="36576" cy="36576"/>
          </a:xfrm>
          <a:prstGeom prst="ellipse">
            <a:avLst/>
          </a:prstGeom>
          <a:solidFill>
            <a:srgbClr val="C6DCD5"/>
          </a:solidFill>
          <a:ln w="12700">
            <a:solidFill>
              <a:srgbClr val="C6DCD5"/>
            </a:solidFill>
            <a:prstDash val="solid"/>
          </a:ln>
        </p:spPr>
        <p:txBody>
          <a:bodyPr/>
          <a:lstStyle/>
          <a:p/>
        </p:txBody>
      </p:sp>
      <p:sp>
        <p:nvSpPr>
          <p:cNvPr id="14" name="Shape 12"/>
          <p:cNvSpPr>
            <a:spLocks noGrp="1"/>
          </p:cNvSpPr>
          <p:nvPr/>
        </p:nvSpPr>
        <p:spPr>
          <a:xfrm>
            <a:off x="640080" y="6528816"/>
            <a:ext cx="10927080" cy="0"/>
          </a:xfrm>
          <a:prstGeom prst="line">
            <a:avLst/>
          </a:prstGeom>
          <a:noFill/>
          <a:ln w="10160">
            <a:solidFill>
              <a:srgbClr val="D8E7E2"/>
            </a:solidFill>
            <a:prstDash val="solid"/>
          </a:ln>
        </p:spPr>
        <p:txBody>
          <a:bodyPr/>
          <a:lstStyle/>
          <a:p/>
        </p:txBody>
      </p:sp>
      <p:sp>
        <p:nvSpPr>
          <p:cNvPr id="15" name="Text 13"/>
          <p:cNvSpPr>
            <a:spLocks noGrp="1"/>
          </p:cNvSpPr>
          <p:nvPr/>
        </p:nvSpPr>
        <p:spPr>
          <a:xfrm>
            <a:off x="658368" y="6565392"/>
            <a:ext cx="3108960" cy="16459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buNone/>
            </a:pPr>
            <a:r>
              <a:rPr sz="750">
                <a:solidFill>
                  <a:srgbClr val="55696A"/>
                </a:solidFill>
                <a:latin typeface="Noto Sans CJK SC"/>
                <a:ea typeface="Noto Sans CJK SC"/>
                <a:cs typeface="Noto Sans CJK SC"/>
              </a:rPr>
              <a:t>CUSTOMER SERVICE AI AGENT</a:t>
            </a:r>
            <a:endParaRPr sz="750"/>
          </a:p>
        </p:txBody>
      </p:sp>
      <p:sp>
        <p:nvSpPr>
          <p:cNvPr id="16" name="Text 14"/>
          <p:cNvSpPr>
            <a:spLocks noGrp="1"/>
          </p:cNvSpPr>
          <p:nvPr/>
        </p:nvSpPr>
        <p:spPr>
          <a:xfrm>
            <a:off x="10881360" y="6537960"/>
            <a:ext cx="658368" cy="18288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</a:pPr>
            <a:r>
              <a:rPr sz="880" b="1">
                <a:solidFill>
                  <a:srgbClr val="076B50"/>
                </a:solidFill>
                <a:latin typeface="Noto Sans CJK SC"/>
                <a:ea typeface="Noto Sans CJK SC"/>
                <a:cs typeface="Noto Sans CJK SC"/>
              </a:rPr>
              <a:t>56</a:t>
            </a:r>
            <a:endParaRPr sz="880" b="1">
              <a:solidFill>
                <a:srgbClr val="6B6FD8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7" name="Shape 15"/>
          <p:cNvSpPr>
            <a:spLocks noGrp="1"/>
          </p:cNvSpPr>
          <p:nvPr/>
        </p:nvSpPr>
        <p:spPr>
          <a:xfrm>
            <a:off x="658368" y="1536192"/>
            <a:ext cx="10899648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CBF8"/>
            </a:solidFill>
            <a:prstDash val="solid"/>
          </a:ln>
          <a:effectLst>
            <a:outerShdw blurRad="2147483647" dist="2147483647" algn="bl" rotWithShape="0">
              <a:srgbClr val="74857F">
                <a:alpha val="0"/>
              </a:srgbClr>
            </a:outerShdw>
          </a:effectLst>
        </p:spPr>
        <p:txBody>
          <a:bodyPr/>
          <a:lstStyle/>
          <a:p/>
        </p:txBody>
      </p:sp>
      <p:sp>
        <p:nvSpPr>
          <p:cNvPr id="18" name="Shape 16"/>
          <p:cNvSpPr>
            <a:spLocks noGrp="1"/>
          </p:cNvSpPr>
          <p:nvPr/>
        </p:nvSpPr>
        <p:spPr>
          <a:xfrm>
            <a:off x="658368" y="1536192"/>
            <a:ext cx="10899648" cy="512064"/>
          </a:xfrm>
          <a:prstGeom prst="roundRect">
            <a:avLst/>
          </a:prstGeom>
          <a:solidFill>
            <a:srgbClr val="0D5E50"/>
          </a:solidFill>
          <a:ln w="6350">
            <a:solidFill>
              <a:srgbClr val="0D5E50"/>
            </a:solidFill>
            <a:prstDash val="solid"/>
          </a:ln>
        </p:spPr>
        <p:txBody>
          <a:bodyPr/>
          <a:lstStyle/>
          <a:p/>
        </p:txBody>
      </p:sp>
      <p:sp>
        <p:nvSpPr>
          <p:cNvPr id="19" name="Text 17"/>
          <p:cNvSpPr>
            <a:spLocks noGrp="1"/>
          </p:cNvSpPr>
          <p:nvPr/>
        </p:nvSpPr>
        <p:spPr>
          <a:xfrm>
            <a:off x="914400" y="1655064"/>
            <a:ext cx="4114800" cy="2286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buNone/>
            </a:pPr>
            <a:r>
              <a:rPr sz="10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TICKET TRACE  ·  工单 #******</a:t>
            </a:r>
            <a:endParaRPr sz="1050"/>
          </a:p>
        </p:txBody>
      </p:sp>
      <p:sp>
        <p:nvSpPr>
          <p:cNvPr id="20" name="Shape 18"/>
          <p:cNvSpPr>
            <a:spLocks noGrp="1"/>
          </p:cNvSpPr>
          <p:nvPr/>
        </p:nvSpPr>
        <p:spPr>
          <a:xfrm>
            <a:off x="9710928" y="1664208"/>
            <a:ext cx="1508760" cy="237744"/>
          </a:xfrm>
          <a:prstGeom prst="roundRect">
            <a:avLst/>
          </a:prstGeom>
          <a:solidFill>
            <a:srgbClr val="187D67"/>
          </a:solidFill>
          <a:ln w="10160">
            <a:solidFill>
              <a:srgbClr val="187D67"/>
            </a:solidFill>
            <a:prstDash val="solid"/>
          </a:ln>
        </p:spPr>
        <p:txBody>
          <a:bodyPr/>
          <a:lstStyle/>
          <a:p/>
        </p:txBody>
      </p:sp>
      <p:sp>
        <p:nvSpPr>
          <p:cNvPr id="21" name="Text 19"/>
          <p:cNvSpPr>
            <a:spLocks noGrp="1"/>
          </p:cNvSpPr>
          <p:nvPr/>
        </p:nvSpPr>
        <p:spPr>
          <a:xfrm>
            <a:off x="9710928" y="1664208"/>
            <a:ext cx="1508760" cy="23774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已完成 · 系统闭环</a:t>
            </a:r>
            <a:endParaRPr sz="850"/>
          </a:p>
        </p:txBody>
      </p:sp>
      <p:sp>
        <p:nvSpPr>
          <p:cNvPr id="22" name="Shape 20"/>
          <p:cNvSpPr>
            <a:spLocks noGrp="1"/>
          </p:cNvSpPr>
          <p:nvPr/>
        </p:nvSpPr>
        <p:spPr>
          <a:xfrm>
            <a:off x="841248" y="2240280"/>
            <a:ext cx="3703320" cy="3547872"/>
          </a:xfrm>
          <a:prstGeom prst="roundRect">
            <a:avLst/>
          </a:prstGeom>
          <a:solidFill>
            <a:srgbClr val="F5F8F7"/>
          </a:solidFill>
          <a:ln w="10160">
            <a:solidFill>
              <a:srgbClr val="D8E7E2"/>
            </a:solidFill>
            <a:prstDash val="solid"/>
          </a:ln>
        </p:spPr>
        <p:txBody>
          <a:bodyPr/>
          <a:lstStyle/>
          <a:p/>
        </p:txBody>
      </p:sp>
      <p:sp>
        <p:nvSpPr>
          <p:cNvPr id="23" name="Text 21"/>
          <p:cNvSpPr>
            <a:spLocks noGrp="1"/>
          </p:cNvSpPr>
          <p:nvPr/>
        </p:nvSpPr>
        <p:spPr>
          <a:xfrm>
            <a:off x="1060704" y="2450592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buNone/>
            </a:pPr>
            <a:r>
              <a:rPr sz="1150" b="1">
                <a:solidFill>
                  <a:srgbClr val="163B36"/>
                </a:solidFill>
                <a:latin typeface="Noto Sans CJK SC"/>
                <a:ea typeface="Noto Sans CJK SC"/>
                <a:cs typeface="Noto Sans CJK SC"/>
              </a:rPr>
              <a:t>事件时间线</a:t>
            </a:r>
            <a:endParaRPr sz="1150"/>
          </a:p>
        </p:txBody>
      </p:sp>
      <p:sp>
        <p:nvSpPr>
          <p:cNvPr id="24" name="Shape 22"/>
          <p:cNvSpPr>
            <a:spLocks noGrp="1"/>
          </p:cNvSpPr>
          <p:nvPr/>
        </p:nvSpPr>
        <p:spPr>
          <a:xfrm>
            <a:off x="1298448" y="2880360"/>
            <a:ext cx="0" cy="2423160"/>
          </a:xfrm>
          <a:prstGeom prst="line">
            <a:avLst/>
          </a:prstGeom>
          <a:noFill/>
          <a:ln w="17780">
            <a:solidFill>
              <a:srgbClr val="B9C8C4"/>
            </a:solidFill>
            <a:prstDash val="solid"/>
          </a:ln>
        </p:spPr>
        <p:txBody>
          <a:bodyPr/>
          <a:lstStyle/>
          <a:p/>
        </p:txBody>
      </p:sp>
      <p:sp>
        <p:nvSpPr>
          <p:cNvPr id="25" name="Shape 23"/>
          <p:cNvSpPr>
            <a:spLocks noGrp="1"/>
          </p:cNvSpPr>
          <p:nvPr/>
        </p:nvSpPr>
        <p:spPr>
          <a:xfrm>
            <a:off x="1143000" y="2761488"/>
            <a:ext cx="310896" cy="310896"/>
          </a:xfrm>
          <a:prstGeom prst="ellipse">
            <a:avLst/>
          </a:prstGeom>
          <a:solidFill>
            <a:srgbClr val="1F63C4"/>
          </a:solidFill>
          <a:ln w="6350">
            <a:solidFill>
              <a:srgbClr val="1F63C4"/>
            </a:solidFill>
            <a:prstDash val="solid"/>
          </a:ln>
          <a:effectLst>
            <a:outerShdw blurRad="2147483647" dist="2147483647" algn="bl" rotWithShape="0">
              <a:srgbClr val="74857F">
                <a:alpha val="0"/>
              </a:srgbClr>
            </a:outerShdw>
          </a:effectLst>
        </p:spPr>
        <p:txBody>
          <a:bodyPr/>
          <a:lstStyle/>
          <a:p/>
        </p:txBody>
      </p:sp>
      <p:sp>
        <p:nvSpPr>
          <p:cNvPr id="26" name="Text 24"/>
          <p:cNvSpPr>
            <a:spLocks noGrp="1"/>
          </p:cNvSpPr>
          <p:nvPr/>
        </p:nvSpPr>
        <p:spPr>
          <a:xfrm>
            <a:off x="1143000" y="2761488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72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1</a:t>
            </a:r>
            <a:endParaRPr sz="720"/>
          </a:p>
        </p:txBody>
      </p:sp>
      <p:sp>
        <p:nvSpPr>
          <p:cNvPr id="27" name="Text 25"/>
          <p:cNvSpPr>
            <a:spLocks noGrp="1"/>
          </p:cNvSpPr>
          <p:nvPr/>
        </p:nvSpPr>
        <p:spPr>
          <a:xfrm>
            <a:off x="1673352" y="2743200"/>
            <a:ext cx="1188720" cy="20116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buNone/>
            </a:pPr>
            <a:r>
              <a:rPr sz="970" b="1">
                <a:solidFill>
                  <a:srgbClr val="163B36"/>
                </a:solidFill>
                <a:latin typeface="Noto Sans CJK SC"/>
                <a:ea typeface="Noto Sans CJK SC"/>
                <a:cs typeface="Noto Sans CJK SC"/>
              </a:rPr>
              <a:t>模型与版本</a:t>
            </a:r>
            <a:endParaRPr sz="970"/>
          </a:p>
        </p:txBody>
      </p:sp>
      <p:sp>
        <p:nvSpPr>
          <p:cNvPr id="28" name="Text 26"/>
          <p:cNvSpPr>
            <a:spLocks noGrp="1"/>
          </p:cNvSpPr>
          <p:nvPr/>
        </p:nvSpPr>
        <p:spPr>
          <a:xfrm>
            <a:off x="2788920" y="2743200"/>
            <a:ext cx="1325880" cy="20116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r">
              <a:buNone/>
            </a:pPr>
            <a:r>
              <a:rPr sz="790">
                <a:solidFill>
                  <a:srgbClr val="44585C"/>
                </a:solidFill>
                <a:latin typeface="Noto Sans CJK SC"/>
                <a:ea typeface="Noto Sans CJK SC"/>
                <a:cs typeface="Noto Sans CJK SC"/>
              </a:rPr>
              <a:t>model / prompt / skill version</a:t>
            </a:r>
            <a:endParaRPr sz="790"/>
          </a:p>
        </p:txBody>
      </p:sp>
      <p:sp>
        <p:nvSpPr>
          <p:cNvPr id="29" name="Shape 27"/>
          <p:cNvSpPr>
            <a:spLocks noGrp="1"/>
          </p:cNvSpPr>
          <p:nvPr/>
        </p:nvSpPr>
        <p:spPr>
          <a:xfrm>
            <a:off x="1143000" y="3182112"/>
            <a:ext cx="310896" cy="310896"/>
          </a:xfrm>
          <a:prstGeom prst="ellipse">
            <a:avLst/>
          </a:prstGeom>
          <a:solidFill>
            <a:srgbClr val="007574"/>
          </a:solidFill>
          <a:ln w="6350">
            <a:solidFill>
              <a:srgbClr val="007574"/>
            </a:solidFill>
            <a:prstDash val="solid"/>
          </a:ln>
          <a:effectLst>
            <a:outerShdw blurRad="2147483647" dist="2147483647" algn="bl" rotWithShape="0">
              <a:srgbClr val="74857F">
                <a:alpha val="0"/>
              </a:srgbClr>
            </a:outerShdw>
          </a:effectLst>
        </p:spPr>
        <p:txBody>
          <a:bodyPr/>
          <a:lstStyle/>
          <a:p/>
        </p:txBody>
      </p:sp>
      <p:sp>
        <p:nvSpPr>
          <p:cNvPr id="30" name="Text 28"/>
          <p:cNvSpPr>
            <a:spLocks noGrp="1"/>
          </p:cNvSpPr>
          <p:nvPr/>
        </p:nvSpPr>
        <p:spPr>
          <a:xfrm>
            <a:off x="1143000" y="3182112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72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2</a:t>
            </a:r>
            <a:endParaRPr sz="720"/>
          </a:p>
        </p:txBody>
      </p:sp>
      <p:sp>
        <p:nvSpPr>
          <p:cNvPr id="31" name="Text 29"/>
          <p:cNvSpPr>
            <a:spLocks noGrp="1"/>
          </p:cNvSpPr>
          <p:nvPr/>
        </p:nvSpPr>
        <p:spPr>
          <a:xfrm>
            <a:off x="1673352" y="3163824"/>
            <a:ext cx="1188720" cy="20116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buNone/>
            </a:pPr>
            <a:r>
              <a:rPr sz="970" b="1">
                <a:solidFill>
                  <a:srgbClr val="163B36"/>
                </a:solidFill>
                <a:latin typeface="Noto Sans CJK SC"/>
                <a:ea typeface="Noto Sans CJK SC"/>
                <a:cs typeface="Noto Sans CJK SC"/>
              </a:rPr>
              <a:t>输入上下文</a:t>
            </a:r>
            <a:endParaRPr sz="970"/>
          </a:p>
        </p:txBody>
      </p:sp>
      <p:sp>
        <p:nvSpPr>
          <p:cNvPr id="32" name="Text 30"/>
          <p:cNvSpPr>
            <a:spLocks noGrp="1"/>
          </p:cNvSpPr>
          <p:nvPr/>
        </p:nvSpPr>
        <p:spPr>
          <a:xfrm>
            <a:off x="2788920" y="3163824"/>
            <a:ext cx="1325880" cy="20116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r">
              <a:buNone/>
            </a:pPr>
            <a:r>
              <a:rPr sz="790">
                <a:solidFill>
                  <a:srgbClr val="44585C"/>
                </a:solidFill>
                <a:latin typeface="Noto Sans CJK SC"/>
                <a:ea typeface="Noto Sans CJK SC"/>
                <a:cs typeface="Noto Sans CJK SC"/>
              </a:rPr>
              <a:t>客户正文 / 事实 / 知识证据</a:t>
            </a:r>
            <a:endParaRPr sz="790"/>
          </a:p>
        </p:txBody>
      </p:sp>
      <p:sp>
        <p:nvSpPr>
          <p:cNvPr id="33" name="Shape 31"/>
          <p:cNvSpPr>
            <a:spLocks noGrp="1"/>
          </p:cNvSpPr>
          <p:nvPr/>
        </p:nvSpPr>
        <p:spPr>
          <a:xfrm>
            <a:off x="1143000" y="3602736"/>
            <a:ext cx="310896" cy="310896"/>
          </a:xfrm>
          <a:prstGeom prst="ellipse">
            <a:avLst/>
          </a:prstGeom>
          <a:solidFill>
            <a:srgbClr val="07714F"/>
          </a:solidFill>
          <a:ln w="6350">
            <a:solidFill>
              <a:srgbClr val="07714F"/>
            </a:solidFill>
            <a:prstDash val="solid"/>
          </a:ln>
          <a:effectLst>
            <a:outerShdw blurRad="2147483647" dist="2147483647" algn="bl" rotWithShape="0">
              <a:srgbClr val="74857F">
                <a:alpha val="0"/>
              </a:srgbClr>
            </a:outerShdw>
          </a:effectLst>
        </p:spPr>
        <p:txBody>
          <a:bodyPr/>
          <a:lstStyle/>
          <a:p/>
        </p:txBody>
      </p:sp>
      <p:sp>
        <p:nvSpPr>
          <p:cNvPr id="34" name="Text 32"/>
          <p:cNvSpPr>
            <a:spLocks noGrp="1"/>
          </p:cNvSpPr>
          <p:nvPr/>
        </p:nvSpPr>
        <p:spPr>
          <a:xfrm>
            <a:off x="1143000" y="3602736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72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3</a:t>
            </a:r>
            <a:endParaRPr sz="720"/>
          </a:p>
        </p:txBody>
      </p:sp>
      <p:sp>
        <p:nvSpPr>
          <p:cNvPr id="35" name="Text 33"/>
          <p:cNvSpPr>
            <a:spLocks noGrp="1"/>
          </p:cNvSpPr>
          <p:nvPr/>
        </p:nvSpPr>
        <p:spPr>
          <a:xfrm>
            <a:off x="1673352" y="3584448"/>
            <a:ext cx="1188720" cy="20116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buNone/>
            </a:pPr>
            <a:r>
              <a:rPr sz="970" b="1">
                <a:solidFill>
                  <a:srgbClr val="163B36"/>
                </a:solidFill>
                <a:latin typeface="Noto Sans CJK SC"/>
                <a:ea typeface="Noto Sans CJK SC"/>
                <a:cs typeface="Noto Sans CJK SC"/>
              </a:rPr>
              <a:t>路由与计划</a:t>
            </a:r>
            <a:endParaRPr sz="970"/>
          </a:p>
        </p:txBody>
      </p:sp>
      <p:sp>
        <p:nvSpPr>
          <p:cNvPr id="36" name="Text 34"/>
          <p:cNvSpPr>
            <a:spLocks noGrp="1"/>
          </p:cNvSpPr>
          <p:nvPr/>
        </p:nvSpPr>
        <p:spPr>
          <a:xfrm>
            <a:off x="2788920" y="3584448"/>
            <a:ext cx="1325880" cy="20116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r">
              <a:buNone/>
            </a:pPr>
            <a:r>
              <a:rPr sz="790">
                <a:solidFill>
                  <a:srgbClr val="44585C"/>
                </a:solidFill>
                <a:latin typeface="Noto Sans CJK SC"/>
                <a:ea typeface="Noto Sans CJK SC"/>
                <a:cs typeface="Noto Sans CJK SC"/>
              </a:rPr>
              <a:t>场景、置信、执行计划</a:t>
            </a:r>
            <a:endParaRPr sz="790"/>
          </a:p>
        </p:txBody>
      </p:sp>
      <p:sp>
        <p:nvSpPr>
          <p:cNvPr id="37" name="Shape 35"/>
          <p:cNvSpPr>
            <a:spLocks noGrp="1"/>
          </p:cNvSpPr>
          <p:nvPr/>
        </p:nvSpPr>
        <p:spPr>
          <a:xfrm>
            <a:off x="1143000" y="4023360"/>
            <a:ext cx="310896" cy="310896"/>
          </a:xfrm>
          <a:prstGeom prst="ellipse">
            <a:avLst/>
          </a:prstGeom>
          <a:solidFill>
            <a:srgbClr val="BC6414"/>
          </a:solidFill>
          <a:ln w="6350">
            <a:solidFill>
              <a:srgbClr val="BC6414"/>
            </a:solidFill>
            <a:prstDash val="solid"/>
          </a:ln>
          <a:effectLst>
            <a:outerShdw blurRad="2147483647" dist="2147483647" algn="bl" rotWithShape="0">
              <a:srgbClr val="74857F">
                <a:alpha val="0"/>
              </a:srgbClr>
            </a:outerShdw>
          </a:effectLst>
        </p:spPr>
        <p:txBody>
          <a:bodyPr/>
          <a:lstStyle/>
          <a:p/>
        </p:txBody>
      </p:sp>
      <p:sp>
        <p:nvSpPr>
          <p:cNvPr id="38" name="Text 36"/>
          <p:cNvSpPr>
            <a:spLocks noGrp="1"/>
          </p:cNvSpPr>
          <p:nvPr/>
        </p:nvSpPr>
        <p:spPr>
          <a:xfrm>
            <a:off x="1143000" y="4023360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72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4</a:t>
            </a:r>
            <a:endParaRPr sz="720"/>
          </a:p>
        </p:txBody>
      </p:sp>
      <p:sp>
        <p:nvSpPr>
          <p:cNvPr id="39" name="Shape 37"/>
          <p:cNvSpPr>
            <a:spLocks noGrp="1"/>
          </p:cNvSpPr>
          <p:nvPr/>
        </p:nvSpPr>
        <p:spPr>
          <a:xfrm>
            <a:off x="1581912" y="3977640"/>
            <a:ext cx="2651760" cy="402336"/>
          </a:xfrm>
          <a:prstGeom prst="roundRect">
            <a:avLst/>
          </a:prstGeom>
          <a:solidFill>
            <a:srgbClr val="FFF1E4"/>
          </a:solidFill>
          <a:ln w="10160">
            <a:solidFill>
              <a:srgbClr val="F28B2D"/>
            </a:solidFill>
            <a:prstDash val="solid"/>
          </a:ln>
        </p:spPr>
        <p:txBody>
          <a:bodyPr/>
          <a:lstStyle/>
          <a:p/>
        </p:txBody>
      </p:sp>
      <p:sp>
        <p:nvSpPr>
          <p:cNvPr id="40" name="Text 38"/>
          <p:cNvSpPr>
            <a:spLocks noGrp="1"/>
          </p:cNvSpPr>
          <p:nvPr/>
        </p:nvSpPr>
        <p:spPr>
          <a:xfrm>
            <a:off x="1673352" y="4005072"/>
            <a:ext cx="1188720" cy="20116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buNone/>
            </a:pPr>
            <a:r>
              <a:rPr sz="970" b="1">
                <a:solidFill>
                  <a:srgbClr val="9A5210"/>
                </a:solidFill>
                <a:latin typeface="Noto Sans CJK SC"/>
                <a:ea typeface="Noto Sans CJK SC"/>
                <a:cs typeface="Noto Sans CJK SC"/>
              </a:rPr>
              <a:t>工具与参数</a:t>
            </a:r>
            <a:endParaRPr sz="970"/>
          </a:p>
        </p:txBody>
      </p:sp>
      <p:sp>
        <p:nvSpPr>
          <p:cNvPr id="41" name="Text 39"/>
          <p:cNvSpPr>
            <a:spLocks noGrp="1"/>
          </p:cNvSpPr>
          <p:nvPr/>
        </p:nvSpPr>
        <p:spPr>
          <a:xfrm>
            <a:off x="2788920" y="4005072"/>
            <a:ext cx="1325880" cy="20116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r">
              <a:buNone/>
            </a:pPr>
            <a:r>
              <a:rPr sz="790">
                <a:solidFill>
                  <a:srgbClr val="44585C"/>
                </a:solidFill>
                <a:latin typeface="Noto Sans CJK SC"/>
                <a:ea typeface="Noto Sans CJK SC"/>
                <a:cs typeface="Noto Sans CJK SC"/>
              </a:rPr>
              <a:t>查询、写入及返回结果</a:t>
            </a:r>
            <a:endParaRPr sz="790"/>
          </a:p>
        </p:txBody>
      </p:sp>
      <p:sp>
        <p:nvSpPr>
          <p:cNvPr id="42" name="Shape 40"/>
          <p:cNvSpPr>
            <a:spLocks noGrp="1"/>
          </p:cNvSpPr>
          <p:nvPr/>
        </p:nvSpPr>
        <p:spPr>
          <a:xfrm>
            <a:off x="1143000" y="4443984"/>
            <a:ext cx="310896" cy="310896"/>
          </a:xfrm>
          <a:prstGeom prst="ellipse">
            <a:avLst/>
          </a:prstGeom>
          <a:solidFill>
            <a:srgbClr val="6C63DF"/>
          </a:solidFill>
          <a:ln w="6350">
            <a:solidFill>
              <a:srgbClr val="6C63DF"/>
            </a:solidFill>
            <a:prstDash val="solid"/>
          </a:ln>
          <a:effectLst>
            <a:outerShdw blurRad="2147483647" dist="2147483647" algn="bl" rotWithShape="0">
              <a:srgbClr val="74857F">
                <a:alpha val="0"/>
              </a:srgbClr>
            </a:outerShdw>
          </a:effectLst>
        </p:spPr>
        <p:txBody>
          <a:bodyPr/>
          <a:lstStyle/>
          <a:p/>
        </p:txBody>
      </p:sp>
      <p:sp>
        <p:nvSpPr>
          <p:cNvPr id="43" name="Text 41"/>
          <p:cNvSpPr>
            <a:spLocks noGrp="1"/>
          </p:cNvSpPr>
          <p:nvPr/>
        </p:nvSpPr>
        <p:spPr>
          <a:xfrm>
            <a:off x="1143000" y="4443984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72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5</a:t>
            </a:r>
            <a:endParaRPr sz="720"/>
          </a:p>
        </p:txBody>
      </p:sp>
      <p:sp>
        <p:nvSpPr>
          <p:cNvPr id="44" name="Text 42"/>
          <p:cNvSpPr>
            <a:spLocks noGrp="1"/>
          </p:cNvSpPr>
          <p:nvPr/>
        </p:nvSpPr>
        <p:spPr>
          <a:xfrm>
            <a:off x="1673352" y="4425696"/>
            <a:ext cx="1188720" cy="20116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buNone/>
            </a:pPr>
            <a:r>
              <a:rPr sz="970" b="1">
                <a:solidFill>
                  <a:srgbClr val="163B36"/>
                </a:solidFill>
                <a:latin typeface="Noto Sans CJK SC"/>
                <a:ea typeface="Noto Sans CJK SC"/>
                <a:cs typeface="Noto Sans CJK SC"/>
              </a:rPr>
              <a:t>审核与偏差</a:t>
            </a:r>
            <a:endParaRPr sz="970"/>
          </a:p>
        </p:txBody>
      </p:sp>
      <p:sp>
        <p:nvSpPr>
          <p:cNvPr id="45" name="Text 43"/>
          <p:cNvSpPr>
            <a:spLocks noGrp="1"/>
          </p:cNvSpPr>
          <p:nvPr/>
        </p:nvSpPr>
        <p:spPr>
          <a:xfrm>
            <a:off x="2788920" y="4425696"/>
            <a:ext cx="1325880" cy="20116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r">
              <a:buNone/>
            </a:pPr>
            <a:r>
              <a:rPr sz="790">
                <a:solidFill>
                  <a:srgbClr val="44585C"/>
                </a:solidFill>
                <a:latin typeface="Noto Sans CJK SC"/>
                <a:ea typeface="Noto Sans CJK SC"/>
                <a:cs typeface="Noto Sans CJK SC"/>
              </a:rPr>
              <a:t>审核结论、首次偏离位置</a:t>
            </a:r>
            <a:endParaRPr sz="790"/>
          </a:p>
        </p:txBody>
      </p:sp>
      <p:sp>
        <p:nvSpPr>
          <p:cNvPr id="46" name="Shape 44"/>
          <p:cNvSpPr>
            <a:spLocks noGrp="1"/>
          </p:cNvSpPr>
          <p:nvPr/>
        </p:nvSpPr>
        <p:spPr>
          <a:xfrm>
            <a:off x="1143000" y="4864608"/>
            <a:ext cx="310896" cy="310896"/>
          </a:xfrm>
          <a:prstGeom prst="ellipse">
            <a:avLst/>
          </a:prstGeom>
          <a:solidFill>
            <a:srgbClr val="C23B3B"/>
          </a:solidFill>
          <a:ln w="6350">
            <a:solidFill>
              <a:srgbClr val="C23B3B"/>
            </a:solidFill>
            <a:prstDash val="solid"/>
          </a:ln>
          <a:effectLst>
            <a:outerShdw blurRad="2147483647" dist="2147483647" algn="bl" rotWithShape="0">
              <a:srgbClr val="74857F">
                <a:alpha val="0"/>
              </a:srgbClr>
            </a:outerShdw>
          </a:effectLst>
        </p:spPr>
        <p:txBody>
          <a:bodyPr/>
          <a:lstStyle/>
          <a:p/>
        </p:txBody>
      </p:sp>
      <p:sp>
        <p:nvSpPr>
          <p:cNvPr id="47" name="Text 45"/>
          <p:cNvSpPr>
            <a:spLocks noGrp="1"/>
          </p:cNvSpPr>
          <p:nvPr/>
        </p:nvSpPr>
        <p:spPr>
          <a:xfrm>
            <a:off x="1143000" y="4864608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72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6</a:t>
            </a:r>
            <a:endParaRPr sz="720"/>
          </a:p>
        </p:txBody>
      </p:sp>
      <p:sp>
        <p:nvSpPr>
          <p:cNvPr id="48" name="Text 46"/>
          <p:cNvSpPr>
            <a:spLocks noGrp="1"/>
          </p:cNvSpPr>
          <p:nvPr/>
        </p:nvSpPr>
        <p:spPr>
          <a:xfrm>
            <a:off x="1673352" y="4846320"/>
            <a:ext cx="1188720" cy="20116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buNone/>
            </a:pPr>
            <a:r>
              <a:rPr sz="970" b="1">
                <a:solidFill>
                  <a:srgbClr val="163B36"/>
                </a:solidFill>
                <a:latin typeface="Noto Sans CJK SC"/>
                <a:ea typeface="Noto Sans CJK SC"/>
                <a:cs typeface="Noto Sans CJK SC"/>
              </a:rPr>
              <a:t>发送与责任</a:t>
            </a:r>
            <a:endParaRPr sz="970"/>
          </a:p>
        </p:txBody>
      </p:sp>
      <p:sp>
        <p:nvSpPr>
          <p:cNvPr id="49" name="Text 47"/>
          <p:cNvSpPr>
            <a:spLocks noGrp="1"/>
          </p:cNvSpPr>
          <p:nvPr/>
        </p:nvSpPr>
        <p:spPr>
          <a:xfrm>
            <a:off x="2788920" y="4846320"/>
            <a:ext cx="1325880" cy="20116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r">
              <a:buNone/>
            </a:pPr>
            <a:r>
              <a:rPr sz="790">
                <a:solidFill>
                  <a:srgbClr val="44585C"/>
                </a:solidFill>
                <a:latin typeface="Noto Sans CJK SC"/>
                <a:ea typeface="Noto Sans CJK SC"/>
                <a:cs typeface="Noto Sans CJK SC"/>
              </a:rPr>
              <a:t>是否发送、最终由谁结束</a:t>
            </a:r>
            <a:endParaRPr sz="790"/>
          </a:p>
        </p:txBody>
      </p:sp>
      <p:sp>
        <p:nvSpPr>
          <p:cNvPr id="50" name="Shape 48"/>
          <p:cNvSpPr>
            <a:spLocks noGrp="1"/>
          </p:cNvSpPr>
          <p:nvPr/>
        </p:nvSpPr>
        <p:spPr>
          <a:xfrm>
            <a:off x="4736592" y="2240280"/>
            <a:ext cx="6565392" cy="354787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7E2"/>
            </a:solidFill>
            <a:prstDash val="solid"/>
          </a:ln>
        </p:spPr>
        <p:txBody>
          <a:bodyPr/>
          <a:lstStyle/>
          <a:p/>
        </p:txBody>
      </p:sp>
      <p:sp>
        <p:nvSpPr>
          <p:cNvPr id="51" name="Text 49"/>
          <p:cNvSpPr>
            <a:spLocks noGrp="1"/>
          </p:cNvSpPr>
          <p:nvPr/>
        </p:nvSpPr>
        <p:spPr>
          <a:xfrm>
            <a:off x="5001768" y="2450592"/>
            <a:ext cx="2103120" cy="2286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buNone/>
            </a:pPr>
            <a:r>
              <a:rPr sz="1150" b="1">
                <a:solidFill>
                  <a:srgbClr val="9A5210"/>
                </a:solidFill>
                <a:latin typeface="Noto Sans CJK SC"/>
                <a:ea typeface="Noto Sans CJK SC"/>
                <a:cs typeface="Noto Sans CJK SC"/>
              </a:rPr>
              <a:t>选中事件：工具调用</a:t>
            </a:r>
            <a:endParaRPr sz="1150"/>
          </a:p>
        </p:txBody>
      </p:sp>
      <p:sp>
        <p:nvSpPr>
          <p:cNvPr id="52" name="Text 50"/>
          <p:cNvSpPr>
            <a:spLocks noGrp="1"/>
          </p:cNvSpPr>
          <p:nvPr/>
        </p:nvSpPr>
        <p:spPr>
          <a:xfrm>
            <a:off x="5010912" y="2880360"/>
            <a:ext cx="841248" cy="20116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buNone/>
            </a:pPr>
            <a:r>
              <a:rPr sz="860" b="1">
                <a:solidFill>
                  <a:srgbClr val="44585C"/>
                </a:solidFill>
                <a:latin typeface="Noto Sans CJK SC"/>
                <a:ea typeface="Noto Sans CJK SC"/>
                <a:cs typeface="Noto Sans CJK SC"/>
              </a:rPr>
              <a:t>工具</a:t>
            </a:r>
            <a:endParaRPr sz="860"/>
          </a:p>
        </p:txBody>
      </p:sp>
      <p:sp>
        <p:nvSpPr>
          <p:cNvPr id="53" name="Shape 51"/>
          <p:cNvSpPr>
            <a:spLocks noGrp="1"/>
          </p:cNvSpPr>
          <p:nvPr/>
        </p:nvSpPr>
        <p:spPr>
          <a:xfrm>
            <a:off x="5010912" y="3108960"/>
            <a:ext cx="2606040" cy="356616"/>
          </a:xfrm>
          <a:prstGeom prst="roundRect">
            <a:avLst/>
          </a:prstGeom>
          <a:solidFill>
            <a:srgbClr val="E7F8F7"/>
          </a:solidFill>
          <a:ln w="7620">
            <a:solidFill>
              <a:srgbClr val="0BA7A5"/>
            </a:solidFill>
            <a:prstDash val="solid"/>
          </a:ln>
        </p:spPr>
        <p:txBody>
          <a:bodyPr/>
          <a:lstStyle/>
          <a:p/>
        </p:txBody>
      </p:sp>
      <p:sp>
        <p:nvSpPr>
          <p:cNvPr id="54" name="Text 52"/>
          <p:cNvSpPr>
            <a:spLocks noGrp="1"/>
          </p:cNvSpPr>
          <p:nvPr/>
        </p:nvSpPr>
        <p:spPr>
          <a:xfrm>
            <a:off x="5120640" y="3127248"/>
            <a:ext cx="2386584" cy="32004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870" b="1">
                <a:solidFill>
                  <a:srgbClr val="163B36"/>
                </a:solidFill>
                <a:latin typeface="Noto Sans CJK SC"/>
                <a:ea typeface="Noto Sans CJK SC"/>
                <a:cs typeface="Noto Sans CJK SC"/>
              </a:rPr>
              <a:t>update_address</a:t>
            </a:r>
            <a:endParaRPr sz="870"/>
          </a:p>
        </p:txBody>
      </p:sp>
      <p:sp>
        <p:nvSpPr>
          <p:cNvPr id="55" name="Text 53"/>
          <p:cNvSpPr>
            <a:spLocks noGrp="1"/>
          </p:cNvSpPr>
          <p:nvPr/>
        </p:nvSpPr>
        <p:spPr>
          <a:xfrm>
            <a:off x="7982712" y="2880360"/>
            <a:ext cx="841248" cy="20116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buNone/>
            </a:pPr>
            <a:r>
              <a:rPr sz="860" b="1">
                <a:solidFill>
                  <a:srgbClr val="44585C"/>
                </a:solidFill>
                <a:latin typeface="Noto Sans CJK SC"/>
                <a:ea typeface="Noto Sans CJK SC"/>
                <a:cs typeface="Noto Sans CJK SC"/>
              </a:rPr>
              <a:t>参数</a:t>
            </a:r>
            <a:endParaRPr sz="860"/>
          </a:p>
        </p:txBody>
      </p:sp>
      <p:sp>
        <p:nvSpPr>
          <p:cNvPr id="56" name="Shape 54"/>
          <p:cNvSpPr>
            <a:spLocks noGrp="1"/>
          </p:cNvSpPr>
          <p:nvPr/>
        </p:nvSpPr>
        <p:spPr>
          <a:xfrm>
            <a:off x="7982712" y="3108960"/>
            <a:ext cx="2606040" cy="356616"/>
          </a:xfrm>
          <a:prstGeom prst="roundRect">
            <a:avLst/>
          </a:prstGeom>
          <a:solidFill>
            <a:srgbClr val="EAF2FF"/>
          </a:solidFill>
          <a:ln w="7620">
            <a:solidFill>
              <a:srgbClr val="2F7DEB"/>
            </a:solidFill>
            <a:prstDash val="solid"/>
          </a:ln>
        </p:spPr>
        <p:txBody>
          <a:bodyPr/>
          <a:lstStyle/>
          <a:p/>
        </p:txBody>
      </p:sp>
      <p:sp>
        <p:nvSpPr>
          <p:cNvPr id="57" name="Text 55"/>
          <p:cNvSpPr>
            <a:spLocks noGrp="1"/>
          </p:cNvSpPr>
          <p:nvPr/>
        </p:nvSpPr>
        <p:spPr>
          <a:xfrm>
            <a:off x="8092440" y="3127248"/>
            <a:ext cx="2386584" cy="32004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870" b="1">
                <a:solidFill>
                  <a:srgbClr val="163B36"/>
                </a:solidFill>
                <a:latin typeface="Noto Sans CJK SC"/>
                <a:ea typeface="Noto Sans CJK SC"/>
                <a:cs typeface="Noto Sans CJK SC"/>
              </a:rPr>
              <a:t>订单标识 / 新地址 / 幂等键</a:t>
            </a:r>
            <a:endParaRPr sz="870"/>
          </a:p>
        </p:txBody>
      </p:sp>
      <p:sp>
        <p:nvSpPr>
          <p:cNvPr id="58" name="Text 56"/>
          <p:cNvSpPr>
            <a:spLocks noGrp="1"/>
          </p:cNvSpPr>
          <p:nvPr/>
        </p:nvSpPr>
        <p:spPr>
          <a:xfrm>
            <a:off x="5010912" y="3593592"/>
            <a:ext cx="841248" cy="20116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buNone/>
            </a:pPr>
            <a:r>
              <a:rPr sz="860" b="1">
                <a:solidFill>
                  <a:srgbClr val="44585C"/>
                </a:solidFill>
                <a:latin typeface="Noto Sans CJK SC"/>
                <a:ea typeface="Noto Sans CJK SC"/>
                <a:cs typeface="Noto Sans CJK SC"/>
              </a:rPr>
              <a:t>前置证据</a:t>
            </a:r>
            <a:endParaRPr sz="860"/>
          </a:p>
        </p:txBody>
      </p:sp>
      <p:sp>
        <p:nvSpPr>
          <p:cNvPr id="59" name="Shape 57"/>
          <p:cNvSpPr>
            <a:spLocks noGrp="1"/>
          </p:cNvSpPr>
          <p:nvPr/>
        </p:nvSpPr>
        <p:spPr>
          <a:xfrm>
            <a:off x="5010912" y="3822192"/>
            <a:ext cx="2606040" cy="356616"/>
          </a:xfrm>
          <a:prstGeom prst="roundRect">
            <a:avLst/>
          </a:prstGeom>
          <a:solidFill>
            <a:srgbClr val="E7F8F7"/>
          </a:solidFill>
          <a:ln w="7620">
            <a:solidFill>
              <a:srgbClr val="0BA7A5"/>
            </a:solidFill>
            <a:prstDash val="solid"/>
          </a:ln>
        </p:spPr>
        <p:txBody>
          <a:bodyPr/>
          <a:lstStyle/>
          <a:p/>
        </p:txBody>
      </p:sp>
      <p:sp>
        <p:nvSpPr>
          <p:cNvPr id="60" name="Text 58"/>
          <p:cNvSpPr>
            <a:spLocks noGrp="1"/>
          </p:cNvSpPr>
          <p:nvPr/>
        </p:nvSpPr>
        <p:spPr>
          <a:xfrm>
            <a:off x="5120640" y="3840480"/>
            <a:ext cx="2386584" cy="32004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870" b="1">
                <a:solidFill>
                  <a:srgbClr val="163B36"/>
                </a:solidFill>
                <a:latin typeface="Noto Sans CJK SC"/>
                <a:ea typeface="Noto Sans CJK SC"/>
                <a:cs typeface="Noto Sans CJK SC"/>
              </a:rPr>
              <a:t>订单未发货；履约未锁定</a:t>
            </a:r>
            <a:endParaRPr sz="870"/>
          </a:p>
        </p:txBody>
      </p:sp>
      <p:sp>
        <p:nvSpPr>
          <p:cNvPr id="61" name="Text 59"/>
          <p:cNvSpPr>
            <a:spLocks noGrp="1"/>
          </p:cNvSpPr>
          <p:nvPr/>
        </p:nvSpPr>
        <p:spPr>
          <a:xfrm>
            <a:off x="7982712" y="3593592"/>
            <a:ext cx="841248" cy="20116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buNone/>
            </a:pPr>
            <a:r>
              <a:rPr sz="860" b="1">
                <a:solidFill>
                  <a:srgbClr val="44585C"/>
                </a:solidFill>
                <a:latin typeface="Noto Sans CJK SC"/>
                <a:ea typeface="Noto Sans CJK SC"/>
                <a:cs typeface="Noto Sans CJK SC"/>
              </a:rPr>
              <a:t>返回结果</a:t>
            </a:r>
            <a:endParaRPr sz="860"/>
          </a:p>
        </p:txBody>
      </p:sp>
      <p:sp>
        <p:nvSpPr>
          <p:cNvPr id="62" name="Shape 60"/>
          <p:cNvSpPr>
            <a:spLocks noGrp="1"/>
          </p:cNvSpPr>
          <p:nvPr/>
        </p:nvSpPr>
        <p:spPr>
          <a:xfrm>
            <a:off x="7982712" y="3822192"/>
            <a:ext cx="2606040" cy="356616"/>
          </a:xfrm>
          <a:prstGeom prst="roundRect">
            <a:avLst/>
          </a:prstGeom>
          <a:solidFill>
            <a:srgbClr val="EAF2FF"/>
          </a:solidFill>
          <a:ln w="7620">
            <a:solidFill>
              <a:srgbClr val="2F7DEB"/>
            </a:solidFill>
            <a:prstDash val="solid"/>
          </a:ln>
        </p:spPr>
        <p:txBody>
          <a:bodyPr/>
          <a:lstStyle/>
          <a:p/>
        </p:txBody>
      </p:sp>
      <p:sp>
        <p:nvSpPr>
          <p:cNvPr id="63" name="Text 61"/>
          <p:cNvSpPr>
            <a:spLocks noGrp="1"/>
          </p:cNvSpPr>
          <p:nvPr/>
        </p:nvSpPr>
        <p:spPr>
          <a:xfrm>
            <a:off x="8092440" y="3840480"/>
            <a:ext cx="2386584" cy="32004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870" b="1">
                <a:solidFill>
                  <a:srgbClr val="163B36"/>
                </a:solidFill>
                <a:latin typeface="Noto Sans CJK SC"/>
                <a:ea typeface="Noto Sans CJK SC"/>
                <a:cs typeface="Noto Sans CJK SC"/>
              </a:rPr>
              <a:t>success · 地址已更新</a:t>
            </a:r>
            <a:endParaRPr sz="870"/>
          </a:p>
        </p:txBody>
      </p:sp>
      <p:sp>
        <p:nvSpPr>
          <p:cNvPr id="64" name="Text 62"/>
          <p:cNvSpPr>
            <a:spLocks noGrp="1"/>
          </p:cNvSpPr>
          <p:nvPr/>
        </p:nvSpPr>
        <p:spPr>
          <a:xfrm>
            <a:off x="5010912" y="4306824"/>
            <a:ext cx="841248" cy="20116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buNone/>
            </a:pPr>
            <a:r>
              <a:rPr sz="860" b="1">
                <a:solidFill>
                  <a:srgbClr val="44585C"/>
                </a:solidFill>
                <a:latin typeface="Noto Sans CJK SC"/>
                <a:ea typeface="Noto Sans CJK SC"/>
                <a:cs typeface="Noto Sans CJK SC"/>
              </a:rPr>
              <a:t>耗时与成本</a:t>
            </a:r>
            <a:endParaRPr sz="860"/>
          </a:p>
        </p:txBody>
      </p:sp>
      <p:sp>
        <p:nvSpPr>
          <p:cNvPr id="65" name="Shape 63"/>
          <p:cNvSpPr>
            <a:spLocks noGrp="1"/>
          </p:cNvSpPr>
          <p:nvPr/>
        </p:nvSpPr>
        <p:spPr>
          <a:xfrm>
            <a:off x="5010912" y="4535424"/>
            <a:ext cx="2606040" cy="356616"/>
          </a:xfrm>
          <a:prstGeom prst="roundRect">
            <a:avLst/>
          </a:prstGeom>
          <a:solidFill>
            <a:srgbClr val="E7F8F7"/>
          </a:solidFill>
          <a:ln w="7620">
            <a:solidFill>
              <a:srgbClr val="0BA7A5"/>
            </a:solidFill>
            <a:prstDash val="solid"/>
          </a:ln>
        </p:spPr>
        <p:txBody>
          <a:bodyPr/>
          <a:lstStyle/>
          <a:p/>
        </p:txBody>
      </p:sp>
      <p:sp>
        <p:nvSpPr>
          <p:cNvPr id="66" name="Text 64"/>
          <p:cNvSpPr>
            <a:spLocks noGrp="1"/>
          </p:cNvSpPr>
          <p:nvPr/>
        </p:nvSpPr>
        <p:spPr>
          <a:xfrm>
            <a:off x="5120640" y="4553712"/>
            <a:ext cx="2386584" cy="32004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870" b="1">
                <a:solidFill>
                  <a:srgbClr val="163B36"/>
                </a:solidFill>
                <a:latin typeface="Noto Sans CJK SC"/>
                <a:ea typeface="Noto Sans CJK SC"/>
                <a:cs typeface="Noto Sans CJK SC"/>
              </a:rPr>
              <a:t>latency / token / tool cost</a:t>
            </a:r>
            <a:endParaRPr sz="870"/>
          </a:p>
        </p:txBody>
      </p:sp>
      <p:sp>
        <p:nvSpPr>
          <p:cNvPr id="67" name="Text 65"/>
          <p:cNvSpPr>
            <a:spLocks noGrp="1"/>
          </p:cNvSpPr>
          <p:nvPr/>
        </p:nvSpPr>
        <p:spPr>
          <a:xfrm>
            <a:off x="7982712" y="4306824"/>
            <a:ext cx="841248" cy="20116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buNone/>
            </a:pPr>
            <a:r>
              <a:rPr sz="860" b="1">
                <a:solidFill>
                  <a:srgbClr val="44585C"/>
                </a:solidFill>
                <a:latin typeface="Noto Sans CJK SC"/>
                <a:ea typeface="Noto Sans CJK SC"/>
                <a:cs typeface="Noto Sans CJK SC"/>
              </a:rPr>
              <a:t>责任归属</a:t>
            </a:r>
            <a:endParaRPr sz="860"/>
          </a:p>
        </p:txBody>
      </p:sp>
      <p:sp>
        <p:nvSpPr>
          <p:cNvPr id="68" name="Shape 66"/>
          <p:cNvSpPr>
            <a:spLocks noGrp="1"/>
          </p:cNvSpPr>
          <p:nvPr/>
        </p:nvSpPr>
        <p:spPr>
          <a:xfrm>
            <a:off x="7982712" y="4535424"/>
            <a:ext cx="2606040" cy="356616"/>
          </a:xfrm>
          <a:prstGeom prst="roundRect">
            <a:avLst/>
          </a:prstGeom>
          <a:solidFill>
            <a:srgbClr val="EAF2FF"/>
          </a:solidFill>
          <a:ln w="7620">
            <a:solidFill>
              <a:srgbClr val="2F7DEB"/>
            </a:solidFill>
            <a:prstDash val="solid"/>
          </a:ln>
        </p:spPr>
        <p:txBody>
          <a:bodyPr/>
          <a:lstStyle/>
          <a:p/>
        </p:txBody>
      </p:sp>
      <p:sp>
        <p:nvSpPr>
          <p:cNvPr id="69" name="Text 67"/>
          <p:cNvSpPr>
            <a:spLocks noGrp="1"/>
          </p:cNvSpPr>
          <p:nvPr/>
        </p:nvSpPr>
        <p:spPr>
          <a:xfrm>
            <a:off x="8092440" y="4553712"/>
            <a:ext cx="2386584" cy="32004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870" b="1">
                <a:solidFill>
                  <a:srgbClr val="163B36"/>
                </a:solidFill>
                <a:latin typeface="Noto Sans CJK SC"/>
                <a:ea typeface="Noto Sans CJK SC"/>
                <a:cs typeface="Noto Sans CJK SC"/>
              </a:rPr>
              <a:t>系统执行；异常时转人工</a:t>
            </a:r>
            <a:endParaRPr sz="870"/>
          </a:p>
        </p:txBody>
      </p:sp>
      <p:sp>
        <p:nvSpPr>
          <p:cNvPr id="70" name="Shape 68"/>
          <p:cNvSpPr>
            <a:spLocks noGrp="1"/>
          </p:cNvSpPr>
          <p:nvPr/>
        </p:nvSpPr>
        <p:spPr>
          <a:xfrm>
            <a:off x="5001768" y="5166360"/>
            <a:ext cx="6016752" cy="384048"/>
          </a:xfrm>
          <a:prstGeom prst="roundRect">
            <a:avLst/>
          </a:prstGeom>
          <a:solidFill>
            <a:srgbClr val="EFEEFF"/>
          </a:solidFill>
          <a:ln w="8890">
            <a:solidFill>
              <a:srgbClr val="6C63DF"/>
            </a:solidFill>
            <a:prstDash val="solid"/>
          </a:ln>
        </p:spPr>
        <p:txBody>
          <a:bodyPr/>
          <a:lstStyle/>
          <a:p/>
        </p:txBody>
      </p:sp>
      <p:sp>
        <p:nvSpPr>
          <p:cNvPr id="71" name="Text 69"/>
          <p:cNvSpPr>
            <a:spLocks noGrp="1"/>
          </p:cNvSpPr>
          <p:nvPr/>
        </p:nvSpPr>
        <p:spPr>
          <a:xfrm>
            <a:off x="5001768" y="5166360"/>
            <a:ext cx="6016752" cy="38404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920" b="1">
                <a:solidFill>
                  <a:srgbClr val="6C63DF"/>
                </a:solidFill>
                <a:latin typeface="Noto Sans CJK SC"/>
                <a:ea typeface="Noto Sans CJK SC"/>
                <a:cs typeface="Noto Sans CJK SC"/>
              </a:rPr>
              <a:t>完整 Trace 支持：问题复现 · 根因归属 · 成本分析 · 评测样本回流</a:t>
            </a:r>
            <a:endParaRPr sz="920"/>
          </a:p>
        </p:txBody>
      </p:sp>
      <p:sp>
        <p:nvSpPr>
          <p:cNvPr id="72" name="Text 70"/>
          <p:cNvSpPr>
            <a:spLocks noGrp="1"/>
          </p:cNvSpPr>
          <p:nvPr/>
        </p:nvSpPr>
        <p:spPr>
          <a:xfrm>
            <a:off x="2395728" y="6144768"/>
            <a:ext cx="7406640" cy="25603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950">
                <a:solidFill>
                  <a:srgbClr val="44585C"/>
                </a:solidFill>
                <a:latin typeface="Noto Sans CJK SC"/>
                <a:ea typeface="Noto Sans CJK SC"/>
                <a:cs typeface="Noto Sans CJK SC"/>
              </a:rPr>
              <a:t>Trace 记录整个业务判断过程，接口调用只是其中一段。</a:t>
            </a:r>
            <a:endParaRPr sz="950"/>
          </a:p>
        </p:txBody>
      </p:sp>
      <p:sp>
        <p:nvSpPr>
          <p:cNvPr id="73" name="Rectangle 72"/>
          <p:cNvSpPr>
            <a:spLocks noGrp="1"/>
          </p:cNvSpPr>
          <p:nvPr/>
        </p:nvSpPr>
        <p:spPr>
          <a:xfrm>
            <a:off x="0" y="0"/>
            <a:ext cx="41148" cy="6858000"/>
          </a:xfrm>
          <a:prstGeom prst="rect">
            <a:avLst/>
          </a:prstGeom>
          <a:solidFill>
            <a:srgbClr val="0A8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74" name="圆角矩形 73"/>
          <p:cNvSpPr>
            <a:spLocks noGrp="1"/>
          </p:cNvSpPr>
          <p:nvPr/>
        </p:nvSpPr>
        <p:spPr>
          <a:xfrm>
            <a:off x="6565583" y="127635"/>
            <a:ext cx="4937760" cy="365760"/>
          </a:xfrm>
          <a:prstGeom prst="roundRect">
            <a:avLst>
              <a:gd name="adj" fmla="val 20833"/>
            </a:avLst>
          </a:prstGeom>
          <a:solidFill>
            <a:srgbClr val="F7FBF9"/>
          </a:solidFill>
          <a:ln w="12668">
            <a:solidFill>
              <a:srgbClr val="F7FBF9"/>
            </a:solidFill>
            <a:prstDash val="solid"/>
          </a:ln>
        </p:spPr>
        <p:txBody>
          <a:bodyPr/>
          <a:p/>
        </p:txBody>
      </p:sp>
      <p:sp>
        <p:nvSpPr>
          <p:cNvPr id="75" name="圆角矩形 74"/>
          <p:cNvSpPr>
            <a:spLocks noGrp="1"/>
          </p:cNvSpPr>
          <p:nvPr/>
        </p:nvSpPr>
        <p:spPr>
          <a:xfrm>
            <a:off x="6657023" y="164783"/>
            <a:ext cx="1154430" cy="264795"/>
          </a:xfrm>
          <a:prstGeom prst="roundRect">
            <a:avLst>
              <a:gd name="adj" fmla="val 28777"/>
            </a:avLst>
          </a:prstGeom>
          <a:solidFill>
            <a:srgbClr val="007574"/>
          </a:solidFill>
          <a:ln w="12668">
            <a:solidFill>
              <a:srgbClr val="007574"/>
            </a:solidFill>
            <a:prstDash val="solid"/>
          </a:ln>
        </p:spPr>
        <p:txBody>
          <a:bodyPr/>
          <a:p/>
        </p:txBody>
      </p:sp>
      <p:sp>
        <p:nvSpPr>
          <p:cNvPr id="76" name="矩形 75"/>
          <p:cNvSpPr>
            <a:spLocks noGrp="1"/>
          </p:cNvSpPr>
          <p:nvPr/>
        </p:nvSpPr>
        <p:spPr>
          <a:xfrm>
            <a:off x="6657023" y="187643"/>
            <a:ext cx="1154430" cy="182880"/>
          </a:xfrm>
          <a:prstGeom prst="rect">
            <a:avLst/>
          </a:prstGeom>
        </p:spPr>
        <p:txBody>
          <a:bodyPr anchor="ctr"/>
          <a:lstStyle/>
          <a:p>
            <a:pPr algn="ctr">
              <a:defRPr sz="660" b="1">
                <a:solidFill>
                  <a:srgbClr val="FFFFFF"/>
                </a:solidFill>
              </a:defRPr>
            </a:pPr>
            <a:r>
              <a:t>理解</a:t>
            </a:r>
          </a:p>
        </p:txBody>
      </p:sp>
      <p:sp>
        <p:nvSpPr>
          <p:cNvPr id="77" name="圆角矩形 76"/>
          <p:cNvSpPr>
            <a:spLocks noGrp="1"/>
          </p:cNvSpPr>
          <p:nvPr/>
        </p:nvSpPr>
        <p:spPr>
          <a:xfrm>
            <a:off x="7857173" y="164783"/>
            <a:ext cx="1154430" cy="264795"/>
          </a:xfrm>
          <a:prstGeom prst="roundRect">
            <a:avLst>
              <a:gd name="adj" fmla="val 28777"/>
            </a:avLst>
          </a:prstGeom>
          <a:solidFill>
            <a:srgbClr val="FFFFFF"/>
          </a:solidFill>
          <a:ln w="12668">
            <a:solidFill>
              <a:srgbClr val="C9DCD7"/>
            </a:solidFill>
            <a:prstDash val="solid"/>
          </a:ln>
        </p:spPr>
        <p:txBody>
          <a:bodyPr/>
          <a:p/>
        </p:txBody>
      </p:sp>
      <p:sp>
        <p:nvSpPr>
          <p:cNvPr id="78" name="矩形 77"/>
          <p:cNvSpPr>
            <a:spLocks noGrp="1"/>
          </p:cNvSpPr>
          <p:nvPr/>
        </p:nvSpPr>
        <p:spPr>
          <a:xfrm>
            <a:off x="7857173" y="187643"/>
            <a:ext cx="1154430" cy="182880"/>
          </a:xfrm>
          <a:prstGeom prst="rect">
            <a:avLst/>
          </a:prstGeom>
        </p:spPr>
        <p:txBody>
          <a:bodyPr anchor="ctr"/>
          <a:lstStyle/>
          <a:p>
            <a:pPr algn="ctr">
              <a:defRPr sz="650" b="0">
                <a:solidFill>
                  <a:srgbClr val="44585C"/>
                </a:solidFill>
              </a:defRPr>
            </a:pPr>
            <a:r>
              <a:t>查询</a:t>
            </a:r>
          </a:p>
        </p:txBody>
      </p:sp>
      <p:sp>
        <p:nvSpPr>
          <p:cNvPr id="79" name="圆角矩形 78"/>
          <p:cNvSpPr>
            <a:spLocks noGrp="1"/>
          </p:cNvSpPr>
          <p:nvPr/>
        </p:nvSpPr>
        <p:spPr>
          <a:xfrm>
            <a:off x="9057323" y="164783"/>
            <a:ext cx="1154430" cy="264795"/>
          </a:xfrm>
          <a:prstGeom prst="roundRect">
            <a:avLst>
              <a:gd name="adj" fmla="val 28777"/>
            </a:avLst>
          </a:prstGeom>
          <a:solidFill>
            <a:srgbClr val="007574"/>
          </a:solidFill>
          <a:ln w="12668">
            <a:solidFill>
              <a:srgbClr val="007574"/>
            </a:solidFill>
            <a:prstDash val="solid"/>
          </a:ln>
        </p:spPr>
        <p:txBody>
          <a:bodyPr/>
          <a:p/>
        </p:txBody>
      </p:sp>
      <p:sp>
        <p:nvSpPr>
          <p:cNvPr id="80" name="矩形 79"/>
          <p:cNvSpPr>
            <a:spLocks noGrp="1"/>
          </p:cNvSpPr>
          <p:nvPr/>
        </p:nvSpPr>
        <p:spPr>
          <a:xfrm>
            <a:off x="9057323" y="187643"/>
            <a:ext cx="1154430" cy="182880"/>
          </a:xfrm>
          <a:prstGeom prst="rect">
            <a:avLst/>
          </a:prstGeom>
        </p:spPr>
        <p:txBody>
          <a:bodyPr anchor="ctr"/>
          <a:lstStyle/>
          <a:p>
            <a:pPr algn="ctr">
              <a:defRPr sz="660" b="1">
                <a:solidFill>
                  <a:srgbClr val="FFFFFF"/>
                </a:solidFill>
              </a:defRPr>
            </a:pPr>
            <a:r>
              <a:t>决策</a:t>
            </a:r>
          </a:p>
        </p:txBody>
      </p:sp>
      <p:sp>
        <p:nvSpPr>
          <p:cNvPr id="81" name="圆角矩形 80"/>
          <p:cNvSpPr>
            <a:spLocks noGrp="1"/>
          </p:cNvSpPr>
          <p:nvPr/>
        </p:nvSpPr>
        <p:spPr>
          <a:xfrm>
            <a:off x="10257473" y="164783"/>
            <a:ext cx="1154430" cy="264795"/>
          </a:xfrm>
          <a:prstGeom prst="roundRect">
            <a:avLst>
              <a:gd name="adj" fmla="val 28777"/>
            </a:avLst>
          </a:prstGeom>
          <a:solidFill>
            <a:srgbClr val="FFFFFF"/>
          </a:solidFill>
          <a:ln w="12668">
            <a:solidFill>
              <a:srgbClr val="C9DCD7"/>
            </a:solidFill>
            <a:prstDash val="solid"/>
          </a:ln>
        </p:spPr>
        <p:txBody>
          <a:bodyPr/>
          <a:p/>
        </p:txBody>
      </p:sp>
      <p:sp>
        <p:nvSpPr>
          <p:cNvPr id="82" name="矩形 81"/>
          <p:cNvSpPr>
            <a:spLocks noGrp="1"/>
          </p:cNvSpPr>
          <p:nvPr/>
        </p:nvSpPr>
        <p:spPr>
          <a:xfrm>
            <a:off x="10257473" y="187643"/>
            <a:ext cx="1154430" cy="182880"/>
          </a:xfrm>
          <a:prstGeom prst="rect">
            <a:avLst/>
          </a:prstGeom>
        </p:spPr>
        <p:txBody>
          <a:bodyPr anchor="ctr"/>
          <a:lstStyle/>
          <a:p>
            <a:pPr algn="ctr">
              <a:defRPr sz="650" b="0">
                <a:solidFill>
                  <a:srgbClr val="44585C"/>
                </a:solidFill>
              </a:defRPr>
            </a:pPr>
            <a:r>
              <a:t>执行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>
            <a:spLocks noGrp="1"/>
          </p:cNvSpPr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" name="Rectangle 2"/>
          <p:cNvSpPr>
            <a:spLocks noGrp="1"/>
          </p:cNvSpPr>
          <p:nvPr/>
        </p:nvSpPr>
        <p:spPr>
          <a:xfrm>
            <a:off x="0" y="0"/>
            <a:ext cx="41148" cy="6858000"/>
          </a:xfrm>
          <a:prstGeom prst="rect">
            <a:avLst/>
          </a:prstGeom>
          <a:solidFill>
            <a:srgbClr val="0A8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4" name="Oval 3"/>
          <p:cNvSpPr>
            <a:spLocks noGrp="1"/>
          </p:cNvSpPr>
          <p:nvPr/>
        </p:nvSpPr>
        <p:spPr>
          <a:xfrm>
            <a:off x="658368" y="384048"/>
            <a:ext cx="73152" cy="73152"/>
          </a:xfrm>
          <a:prstGeom prst="ellipse">
            <a:avLst/>
          </a:prstGeom>
          <a:solidFill>
            <a:srgbClr val="0A8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5" name="Rectangle 4"/>
          <p:cNvSpPr>
            <a:spLocks noGrp="1"/>
          </p:cNvSpPr>
          <p:nvPr/>
        </p:nvSpPr>
        <p:spPr>
          <a:xfrm>
            <a:off x="768096" y="420624"/>
            <a:ext cx="411480" cy="16459"/>
          </a:xfrm>
          <a:prstGeom prst="rect">
            <a:avLst/>
          </a:prstGeom>
          <a:solidFill>
            <a:srgbClr val="0A8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6" name="TextBox 5"/>
          <p:cNvSpPr>
            <a:spLocks noGrp="1"/>
          </p:cNvSpPr>
          <p:nvPr/>
        </p:nvSpPr>
        <p:spPr>
          <a:xfrm>
            <a:off x="1225296" y="256032"/>
            <a:ext cx="41148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050" b="1">
                <a:solidFill>
                  <a:srgbClr val="076B50"/>
                </a:solidFill>
                <a:latin typeface="Noto Sans CJK SC"/>
                <a:ea typeface="Noto Sans CJK SC"/>
                <a:cs typeface="Noto Sans CJK SC"/>
              </a:rPr>
              <a:t>CHAPTER 7 · 证据、评测与价值</a:t>
            </a:r>
            <a:endParaRPr sz="1050" b="1">
              <a:solidFill>
                <a:srgbClr val="6B6FD8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" name="TextBox 6"/>
          <p:cNvSpPr>
            <a:spLocks noGrp="1"/>
          </p:cNvSpPr>
          <p:nvPr/>
        </p:nvSpPr>
        <p:spPr>
          <a:xfrm>
            <a:off x="658368" y="694944"/>
            <a:ext cx="10652760" cy="47548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</a:pPr>
            <a:r>
              <a:rPr sz="2720" b="1" i="0">
                <a:solidFill>
                  <a:srgbClr val="14383E"/>
                </a:solidFill>
                <a:latin typeface="Noto Sans CJK SC"/>
                <a:ea typeface="Noto Sans CJK SC"/>
                <a:cs typeface="Noto Sans CJK SC"/>
              </a:rPr>
              <a:t>能力缺口到新能力：候选、验证与放行</a:t>
            </a:r>
            <a:endParaRPr sz="2720" b="1" i="0">
              <a:solidFill>
                <a:srgbClr val="14383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8" name="TextBox 7"/>
          <p:cNvSpPr>
            <a:spLocks noGrp="1"/>
          </p:cNvSpPr>
          <p:nvPr/>
        </p:nvSpPr>
        <p:spPr>
          <a:xfrm>
            <a:off x="658368" y="1170432"/>
            <a:ext cx="10561320" cy="31089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</a:pPr>
            <a:r>
              <a:rPr sz="1170" b="0" i="0">
                <a:solidFill>
                  <a:srgbClr val="44585C"/>
                </a:solidFill>
                <a:latin typeface="Noto Sans CJK SC"/>
                <a:ea typeface="Noto Sans CJK SC"/>
                <a:cs typeface="Noto Sans CJK SC"/>
              </a:rPr>
              <a:t>候选能力必须经过缺口判断、真实回放和人工终审，才能进入生产。</a:t>
            </a:r>
            <a:endParaRPr sz="1170" b="0" i="0">
              <a:solidFill>
                <a:srgbClr val="6B8185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9" name="Rectangle 8"/>
          <p:cNvSpPr>
            <a:spLocks noGrp="1"/>
          </p:cNvSpPr>
          <p:nvPr/>
        </p:nvSpPr>
        <p:spPr>
          <a:xfrm>
            <a:off x="658368" y="6501384"/>
            <a:ext cx="10835640" cy="10972"/>
          </a:xfrm>
          <a:prstGeom prst="rect">
            <a:avLst/>
          </a:prstGeom>
          <a:solidFill>
            <a:srgbClr val="C9DC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0" name="TextBox 9"/>
          <p:cNvSpPr>
            <a:spLocks noGrp="1"/>
          </p:cNvSpPr>
          <p:nvPr/>
        </p:nvSpPr>
        <p:spPr>
          <a:xfrm>
            <a:off x="658368" y="6547104"/>
            <a:ext cx="237744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780" b="1" i="0">
                <a:solidFill>
                  <a:srgbClr val="5C7276"/>
                </a:solidFill>
                <a:latin typeface="Noto Sans CJK SC"/>
                <a:ea typeface="Noto Sans CJK SC"/>
                <a:cs typeface="Noto Sans CJK SC"/>
              </a:rPr>
              <a:t>CUSTOMER SERVICE AI AGENT</a:t>
            </a:r>
            <a:endParaRPr sz="780" b="1" i="0">
              <a:solidFill>
                <a:srgbClr val="98ACA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1" name="TextBox 10"/>
          <p:cNvSpPr>
            <a:spLocks noGrp="1"/>
          </p:cNvSpPr>
          <p:nvPr/>
        </p:nvSpPr>
        <p:spPr>
          <a:xfrm>
            <a:off x="10680192" y="6519672"/>
            <a:ext cx="82296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buNone/>
            </a:pPr>
            <a:r>
              <a:rPr sz="880" b="1">
                <a:solidFill>
                  <a:srgbClr val="076B50"/>
                </a:solidFill>
                <a:latin typeface="Noto Sans CJK SC"/>
                <a:ea typeface="Noto Sans CJK SC"/>
                <a:cs typeface="Noto Sans CJK SC"/>
              </a:rPr>
              <a:t>58</a:t>
            </a:r>
            <a:endParaRPr sz="880" b="1">
              <a:solidFill>
                <a:srgbClr val="6B6FD8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2" name="Rounded Rectangle 11"/>
          <p:cNvSpPr>
            <a:spLocks noGrp="1"/>
          </p:cNvSpPr>
          <p:nvPr/>
        </p:nvSpPr>
        <p:spPr>
          <a:xfrm>
            <a:off x="690372" y="1723644"/>
            <a:ext cx="2048256" cy="4443984"/>
          </a:xfrm>
          <a:prstGeom prst="roundRect">
            <a:avLst/>
          </a:prstGeom>
          <a:solidFill>
            <a:srgbClr val="E3E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3" name="Rounded Rectangle 12"/>
          <p:cNvSpPr>
            <a:spLocks noGrp="1"/>
          </p:cNvSpPr>
          <p:nvPr/>
        </p:nvSpPr>
        <p:spPr>
          <a:xfrm>
            <a:off x="658368" y="1682496"/>
            <a:ext cx="2048256" cy="44439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5" name="TextBox 14"/>
          <p:cNvSpPr>
            <a:spLocks noGrp="1"/>
          </p:cNvSpPr>
          <p:nvPr/>
        </p:nvSpPr>
        <p:spPr>
          <a:xfrm>
            <a:off x="932688" y="1883664"/>
            <a:ext cx="9601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300" b="1" i="0">
                <a:solidFill>
                  <a:srgbClr val="14383E"/>
                </a:solidFill>
                <a:latin typeface="Noto Sans CJK SC"/>
                <a:ea typeface="Noto Sans CJK SC"/>
                <a:cs typeface="Noto Sans CJK SC"/>
              </a:rPr>
              <a:t>机会来源</a:t>
            </a:r>
            <a:endParaRPr sz="1300" b="1" i="0">
              <a:solidFill>
                <a:srgbClr val="14383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6" name="Rounded Rectangle 15"/>
          <p:cNvSpPr>
            <a:spLocks noGrp="1"/>
          </p:cNvSpPr>
          <p:nvPr/>
        </p:nvSpPr>
        <p:spPr>
          <a:xfrm>
            <a:off x="932688" y="2377440"/>
            <a:ext cx="1499616" cy="365760"/>
          </a:xfrm>
          <a:prstGeom prst="roundRect">
            <a:avLst/>
          </a:prstGeom>
          <a:solidFill>
            <a:srgbClr val="EAF2FF"/>
          </a:solidFill>
          <a:ln w="10160"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7" name="TextBox 16"/>
          <p:cNvSpPr>
            <a:spLocks noGrp="1"/>
          </p:cNvSpPr>
          <p:nvPr/>
        </p:nvSpPr>
        <p:spPr>
          <a:xfrm>
            <a:off x="932688" y="2459736"/>
            <a:ext cx="1499616" cy="19202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</a:pPr>
            <a:r>
              <a:rPr sz="760" b="1" i="0">
                <a:solidFill>
                  <a:srgbClr val="1B5FC4"/>
                </a:solidFill>
                <a:latin typeface="Noto Sans CJK SC"/>
                <a:ea typeface="Noto Sans CJK SC"/>
                <a:cs typeface="Noto Sans CJK SC"/>
              </a:rPr>
              <a:t>未命中场景</a:t>
            </a:r>
            <a:endParaRPr sz="760" b="1" i="0">
              <a:solidFill>
                <a:srgbClr val="2F80ED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8" name="Rounded Rectangle 17"/>
          <p:cNvSpPr>
            <a:spLocks noGrp="1"/>
          </p:cNvSpPr>
          <p:nvPr/>
        </p:nvSpPr>
        <p:spPr>
          <a:xfrm>
            <a:off x="932688" y="2907792"/>
            <a:ext cx="1499616" cy="365760"/>
          </a:xfrm>
          <a:prstGeom prst="roundRect">
            <a:avLst/>
          </a:prstGeom>
          <a:solidFill>
            <a:srgbClr val="EAF2FF"/>
          </a:solidFill>
          <a:ln w="10160"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9" name="TextBox 18"/>
          <p:cNvSpPr>
            <a:spLocks noGrp="1"/>
          </p:cNvSpPr>
          <p:nvPr/>
        </p:nvSpPr>
        <p:spPr>
          <a:xfrm>
            <a:off x="932688" y="2990088"/>
            <a:ext cx="1499616" cy="19202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</a:pPr>
            <a:r>
              <a:rPr sz="760" b="1" i="0">
                <a:solidFill>
                  <a:srgbClr val="1B5FC4"/>
                </a:solidFill>
                <a:latin typeface="Noto Sans CJK SC"/>
                <a:ea typeface="Noto Sans CJK SC"/>
                <a:cs typeface="Noto Sans CJK SC"/>
              </a:rPr>
              <a:t>弃答与转人工</a:t>
            </a:r>
            <a:endParaRPr sz="760" b="1" i="0">
              <a:solidFill>
                <a:srgbClr val="2F80ED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0" name="Rounded Rectangle 19"/>
          <p:cNvSpPr>
            <a:spLocks noGrp="1"/>
          </p:cNvSpPr>
          <p:nvPr/>
        </p:nvSpPr>
        <p:spPr>
          <a:xfrm>
            <a:off x="932688" y="3438144"/>
            <a:ext cx="1499616" cy="365760"/>
          </a:xfrm>
          <a:prstGeom prst="roundRect">
            <a:avLst/>
          </a:prstGeom>
          <a:solidFill>
            <a:srgbClr val="EAF2FF"/>
          </a:solidFill>
          <a:ln w="10160"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1" name="TextBox 20"/>
          <p:cNvSpPr>
            <a:spLocks noGrp="1"/>
          </p:cNvSpPr>
          <p:nvPr/>
        </p:nvSpPr>
        <p:spPr>
          <a:xfrm>
            <a:off x="932688" y="3520439"/>
            <a:ext cx="1499616" cy="19202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</a:pPr>
            <a:r>
              <a:rPr sz="760" b="1" i="0">
                <a:solidFill>
                  <a:srgbClr val="1B5FC4"/>
                </a:solidFill>
                <a:latin typeface="Noto Sans CJK SC"/>
                <a:ea typeface="Noto Sans CJK SC"/>
                <a:cs typeface="Noto Sans CJK SC"/>
              </a:rPr>
              <a:t>反复补问</a:t>
            </a:r>
            <a:endParaRPr sz="760" b="1" i="0">
              <a:solidFill>
                <a:srgbClr val="2F80ED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2" name="Rounded Rectangle 21"/>
          <p:cNvSpPr>
            <a:spLocks noGrp="1"/>
          </p:cNvSpPr>
          <p:nvPr/>
        </p:nvSpPr>
        <p:spPr>
          <a:xfrm>
            <a:off x="932688" y="3968496"/>
            <a:ext cx="1499616" cy="365760"/>
          </a:xfrm>
          <a:prstGeom prst="roundRect">
            <a:avLst/>
          </a:prstGeom>
          <a:solidFill>
            <a:srgbClr val="EAF2FF"/>
          </a:solidFill>
          <a:ln w="10160"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3" name="TextBox 22"/>
          <p:cNvSpPr>
            <a:spLocks noGrp="1"/>
          </p:cNvSpPr>
          <p:nvPr/>
        </p:nvSpPr>
        <p:spPr>
          <a:xfrm>
            <a:off x="932688" y="4050791"/>
            <a:ext cx="1499616" cy="19202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</a:pPr>
            <a:r>
              <a:rPr sz="760" b="1" i="0">
                <a:solidFill>
                  <a:srgbClr val="1B5FC4"/>
                </a:solidFill>
                <a:latin typeface="Noto Sans CJK SC"/>
                <a:ea typeface="Noto Sans CJK SC"/>
                <a:cs typeface="Noto Sans CJK SC"/>
              </a:rPr>
              <a:t>能力缺口原因码</a:t>
            </a:r>
            <a:endParaRPr sz="760" b="1" i="0">
              <a:solidFill>
                <a:srgbClr val="2F80ED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4" name="Rounded Rectangle 23"/>
          <p:cNvSpPr>
            <a:spLocks noGrp="1"/>
          </p:cNvSpPr>
          <p:nvPr/>
        </p:nvSpPr>
        <p:spPr>
          <a:xfrm>
            <a:off x="932688" y="4498848"/>
            <a:ext cx="1499616" cy="365760"/>
          </a:xfrm>
          <a:prstGeom prst="roundRect">
            <a:avLst/>
          </a:prstGeom>
          <a:solidFill>
            <a:srgbClr val="EAF2FF"/>
          </a:solidFill>
          <a:ln w="10160"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5" name="TextBox 24"/>
          <p:cNvSpPr>
            <a:spLocks noGrp="1"/>
          </p:cNvSpPr>
          <p:nvPr/>
        </p:nvSpPr>
        <p:spPr>
          <a:xfrm>
            <a:off x="932688" y="4581144"/>
            <a:ext cx="1499616" cy="19202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</a:pPr>
            <a:r>
              <a:rPr sz="760" b="1" i="0">
                <a:solidFill>
                  <a:srgbClr val="1B5FC4"/>
                </a:solidFill>
                <a:latin typeface="Noto Sans CJK SC"/>
                <a:ea typeface="Noto Sans CJK SC"/>
                <a:cs typeface="Noto Sans CJK SC"/>
              </a:rPr>
              <a:t>人工可稳定解决</a:t>
            </a:r>
            <a:endParaRPr sz="760" b="1" i="0">
              <a:solidFill>
                <a:srgbClr val="2F80ED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6" name="Right Arrow 25"/>
          <p:cNvSpPr>
            <a:spLocks noGrp="1"/>
          </p:cNvSpPr>
          <p:nvPr/>
        </p:nvSpPr>
        <p:spPr>
          <a:xfrm>
            <a:off x="2834640" y="3410712"/>
            <a:ext cx="365760" cy="530352"/>
          </a:xfrm>
          <a:prstGeom prst="rightArrow">
            <a:avLst/>
          </a:prstGeom>
          <a:solidFill>
            <a:srgbClr val="6B6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7" name="Rounded Rectangle 26"/>
          <p:cNvSpPr>
            <a:spLocks noGrp="1"/>
          </p:cNvSpPr>
          <p:nvPr/>
        </p:nvSpPr>
        <p:spPr>
          <a:xfrm>
            <a:off x="3342132" y="1723644"/>
            <a:ext cx="5961888" cy="4443984"/>
          </a:xfrm>
          <a:prstGeom prst="roundRect">
            <a:avLst/>
          </a:prstGeom>
          <a:solidFill>
            <a:srgbClr val="E3E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8" name="Rounded Rectangle 27"/>
          <p:cNvSpPr>
            <a:spLocks noGrp="1"/>
          </p:cNvSpPr>
          <p:nvPr/>
        </p:nvSpPr>
        <p:spPr>
          <a:xfrm>
            <a:off x="3310128" y="1682496"/>
            <a:ext cx="5961888" cy="44439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B6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0" name="TextBox 29"/>
          <p:cNvSpPr>
            <a:spLocks noGrp="1"/>
          </p:cNvSpPr>
          <p:nvPr/>
        </p:nvSpPr>
        <p:spPr>
          <a:xfrm>
            <a:off x="3584448" y="1883664"/>
            <a:ext cx="120700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300" b="1" i="0">
                <a:solidFill>
                  <a:srgbClr val="14383E"/>
                </a:solidFill>
                <a:latin typeface="Noto Sans CJK SC"/>
                <a:ea typeface="Noto Sans CJK SC"/>
                <a:cs typeface="Noto Sans CJK SC"/>
              </a:rPr>
              <a:t>受控演进路径</a:t>
            </a:r>
            <a:endParaRPr sz="1300" b="1" i="0">
              <a:solidFill>
                <a:srgbClr val="14383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1" name="Rounded Rectangle 30"/>
          <p:cNvSpPr>
            <a:spLocks noGrp="1"/>
          </p:cNvSpPr>
          <p:nvPr/>
        </p:nvSpPr>
        <p:spPr>
          <a:xfrm>
            <a:off x="3602736" y="2414016"/>
            <a:ext cx="932688" cy="1243584"/>
          </a:xfrm>
          <a:prstGeom prst="roundRect">
            <a:avLst/>
          </a:prstGeom>
          <a:solidFill>
            <a:srgbClr val="EAF2FF"/>
          </a:solidFill>
          <a:ln w="10160"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2" name="Oval 31"/>
          <p:cNvSpPr>
            <a:spLocks noGrp="1"/>
          </p:cNvSpPr>
          <p:nvPr/>
        </p:nvSpPr>
        <p:spPr>
          <a:xfrm>
            <a:off x="3913632" y="2587752"/>
            <a:ext cx="292608" cy="292608"/>
          </a:xfrm>
          <a:prstGeom prst="ellipse">
            <a:avLst/>
          </a:prstGeom>
          <a:solidFill>
            <a:srgbClr val="1F63C4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3" name="TextBox 32"/>
          <p:cNvSpPr>
            <a:spLocks noGrp="1"/>
          </p:cNvSpPr>
          <p:nvPr/>
        </p:nvSpPr>
        <p:spPr>
          <a:xfrm>
            <a:off x="3913632" y="2592324"/>
            <a:ext cx="292608" cy="2834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740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1</a:t>
            </a:r>
            <a:endParaRPr sz="740" b="1" i="0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4" name="TextBox 33"/>
          <p:cNvSpPr>
            <a:spLocks noGrp="1"/>
          </p:cNvSpPr>
          <p:nvPr/>
        </p:nvSpPr>
        <p:spPr>
          <a:xfrm>
            <a:off x="3648456" y="2962656"/>
            <a:ext cx="841248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790" b="1" i="0">
                <a:solidFill>
                  <a:srgbClr val="1B5FC4"/>
                </a:solidFill>
                <a:latin typeface="Noto Sans CJK SC"/>
                <a:ea typeface="Noto Sans CJK SC"/>
                <a:cs typeface="Noto Sans CJK SC"/>
              </a:rPr>
              <a:t>发现与聚类</a:t>
            </a:r>
            <a:endParaRPr sz="790" b="1" i="0">
              <a:solidFill>
                <a:srgbClr val="2F80ED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5" name="TextBox 34"/>
          <p:cNvSpPr>
            <a:spLocks noGrp="1"/>
          </p:cNvSpPr>
          <p:nvPr/>
        </p:nvSpPr>
        <p:spPr>
          <a:xfrm>
            <a:off x="3657600" y="3246120"/>
            <a:ext cx="822960" cy="30175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</a:pPr>
            <a:r>
              <a:rPr sz="600" b="0" i="0">
                <a:solidFill>
                  <a:srgbClr val="44585C"/>
                </a:solidFill>
                <a:latin typeface="Noto Sans CJK SC"/>
                <a:ea typeface="Noto Sans CJK SC"/>
                <a:cs typeface="Noto Sans CJK SC"/>
              </a:rPr>
              <a:t>按真实客户问题聚合</a:t>
            </a:r>
            <a:endParaRPr sz="600" b="0" i="0">
              <a:solidFill>
                <a:srgbClr val="6B8185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6" name="Right Arrow 35"/>
          <p:cNvSpPr>
            <a:spLocks noGrp="1"/>
          </p:cNvSpPr>
          <p:nvPr/>
        </p:nvSpPr>
        <p:spPr>
          <a:xfrm>
            <a:off x="4553712" y="2871216"/>
            <a:ext cx="91440" cy="219456"/>
          </a:xfrm>
          <a:prstGeom prst="rightArrow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7" name="Rounded Rectangle 36"/>
          <p:cNvSpPr>
            <a:spLocks noGrp="1"/>
          </p:cNvSpPr>
          <p:nvPr/>
        </p:nvSpPr>
        <p:spPr>
          <a:xfrm>
            <a:off x="4681728" y="2414016"/>
            <a:ext cx="932688" cy="1243584"/>
          </a:xfrm>
          <a:prstGeom prst="roundRect">
            <a:avLst/>
          </a:prstGeom>
          <a:solidFill>
            <a:srgbClr val="E6F7F6"/>
          </a:solidFill>
          <a:ln w="10160">
            <a:solidFill>
              <a:srgbClr val="00A7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8" name="Oval 37"/>
          <p:cNvSpPr>
            <a:spLocks noGrp="1"/>
          </p:cNvSpPr>
          <p:nvPr/>
        </p:nvSpPr>
        <p:spPr>
          <a:xfrm>
            <a:off x="4992624" y="2587752"/>
            <a:ext cx="292608" cy="292608"/>
          </a:xfrm>
          <a:prstGeom prst="ellipse">
            <a:avLst/>
          </a:prstGeom>
          <a:solidFill>
            <a:srgbClr val="007574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9" name="TextBox 38"/>
          <p:cNvSpPr>
            <a:spLocks noGrp="1"/>
          </p:cNvSpPr>
          <p:nvPr/>
        </p:nvSpPr>
        <p:spPr>
          <a:xfrm>
            <a:off x="4992624" y="2592324"/>
            <a:ext cx="292608" cy="2834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740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2</a:t>
            </a:r>
            <a:endParaRPr sz="740" b="1" i="0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0" name="TextBox 39"/>
          <p:cNvSpPr>
            <a:spLocks noGrp="1"/>
          </p:cNvSpPr>
          <p:nvPr/>
        </p:nvSpPr>
        <p:spPr>
          <a:xfrm>
            <a:off x="4727448" y="2962656"/>
            <a:ext cx="841248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790" b="1" i="0">
                <a:solidFill>
                  <a:srgbClr val="00706F"/>
                </a:solidFill>
                <a:latin typeface="Noto Sans CJK SC"/>
                <a:ea typeface="Noto Sans CJK SC"/>
                <a:cs typeface="Noto Sans CJK SC"/>
              </a:rPr>
              <a:t>Preflight</a:t>
            </a:r>
            <a:endParaRPr sz="790" b="1" i="0">
              <a:solidFill>
                <a:srgbClr val="00A7A7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1" name="TextBox 40"/>
          <p:cNvSpPr>
            <a:spLocks noGrp="1"/>
          </p:cNvSpPr>
          <p:nvPr/>
        </p:nvSpPr>
        <p:spPr>
          <a:xfrm>
            <a:off x="4736592" y="3246120"/>
            <a:ext cx="822960" cy="30175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</a:pPr>
            <a:r>
              <a:rPr sz="600" b="0" i="0">
                <a:solidFill>
                  <a:srgbClr val="44585C"/>
                </a:solidFill>
                <a:latin typeface="Noto Sans CJK SC"/>
                <a:ea typeface="Noto Sans CJK SC"/>
                <a:cs typeface="Noto Sans CJK SC"/>
              </a:rPr>
              <a:t>判断缺 Skill、KB 还是 API</a:t>
            </a:r>
            <a:endParaRPr sz="600" b="0" i="0">
              <a:solidFill>
                <a:srgbClr val="6B8185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2" name="Right Arrow 41"/>
          <p:cNvSpPr>
            <a:spLocks noGrp="1"/>
          </p:cNvSpPr>
          <p:nvPr/>
        </p:nvSpPr>
        <p:spPr>
          <a:xfrm>
            <a:off x="5632704" y="2871216"/>
            <a:ext cx="91440" cy="219456"/>
          </a:xfrm>
          <a:prstGeom prst="rightArrow">
            <a:avLst/>
          </a:prstGeom>
          <a:solidFill>
            <a:srgbClr val="00A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43" name="Rounded Rectangle 42"/>
          <p:cNvSpPr>
            <a:spLocks noGrp="1"/>
          </p:cNvSpPr>
          <p:nvPr/>
        </p:nvSpPr>
        <p:spPr>
          <a:xfrm>
            <a:off x="5760720" y="2414016"/>
            <a:ext cx="932688" cy="1243584"/>
          </a:xfrm>
          <a:prstGeom prst="roundRect">
            <a:avLst/>
          </a:prstGeom>
          <a:solidFill>
            <a:srgbClr val="FFF0E4"/>
          </a:solidFill>
          <a:ln w="10160">
            <a:solidFill>
              <a:srgbClr val="F28B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44" name="Oval 43"/>
          <p:cNvSpPr>
            <a:spLocks noGrp="1"/>
          </p:cNvSpPr>
          <p:nvPr/>
        </p:nvSpPr>
        <p:spPr>
          <a:xfrm>
            <a:off x="6071616" y="2587752"/>
            <a:ext cx="292608" cy="292608"/>
          </a:xfrm>
          <a:prstGeom prst="ellipse">
            <a:avLst/>
          </a:prstGeom>
          <a:solidFill>
            <a:srgbClr val="BC6414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45" name="TextBox 44"/>
          <p:cNvSpPr>
            <a:spLocks noGrp="1"/>
          </p:cNvSpPr>
          <p:nvPr/>
        </p:nvSpPr>
        <p:spPr>
          <a:xfrm>
            <a:off x="6071616" y="2592324"/>
            <a:ext cx="292608" cy="2834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740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3</a:t>
            </a:r>
            <a:endParaRPr sz="740" b="1" i="0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6" name="TextBox 45"/>
          <p:cNvSpPr>
            <a:spLocks noGrp="1"/>
          </p:cNvSpPr>
          <p:nvPr/>
        </p:nvSpPr>
        <p:spPr>
          <a:xfrm>
            <a:off x="5806440" y="2962656"/>
            <a:ext cx="841248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790" b="1" i="0">
                <a:solidFill>
                  <a:srgbClr val="9A5210"/>
                </a:solidFill>
                <a:latin typeface="Noto Sans CJK SC"/>
                <a:ea typeface="Noto Sans CJK SC"/>
                <a:cs typeface="Noto Sans CJK SC"/>
              </a:rPr>
              <a:t>候选草稿</a:t>
            </a:r>
            <a:endParaRPr sz="790" b="1" i="0">
              <a:solidFill>
                <a:srgbClr val="F28B36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7" name="TextBox 46"/>
          <p:cNvSpPr>
            <a:spLocks noGrp="1"/>
          </p:cNvSpPr>
          <p:nvPr/>
        </p:nvSpPr>
        <p:spPr>
          <a:xfrm>
            <a:off x="5815583" y="3246120"/>
            <a:ext cx="822960" cy="30175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</a:pPr>
            <a:r>
              <a:rPr sz="600" b="0" i="0">
                <a:solidFill>
                  <a:srgbClr val="44585C"/>
                </a:solidFill>
                <a:latin typeface="Noto Sans CJK SC"/>
                <a:ea typeface="Noto Sans CJK SC"/>
                <a:cs typeface="Noto Sans CJK SC"/>
              </a:rPr>
              <a:t>生成契约与验证矩阵</a:t>
            </a:r>
            <a:endParaRPr sz="600" b="0" i="0">
              <a:solidFill>
                <a:srgbClr val="6B8185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8" name="Right Arrow 47"/>
          <p:cNvSpPr>
            <a:spLocks noGrp="1"/>
          </p:cNvSpPr>
          <p:nvPr/>
        </p:nvSpPr>
        <p:spPr>
          <a:xfrm>
            <a:off x="6711696" y="2871216"/>
            <a:ext cx="91440" cy="219456"/>
          </a:xfrm>
          <a:prstGeom prst="rightArrow">
            <a:avLst/>
          </a:prstGeom>
          <a:solidFill>
            <a:srgbClr val="F28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49" name="Rounded Rectangle 48"/>
          <p:cNvSpPr>
            <a:spLocks noGrp="1"/>
          </p:cNvSpPr>
          <p:nvPr/>
        </p:nvSpPr>
        <p:spPr>
          <a:xfrm>
            <a:off x="6839712" y="2414016"/>
            <a:ext cx="932688" cy="1243584"/>
          </a:xfrm>
          <a:prstGeom prst="roundRect">
            <a:avLst/>
          </a:prstGeom>
          <a:solidFill>
            <a:srgbClr val="EFEEFF"/>
          </a:solidFill>
          <a:ln w="10160">
            <a:solidFill>
              <a:srgbClr val="6B6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50" name="Oval 49"/>
          <p:cNvSpPr>
            <a:spLocks noGrp="1"/>
          </p:cNvSpPr>
          <p:nvPr/>
        </p:nvSpPr>
        <p:spPr>
          <a:xfrm>
            <a:off x="7150608" y="2587752"/>
            <a:ext cx="292608" cy="292608"/>
          </a:xfrm>
          <a:prstGeom prst="ellipse">
            <a:avLst/>
          </a:prstGeom>
          <a:solidFill>
            <a:srgbClr val="5356BE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51" name="TextBox 50"/>
          <p:cNvSpPr>
            <a:spLocks noGrp="1"/>
          </p:cNvSpPr>
          <p:nvPr/>
        </p:nvSpPr>
        <p:spPr>
          <a:xfrm>
            <a:off x="7150608" y="2592324"/>
            <a:ext cx="292608" cy="2834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740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4</a:t>
            </a:r>
            <a:endParaRPr sz="740" b="1" i="0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2" name="TextBox 51"/>
          <p:cNvSpPr>
            <a:spLocks noGrp="1"/>
          </p:cNvSpPr>
          <p:nvPr/>
        </p:nvSpPr>
        <p:spPr>
          <a:xfrm>
            <a:off x="6885432" y="2962656"/>
            <a:ext cx="841248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790" b="1" i="0">
                <a:solidFill>
                  <a:srgbClr val="4A4EB0"/>
                </a:solidFill>
                <a:latin typeface="Noto Sans CJK SC"/>
                <a:ea typeface="Noto Sans CJK SC"/>
                <a:cs typeface="Noto Sans CJK SC"/>
              </a:rPr>
              <a:t>Harness 回放</a:t>
            </a:r>
            <a:endParaRPr sz="790" b="1" i="0">
              <a:solidFill>
                <a:srgbClr val="6B6FD8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3" name="TextBox 52"/>
          <p:cNvSpPr>
            <a:spLocks noGrp="1"/>
          </p:cNvSpPr>
          <p:nvPr/>
        </p:nvSpPr>
        <p:spPr>
          <a:xfrm>
            <a:off x="6894576" y="3246120"/>
            <a:ext cx="822960" cy="30175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</a:pPr>
            <a:r>
              <a:rPr sz="600" b="0" i="0">
                <a:solidFill>
                  <a:srgbClr val="44585C"/>
                </a:solidFill>
                <a:latin typeface="Noto Sans CJK SC"/>
                <a:ea typeface="Noto Sans CJK SC"/>
                <a:cs typeface="Noto Sans CJK SC"/>
              </a:rPr>
              <a:t>真实样本全程 dry-run</a:t>
            </a:r>
            <a:endParaRPr sz="600" b="0" i="0">
              <a:solidFill>
                <a:srgbClr val="6B8185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4" name="Right Arrow 53"/>
          <p:cNvSpPr>
            <a:spLocks noGrp="1"/>
          </p:cNvSpPr>
          <p:nvPr/>
        </p:nvSpPr>
        <p:spPr>
          <a:xfrm>
            <a:off x="7790688" y="2871216"/>
            <a:ext cx="91440" cy="219456"/>
          </a:xfrm>
          <a:prstGeom prst="rightArrow">
            <a:avLst/>
          </a:prstGeom>
          <a:solidFill>
            <a:srgbClr val="6B6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55" name="Rounded Rectangle 54"/>
          <p:cNvSpPr>
            <a:spLocks noGrp="1"/>
          </p:cNvSpPr>
          <p:nvPr/>
        </p:nvSpPr>
        <p:spPr>
          <a:xfrm>
            <a:off x="7918704" y="2414016"/>
            <a:ext cx="932688" cy="1243584"/>
          </a:xfrm>
          <a:prstGeom prst="roundRect">
            <a:avLst/>
          </a:prstGeom>
          <a:solidFill>
            <a:srgbClr val="E8F6F0"/>
          </a:solidFill>
          <a:ln w="10160">
            <a:solidFill>
              <a:srgbClr val="0A8F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56" name="Oval 55"/>
          <p:cNvSpPr>
            <a:spLocks noGrp="1"/>
          </p:cNvSpPr>
          <p:nvPr/>
        </p:nvSpPr>
        <p:spPr>
          <a:xfrm>
            <a:off x="8229600" y="2587752"/>
            <a:ext cx="292608" cy="292608"/>
          </a:xfrm>
          <a:prstGeom prst="ellipse">
            <a:avLst/>
          </a:prstGeom>
          <a:solidFill>
            <a:srgbClr val="07714F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57" name="TextBox 56"/>
          <p:cNvSpPr>
            <a:spLocks noGrp="1"/>
          </p:cNvSpPr>
          <p:nvPr/>
        </p:nvSpPr>
        <p:spPr>
          <a:xfrm>
            <a:off x="8229600" y="2592324"/>
            <a:ext cx="292608" cy="2834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740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5</a:t>
            </a:r>
            <a:endParaRPr sz="740" b="1" i="0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8" name="TextBox 57"/>
          <p:cNvSpPr>
            <a:spLocks noGrp="1"/>
          </p:cNvSpPr>
          <p:nvPr/>
        </p:nvSpPr>
        <p:spPr>
          <a:xfrm>
            <a:off x="7964424" y="2962656"/>
            <a:ext cx="841248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790" b="1" i="0">
                <a:solidFill>
                  <a:srgbClr val="076B50"/>
                </a:solidFill>
                <a:latin typeface="Noto Sans CJK SC"/>
                <a:ea typeface="Noto Sans CJK SC"/>
                <a:cs typeface="Noto Sans CJK SC"/>
              </a:rPr>
              <a:t>人工终审</a:t>
            </a:r>
            <a:endParaRPr sz="790" b="1" i="0">
              <a:solidFill>
                <a:srgbClr val="0A8F6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9" name="TextBox 58"/>
          <p:cNvSpPr>
            <a:spLocks noGrp="1"/>
          </p:cNvSpPr>
          <p:nvPr/>
        </p:nvSpPr>
        <p:spPr>
          <a:xfrm>
            <a:off x="7973568" y="3246120"/>
            <a:ext cx="822960" cy="30175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</a:pPr>
            <a:r>
              <a:rPr sz="600" b="0" i="0">
                <a:solidFill>
                  <a:srgbClr val="44585C"/>
                </a:solidFill>
                <a:latin typeface="Noto Sans CJK SC"/>
                <a:ea typeface="Noto Sans CJK SC"/>
                <a:cs typeface="Noto Sans CJK SC"/>
              </a:rPr>
              <a:t>业务、风险与客户体验</a:t>
            </a:r>
            <a:endParaRPr sz="600" b="0" i="0">
              <a:solidFill>
                <a:srgbClr val="6B8185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0" name="Rounded Rectangle 59"/>
          <p:cNvSpPr>
            <a:spLocks noGrp="1"/>
          </p:cNvSpPr>
          <p:nvPr/>
        </p:nvSpPr>
        <p:spPr>
          <a:xfrm>
            <a:off x="3602736" y="4005072"/>
            <a:ext cx="2496312" cy="411480"/>
          </a:xfrm>
          <a:prstGeom prst="roundRect">
            <a:avLst/>
          </a:prstGeom>
          <a:solidFill>
            <a:srgbClr val="E8F6F0"/>
          </a:solidFill>
          <a:ln w="10160">
            <a:solidFill>
              <a:srgbClr val="0A8F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61" name="TextBox 60"/>
          <p:cNvSpPr>
            <a:spLocks noGrp="1"/>
          </p:cNvSpPr>
          <p:nvPr/>
        </p:nvSpPr>
        <p:spPr>
          <a:xfrm>
            <a:off x="3602736" y="4114800"/>
            <a:ext cx="2496312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760" b="1" i="0">
                <a:solidFill>
                  <a:srgbClr val="076B50"/>
                </a:solidFill>
                <a:latin typeface="Noto Sans CJK SC"/>
                <a:ea typeface="Noto Sans CJK SC"/>
                <a:cs typeface="Noto Sans CJK SC"/>
              </a:rPr>
              <a:t>证据充分 → 进入发布 Gate</a:t>
            </a:r>
            <a:endParaRPr sz="760" b="1" i="0">
              <a:solidFill>
                <a:srgbClr val="0A8F6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2" name="Rounded Rectangle 61"/>
          <p:cNvSpPr>
            <a:spLocks noGrp="1"/>
          </p:cNvSpPr>
          <p:nvPr/>
        </p:nvSpPr>
        <p:spPr>
          <a:xfrm>
            <a:off x="6272784" y="4005072"/>
            <a:ext cx="2706624" cy="411480"/>
          </a:xfrm>
          <a:prstGeom prst="roundRect">
            <a:avLst/>
          </a:prstGeom>
          <a:solidFill>
            <a:srgbClr val="FDECE9"/>
          </a:solidFill>
          <a:ln w="10160">
            <a:solidFill>
              <a:srgbClr val="E257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63" name="TextBox 62"/>
          <p:cNvSpPr>
            <a:spLocks noGrp="1"/>
          </p:cNvSpPr>
          <p:nvPr/>
        </p:nvSpPr>
        <p:spPr>
          <a:xfrm>
            <a:off x="6272784" y="4114800"/>
            <a:ext cx="2706624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740" b="1" i="0">
                <a:solidFill>
                  <a:srgbClr val="B8362C"/>
                </a:solidFill>
                <a:latin typeface="Noto Sans CJK SC"/>
                <a:ea typeface="Noto Sans CJK SC"/>
                <a:cs typeface="Noto Sans CJK SC"/>
              </a:rPr>
              <a:t>证据不足 → 保持候选或回到缺口</a:t>
            </a:r>
            <a:endParaRPr sz="740" b="1" i="0">
              <a:solidFill>
                <a:srgbClr val="E2574C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4" name="Rounded Rectangle 63"/>
          <p:cNvSpPr>
            <a:spLocks noGrp="1"/>
          </p:cNvSpPr>
          <p:nvPr/>
        </p:nvSpPr>
        <p:spPr>
          <a:xfrm>
            <a:off x="3602736" y="4663440"/>
            <a:ext cx="2596896" cy="1024128"/>
          </a:xfrm>
          <a:prstGeom prst="roundRect">
            <a:avLst/>
          </a:prstGeom>
          <a:solidFill>
            <a:srgbClr val="E6F7F6"/>
          </a:solidFill>
          <a:ln w="10160">
            <a:solidFill>
              <a:srgbClr val="00A7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65" name="TextBox 64"/>
          <p:cNvSpPr>
            <a:spLocks noGrp="1"/>
          </p:cNvSpPr>
          <p:nvPr/>
        </p:nvSpPr>
        <p:spPr>
          <a:xfrm>
            <a:off x="3794760" y="4800600"/>
            <a:ext cx="10972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880" b="1" i="0">
                <a:solidFill>
                  <a:srgbClr val="00706F"/>
                </a:solidFill>
                <a:latin typeface="Noto Sans CJK SC"/>
                <a:ea typeface="Noto Sans CJK SC"/>
                <a:cs typeface="Noto Sans CJK SC"/>
              </a:rPr>
              <a:t>增长证据</a:t>
            </a:r>
            <a:endParaRPr sz="880" b="1" i="0">
              <a:solidFill>
                <a:srgbClr val="00A7A7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6" name="TextBox 65"/>
          <p:cNvSpPr>
            <a:spLocks noGrp="1"/>
          </p:cNvSpPr>
          <p:nvPr/>
        </p:nvSpPr>
        <p:spPr>
          <a:xfrm>
            <a:off x="3794760" y="5093208"/>
            <a:ext cx="2157984" cy="420624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buNone/>
            </a:pPr>
            <a:r>
              <a:rPr sz="670" b="0" i="0">
                <a:solidFill>
                  <a:srgbClr val="14383E"/>
                </a:solidFill>
                <a:latin typeface="Noto Sans CJK SC"/>
                <a:ea typeface="Noto Sans CJK SC"/>
                <a:cs typeface="Noto Sans CJK SC"/>
              </a:rPr>
              <a:t>可覆盖样本数
场景边界一致
工具事实可用 · 风险可解释</a:t>
            </a:r>
            <a:endParaRPr sz="670" b="0" i="0">
              <a:solidFill>
                <a:srgbClr val="14383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7" name="Rounded Rectangle 66"/>
          <p:cNvSpPr>
            <a:spLocks noGrp="1"/>
          </p:cNvSpPr>
          <p:nvPr/>
        </p:nvSpPr>
        <p:spPr>
          <a:xfrm>
            <a:off x="6382512" y="4663440"/>
            <a:ext cx="2596896" cy="1024128"/>
          </a:xfrm>
          <a:prstGeom prst="roundRect">
            <a:avLst/>
          </a:prstGeom>
          <a:solidFill>
            <a:srgbClr val="EFEEFF"/>
          </a:solidFill>
          <a:ln w="10160">
            <a:solidFill>
              <a:srgbClr val="6B6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68" name="TextBox 67"/>
          <p:cNvSpPr>
            <a:spLocks noGrp="1"/>
          </p:cNvSpPr>
          <p:nvPr/>
        </p:nvSpPr>
        <p:spPr>
          <a:xfrm>
            <a:off x="6574536" y="4800600"/>
            <a:ext cx="10972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880" b="1" i="0">
                <a:solidFill>
                  <a:srgbClr val="4A4EB0"/>
                </a:solidFill>
                <a:latin typeface="Noto Sans CJK SC"/>
                <a:ea typeface="Noto Sans CJK SC"/>
                <a:cs typeface="Noto Sans CJK SC"/>
              </a:rPr>
              <a:t>上线边界</a:t>
            </a:r>
            <a:endParaRPr sz="880" b="1" i="0">
              <a:solidFill>
                <a:srgbClr val="6B6FD8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9" name="TextBox 68"/>
          <p:cNvSpPr>
            <a:spLocks noGrp="1"/>
          </p:cNvSpPr>
          <p:nvPr/>
        </p:nvSpPr>
        <p:spPr>
          <a:xfrm>
            <a:off x="6574536" y="5093208"/>
            <a:ext cx="2157984" cy="420624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buNone/>
            </a:pPr>
            <a:r>
              <a:rPr sz="670" b="0" i="0">
                <a:solidFill>
                  <a:srgbClr val="14383E"/>
                </a:solidFill>
                <a:latin typeface="Noto Sans CJK SC"/>
                <a:ea typeface="Noto Sans CJK SC"/>
                <a:cs typeface="Noto Sans CJK SC"/>
              </a:rPr>
              <a:t>不自动发布
不扩大写权限
生产变更必须人工授权</a:t>
            </a:r>
            <a:endParaRPr sz="670" b="0" i="0">
              <a:solidFill>
                <a:srgbClr val="14383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0" name="Rounded Rectangle 69"/>
          <p:cNvSpPr>
            <a:spLocks noGrp="1"/>
          </p:cNvSpPr>
          <p:nvPr/>
        </p:nvSpPr>
        <p:spPr>
          <a:xfrm>
            <a:off x="9560052" y="1723644"/>
            <a:ext cx="1975104" cy="4443984"/>
          </a:xfrm>
          <a:prstGeom prst="roundRect">
            <a:avLst/>
          </a:prstGeom>
          <a:solidFill>
            <a:srgbClr val="E3E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71" name="Rounded Rectangle 70"/>
          <p:cNvSpPr>
            <a:spLocks noGrp="1"/>
          </p:cNvSpPr>
          <p:nvPr/>
        </p:nvSpPr>
        <p:spPr>
          <a:xfrm>
            <a:off x="9528048" y="1682496"/>
            <a:ext cx="1975104" cy="44439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8B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73" name="TextBox 72"/>
          <p:cNvSpPr>
            <a:spLocks noGrp="1"/>
          </p:cNvSpPr>
          <p:nvPr/>
        </p:nvSpPr>
        <p:spPr>
          <a:xfrm>
            <a:off x="9802368" y="1883664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300" b="1" i="0">
                <a:solidFill>
                  <a:srgbClr val="14383E"/>
                </a:solidFill>
                <a:latin typeface="Noto Sans CJK SC"/>
                <a:ea typeface="Noto Sans CJK SC"/>
                <a:cs typeface="Noto Sans CJK SC"/>
              </a:rPr>
              <a:t>候选归属</a:t>
            </a:r>
            <a:endParaRPr sz="1300" b="1" i="0">
              <a:solidFill>
                <a:srgbClr val="14383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4" name="Rounded Rectangle 73"/>
          <p:cNvSpPr>
            <a:spLocks noGrp="1"/>
          </p:cNvSpPr>
          <p:nvPr/>
        </p:nvSpPr>
        <p:spPr>
          <a:xfrm>
            <a:off x="9802368" y="2414016"/>
            <a:ext cx="1426464" cy="329184"/>
          </a:xfrm>
          <a:prstGeom prst="roundRect">
            <a:avLst/>
          </a:prstGeom>
          <a:solidFill>
            <a:srgbClr val="FFF0E4"/>
          </a:solidFill>
          <a:ln w="8890">
            <a:solidFill>
              <a:srgbClr val="F28B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75" name="TextBox 74"/>
          <p:cNvSpPr>
            <a:spLocks noGrp="1"/>
          </p:cNvSpPr>
          <p:nvPr/>
        </p:nvSpPr>
        <p:spPr>
          <a:xfrm>
            <a:off x="9802368" y="2487168"/>
            <a:ext cx="1426464" cy="1737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740" b="1" i="0">
                <a:solidFill>
                  <a:srgbClr val="9A5210"/>
                </a:solidFill>
                <a:latin typeface="Noto Sans CJK SC"/>
                <a:ea typeface="Noto Sans CJK SC"/>
                <a:cs typeface="Noto Sans CJK SC"/>
              </a:rPr>
              <a:t>优先复用既有 owner</a:t>
            </a:r>
            <a:endParaRPr sz="740" b="1" i="0">
              <a:solidFill>
                <a:srgbClr val="F28B36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6" name="Rounded Rectangle 75"/>
          <p:cNvSpPr>
            <a:spLocks noGrp="1"/>
          </p:cNvSpPr>
          <p:nvPr/>
        </p:nvSpPr>
        <p:spPr>
          <a:xfrm>
            <a:off x="9802368" y="2898648"/>
            <a:ext cx="1426464" cy="329184"/>
          </a:xfrm>
          <a:prstGeom prst="roundRect">
            <a:avLst/>
          </a:prstGeom>
          <a:solidFill>
            <a:srgbClr val="FFF0E4"/>
          </a:solidFill>
          <a:ln w="8890">
            <a:solidFill>
              <a:srgbClr val="F28B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77" name="TextBox 76"/>
          <p:cNvSpPr>
            <a:spLocks noGrp="1"/>
          </p:cNvSpPr>
          <p:nvPr/>
        </p:nvSpPr>
        <p:spPr>
          <a:xfrm>
            <a:off x="9802368" y="2971800"/>
            <a:ext cx="1426464" cy="1737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740" b="1" i="0">
                <a:solidFill>
                  <a:srgbClr val="9A5210"/>
                </a:solidFill>
                <a:latin typeface="Noto Sans CJK SC"/>
                <a:ea typeface="Noto Sans CJK SC"/>
                <a:cs typeface="Noto Sans CJK SC"/>
              </a:rPr>
              <a:t>先补边界，再考虑新建</a:t>
            </a:r>
            <a:endParaRPr sz="740" b="1" i="0">
              <a:solidFill>
                <a:srgbClr val="F28B36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8" name="Rounded Rectangle 77"/>
          <p:cNvSpPr>
            <a:spLocks noGrp="1"/>
          </p:cNvSpPr>
          <p:nvPr/>
        </p:nvSpPr>
        <p:spPr>
          <a:xfrm>
            <a:off x="9802368" y="3383280"/>
            <a:ext cx="1426464" cy="329184"/>
          </a:xfrm>
          <a:prstGeom prst="roundRect">
            <a:avLst/>
          </a:prstGeom>
          <a:solidFill>
            <a:srgbClr val="FFF0E4"/>
          </a:solidFill>
          <a:ln w="8890">
            <a:solidFill>
              <a:srgbClr val="F28B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79" name="TextBox 78"/>
          <p:cNvSpPr>
            <a:spLocks noGrp="1"/>
          </p:cNvSpPr>
          <p:nvPr/>
        </p:nvSpPr>
        <p:spPr>
          <a:xfrm>
            <a:off x="9802368" y="3456432"/>
            <a:ext cx="1426464" cy="1737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740" b="1" i="0">
                <a:solidFill>
                  <a:srgbClr val="9A5210"/>
                </a:solidFill>
                <a:latin typeface="Noto Sans CJK SC"/>
                <a:ea typeface="Noto Sans CJK SC"/>
                <a:cs typeface="Noto Sans CJK SC"/>
              </a:rPr>
              <a:t>只读能力优先验证</a:t>
            </a:r>
            <a:endParaRPr sz="740" b="1" i="0">
              <a:solidFill>
                <a:srgbClr val="F28B36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80" name="Rounded Rectangle 79"/>
          <p:cNvSpPr>
            <a:spLocks noGrp="1"/>
          </p:cNvSpPr>
          <p:nvPr/>
        </p:nvSpPr>
        <p:spPr>
          <a:xfrm>
            <a:off x="9802368" y="3867912"/>
            <a:ext cx="1426464" cy="329184"/>
          </a:xfrm>
          <a:prstGeom prst="roundRect">
            <a:avLst/>
          </a:prstGeom>
          <a:solidFill>
            <a:srgbClr val="FFF0E4"/>
          </a:solidFill>
          <a:ln w="8890">
            <a:solidFill>
              <a:srgbClr val="F28B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81" name="TextBox 80"/>
          <p:cNvSpPr>
            <a:spLocks noGrp="1"/>
          </p:cNvSpPr>
          <p:nvPr/>
        </p:nvSpPr>
        <p:spPr>
          <a:xfrm>
            <a:off x="9802368" y="3941064"/>
            <a:ext cx="1426464" cy="1737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740" b="1" i="0">
                <a:solidFill>
                  <a:srgbClr val="9A5210"/>
                </a:solidFill>
                <a:latin typeface="Noto Sans CJK SC"/>
                <a:ea typeface="Noto Sans CJK SC"/>
                <a:cs typeface="Noto Sans CJK SC"/>
              </a:rPr>
              <a:t>副作用不明不得调用</a:t>
            </a:r>
            <a:endParaRPr sz="740" b="1" i="0">
              <a:solidFill>
                <a:srgbClr val="F28B36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82" name="Rounded Rectangle 81"/>
          <p:cNvSpPr>
            <a:spLocks noGrp="1"/>
          </p:cNvSpPr>
          <p:nvPr/>
        </p:nvSpPr>
        <p:spPr>
          <a:xfrm>
            <a:off x="9802368" y="4352544"/>
            <a:ext cx="1426464" cy="329184"/>
          </a:xfrm>
          <a:prstGeom prst="roundRect">
            <a:avLst/>
          </a:prstGeom>
          <a:solidFill>
            <a:srgbClr val="FFF0E4"/>
          </a:solidFill>
          <a:ln w="8890">
            <a:solidFill>
              <a:srgbClr val="F28B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83" name="TextBox 82"/>
          <p:cNvSpPr>
            <a:spLocks noGrp="1"/>
          </p:cNvSpPr>
          <p:nvPr/>
        </p:nvSpPr>
        <p:spPr>
          <a:xfrm>
            <a:off x="9802368" y="4425696"/>
            <a:ext cx="1426464" cy="1737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740" b="1" i="0">
                <a:solidFill>
                  <a:srgbClr val="9A5210"/>
                </a:solidFill>
                <a:latin typeface="Noto Sans CJK SC"/>
                <a:ea typeface="Noto Sans CJK SC"/>
                <a:cs typeface="Noto Sans CJK SC"/>
              </a:rPr>
              <a:t>高风险长期保留人工</a:t>
            </a:r>
            <a:endParaRPr sz="740" b="1" i="0">
              <a:solidFill>
                <a:srgbClr val="F28B36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84" name="Rounded Rectangle 83"/>
          <p:cNvSpPr>
            <a:spLocks noGrp="1"/>
          </p:cNvSpPr>
          <p:nvPr/>
        </p:nvSpPr>
        <p:spPr>
          <a:xfrm>
            <a:off x="9802368" y="5038344"/>
            <a:ext cx="1426464" cy="630936"/>
          </a:xfrm>
          <a:prstGeom prst="roundRect">
            <a:avLst/>
          </a:prstGeom>
          <a:solidFill>
            <a:srgbClr val="FDECE9"/>
          </a:solidFill>
          <a:ln w="10160">
            <a:solidFill>
              <a:srgbClr val="E257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85" name="TextBox 84"/>
          <p:cNvSpPr>
            <a:spLocks noGrp="1"/>
          </p:cNvSpPr>
          <p:nvPr/>
        </p:nvSpPr>
        <p:spPr>
          <a:xfrm>
            <a:off x="9912096" y="5157216"/>
            <a:ext cx="1207008" cy="38404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</a:pPr>
            <a:r>
              <a:rPr sz="660" b="1" i="0">
                <a:solidFill>
                  <a:srgbClr val="B8362C"/>
                </a:solidFill>
                <a:latin typeface="Noto Sans CJK SC"/>
                <a:ea typeface="Noto Sans CJK SC"/>
                <a:cs typeface="Noto Sans CJK SC"/>
              </a:rPr>
              <a:t>能扩展既有能力时，
不新建平行 Skill。</a:t>
            </a:r>
            <a:endParaRPr sz="660" b="1" i="0">
              <a:solidFill>
                <a:srgbClr val="E2574C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86" name="Rectangle 85"/>
          <p:cNvSpPr>
            <a:spLocks noGrp="1"/>
          </p:cNvSpPr>
          <p:nvPr/>
        </p:nvSpPr>
        <p:spPr>
          <a:xfrm>
            <a:off x="0" y="0"/>
            <a:ext cx="41148" cy="6858000"/>
          </a:xfrm>
          <a:prstGeom prst="rect">
            <a:avLst/>
          </a:prstGeom>
          <a:solidFill>
            <a:srgbClr val="0A8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87" name="圆角矩形 86"/>
          <p:cNvSpPr>
            <a:spLocks noGrp="1"/>
          </p:cNvSpPr>
          <p:nvPr/>
        </p:nvSpPr>
        <p:spPr>
          <a:xfrm>
            <a:off x="6565583" y="127635"/>
            <a:ext cx="4937760" cy="365760"/>
          </a:xfrm>
          <a:prstGeom prst="roundRect">
            <a:avLst>
              <a:gd name="adj" fmla="val 20833"/>
            </a:avLst>
          </a:prstGeom>
          <a:solidFill>
            <a:srgbClr val="F7FBF9"/>
          </a:solidFill>
          <a:ln w="12668">
            <a:solidFill>
              <a:srgbClr val="F7FBF9"/>
            </a:solidFill>
            <a:prstDash val="solid"/>
          </a:ln>
        </p:spPr>
        <p:txBody>
          <a:bodyPr/>
          <a:p/>
        </p:txBody>
      </p:sp>
      <p:sp>
        <p:nvSpPr>
          <p:cNvPr id="88" name="圆角矩形 87"/>
          <p:cNvSpPr>
            <a:spLocks noGrp="1"/>
          </p:cNvSpPr>
          <p:nvPr/>
        </p:nvSpPr>
        <p:spPr>
          <a:xfrm>
            <a:off x="6657023" y="164783"/>
            <a:ext cx="1154430" cy="264795"/>
          </a:xfrm>
          <a:prstGeom prst="roundRect">
            <a:avLst>
              <a:gd name="adj" fmla="val 28777"/>
            </a:avLst>
          </a:prstGeom>
          <a:solidFill>
            <a:srgbClr val="007574"/>
          </a:solidFill>
          <a:ln w="12668">
            <a:solidFill>
              <a:srgbClr val="007574"/>
            </a:solidFill>
            <a:prstDash val="solid"/>
          </a:ln>
        </p:spPr>
        <p:txBody>
          <a:bodyPr/>
          <a:p/>
        </p:txBody>
      </p:sp>
      <p:sp>
        <p:nvSpPr>
          <p:cNvPr id="89" name="矩形 88"/>
          <p:cNvSpPr>
            <a:spLocks noGrp="1"/>
          </p:cNvSpPr>
          <p:nvPr/>
        </p:nvSpPr>
        <p:spPr>
          <a:xfrm>
            <a:off x="6657023" y="187643"/>
            <a:ext cx="1154430" cy="182880"/>
          </a:xfrm>
          <a:prstGeom prst="rect">
            <a:avLst/>
          </a:prstGeom>
        </p:spPr>
        <p:txBody>
          <a:bodyPr anchor="ctr"/>
          <a:lstStyle/>
          <a:p>
            <a:pPr algn="ctr">
              <a:defRPr sz="660" b="1">
                <a:solidFill>
                  <a:srgbClr val="FFFFFF"/>
                </a:solidFill>
              </a:defRPr>
            </a:pPr>
            <a:r>
              <a:t>理解</a:t>
            </a:r>
          </a:p>
        </p:txBody>
      </p:sp>
      <p:sp>
        <p:nvSpPr>
          <p:cNvPr id="90" name="圆角矩形 89"/>
          <p:cNvSpPr>
            <a:spLocks noGrp="1"/>
          </p:cNvSpPr>
          <p:nvPr/>
        </p:nvSpPr>
        <p:spPr>
          <a:xfrm>
            <a:off x="7857173" y="164783"/>
            <a:ext cx="1154430" cy="264795"/>
          </a:xfrm>
          <a:prstGeom prst="roundRect">
            <a:avLst>
              <a:gd name="adj" fmla="val 28777"/>
            </a:avLst>
          </a:prstGeom>
          <a:solidFill>
            <a:srgbClr val="FFFFFF"/>
          </a:solidFill>
          <a:ln w="12668">
            <a:solidFill>
              <a:srgbClr val="C9DCD7"/>
            </a:solidFill>
            <a:prstDash val="solid"/>
          </a:ln>
        </p:spPr>
        <p:txBody>
          <a:bodyPr/>
          <a:p/>
        </p:txBody>
      </p:sp>
      <p:sp>
        <p:nvSpPr>
          <p:cNvPr id="91" name="矩形 90"/>
          <p:cNvSpPr>
            <a:spLocks noGrp="1"/>
          </p:cNvSpPr>
          <p:nvPr/>
        </p:nvSpPr>
        <p:spPr>
          <a:xfrm>
            <a:off x="7857173" y="187643"/>
            <a:ext cx="1154430" cy="182880"/>
          </a:xfrm>
          <a:prstGeom prst="rect">
            <a:avLst/>
          </a:prstGeom>
        </p:spPr>
        <p:txBody>
          <a:bodyPr anchor="ctr"/>
          <a:lstStyle/>
          <a:p>
            <a:pPr algn="ctr">
              <a:defRPr sz="650" b="0">
                <a:solidFill>
                  <a:srgbClr val="44585C"/>
                </a:solidFill>
              </a:defRPr>
            </a:pPr>
            <a:r>
              <a:t>查询</a:t>
            </a:r>
          </a:p>
        </p:txBody>
      </p:sp>
      <p:sp>
        <p:nvSpPr>
          <p:cNvPr id="92" name="圆角矩形 91"/>
          <p:cNvSpPr>
            <a:spLocks noGrp="1"/>
          </p:cNvSpPr>
          <p:nvPr/>
        </p:nvSpPr>
        <p:spPr>
          <a:xfrm>
            <a:off x="9057323" y="164783"/>
            <a:ext cx="1154430" cy="264795"/>
          </a:xfrm>
          <a:prstGeom prst="roundRect">
            <a:avLst>
              <a:gd name="adj" fmla="val 28777"/>
            </a:avLst>
          </a:prstGeom>
          <a:solidFill>
            <a:srgbClr val="007574"/>
          </a:solidFill>
          <a:ln w="12668">
            <a:solidFill>
              <a:srgbClr val="007574"/>
            </a:solidFill>
            <a:prstDash val="solid"/>
          </a:ln>
        </p:spPr>
        <p:txBody>
          <a:bodyPr/>
          <a:p/>
        </p:txBody>
      </p:sp>
      <p:sp>
        <p:nvSpPr>
          <p:cNvPr id="93" name="矩形 92"/>
          <p:cNvSpPr>
            <a:spLocks noGrp="1"/>
          </p:cNvSpPr>
          <p:nvPr/>
        </p:nvSpPr>
        <p:spPr>
          <a:xfrm>
            <a:off x="9057323" y="187643"/>
            <a:ext cx="1154430" cy="182880"/>
          </a:xfrm>
          <a:prstGeom prst="rect">
            <a:avLst/>
          </a:prstGeom>
        </p:spPr>
        <p:txBody>
          <a:bodyPr anchor="ctr"/>
          <a:lstStyle/>
          <a:p>
            <a:pPr algn="ctr">
              <a:defRPr sz="660" b="1">
                <a:solidFill>
                  <a:srgbClr val="FFFFFF"/>
                </a:solidFill>
              </a:defRPr>
            </a:pPr>
            <a:r>
              <a:t>决策</a:t>
            </a:r>
          </a:p>
        </p:txBody>
      </p:sp>
      <p:sp>
        <p:nvSpPr>
          <p:cNvPr id="94" name="圆角矩形 93"/>
          <p:cNvSpPr>
            <a:spLocks noGrp="1"/>
          </p:cNvSpPr>
          <p:nvPr/>
        </p:nvSpPr>
        <p:spPr>
          <a:xfrm>
            <a:off x="10257473" y="164783"/>
            <a:ext cx="1154430" cy="264795"/>
          </a:xfrm>
          <a:prstGeom prst="roundRect">
            <a:avLst>
              <a:gd name="adj" fmla="val 28777"/>
            </a:avLst>
          </a:prstGeom>
          <a:solidFill>
            <a:srgbClr val="FFFFFF"/>
          </a:solidFill>
          <a:ln w="12668">
            <a:solidFill>
              <a:srgbClr val="C9DCD7"/>
            </a:solidFill>
            <a:prstDash val="solid"/>
          </a:ln>
        </p:spPr>
        <p:txBody>
          <a:bodyPr/>
          <a:p/>
        </p:txBody>
      </p:sp>
      <p:sp>
        <p:nvSpPr>
          <p:cNvPr id="95" name="矩形 94"/>
          <p:cNvSpPr>
            <a:spLocks noGrp="1"/>
          </p:cNvSpPr>
          <p:nvPr/>
        </p:nvSpPr>
        <p:spPr>
          <a:xfrm>
            <a:off x="10257473" y="187643"/>
            <a:ext cx="1154430" cy="182880"/>
          </a:xfrm>
          <a:prstGeom prst="rect">
            <a:avLst/>
          </a:prstGeom>
        </p:spPr>
        <p:txBody>
          <a:bodyPr anchor="ctr"/>
          <a:lstStyle/>
          <a:p>
            <a:pPr algn="ctr">
              <a:defRPr sz="650" b="0">
                <a:solidFill>
                  <a:srgbClr val="44585C"/>
                </a:solidFill>
              </a:defRPr>
            </a:pPr>
            <a:r>
              <a:t>执行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>
            <a:spLocks noGrp="1"/>
          </p:cNvSpPr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" name="Rectangle 2"/>
          <p:cNvSpPr>
            <a:spLocks noGrp="1"/>
          </p:cNvSpPr>
          <p:nvPr/>
        </p:nvSpPr>
        <p:spPr>
          <a:xfrm>
            <a:off x="0" y="0"/>
            <a:ext cx="41148" cy="6858000"/>
          </a:xfrm>
          <a:prstGeom prst="rect">
            <a:avLst/>
          </a:prstGeom>
          <a:solidFill>
            <a:srgbClr val="0A8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4" name="Oval 3"/>
          <p:cNvSpPr>
            <a:spLocks noGrp="1"/>
          </p:cNvSpPr>
          <p:nvPr/>
        </p:nvSpPr>
        <p:spPr>
          <a:xfrm>
            <a:off x="658368" y="384048"/>
            <a:ext cx="73152" cy="73152"/>
          </a:xfrm>
          <a:prstGeom prst="ellipse">
            <a:avLst/>
          </a:prstGeom>
          <a:solidFill>
            <a:srgbClr val="0A8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5" name="Rectangle 4"/>
          <p:cNvSpPr>
            <a:spLocks noGrp="1"/>
          </p:cNvSpPr>
          <p:nvPr/>
        </p:nvSpPr>
        <p:spPr>
          <a:xfrm>
            <a:off x="768096" y="420624"/>
            <a:ext cx="411480" cy="16459"/>
          </a:xfrm>
          <a:prstGeom prst="rect">
            <a:avLst/>
          </a:prstGeom>
          <a:solidFill>
            <a:srgbClr val="0A8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6" name="TextBox 5"/>
          <p:cNvSpPr>
            <a:spLocks noGrp="1"/>
          </p:cNvSpPr>
          <p:nvPr/>
        </p:nvSpPr>
        <p:spPr>
          <a:xfrm>
            <a:off x="1225296" y="256032"/>
            <a:ext cx="41148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050" b="1">
                <a:solidFill>
                  <a:srgbClr val="076B50"/>
                </a:solidFill>
                <a:latin typeface="Noto Sans CJK SC"/>
                <a:ea typeface="Noto Sans CJK SC"/>
                <a:cs typeface="Noto Sans CJK SC"/>
              </a:rPr>
              <a:t>CHAPTER 7 · 证据、评测与价值</a:t>
            </a:r>
            <a:endParaRPr sz="1050" b="1">
              <a:solidFill>
                <a:srgbClr val="6B6FD8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" name="TextBox 6"/>
          <p:cNvSpPr>
            <a:spLocks noGrp="1"/>
          </p:cNvSpPr>
          <p:nvPr/>
        </p:nvSpPr>
        <p:spPr>
          <a:xfrm>
            <a:off x="658368" y="694944"/>
            <a:ext cx="10652760" cy="47548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</a:pPr>
            <a:r>
              <a:rPr sz="2720" b="1" i="0">
                <a:solidFill>
                  <a:srgbClr val="14383E"/>
                </a:solidFill>
                <a:latin typeface="Noto Sans CJK SC"/>
                <a:ea typeface="Noto Sans CJK SC"/>
                <a:cs typeface="Noto Sans CJK SC"/>
              </a:rPr>
              <a:t>评测与发布验证闭环</a:t>
            </a:r>
            <a:endParaRPr sz="2720" b="1" i="0">
              <a:solidFill>
                <a:srgbClr val="14383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8" name="TextBox 7"/>
          <p:cNvSpPr>
            <a:spLocks noGrp="1"/>
          </p:cNvSpPr>
          <p:nvPr/>
        </p:nvSpPr>
        <p:spPr>
          <a:xfrm>
            <a:off x="658368" y="1170432"/>
            <a:ext cx="10561320" cy="31089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</a:pPr>
            <a:r>
              <a:rPr sz="1170" b="0" i="0">
                <a:solidFill>
                  <a:srgbClr val="44585C"/>
                </a:solidFill>
                <a:latin typeface="Noto Sans CJK SC"/>
                <a:ea typeface="Noto Sans CJK SC"/>
                <a:cs typeface="Noto Sans CJK SC"/>
              </a:rPr>
              <a:t>模型、Prompt、知识、Skill 和工具共用五道质量检查；线上指标与离线评测分开解释。</a:t>
            </a:r>
            <a:endParaRPr sz="1170" b="0" i="0">
              <a:solidFill>
                <a:srgbClr val="6B8185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9" name="Rectangle 8"/>
          <p:cNvSpPr>
            <a:spLocks noGrp="1"/>
          </p:cNvSpPr>
          <p:nvPr/>
        </p:nvSpPr>
        <p:spPr>
          <a:xfrm>
            <a:off x="658368" y="6501384"/>
            <a:ext cx="10835640" cy="10972"/>
          </a:xfrm>
          <a:prstGeom prst="rect">
            <a:avLst/>
          </a:prstGeom>
          <a:solidFill>
            <a:srgbClr val="C9DC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0" name="TextBox 9"/>
          <p:cNvSpPr>
            <a:spLocks noGrp="1"/>
          </p:cNvSpPr>
          <p:nvPr/>
        </p:nvSpPr>
        <p:spPr>
          <a:xfrm>
            <a:off x="658368" y="6547104"/>
            <a:ext cx="237744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780" b="1" i="0">
                <a:solidFill>
                  <a:srgbClr val="5C7276"/>
                </a:solidFill>
                <a:latin typeface="Noto Sans CJK SC"/>
                <a:ea typeface="Noto Sans CJK SC"/>
                <a:cs typeface="Noto Sans CJK SC"/>
              </a:rPr>
              <a:t>CUSTOMER SERVICE AI AGENT</a:t>
            </a:r>
            <a:endParaRPr sz="780" b="1" i="0">
              <a:solidFill>
                <a:srgbClr val="98ACA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1" name="TextBox 10"/>
          <p:cNvSpPr>
            <a:spLocks noGrp="1"/>
          </p:cNvSpPr>
          <p:nvPr/>
        </p:nvSpPr>
        <p:spPr>
          <a:xfrm>
            <a:off x="10680192" y="6519672"/>
            <a:ext cx="82296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buNone/>
            </a:pPr>
            <a:r>
              <a:rPr sz="880" b="1">
                <a:solidFill>
                  <a:srgbClr val="076B50"/>
                </a:solidFill>
                <a:latin typeface="Noto Sans CJK SC"/>
                <a:ea typeface="Noto Sans CJK SC"/>
                <a:cs typeface="Noto Sans CJK SC"/>
              </a:rPr>
              <a:t>62</a:t>
            </a:r>
            <a:endParaRPr sz="880" b="1">
              <a:solidFill>
                <a:srgbClr val="6B6FD8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2" name="Rounded Rectangle 11"/>
          <p:cNvSpPr>
            <a:spLocks noGrp="1"/>
          </p:cNvSpPr>
          <p:nvPr/>
        </p:nvSpPr>
        <p:spPr>
          <a:xfrm>
            <a:off x="690372" y="1723644"/>
            <a:ext cx="2048256" cy="4443984"/>
          </a:xfrm>
          <a:prstGeom prst="roundRect">
            <a:avLst/>
          </a:prstGeom>
          <a:solidFill>
            <a:srgbClr val="E3E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3" name="Rounded Rectangle 12"/>
          <p:cNvSpPr>
            <a:spLocks noGrp="1"/>
          </p:cNvSpPr>
          <p:nvPr/>
        </p:nvSpPr>
        <p:spPr>
          <a:xfrm>
            <a:off x="658368" y="1682496"/>
            <a:ext cx="2048256" cy="44439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5" name="TextBox 14"/>
          <p:cNvSpPr>
            <a:spLocks noGrp="1"/>
          </p:cNvSpPr>
          <p:nvPr/>
        </p:nvSpPr>
        <p:spPr>
          <a:xfrm>
            <a:off x="932688" y="1883664"/>
            <a:ext cx="9601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300" b="1" i="0">
                <a:solidFill>
                  <a:srgbClr val="14383E"/>
                </a:solidFill>
                <a:latin typeface="Noto Sans CJK SC"/>
                <a:ea typeface="Noto Sans CJK SC"/>
                <a:cs typeface="Noto Sans CJK SC"/>
              </a:rPr>
              <a:t>变更对象</a:t>
            </a:r>
            <a:endParaRPr sz="1300" b="1" i="0">
              <a:solidFill>
                <a:srgbClr val="14383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6" name="Rounded Rectangle 15"/>
          <p:cNvSpPr>
            <a:spLocks noGrp="1"/>
          </p:cNvSpPr>
          <p:nvPr/>
        </p:nvSpPr>
        <p:spPr>
          <a:xfrm>
            <a:off x="932688" y="2377440"/>
            <a:ext cx="1499616" cy="365760"/>
          </a:xfrm>
          <a:prstGeom prst="roundRect">
            <a:avLst/>
          </a:prstGeom>
          <a:solidFill>
            <a:srgbClr val="EAF2FF"/>
          </a:solidFill>
          <a:ln w="10160"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7" name="TextBox 16"/>
          <p:cNvSpPr>
            <a:spLocks noGrp="1"/>
          </p:cNvSpPr>
          <p:nvPr/>
        </p:nvSpPr>
        <p:spPr>
          <a:xfrm>
            <a:off x="932688" y="2459736"/>
            <a:ext cx="1499616" cy="19202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</a:pPr>
            <a:r>
              <a:rPr sz="760" b="1" i="0">
                <a:solidFill>
                  <a:srgbClr val="1B5FC4"/>
                </a:solidFill>
                <a:latin typeface="Noto Sans CJK SC"/>
                <a:ea typeface="Noto Sans CJK SC"/>
                <a:cs typeface="Noto Sans CJK SC"/>
              </a:rPr>
              <a:t>模型与参数</a:t>
            </a:r>
            <a:endParaRPr sz="760" b="1" i="0">
              <a:solidFill>
                <a:srgbClr val="2F80ED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8" name="Rounded Rectangle 17"/>
          <p:cNvSpPr>
            <a:spLocks noGrp="1"/>
          </p:cNvSpPr>
          <p:nvPr/>
        </p:nvSpPr>
        <p:spPr>
          <a:xfrm>
            <a:off x="932688" y="2907792"/>
            <a:ext cx="1499616" cy="365760"/>
          </a:xfrm>
          <a:prstGeom prst="roundRect">
            <a:avLst/>
          </a:prstGeom>
          <a:solidFill>
            <a:srgbClr val="EAF2FF"/>
          </a:solidFill>
          <a:ln w="10160"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9" name="TextBox 18"/>
          <p:cNvSpPr>
            <a:spLocks noGrp="1"/>
          </p:cNvSpPr>
          <p:nvPr/>
        </p:nvSpPr>
        <p:spPr>
          <a:xfrm>
            <a:off x="932688" y="2990088"/>
            <a:ext cx="1499616" cy="19202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</a:pPr>
            <a:r>
              <a:rPr sz="760" b="1" i="0">
                <a:solidFill>
                  <a:srgbClr val="1B5FC4"/>
                </a:solidFill>
                <a:latin typeface="Noto Sans CJK SC"/>
                <a:ea typeface="Noto Sans CJK SC"/>
                <a:cs typeface="Noto Sans CJK SC"/>
              </a:rPr>
              <a:t>Prompt / Context</a:t>
            </a:r>
            <a:endParaRPr sz="760" b="1" i="0">
              <a:solidFill>
                <a:srgbClr val="2F80ED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0" name="Rounded Rectangle 19"/>
          <p:cNvSpPr>
            <a:spLocks noGrp="1"/>
          </p:cNvSpPr>
          <p:nvPr/>
        </p:nvSpPr>
        <p:spPr>
          <a:xfrm>
            <a:off x="932688" y="3438144"/>
            <a:ext cx="1499616" cy="365760"/>
          </a:xfrm>
          <a:prstGeom prst="roundRect">
            <a:avLst/>
          </a:prstGeom>
          <a:solidFill>
            <a:srgbClr val="EAF2FF"/>
          </a:solidFill>
          <a:ln w="10160"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1" name="TextBox 20"/>
          <p:cNvSpPr>
            <a:spLocks noGrp="1"/>
          </p:cNvSpPr>
          <p:nvPr/>
        </p:nvSpPr>
        <p:spPr>
          <a:xfrm>
            <a:off x="932688" y="3520439"/>
            <a:ext cx="1499616" cy="19202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</a:pPr>
            <a:r>
              <a:rPr sz="760" b="1" i="0">
                <a:solidFill>
                  <a:srgbClr val="1B5FC4"/>
                </a:solidFill>
                <a:latin typeface="Noto Sans CJK SC"/>
                <a:ea typeface="Noto Sans CJK SC"/>
                <a:cs typeface="Noto Sans CJK SC"/>
              </a:rPr>
              <a:t>知识与检索</a:t>
            </a:r>
            <a:endParaRPr sz="760" b="1" i="0">
              <a:solidFill>
                <a:srgbClr val="2F80ED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2" name="Rounded Rectangle 21"/>
          <p:cNvSpPr>
            <a:spLocks noGrp="1"/>
          </p:cNvSpPr>
          <p:nvPr/>
        </p:nvSpPr>
        <p:spPr>
          <a:xfrm>
            <a:off x="932688" y="3968496"/>
            <a:ext cx="1499616" cy="365760"/>
          </a:xfrm>
          <a:prstGeom prst="roundRect">
            <a:avLst/>
          </a:prstGeom>
          <a:solidFill>
            <a:srgbClr val="EAF2FF"/>
          </a:solidFill>
          <a:ln w="10160"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3" name="TextBox 22"/>
          <p:cNvSpPr>
            <a:spLocks noGrp="1"/>
          </p:cNvSpPr>
          <p:nvPr/>
        </p:nvSpPr>
        <p:spPr>
          <a:xfrm>
            <a:off x="932688" y="4050791"/>
            <a:ext cx="1499616" cy="19202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</a:pPr>
            <a:r>
              <a:rPr sz="760" b="1" i="0">
                <a:solidFill>
                  <a:srgbClr val="1B5FC4"/>
                </a:solidFill>
                <a:latin typeface="Noto Sans CJK SC"/>
                <a:ea typeface="Noto Sans CJK SC"/>
                <a:cs typeface="Noto Sans CJK SC"/>
              </a:rPr>
              <a:t>Skill / Workflow</a:t>
            </a:r>
            <a:endParaRPr sz="760" b="1" i="0">
              <a:solidFill>
                <a:srgbClr val="2F80ED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4" name="Rounded Rectangle 23"/>
          <p:cNvSpPr>
            <a:spLocks noGrp="1"/>
          </p:cNvSpPr>
          <p:nvPr/>
        </p:nvSpPr>
        <p:spPr>
          <a:xfrm>
            <a:off x="932688" y="4498848"/>
            <a:ext cx="1499616" cy="365760"/>
          </a:xfrm>
          <a:prstGeom prst="roundRect">
            <a:avLst/>
          </a:prstGeom>
          <a:solidFill>
            <a:srgbClr val="EAF2FF"/>
          </a:solidFill>
          <a:ln w="10160"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5" name="TextBox 24"/>
          <p:cNvSpPr>
            <a:spLocks noGrp="1"/>
          </p:cNvSpPr>
          <p:nvPr/>
        </p:nvSpPr>
        <p:spPr>
          <a:xfrm>
            <a:off x="932688" y="4581144"/>
            <a:ext cx="1499616" cy="19202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</a:pPr>
            <a:r>
              <a:rPr sz="760" b="1" i="0">
                <a:solidFill>
                  <a:srgbClr val="1B5FC4"/>
                </a:solidFill>
                <a:latin typeface="Noto Sans CJK SC"/>
                <a:ea typeface="Noto Sans CJK SC"/>
                <a:cs typeface="Noto Sans CJK SC"/>
              </a:rPr>
              <a:t>工具与业务规则</a:t>
            </a:r>
            <a:endParaRPr sz="760" b="1" i="0">
              <a:solidFill>
                <a:srgbClr val="2F80ED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6" name="Right Arrow 25"/>
          <p:cNvSpPr>
            <a:spLocks noGrp="1"/>
          </p:cNvSpPr>
          <p:nvPr/>
        </p:nvSpPr>
        <p:spPr>
          <a:xfrm>
            <a:off x="2834640" y="3410712"/>
            <a:ext cx="365760" cy="530352"/>
          </a:xfrm>
          <a:prstGeom prst="rightArrow">
            <a:avLst/>
          </a:prstGeom>
          <a:solidFill>
            <a:srgbClr val="6B6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7" name="Rounded Rectangle 26"/>
          <p:cNvSpPr>
            <a:spLocks noGrp="1"/>
          </p:cNvSpPr>
          <p:nvPr/>
        </p:nvSpPr>
        <p:spPr>
          <a:xfrm>
            <a:off x="3342132" y="1723644"/>
            <a:ext cx="5961888" cy="4443984"/>
          </a:xfrm>
          <a:prstGeom prst="roundRect">
            <a:avLst/>
          </a:prstGeom>
          <a:solidFill>
            <a:srgbClr val="E3E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8" name="Rounded Rectangle 27"/>
          <p:cNvSpPr>
            <a:spLocks noGrp="1"/>
          </p:cNvSpPr>
          <p:nvPr/>
        </p:nvSpPr>
        <p:spPr>
          <a:xfrm>
            <a:off x="3310128" y="1682496"/>
            <a:ext cx="5961888" cy="44439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B6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0" name="TextBox 29"/>
          <p:cNvSpPr>
            <a:spLocks noGrp="1"/>
          </p:cNvSpPr>
          <p:nvPr/>
        </p:nvSpPr>
        <p:spPr>
          <a:xfrm>
            <a:off x="3584448" y="1883664"/>
            <a:ext cx="120700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300" b="1" i="0">
                <a:solidFill>
                  <a:srgbClr val="14383E"/>
                </a:solidFill>
                <a:latin typeface="Noto Sans CJK SC"/>
                <a:ea typeface="Noto Sans CJK SC"/>
                <a:cs typeface="Noto Sans CJK SC"/>
              </a:rPr>
              <a:t>固定发布路径</a:t>
            </a:r>
            <a:endParaRPr sz="1300" b="1" i="0">
              <a:solidFill>
                <a:srgbClr val="14383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1" name="Rounded Rectangle 30"/>
          <p:cNvSpPr>
            <a:spLocks noGrp="1"/>
          </p:cNvSpPr>
          <p:nvPr/>
        </p:nvSpPr>
        <p:spPr>
          <a:xfrm>
            <a:off x="3602736" y="2414016"/>
            <a:ext cx="932688" cy="1243584"/>
          </a:xfrm>
          <a:prstGeom prst="roundRect">
            <a:avLst/>
          </a:prstGeom>
          <a:solidFill>
            <a:srgbClr val="EAF2FF"/>
          </a:solidFill>
          <a:ln w="10160"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2" name="Oval 31"/>
          <p:cNvSpPr>
            <a:spLocks noGrp="1"/>
          </p:cNvSpPr>
          <p:nvPr/>
        </p:nvSpPr>
        <p:spPr>
          <a:xfrm>
            <a:off x="3913632" y="2587752"/>
            <a:ext cx="292608" cy="292608"/>
          </a:xfrm>
          <a:prstGeom prst="ellipse">
            <a:avLst/>
          </a:prstGeom>
          <a:solidFill>
            <a:srgbClr val="1F63C4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3" name="TextBox 32"/>
          <p:cNvSpPr>
            <a:spLocks noGrp="1"/>
          </p:cNvSpPr>
          <p:nvPr/>
        </p:nvSpPr>
        <p:spPr>
          <a:xfrm>
            <a:off x="3913632" y="2592324"/>
            <a:ext cx="292608" cy="2834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740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1</a:t>
            </a:r>
            <a:endParaRPr sz="740" b="1" i="0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4" name="TextBox 33"/>
          <p:cNvSpPr>
            <a:spLocks noGrp="1"/>
          </p:cNvSpPr>
          <p:nvPr/>
        </p:nvSpPr>
        <p:spPr>
          <a:xfrm>
            <a:off x="3648456" y="2962656"/>
            <a:ext cx="841248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790" b="1" i="0">
                <a:solidFill>
                  <a:srgbClr val="1B5FC4"/>
                </a:solidFill>
                <a:latin typeface="Noto Sans CJK SC"/>
                <a:ea typeface="Noto Sans CJK SC"/>
                <a:cs typeface="Noto Sans CJK SC"/>
              </a:rPr>
              <a:t>冻结样本</a:t>
            </a:r>
            <a:endParaRPr sz="790" b="1" i="0">
              <a:solidFill>
                <a:srgbClr val="2F80ED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5" name="TextBox 34"/>
          <p:cNvSpPr>
            <a:spLocks noGrp="1"/>
          </p:cNvSpPr>
          <p:nvPr/>
        </p:nvSpPr>
        <p:spPr>
          <a:xfrm>
            <a:off x="3657600" y="3246120"/>
            <a:ext cx="822960" cy="30175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</a:pPr>
            <a:r>
              <a:rPr sz="600" b="0" i="0">
                <a:solidFill>
                  <a:srgbClr val="44585C"/>
                </a:solidFill>
                <a:latin typeface="Noto Sans CJK SC"/>
                <a:ea typeface="Noto Sans CJK SC"/>
                <a:cs typeface="Noto Sans CJK SC"/>
              </a:rPr>
              <a:t>线上 Badcase 与边界票</a:t>
            </a:r>
            <a:endParaRPr sz="600" b="0" i="0">
              <a:solidFill>
                <a:srgbClr val="6B8185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6" name="Right Arrow 35"/>
          <p:cNvSpPr>
            <a:spLocks noGrp="1"/>
          </p:cNvSpPr>
          <p:nvPr/>
        </p:nvSpPr>
        <p:spPr>
          <a:xfrm>
            <a:off x="4553712" y="2871216"/>
            <a:ext cx="91440" cy="219456"/>
          </a:xfrm>
          <a:prstGeom prst="rightArrow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7" name="Rounded Rectangle 36"/>
          <p:cNvSpPr>
            <a:spLocks noGrp="1"/>
          </p:cNvSpPr>
          <p:nvPr/>
        </p:nvSpPr>
        <p:spPr>
          <a:xfrm>
            <a:off x="4681728" y="2414016"/>
            <a:ext cx="932688" cy="1243584"/>
          </a:xfrm>
          <a:prstGeom prst="roundRect">
            <a:avLst/>
          </a:prstGeom>
          <a:solidFill>
            <a:srgbClr val="E6F7F6"/>
          </a:solidFill>
          <a:ln w="10160">
            <a:solidFill>
              <a:srgbClr val="00A7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8" name="Oval 37"/>
          <p:cNvSpPr>
            <a:spLocks noGrp="1"/>
          </p:cNvSpPr>
          <p:nvPr/>
        </p:nvSpPr>
        <p:spPr>
          <a:xfrm>
            <a:off x="4992624" y="2587752"/>
            <a:ext cx="292608" cy="292608"/>
          </a:xfrm>
          <a:prstGeom prst="ellipse">
            <a:avLst/>
          </a:prstGeom>
          <a:solidFill>
            <a:srgbClr val="007574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9" name="TextBox 38"/>
          <p:cNvSpPr>
            <a:spLocks noGrp="1"/>
          </p:cNvSpPr>
          <p:nvPr/>
        </p:nvSpPr>
        <p:spPr>
          <a:xfrm>
            <a:off x="4992624" y="2592324"/>
            <a:ext cx="292608" cy="2834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740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2</a:t>
            </a:r>
            <a:endParaRPr sz="740" b="1" i="0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0" name="TextBox 39"/>
          <p:cNvSpPr>
            <a:spLocks noGrp="1"/>
          </p:cNvSpPr>
          <p:nvPr/>
        </p:nvSpPr>
        <p:spPr>
          <a:xfrm>
            <a:off x="4727448" y="2962656"/>
            <a:ext cx="841248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790" b="1" i="0">
                <a:solidFill>
                  <a:srgbClr val="00706F"/>
                </a:solidFill>
                <a:latin typeface="Noto Sans CJK SC"/>
                <a:ea typeface="Noto Sans CJK SC"/>
                <a:cs typeface="Noto Sans CJK SC"/>
              </a:rPr>
              <a:t>离线评测</a:t>
            </a:r>
            <a:endParaRPr sz="790" b="1" i="0">
              <a:solidFill>
                <a:srgbClr val="00A7A7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1" name="TextBox 40"/>
          <p:cNvSpPr>
            <a:spLocks noGrp="1"/>
          </p:cNvSpPr>
          <p:nvPr/>
        </p:nvSpPr>
        <p:spPr>
          <a:xfrm>
            <a:off x="4736592" y="3246120"/>
            <a:ext cx="822960" cy="30175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</a:pPr>
            <a:r>
              <a:rPr sz="600" b="0" i="0">
                <a:solidFill>
                  <a:srgbClr val="44585C"/>
                </a:solidFill>
                <a:latin typeface="Noto Sans CJK SC"/>
                <a:ea typeface="Noto Sans CJK SC"/>
                <a:cs typeface="Noto Sans CJK SC"/>
              </a:rPr>
              <a:t>路由、字段、计划、工具与约束</a:t>
            </a:r>
            <a:endParaRPr sz="600" b="0" i="0">
              <a:solidFill>
                <a:srgbClr val="6B8185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2" name="Right Arrow 41"/>
          <p:cNvSpPr>
            <a:spLocks noGrp="1"/>
          </p:cNvSpPr>
          <p:nvPr/>
        </p:nvSpPr>
        <p:spPr>
          <a:xfrm>
            <a:off x="5632704" y="2871216"/>
            <a:ext cx="91440" cy="219456"/>
          </a:xfrm>
          <a:prstGeom prst="rightArrow">
            <a:avLst/>
          </a:prstGeom>
          <a:solidFill>
            <a:srgbClr val="00A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43" name="Rounded Rectangle 42"/>
          <p:cNvSpPr>
            <a:spLocks noGrp="1"/>
          </p:cNvSpPr>
          <p:nvPr/>
        </p:nvSpPr>
        <p:spPr>
          <a:xfrm>
            <a:off x="5760720" y="2414016"/>
            <a:ext cx="932688" cy="1243584"/>
          </a:xfrm>
          <a:prstGeom prst="roundRect">
            <a:avLst/>
          </a:prstGeom>
          <a:solidFill>
            <a:srgbClr val="FFF0E4"/>
          </a:solidFill>
          <a:ln w="10160">
            <a:solidFill>
              <a:srgbClr val="F28B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44" name="Oval 43"/>
          <p:cNvSpPr>
            <a:spLocks noGrp="1"/>
          </p:cNvSpPr>
          <p:nvPr/>
        </p:nvSpPr>
        <p:spPr>
          <a:xfrm>
            <a:off x="6071616" y="2587752"/>
            <a:ext cx="292608" cy="292608"/>
          </a:xfrm>
          <a:prstGeom prst="ellipse">
            <a:avLst/>
          </a:prstGeom>
          <a:solidFill>
            <a:srgbClr val="BC6414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45" name="TextBox 44"/>
          <p:cNvSpPr>
            <a:spLocks noGrp="1"/>
          </p:cNvSpPr>
          <p:nvPr/>
        </p:nvSpPr>
        <p:spPr>
          <a:xfrm>
            <a:off x="6071616" y="2592324"/>
            <a:ext cx="292608" cy="2834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740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3</a:t>
            </a:r>
            <a:endParaRPr sz="740" b="1" i="0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6" name="TextBox 45"/>
          <p:cNvSpPr>
            <a:spLocks noGrp="1"/>
          </p:cNvSpPr>
          <p:nvPr/>
        </p:nvSpPr>
        <p:spPr>
          <a:xfrm>
            <a:off x="5806440" y="2962656"/>
            <a:ext cx="841248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790" b="1" i="0">
                <a:solidFill>
                  <a:srgbClr val="9A5210"/>
                </a:solidFill>
                <a:latin typeface="Noto Sans CJK SC"/>
                <a:ea typeface="Noto Sans CJK SC"/>
                <a:cs typeface="Noto Sans CJK SC"/>
              </a:rPr>
              <a:t>业务核对</a:t>
            </a:r>
            <a:endParaRPr sz="790" b="1" i="0">
              <a:solidFill>
                <a:srgbClr val="F28B36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7" name="TextBox 46"/>
          <p:cNvSpPr>
            <a:spLocks noGrp="1"/>
          </p:cNvSpPr>
          <p:nvPr/>
        </p:nvSpPr>
        <p:spPr>
          <a:xfrm>
            <a:off x="5815583" y="3246120"/>
            <a:ext cx="822960" cy="30175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</a:pPr>
            <a:r>
              <a:rPr sz="600" b="0" i="0">
                <a:solidFill>
                  <a:srgbClr val="44585C"/>
                </a:solidFill>
                <a:latin typeface="Noto Sans CJK SC"/>
                <a:ea typeface="Noto Sans CJK SC"/>
                <a:cs typeface="Noto Sans CJK SC"/>
              </a:rPr>
              <a:t>政策、风险与客户体验</a:t>
            </a:r>
            <a:endParaRPr sz="600" b="0" i="0">
              <a:solidFill>
                <a:srgbClr val="6B8185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8" name="Right Arrow 47"/>
          <p:cNvSpPr>
            <a:spLocks noGrp="1"/>
          </p:cNvSpPr>
          <p:nvPr/>
        </p:nvSpPr>
        <p:spPr>
          <a:xfrm>
            <a:off x="6711696" y="2871216"/>
            <a:ext cx="91440" cy="219456"/>
          </a:xfrm>
          <a:prstGeom prst="rightArrow">
            <a:avLst/>
          </a:prstGeom>
          <a:solidFill>
            <a:srgbClr val="F28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49" name="Rounded Rectangle 48"/>
          <p:cNvSpPr>
            <a:spLocks noGrp="1"/>
          </p:cNvSpPr>
          <p:nvPr/>
        </p:nvSpPr>
        <p:spPr>
          <a:xfrm>
            <a:off x="6839712" y="2414016"/>
            <a:ext cx="932688" cy="1243584"/>
          </a:xfrm>
          <a:prstGeom prst="roundRect">
            <a:avLst/>
          </a:prstGeom>
          <a:solidFill>
            <a:srgbClr val="EFEEFF"/>
          </a:solidFill>
          <a:ln w="10160">
            <a:solidFill>
              <a:srgbClr val="6B6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50" name="Oval 49"/>
          <p:cNvSpPr>
            <a:spLocks noGrp="1"/>
          </p:cNvSpPr>
          <p:nvPr/>
        </p:nvSpPr>
        <p:spPr>
          <a:xfrm>
            <a:off x="7150608" y="2587752"/>
            <a:ext cx="292608" cy="292608"/>
          </a:xfrm>
          <a:prstGeom prst="ellipse">
            <a:avLst/>
          </a:prstGeom>
          <a:solidFill>
            <a:srgbClr val="5356BE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51" name="TextBox 50"/>
          <p:cNvSpPr>
            <a:spLocks noGrp="1"/>
          </p:cNvSpPr>
          <p:nvPr/>
        </p:nvSpPr>
        <p:spPr>
          <a:xfrm>
            <a:off x="7150608" y="2592324"/>
            <a:ext cx="292608" cy="2834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740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4</a:t>
            </a:r>
            <a:endParaRPr sz="740" b="1" i="0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2" name="TextBox 51"/>
          <p:cNvSpPr>
            <a:spLocks noGrp="1"/>
          </p:cNvSpPr>
          <p:nvPr/>
        </p:nvSpPr>
        <p:spPr>
          <a:xfrm>
            <a:off x="6885432" y="2962656"/>
            <a:ext cx="841248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790" b="1" i="0">
                <a:solidFill>
                  <a:srgbClr val="4A4EB0"/>
                </a:solidFill>
                <a:latin typeface="Noto Sans CJK SC"/>
                <a:ea typeface="Noto Sans CJK SC"/>
                <a:cs typeface="Noto Sans CJK SC"/>
              </a:rPr>
              <a:t>灰度发布</a:t>
            </a:r>
            <a:endParaRPr sz="790" b="1" i="0">
              <a:solidFill>
                <a:srgbClr val="6B6FD8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3" name="TextBox 52"/>
          <p:cNvSpPr>
            <a:spLocks noGrp="1"/>
          </p:cNvSpPr>
          <p:nvPr/>
        </p:nvSpPr>
        <p:spPr>
          <a:xfrm>
            <a:off x="6894576" y="3246120"/>
            <a:ext cx="822960" cy="30175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</a:pPr>
            <a:r>
              <a:rPr sz="600" b="0" i="0">
                <a:solidFill>
                  <a:srgbClr val="44585C"/>
                </a:solidFill>
                <a:latin typeface="Noto Sans CJK SC"/>
                <a:ea typeface="Noto Sans CJK SC"/>
                <a:cs typeface="Noto Sans CJK SC"/>
              </a:rPr>
              <a:t>按场景小范围运行</a:t>
            </a:r>
            <a:endParaRPr sz="600" b="0" i="0">
              <a:solidFill>
                <a:srgbClr val="6B8185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4" name="Right Arrow 53"/>
          <p:cNvSpPr>
            <a:spLocks noGrp="1"/>
          </p:cNvSpPr>
          <p:nvPr/>
        </p:nvSpPr>
        <p:spPr>
          <a:xfrm>
            <a:off x="7790688" y="2871216"/>
            <a:ext cx="91440" cy="219456"/>
          </a:xfrm>
          <a:prstGeom prst="rightArrow">
            <a:avLst/>
          </a:prstGeom>
          <a:solidFill>
            <a:srgbClr val="6B6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55" name="Rounded Rectangle 54"/>
          <p:cNvSpPr>
            <a:spLocks noGrp="1"/>
          </p:cNvSpPr>
          <p:nvPr/>
        </p:nvSpPr>
        <p:spPr>
          <a:xfrm>
            <a:off x="7918704" y="2414016"/>
            <a:ext cx="932688" cy="1243584"/>
          </a:xfrm>
          <a:prstGeom prst="roundRect">
            <a:avLst/>
          </a:prstGeom>
          <a:solidFill>
            <a:srgbClr val="E8F6F0"/>
          </a:solidFill>
          <a:ln w="10160">
            <a:solidFill>
              <a:srgbClr val="0A8F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56" name="Oval 55"/>
          <p:cNvSpPr>
            <a:spLocks noGrp="1"/>
          </p:cNvSpPr>
          <p:nvPr/>
        </p:nvSpPr>
        <p:spPr>
          <a:xfrm>
            <a:off x="8229600" y="2587752"/>
            <a:ext cx="292608" cy="292608"/>
          </a:xfrm>
          <a:prstGeom prst="ellipse">
            <a:avLst/>
          </a:prstGeom>
          <a:solidFill>
            <a:srgbClr val="07714F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57" name="TextBox 56"/>
          <p:cNvSpPr>
            <a:spLocks noGrp="1"/>
          </p:cNvSpPr>
          <p:nvPr/>
        </p:nvSpPr>
        <p:spPr>
          <a:xfrm>
            <a:off x="8229600" y="2592324"/>
            <a:ext cx="292608" cy="2834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740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5</a:t>
            </a:r>
            <a:endParaRPr sz="740" b="1" i="0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8" name="TextBox 57"/>
          <p:cNvSpPr>
            <a:spLocks noGrp="1"/>
          </p:cNvSpPr>
          <p:nvPr/>
        </p:nvSpPr>
        <p:spPr>
          <a:xfrm>
            <a:off x="7964424" y="2962656"/>
            <a:ext cx="841248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790" b="1" i="0">
                <a:solidFill>
                  <a:srgbClr val="076B50"/>
                </a:solidFill>
                <a:latin typeface="Noto Sans CJK SC"/>
                <a:ea typeface="Noto Sans CJK SC"/>
                <a:cs typeface="Noto Sans CJK SC"/>
              </a:rPr>
              <a:t>线上观察</a:t>
            </a:r>
            <a:endParaRPr sz="790" b="1" i="0">
              <a:solidFill>
                <a:srgbClr val="0A8F6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9" name="TextBox 58"/>
          <p:cNvSpPr>
            <a:spLocks noGrp="1"/>
          </p:cNvSpPr>
          <p:nvPr/>
        </p:nvSpPr>
        <p:spPr>
          <a:xfrm>
            <a:off x="7973568" y="3246120"/>
            <a:ext cx="822960" cy="30175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</a:pPr>
            <a:r>
              <a:rPr sz="600" b="0" i="0">
                <a:solidFill>
                  <a:srgbClr val="44585C"/>
                </a:solidFill>
                <a:latin typeface="Noto Sans CJK SC"/>
                <a:ea typeface="Noto Sans CJK SC"/>
                <a:cs typeface="Noto Sans CJK SC"/>
              </a:rPr>
              <a:t>质量、成本与异常趋势</a:t>
            </a:r>
            <a:endParaRPr sz="600" b="0" i="0">
              <a:solidFill>
                <a:srgbClr val="6B8185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0" name="Rounded Rectangle 59"/>
          <p:cNvSpPr>
            <a:spLocks noGrp="1"/>
          </p:cNvSpPr>
          <p:nvPr/>
        </p:nvSpPr>
        <p:spPr>
          <a:xfrm>
            <a:off x="3602736" y="4005072"/>
            <a:ext cx="2496312" cy="411480"/>
          </a:xfrm>
          <a:prstGeom prst="roundRect">
            <a:avLst/>
          </a:prstGeom>
          <a:solidFill>
            <a:srgbClr val="E8F6F0"/>
          </a:solidFill>
          <a:ln w="10160">
            <a:solidFill>
              <a:srgbClr val="0A8F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61" name="TextBox 60"/>
          <p:cNvSpPr>
            <a:spLocks noGrp="1"/>
          </p:cNvSpPr>
          <p:nvPr/>
        </p:nvSpPr>
        <p:spPr>
          <a:xfrm>
            <a:off x="3602736" y="4114800"/>
            <a:ext cx="2496312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760" b="1" i="0">
                <a:solidFill>
                  <a:srgbClr val="076B50"/>
                </a:solidFill>
                <a:latin typeface="Noto Sans CJK SC"/>
                <a:ea typeface="Noto Sans CJK SC"/>
                <a:cs typeface="Noto Sans CJK SC"/>
              </a:rPr>
              <a:t>达到基线 → 确认发布</a:t>
            </a:r>
            <a:endParaRPr sz="760" b="1" i="0">
              <a:solidFill>
                <a:srgbClr val="0A8F6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2" name="Rounded Rectangle 61"/>
          <p:cNvSpPr>
            <a:spLocks noGrp="1"/>
          </p:cNvSpPr>
          <p:nvPr/>
        </p:nvSpPr>
        <p:spPr>
          <a:xfrm>
            <a:off x="6272784" y="4005072"/>
            <a:ext cx="2706624" cy="411480"/>
          </a:xfrm>
          <a:prstGeom prst="roundRect">
            <a:avLst/>
          </a:prstGeom>
          <a:solidFill>
            <a:srgbClr val="FDECE9"/>
          </a:solidFill>
          <a:ln w="10160">
            <a:solidFill>
              <a:srgbClr val="E257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63" name="TextBox 62"/>
          <p:cNvSpPr>
            <a:spLocks noGrp="1"/>
          </p:cNvSpPr>
          <p:nvPr/>
        </p:nvSpPr>
        <p:spPr>
          <a:xfrm>
            <a:off x="6272784" y="4114800"/>
            <a:ext cx="2706624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740" b="1" i="0">
                <a:solidFill>
                  <a:srgbClr val="B8362C"/>
                </a:solidFill>
                <a:latin typeface="Noto Sans CJK SC"/>
                <a:ea typeface="Noto Sans CJK SC"/>
                <a:cs typeface="Noto Sans CJK SC"/>
              </a:rPr>
              <a:t>低于基线 / 异常 → 回滚并归因</a:t>
            </a:r>
            <a:endParaRPr sz="740" b="1" i="0">
              <a:solidFill>
                <a:srgbClr val="E2574C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4" name="Rounded Rectangle 63"/>
          <p:cNvSpPr>
            <a:spLocks noGrp="1"/>
          </p:cNvSpPr>
          <p:nvPr/>
        </p:nvSpPr>
        <p:spPr>
          <a:xfrm>
            <a:off x="3602736" y="4663440"/>
            <a:ext cx="2596896" cy="1024128"/>
          </a:xfrm>
          <a:prstGeom prst="roundRect">
            <a:avLst/>
          </a:prstGeom>
          <a:solidFill>
            <a:srgbClr val="E6F7F6"/>
          </a:solidFill>
          <a:ln w="10160">
            <a:solidFill>
              <a:srgbClr val="00A7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65" name="TextBox 64"/>
          <p:cNvSpPr>
            <a:spLocks noGrp="1"/>
          </p:cNvSpPr>
          <p:nvPr/>
        </p:nvSpPr>
        <p:spPr>
          <a:xfrm>
            <a:off x="3794760" y="4800600"/>
            <a:ext cx="2103120" cy="2011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880" b="1" i="0">
                <a:solidFill>
                  <a:srgbClr val="00706F"/>
                </a:solidFill>
                <a:latin typeface="Noto Sans CJK SC"/>
                <a:ea typeface="Noto Sans CJK SC"/>
                <a:cs typeface="Noto Sans CJK SC"/>
              </a:rPr>
              <a:t>离线质量指标(已落地)</a:t>
            </a:r>
            <a:endParaRPr sz="880" b="1" i="0">
              <a:solidFill>
                <a:srgbClr val="00A7A7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6" name="TextBox 65"/>
          <p:cNvSpPr>
            <a:spLocks noGrp="1"/>
          </p:cNvSpPr>
          <p:nvPr/>
        </p:nvSpPr>
        <p:spPr>
          <a:xfrm>
            <a:off x="3794760" y="5093208"/>
            <a:ext cx="2157984" cy="420624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buNone/>
            </a:pPr>
            <a:r>
              <a:rPr sz="670" b="0" i="0">
                <a:solidFill>
                  <a:srgbClr val="14383E"/>
                </a:solidFill>
                <a:latin typeface="Noto Sans CJK SC"/>
                <a:ea typeface="Noto Sans CJK SC"/>
                <a:cs typeface="Noto Sans CJK SC"/>
              </a:rPr>
              <a:t>路由 skillPath 精确匹配率
字段抽取 · 多意图集合相等
冻结上下文回归 + Prompt CI 门禁</a:t>
            </a:r>
            <a:endParaRPr sz="670" b="0" i="0">
              <a:solidFill>
                <a:srgbClr val="14383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7" name="Rounded Rectangle 66"/>
          <p:cNvSpPr>
            <a:spLocks noGrp="1"/>
          </p:cNvSpPr>
          <p:nvPr/>
        </p:nvSpPr>
        <p:spPr>
          <a:xfrm>
            <a:off x="6382512" y="4663440"/>
            <a:ext cx="2596896" cy="1024128"/>
          </a:xfrm>
          <a:prstGeom prst="roundRect">
            <a:avLst/>
          </a:prstGeom>
          <a:solidFill>
            <a:srgbClr val="EFEEFF"/>
          </a:solidFill>
          <a:ln w="10160">
            <a:solidFill>
              <a:srgbClr val="6B6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68" name="TextBox 67"/>
          <p:cNvSpPr>
            <a:spLocks noGrp="1"/>
          </p:cNvSpPr>
          <p:nvPr/>
        </p:nvSpPr>
        <p:spPr>
          <a:xfrm>
            <a:off x="6574536" y="4800600"/>
            <a:ext cx="2103120" cy="2011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880" b="1" i="0">
                <a:solidFill>
                  <a:srgbClr val="4A4EB0"/>
                </a:solidFill>
                <a:latin typeface="Noto Sans CJK SC"/>
                <a:ea typeface="Noto Sans CJK SC"/>
                <a:cs typeface="Noto Sans CJK SC"/>
              </a:rPr>
              <a:t>线上运营指标(审计记录口径)</a:t>
            </a:r>
            <a:endParaRPr sz="880" b="1" i="0">
              <a:solidFill>
                <a:srgbClr val="6B6FD8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9" name="TextBox 68"/>
          <p:cNvSpPr>
            <a:spLocks noGrp="1"/>
          </p:cNvSpPr>
          <p:nvPr/>
        </p:nvSpPr>
        <p:spPr>
          <a:xfrm>
            <a:off x="6574536" y="5093208"/>
            <a:ext cx="2157984" cy="420624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buNone/>
            </a:pPr>
            <a:r>
              <a:rPr sz="670" b="0" i="0">
                <a:solidFill>
                  <a:srgbClr val="14383E"/>
                </a:solidFill>
                <a:latin typeface="Noto Sans CJK SC"/>
                <a:ea typeface="Noto Sans CJK SC"/>
                <a:cs typeface="Noto Sans CJK SC"/>
              </a:rPr>
              <a:t>有效覆盖率 · 人工审核通过率
实际发送率 · 业务闭环率
转人工、重问与投诉</a:t>
            </a:r>
            <a:endParaRPr sz="670" b="0" i="0">
              <a:solidFill>
                <a:srgbClr val="14383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0" name="Rounded Rectangle 69"/>
          <p:cNvSpPr>
            <a:spLocks noGrp="1"/>
          </p:cNvSpPr>
          <p:nvPr/>
        </p:nvSpPr>
        <p:spPr>
          <a:xfrm>
            <a:off x="9560052" y="1723644"/>
            <a:ext cx="1975104" cy="4443984"/>
          </a:xfrm>
          <a:prstGeom prst="roundRect">
            <a:avLst/>
          </a:prstGeom>
          <a:solidFill>
            <a:srgbClr val="E3E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71" name="Rounded Rectangle 70"/>
          <p:cNvSpPr>
            <a:spLocks noGrp="1"/>
          </p:cNvSpPr>
          <p:nvPr/>
        </p:nvSpPr>
        <p:spPr>
          <a:xfrm>
            <a:off x="9528048" y="1682496"/>
            <a:ext cx="1975104" cy="44439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8B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73" name="TextBox 72"/>
          <p:cNvSpPr>
            <a:spLocks noGrp="1"/>
          </p:cNvSpPr>
          <p:nvPr/>
        </p:nvSpPr>
        <p:spPr>
          <a:xfrm>
            <a:off x="9802368" y="1883664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300" b="1" i="0">
                <a:solidFill>
                  <a:srgbClr val="14383E"/>
                </a:solidFill>
                <a:latin typeface="Noto Sans CJK SC"/>
                <a:ea typeface="Noto Sans CJK SC"/>
                <a:cs typeface="Noto Sans CJK SC"/>
              </a:rPr>
              <a:t>口径原则</a:t>
            </a:r>
            <a:endParaRPr sz="1300" b="1" i="0">
              <a:solidFill>
                <a:srgbClr val="14383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4" name="Rounded Rectangle 73"/>
          <p:cNvSpPr>
            <a:spLocks noGrp="1"/>
          </p:cNvSpPr>
          <p:nvPr/>
        </p:nvSpPr>
        <p:spPr>
          <a:xfrm>
            <a:off x="9802368" y="2414016"/>
            <a:ext cx="1426464" cy="329184"/>
          </a:xfrm>
          <a:prstGeom prst="roundRect">
            <a:avLst/>
          </a:prstGeom>
          <a:solidFill>
            <a:srgbClr val="FFF0E4"/>
          </a:solidFill>
          <a:ln w="8890">
            <a:solidFill>
              <a:srgbClr val="F28B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75" name="TextBox 74"/>
          <p:cNvSpPr>
            <a:spLocks noGrp="1"/>
          </p:cNvSpPr>
          <p:nvPr/>
        </p:nvSpPr>
        <p:spPr>
          <a:xfrm>
            <a:off x="9802368" y="2487168"/>
            <a:ext cx="1426464" cy="1737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740" b="1" i="0">
                <a:solidFill>
                  <a:srgbClr val="9A5210"/>
                </a:solidFill>
                <a:latin typeface="Noto Sans CJK SC"/>
                <a:ea typeface="Noto Sans CJK SC"/>
                <a:cs typeface="Noto Sans CJK SC"/>
              </a:rPr>
              <a:t>指标名称</a:t>
            </a:r>
            <a:endParaRPr sz="740" b="1" i="0">
              <a:solidFill>
                <a:srgbClr val="F28B36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6" name="Rounded Rectangle 75"/>
          <p:cNvSpPr>
            <a:spLocks noGrp="1"/>
          </p:cNvSpPr>
          <p:nvPr/>
        </p:nvSpPr>
        <p:spPr>
          <a:xfrm>
            <a:off x="9802368" y="2898648"/>
            <a:ext cx="1426464" cy="329184"/>
          </a:xfrm>
          <a:prstGeom prst="roundRect">
            <a:avLst/>
          </a:prstGeom>
          <a:solidFill>
            <a:srgbClr val="FFF0E4"/>
          </a:solidFill>
          <a:ln w="8890">
            <a:solidFill>
              <a:srgbClr val="F28B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77" name="TextBox 76"/>
          <p:cNvSpPr>
            <a:spLocks noGrp="1"/>
          </p:cNvSpPr>
          <p:nvPr/>
        </p:nvSpPr>
        <p:spPr>
          <a:xfrm>
            <a:off x="9802368" y="2971800"/>
            <a:ext cx="1426464" cy="1737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740" b="1" i="0">
                <a:solidFill>
                  <a:srgbClr val="9A5210"/>
                </a:solidFill>
                <a:latin typeface="Noto Sans CJK SC"/>
                <a:ea typeface="Noto Sans CJK SC"/>
                <a:cs typeface="Noto Sans CJK SC"/>
              </a:rPr>
              <a:t>公式与分母</a:t>
            </a:r>
            <a:endParaRPr sz="740" b="1" i="0">
              <a:solidFill>
                <a:srgbClr val="F28B36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8" name="Rounded Rectangle 77"/>
          <p:cNvSpPr>
            <a:spLocks noGrp="1"/>
          </p:cNvSpPr>
          <p:nvPr/>
        </p:nvSpPr>
        <p:spPr>
          <a:xfrm>
            <a:off x="9802368" y="3383280"/>
            <a:ext cx="1426464" cy="329184"/>
          </a:xfrm>
          <a:prstGeom prst="roundRect">
            <a:avLst/>
          </a:prstGeom>
          <a:solidFill>
            <a:srgbClr val="FFF0E4"/>
          </a:solidFill>
          <a:ln w="8890">
            <a:solidFill>
              <a:srgbClr val="F28B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79" name="TextBox 78"/>
          <p:cNvSpPr>
            <a:spLocks noGrp="1"/>
          </p:cNvSpPr>
          <p:nvPr/>
        </p:nvSpPr>
        <p:spPr>
          <a:xfrm>
            <a:off x="9802368" y="3456432"/>
            <a:ext cx="1426464" cy="1737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740" b="1" i="0">
                <a:solidFill>
                  <a:srgbClr val="9A5210"/>
                </a:solidFill>
                <a:latin typeface="Noto Sans CJK SC"/>
                <a:ea typeface="Noto Sans CJK SC"/>
                <a:cs typeface="Noto Sans CJK SC"/>
              </a:rPr>
              <a:t>数据来源</a:t>
            </a:r>
            <a:endParaRPr sz="740" b="1" i="0">
              <a:solidFill>
                <a:srgbClr val="F28B36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80" name="Rounded Rectangle 79"/>
          <p:cNvSpPr>
            <a:spLocks noGrp="1"/>
          </p:cNvSpPr>
          <p:nvPr/>
        </p:nvSpPr>
        <p:spPr>
          <a:xfrm>
            <a:off x="9802368" y="3867912"/>
            <a:ext cx="1426464" cy="329184"/>
          </a:xfrm>
          <a:prstGeom prst="roundRect">
            <a:avLst/>
          </a:prstGeom>
          <a:solidFill>
            <a:srgbClr val="FFF0E4"/>
          </a:solidFill>
          <a:ln w="8890">
            <a:solidFill>
              <a:srgbClr val="F28B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81" name="TextBox 80"/>
          <p:cNvSpPr>
            <a:spLocks noGrp="1"/>
          </p:cNvSpPr>
          <p:nvPr/>
        </p:nvSpPr>
        <p:spPr>
          <a:xfrm>
            <a:off x="9802368" y="3941064"/>
            <a:ext cx="1426464" cy="1737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740" b="1" i="0">
                <a:solidFill>
                  <a:srgbClr val="9A5210"/>
                </a:solidFill>
                <a:latin typeface="Noto Sans CJK SC"/>
                <a:ea typeface="Noto Sans CJK SC"/>
                <a:cs typeface="Noto Sans CJK SC"/>
              </a:rPr>
              <a:t>时间窗口</a:t>
            </a:r>
            <a:endParaRPr sz="740" b="1" i="0">
              <a:solidFill>
                <a:srgbClr val="F28B36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82" name="Rounded Rectangle 81"/>
          <p:cNvSpPr>
            <a:spLocks noGrp="1"/>
          </p:cNvSpPr>
          <p:nvPr/>
        </p:nvSpPr>
        <p:spPr>
          <a:xfrm>
            <a:off x="9802368" y="4352544"/>
            <a:ext cx="1426464" cy="329184"/>
          </a:xfrm>
          <a:prstGeom prst="roundRect">
            <a:avLst/>
          </a:prstGeom>
          <a:solidFill>
            <a:srgbClr val="FFF0E4"/>
          </a:solidFill>
          <a:ln w="8890">
            <a:solidFill>
              <a:srgbClr val="F28B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83" name="TextBox 82"/>
          <p:cNvSpPr>
            <a:spLocks noGrp="1"/>
          </p:cNvSpPr>
          <p:nvPr/>
        </p:nvSpPr>
        <p:spPr>
          <a:xfrm>
            <a:off x="9802368" y="4425696"/>
            <a:ext cx="1426464" cy="1737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740" b="1" i="0">
                <a:solidFill>
                  <a:srgbClr val="9A5210"/>
                </a:solidFill>
                <a:latin typeface="Noto Sans CJK SC"/>
                <a:ea typeface="Noto Sans CJK SC"/>
                <a:cs typeface="Noto Sans CJK SC"/>
              </a:rPr>
              <a:t>决策用途</a:t>
            </a:r>
            <a:endParaRPr sz="740" b="1" i="0">
              <a:solidFill>
                <a:srgbClr val="F28B36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84" name="Rounded Rectangle 83"/>
          <p:cNvSpPr>
            <a:spLocks noGrp="1"/>
          </p:cNvSpPr>
          <p:nvPr/>
        </p:nvSpPr>
        <p:spPr>
          <a:xfrm>
            <a:off x="9802368" y="5038344"/>
            <a:ext cx="1426464" cy="630936"/>
          </a:xfrm>
          <a:prstGeom prst="roundRect">
            <a:avLst/>
          </a:prstGeom>
          <a:solidFill>
            <a:srgbClr val="FDECE9"/>
          </a:solidFill>
          <a:ln w="10160">
            <a:solidFill>
              <a:srgbClr val="E257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85" name="TextBox 84"/>
          <p:cNvSpPr>
            <a:spLocks noGrp="1"/>
          </p:cNvSpPr>
          <p:nvPr/>
        </p:nvSpPr>
        <p:spPr>
          <a:xfrm>
            <a:off x="9912096" y="5157216"/>
            <a:ext cx="1207008" cy="38404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</a:pPr>
            <a:r>
              <a:rPr sz="660" b="1" i="0">
                <a:solidFill>
                  <a:srgbClr val="B8362C"/>
                </a:solidFill>
                <a:latin typeface="Noto Sans CJK SC"/>
                <a:ea typeface="Noto Sans CJK SC"/>
                <a:cs typeface="Noto Sans CJK SC"/>
              </a:rPr>
              <a:t>审核通过率、发送率
属于线上运营结果，
不作为模型准确率。</a:t>
            </a:r>
            <a:endParaRPr sz="660" b="1" i="0">
              <a:solidFill>
                <a:srgbClr val="E2574C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86" name="Rectangle 85"/>
          <p:cNvSpPr>
            <a:spLocks noGrp="1"/>
          </p:cNvSpPr>
          <p:nvPr/>
        </p:nvSpPr>
        <p:spPr>
          <a:xfrm>
            <a:off x="0" y="0"/>
            <a:ext cx="41148" cy="6858000"/>
          </a:xfrm>
          <a:prstGeom prst="rect">
            <a:avLst/>
          </a:prstGeom>
          <a:solidFill>
            <a:srgbClr val="0A8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87" name="圆角矩形 86"/>
          <p:cNvSpPr>
            <a:spLocks noGrp="1"/>
          </p:cNvSpPr>
          <p:nvPr/>
        </p:nvSpPr>
        <p:spPr>
          <a:xfrm>
            <a:off x="6565583" y="127635"/>
            <a:ext cx="4937760" cy="365760"/>
          </a:xfrm>
          <a:prstGeom prst="roundRect">
            <a:avLst>
              <a:gd name="adj" fmla="val 20833"/>
            </a:avLst>
          </a:prstGeom>
          <a:solidFill>
            <a:srgbClr val="F7FBF9"/>
          </a:solidFill>
          <a:ln w="12668">
            <a:solidFill>
              <a:srgbClr val="F7FBF9"/>
            </a:solidFill>
            <a:prstDash val="solid"/>
          </a:ln>
        </p:spPr>
        <p:txBody>
          <a:bodyPr/>
          <a:p/>
        </p:txBody>
      </p:sp>
      <p:sp>
        <p:nvSpPr>
          <p:cNvPr id="88" name="圆角矩形 87"/>
          <p:cNvSpPr>
            <a:spLocks noGrp="1"/>
          </p:cNvSpPr>
          <p:nvPr/>
        </p:nvSpPr>
        <p:spPr>
          <a:xfrm>
            <a:off x="6657023" y="164783"/>
            <a:ext cx="1154430" cy="264795"/>
          </a:xfrm>
          <a:prstGeom prst="roundRect">
            <a:avLst>
              <a:gd name="adj" fmla="val 28777"/>
            </a:avLst>
          </a:prstGeom>
          <a:solidFill>
            <a:srgbClr val="007574"/>
          </a:solidFill>
          <a:ln w="12668">
            <a:solidFill>
              <a:srgbClr val="007574"/>
            </a:solidFill>
            <a:prstDash val="solid"/>
          </a:ln>
        </p:spPr>
        <p:txBody>
          <a:bodyPr/>
          <a:p/>
        </p:txBody>
      </p:sp>
      <p:sp>
        <p:nvSpPr>
          <p:cNvPr id="89" name="矩形 88"/>
          <p:cNvSpPr>
            <a:spLocks noGrp="1"/>
          </p:cNvSpPr>
          <p:nvPr/>
        </p:nvSpPr>
        <p:spPr>
          <a:xfrm>
            <a:off x="6657023" y="187643"/>
            <a:ext cx="1154430" cy="182880"/>
          </a:xfrm>
          <a:prstGeom prst="rect">
            <a:avLst/>
          </a:prstGeom>
        </p:spPr>
        <p:txBody>
          <a:bodyPr anchor="ctr"/>
          <a:lstStyle/>
          <a:p>
            <a:pPr algn="ctr">
              <a:defRPr sz="660" b="1">
                <a:solidFill>
                  <a:srgbClr val="FFFFFF"/>
                </a:solidFill>
              </a:defRPr>
            </a:pPr>
            <a:r>
              <a:t>理解</a:t>
            </a:r>
          </a:p>
        </p:txBody>
      </p:sp>
      <p:sp>
        <p:nvSpPr>
          <p:cNvPr id="90" name="圆角矩形 89"/>
          <p:cNvSpPr>
            <a:spLocks noGrp="1"/>
          </p:cNvSpPr>
          <p:nvPr/>
        </p:nvSpPr>
        <p:spPr>
          <a:xfrm>
            <a:off x="7857173" y="164783"/>
            <a:ext cx="1154430" cy="264795"/>
          </a:xfrm>
          <a:prstGeom prst="roundRect">
            <a:avLst>
              <a:gd name="adj" fmla="val 28777"/>
            </a:avLst>
          </a:prstGeom>
          <a:solidFill>
            <a:srgbClr val="FFFFFF"/>
          </a:solidFill>
          <a:ln w="12668">
            <a:solidFill>
              <a:srgbClr val="C9DCD7"/>
            </a:solidFill>
            <a:prstDash val="solid"/>
          </a:ln>
        </p:spPr>
        <p:txBody>
          <a:bodyPr/>
          <a:p/>
        </p:txBody>
      </p:sp>
      <p:sp>
        <p:nvSpPr>
          <p:cNvPr id="91" name="矩形 90"/>
          <p:cNvSpPr>
            <a:spLocks noGrp="1"/>
          </p:cNvSpPr>
          <p:nvPr/>
        </p:nvSpPr>
        <p:spPr>
          <a:xfrm>
            <a:off x="7857173" y="187643"/>
            <a:ext cx="1154430" cy="182880"/>
          </a:xfrm>
          <a:prstGeom prst="rect">
            <a:avLst/>
          </a:prstGeom>
        </p:spPr>
        <p:txBody>
          <a:bodyPr anchor="ctr"/>
          <a:lstStyle/>
          <a:p>
            <a:pPr algn="ctr">
              <a:defRPr sz="650" b="0">
                <a:solidFill>
                  <a:srgbClr val="44585C"/>
                </a:solidFill>
              </a:defRPr>
            </a:pPr>
            <a:r>
              <a:t>查询</a:t>
            </a:r>
          </a:p>
        </p:txBody>
      </p:sp>
      <p:sp>
        <p:nvSpPr>
          <p:cNvPr id="92" name="圆角矩形 91"/>
          <p:cNvSpPr>
            <a:spLocks noGrp="1"/>
          </p:cNvSpPr>
          <p:nvPr/>
        </p:nvSpPr>
        <p:spPr>
          <a:xfrm>
            <a:off x="9057323" y="164783"/>
            <a:ext cx="1154430" cy="264795"/>
          </a:xfrm>
          <a:prstGeom prst="roundRect">
            <a:avLst>
              <a:gd name="adj" fmla="val 28777"/>
            </a:avLst>
          </a:prstGeom>
          <a:solidFill>
            <a:srgbClr val="007574"/>
          </a:solidFill>
          <a:ln w="12668">
            <a:solidFill>
              <a:srgbClr val="007574"/>
            </a:solidFill>
            <a:prstDash val="solid"/>
          </a:ln>
        </p:spPr>
        <p:txBody>
          <a:bodyPr/>
          <a:p/>
        </p:txBody>
      </p:sp>
      <p:sp>
        <p:nvSpPr>
          <p:cNvPr id="93" name="矩形 92"/>
          <p:cNvSpPr>
            <a:spLocks noGrp="1"/>
          </p:cNvSpPr>
          <p:nvPr/>
        </p:nvSpPr>
        <p:spPr>
          <a:xfrm>
            <a:off x="9057323" y="187643"/>
            <a:ext cx="1154430" cy="182880"/>
          </a:xfrm>
          <a:prstGeom prst="rect">
            <a:avLst/>
          </a:prstGeom>
        </p:spPr>
        <p:txBody>
          <a:bodyPr anchor="ctr"/>
          <a:lstStyle/>
          <a:p>
            <a:pPr algn="ctr">
              <a:defRPr sz="660" b="1">
                <a:solidFill>
                  <a:srgbClr val="FFFFFF"/>
                </a:solidFill>
              </a:defRPr>
            </a:pPr>
            <a:r>
              <a:t>决策</a:t>
            </a:r>
          </a:p>
        </p:txBody>
      </p:sp>
      <p:sp>
        <p:nvSpPr>
          <p:cNvPr id="94" name="圆角矩形 93"/>
          <p:cNvSpPr>
            <a:spLocks noGrp="1"/>
          </p:cNvSpPr>
          <p:nvPr/>
        </p:nvSpPr>
        <p:spPr>
          <a:xfrm>
            <a:off x="10257473" y="164783"/>
            <a:ext cx="1154430" cy="264795"/>
          </a:xfrm>
          <a:prstGeom prst="roundRect">
            <a:avLst>
              <a:gd name="adj" fmla="val 28777"/>
            </a:avLst>
          </a:prstGeom>
          <a:solidFill>
            <a:srgbClr val="FFFFFF"/>
          </a:solidFill>
          <a:ln w="12668">
            <a:solidFill>
              <a:srgbClr val="C9DCD7"/>
            </a:solidFill>
            <a:prstDash val="solid"/>
          </a:ln>
        </p:spPr>
        <p:txBody>
          <a:bodyPr/>
          <a:p/>
        </p:txBody>
      </p:sp>
      <p:sp>
        <p:nvSpPr>
          <p:cNvPr id="95" name="矩形 94"/>
          <p:cNvSpPr>
            <a:spLocks noGrp="1"/>
          </p:cNvSpPr>
          <p:nvPr/>
        </p:nvSpPr>
        <p:spPr>
          <a:xfrm>
            <a:off x="10257473" y="187643"/>
            <a:ext cx="1154430" cy="182880"/>
          </a:xfrm>
          <a:prstGeom prst="rect">
            <a:avLst/>
          </a:prstGeom>
        </p:spPr>
        <p:txBody>
          <a:bodyPr anchor="ctr"/>
          <a:lstStyle/>
          <a:p>
            <a:pPr algn="ctr">
              <a:defRPr sz="650" b="0">
                <a:solidFill>
                  <a:srgbClr val="44585C"/>
                </a:solidFill>
              </a:defRPr>
            </a:pPr>
            <a:r>
              <a:t>执行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hape 0"/>
          <p:cNvSpPr>
            <a:spLocks noGrp="1"/>
          </p:cNvSpPr>
          <p:nvPr/>
        </p:nvSpPr>
        <p:spPr>
          <a:xfrm>
            <a:off x="0" y="0"/>
            <a:ext cx="41148" cy="6858000"/>
          </a:xfrm>
          <a:prstGeom prst="rect">
            <a:avLst/>
          </a:prstGeom>
          <a:solidFill>
            <a:srgbClr val="0A8F6A"/>
          </a:solidFill>
          <a:ln w="12700">
            <a:solidFill>
              <a:srgbClr val="0D5E50"/>
            </a:solidFill>
            <a:prstDash val="solid"/>
          </a:ln>
        </p:spPr>
        <p:txBody>
          <a:bodyPr/>
          <a:lstStyle/>
          <a:p/>
        </p:txBody>
      </p:sp>
      <p:sp>
        <p:nvSpPr>
          <p:cNvPr id="3" name="Shape 1"/>
          <p:cNvSpPr>
            <a:spLocks noGrp="1"/>
          </p:cNvSpPr>
          <p:nvPr/>
        </p:nvSpPr>
        <p:spPr>
          <a:xfrm>
            <a:off x="658368" y="429768"/>
            <a:ext cx="237744" cy="0"/>
          </a:xfrm>
          <a:prstGeom prst="line">
            <a:avLst/>
          </a:prstGeom>
          <a:noFill/>
          <a:ln w="15875">
            <a:solidFill>
              <a:srgbClr val="0A8F6A"/>
            </a:solidFill>
            <a:prstDash val="solid"/>
          </a:ln>
        </p:spPr>
        <p:txBody>
          <a:bodyPr/>
          <a:lstStyle/>
          <a:p/>
        </p:txBody>
      </p:sp>
      <p:sp>
        <p:nvSpPr>
          <p:cNvPr id="4" name="Text 2"/>
          <p:cNvSpPr>
            <a:spLocks noGrp="1"/>
          </p:cNvSpPr>
          <p:nvPr/>
        </p:nvSpPr>
        <p:spPr>
          <a:xfrm>
            <a:off x="941832" y="292608"/>
            <a:ext cx="3474720" cy="2286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r>
              <a:rPr sz="1050" b="1">
                <a:solidFill>
                  <a:srgbClr val="076B50"/>
                </a:solidFill>
                <a:latin typeface="Noto Sans CJK SC"/>
                <a:ea typeface="Noto Sans CJK SC"/>
                <a:cs typeface="Noto Sans CJK SC"/>
              </a:rPr>
              <a:t>CHAPTER 7 · 证据、评测与价值</a:t>
            </a:r>
            <a:endParaRPr sz="1050" b="1">
              <a:solidFill>
                <a:srgbClr val="6B6FD8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" name="Text 3"/>
          <p:cNvSpPr>
            <a:spLocks noGrp="1"/>
          </p:cNvSpPr>
          <p:nvPr/>
        </p:nvSpPr>
        <p:spPr>
          <a:xfrm>
            <a:off x="640080" y="667512"/>
            <a:ext cx="10698480" cy="43891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buNone/>
            </a:pPr>
            <a:r>
              <a:rPr sz="2550" b="1">
                <a:solidFill>
                  <a:srgbClr val="163B36"/>
                </a:solidFill>
                <a:latin typeface="Noto Sans CJK SC"/>
                <a:ea typeface="Noto Sans CJK SC"/>
                <a:cs typeface="Noto Sans CJK SC"/>
              </a:rPr>
              <a:t>成熟度演进：按场景逐步开放处理权</a:t>
            </a:r>
            <a:endParaRPr sz="2550"/>
          </a:p>
        </p:txBody>
      </p:sp>
      <p:sp>
        <p:nvSpPr>
          <p:cNvPr id="6" name="Text 4"/>
          <p:cNvSpPr>
            <a:spLocks noGrp="1"/>
          </p:cNvSpPr>
          <p:nvPr/>
        </p:nvSpPr>
        <p:spPr>
          <a:xfrm>
            <a:off x="640080" y="1115568"/>
            <a:ext cx="10424160" cy="30175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r>
              <a:rPr sz="1170">
                <a:solidFill>
                  <a:srgbClr val="44585C"/>
                </a:solidFill>
                <a:latin typeface="Noto Sans CJK SC"/>
                <a:ea typeface="Noto Sans CJK SC"/>
                <a:cs typeface="Noto Sans CJK SC"/>
              </a:rPr>
              <a:t>投诉协商可以长期留在人工，状态查询可以先进入更高自动化级别；依据来自评测和运行证据。</a:t>
            </a:r>
            <a:endParaRPr sz="1170">
              <a:solidFill>
                <a:srgbClr val="6B8185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" name="Shape 5"/>
          <p:cNvSpPr>
            <a:spLocks noGrp="1"/>
          </p:cNvSpPr>
          <p:nvPr/>
        </p:nvSpPr>
        <p:spPr>
          <a:xfrm>
            <a:off x="10533888" y="54864"/>
            <a:ext cx="1298448" cy="713232"/>
          </a:xfrm>
          <a:prstGeom prst="ellipse">
            <a:avLst/>
          </a:prstGeom>
          <a:solidFill>
            <a:srgbClr val="0D5E50">
              <a:alpha val="8000"/>
            </a:srgbClr>
          </a:solidFill>
          <a:ln w="12700">
            <a:solidFill>
              <a:srgbClr val="0D5E50">
                <a:alpha val="0"/>
              </a:srgbClr>
            </a:solidFill>
            <a:prstDash val="solid"/>
          </a:ln>
        </p:spPr>
        <p:txBody>
          <a:bodyPr/>
          <a:lstStyle/>
          <a:p/>
        </p:txBody>
      </p:sp>
      <p:sp>
        <p:nvSpPr>
          <p:cNvPr id="8" name="Shape 6"/>
          <p:cNvSpPr>
            <a:spLocks noGrp="1"/>
          </p:cNvSpPr>
          <p:nvPr/>
        </p:nvSpPr>
        <p:spPr>
          <a:xfrm>
            <a:off x="9802368" y="283464"/>
            <a:ext cx="36576" cy="36576"/>
          </a:xfrm>
          <a:prstGeom prst="ellipse">
            <a:avLst/>
          </a:prstGeom>
          <a:solidFill>
            <a:srgbClr val="C6DCD5"/>
          </a:solidFill>
          <a:ln w="12700">
            <a:solidFill>
              <a:srgbClr val="C6DCD5"/>
            </a:solidFill>
            <a:prstDash val="solid"/>
          </a:ln>
        </p:spPr>
        <p:txBody>
          <a:bodyPr/>
          <a:lstStyle/>
          <a:p/>
        </p:txBody>
      </p:sp>
      <p:sp>
        <p:nvSpPr>
          <p:cNvPr id="9" name="Shape 7"/>
          <p:cNvSpPr>
            <a:spLocks noGrp="1"/>
          </p:cNvSpPr>
          <p:nvPr/>
        </p:nvSpPr>
        <p:spPr>
          <a:xfrm>
            <a:off x="9930384" y="283464"/>
            <a:ext cx="36576" cy="36576"/>
          </a:xfrm>
          <a:prstGeom prst="ellipse">
            <a:avLst/>
          </a:prstGeom>
          <a:solidFill>
            <a:srgbClr val="0D5E50"/>
          </a:solidFill>
          <a:ln w="12700">
            <a:solidFill>
              <a:srgbClr val="0D5E50"/>
            </a:solidFill>
            <a:prstDash val="solid"/>
          </a:ln>
        </p:spPr>
        <p:txBody>
          <a:bodyPr/>
          <a:lstStyle/>
          <a:p/>
        </p:txBody>
      </p:sp>
      <p:sp>
        <p:nvSpPr>
          <p:cNvPr id="10" name="Shape 8"/>
          <p:cNvSpPr>
            <a:spLocks noGrp="1"/>
          </p:cNvSpPr>
          <p:nvPr/>
        </p:nvSpPr>
        <p:spPr>
          <a:xfrm>
            <a:off x="10058400" y="283464"/>
            <a:ext cx="36576" cy="36576"/>
          </a:xfrm>
          <a:prstGeom prst="ellipse">
            <a:avLst/>
          </a:prstGeom>
          <a:solidFill>
            <a:srgbClr val="C6DCD5"/>
          </a:solidFill>
          <a:ln w="12700">
            <a:solidFill>
              <a:srgbClr val="C6DCD5"/>
            </a:solidFill>
            <a:prstDash val="solid"/>
          </a:ln>
        </p:spPr>
        <p:txBody>
          <a:bodyPr/>
          <a:lstStyle/>
          <a:p/>
        </p:txBody>
      </p:sp>
      <p:sp>
        <p:nvSpPr>
          <p:cNvPr id="11" name="Shape 9"/>
          <p:cNvSpPr>
            <a:spLocks noGrp="1"/>
          </p:cNvSpPr>
          <p:nvPr/>
        </p:nvSpPr>
        <p:spPr>
          <a:xfrm>
            <a:off x="10186416" y="283464"/>
            <a:ext cx="36576" cy="36576"/>
          </a:xfrm>
          <a:prstGeom prst="ellipse">
            <a:avLst/>
          </a:prstGeom>
          <a:solidFill>
            <a:srgbClr val="C6DCD5"/>
          </a:solidFill>
          <a:ln w="12700">
            <a:solidFill>
              <a:srgbClr val="C6DCD5"/>
            </a:solidFill>
            <a:prstDash val="solid"/>
          </a:ln>
        </p:spPr>
        <p:txBody>
          <a:bodyPr/>
          <a:lstStyle/>
          <a:p/>
        </p:txBody>
      </p:sp>
      <p:sp>
        <p:nvSpPr>
          <p:cNvPr id="12" name="Shape 10"/>
          <p:cNvSpPr>
            <a:spLocks noGrp="1"/>
          </p:cNvSpPr>
          <p:nvPr/>
        </p:nvSpPr>
        <p:spPr>
          <a:xfrm>
            <a:off x="10314432" y="283464"/>
            <a:ext cx="36576" cy="36576"/>
          </a:xfrm>
          <a:prstGeom prst="ellipse">
            <a:avLst/>
          </a:prstGeom>
          <a:solidFill>
            <a:srgbClr val="C6DCD5"/>
          </a:solidFill>
          <a:ln w="12700">
            <a:solidFill>
              <a:srgbClr val="C6DCD5"/>
            </a:solidFill>
            <a:prstDash val="solid"/>
          </a:ln>
        </p:spPr>
        <p:txBody>
          <a:bodyPr/>
          <a:lstStyle/>
          <a:p/>
        </p:txBody>
      </p:sp>
      <p:sp>
        <p:nvSpPr>
          <p:cNvPr id="13" name="Shape 11"/>
          <p:cNvSpPr>
            <a:spLocks noGrp="1"/>
          </p:cNvSpPr>
          <p:nvPr/>
        </p:nvSpPr>
        <p:spPr>
          <a:xfrm>
            <a:off x="10442448" y="283464"/>
            <a:ext cx="36576" cy="36576"/>
          </a:xfrm>
          <a:prstGeom prst="ellipse">
            <a:avLst/>
          </a:prstGeom>
          <a:solidFill>
            <a:srgbClr val="C6DCD5"/>
          </a:solidFill>
          <a:ln w="12700">
            <a:solidFill>
              <a:srgbClr val="C6DCD5"/>
            </a:solidFill>
            <a:prstDash val="solid"/>
          </a:ln>
        </p:spPr>
        <p:txBody>
          <a:bodyPr/>
          <a:lstStyle/>
          <a:p/>
        </p:txBody>
      </p:sp>
      <p:sp>
        <p:nvSpPr>
          <p:cNvPr id="14" name="Shape 12"/>
          <p:cNvSpPr>
            <a:spLocks noGrp="1"/>
          </p:cNvSpPr>
          <p:nvPr/>
        </p:nvSpPr>
        <p:spPr>
          <a:xfrm>
            <a:off x="640080" y="6528816"/>
            <a:ext cx="10927080" cy="0"/>
          </a:xfrm>
          <a:prstGeom prst="line">
            <a:avLst/>
          </a:prstGeom>
          <a:noFill/>
          <a:ln w="10160">
            <a:solidFill>
              <a:srgbClr val="D8E7E2"/>
            </a:solidFill>
            <a:prstDash val="solid"/>
          </a:ln>
        </p:spPr>
        <p:txBody>
          <a:bodyPr/>
          <a:lstStyle/>
          <a:p/>
        </p:txBody>
      </p:sp>
      <p:sp>
        <p:nvSpPr>
          <p:cNvPr id="15" name="Text 13"/>
          <p:cNvSpPr>
            <a:spLocks noGrp="1"/>
          </p:cNvSpPr>
          <p:nvPr/>
        </p:nvSpPr>
        <p:spPr>
          <a:xfrm>
            <a:off x="658368" y="6565392"/>
            <a:ext cx="3108960" cy="16459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buNone/>
            </a:pPr>
            <a:r>
              <a:rPr sz="750">
                <a:solidFill>
                  <a:srgbClr val="55696A"/>
                </a:solidFill>
                <a:latin typeface="Noto Sans CJK SC"/>
                <a:ea typeface="Noto Sans CJK SC"/>
                <a:cs typeface="Noto Sans CJK SC"/>
              </a:rPr>
              <a:t>CUSTOMER SERVICE AI AGENT</a:t>
            </a:r>
            <a:endParaRPr sz="750"/>
          </a:p>
        </p:txBody>
      </p:sp>
      <p:sp>
        <p:nvSpPr>
          <p:cNvPr id="16" name="Text 14"/>
          <p:cNvSpPr>
            <a:spLocks noGrp="1"/>
          </p:cNvSpPr>
          <p:nvPr/>
        </p:nvSpPr>
        <p:spPr>
          <a:xfrm>
            <a:off x="10881360" y="6537960"/>
            <a:ext cx="658368" cy="18288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</a:pPr>
            <a:r>
              <a:rPr sz="880" b="1">
                <a:solidFill>
                  <a:srgbClr val="076B50"/>
                </a:solidFill>
                <a:latin typeface="Noto Sans CJK SC"/>
                <a:ea typeface="Noto Sans CJK SC"/>
                <a:cs typeface="Noto Sans CJK SC"/>
              </a:rPr>
              <a:t>65</a:t>
            </a:r>
            <a:endParaRPr sz="880" b="1">
              <a:solidFill>
                <a:srgbClr val="6B6FD8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8" name="Shape 16"/>
          <p:cNvSpPr>
            <a:spLocks noGrp="1"/>
          </p:cNvSpPr>
          <p:nvPr/>
        </p:nvSpPr>
        <p:spPr>
          <a:xfrm>
            <a:off x="658368" y="4251960"/>
            <a:ext cx="2395728" cy="16093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1A19D"/>
            </a:solidFill>
            <a:prstDash val="solid"/>
          </a:ln>
          <a:effectLst>
            <a:outerShdw blurRad="2147483647" dist="2147483647" algn="bl" rotWithShape="0">
              <a:srgbClr val="74857F">
                <a:alpha val="0"/>
              </a:srgbClr>
            </a:outerShdw>
          </a:effectLst>
        </p:spPr>
        <p:txBody>
          <a:bodyPr/>
          <a:lstStyle/>
          <a:p/>
        </p:txBody>
      </p:sp>
      <p:sp>
        <p:nvSpPr>
          <p:cNvPr id="20" name="Shape 18"/>
          <p:cNvSpPr>
            <a:spLocks noGrp="1"/>
          </p:cNvSpPr>
          <p:nvPr/>
        </p:nvSpPr>
        <p:spPr>
          <a:xfrm>
            <a:off x="822960" y="4416552"/>
            <a:ext cx="457200" cy="457200"/>
          </a:xfrm>
          <a:prstGeom prst="ellipse">
            <a:avLst/>
          </a:prstGeom>
          <a:solidFill>
            <a:srgbClr val="91A19D"/>
          </a:solidFill>
          <a:ln w="6350">
            <a:solidFill>
              <a:srgbClr val="91A19D"/>
            </a:solidFill>
            <a:prstDash val="solid"/>
          </a:ln>
          <a:effectLst>
            <a:outerShdw blurRad="2147483647" dist="2147483647" algn="bl" rotWithShape="0">
              <a:srgbClr val="74857F">
                <a:alpha val="0"/>
              </a:srgbClr>
            </a:outerShdw>
          </a:effectLst>
        </p:spPr>
        <p:txBody>
          <a:bodyPr/>
          <a:lstStyle/>
          <a:p/>
        </p:txBody>
      </p:sp>
      <p:sp>
        <p:nvSpPr>
          <p:cNvPr id="21" name="Text 19"/>
          <p:cNvSpPr>
            <a:spLocks noGrp="1"/>
          </p:cNvSpPr>
          <p:nvPr/>
        </p:nvSpPr>
        <p:spPr>
          <a:xfrm>
            <a:off x="822960" y="4416552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92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L1</a:t>
            </a:r>
            <a:endParaRPr sz="920"/>
          </a:p>
        </p:txBody>
      </p:sp>
      <p:sp>
        <p:nvSpPr>
          <p:cNvPr id="22" name="Text 20"/>
          <p:cNvSpPr>
            <a:spLocks noGrp="1"/>
          </p:cNvSpPr>
          <p:nvPr/>
        </p:nvSpPr>
        <p:spPr>
          <a:xfrm>
            <a:off x="1408176" y="4398264"/>
            <a:ext cx="1389888" cy="27432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buNone/>
            </a:pPr>
            <a:r>
              <a:rPr sz="1340" b="1">
                <a:solidFill>
                  <a:srgbClr val="163B36"/>
                </a:solidFill>
                <a:latin typeface="Noto Sans CJK SC"/>
                <a:ea typeface="Noto Sans CJK SC"/>
                <a:cs typeface="Noto Sans CJK SC"/>
              </a:rPr>
              <a:t>人工增强</a:t>
            </a:r>
            <a:endParaRPr sz="1340"/>
          </a:p>
        </p:txBody>
      </p:sp>
      <p:sp>
        <p:nvSpPr>
          <p:cNvPr id="23" name="Text 21"/>
          <p:cNvSpPr>
            <a:spLocks noGrp="1"/>
          </p:cNvSpPr>
          <p:nvPr/>
        </p:nvSpPr>
        <p:spPr>
          <a:xfrm>
            <a:off x="841248" y="4882896"/>
            <a:ext cx="2029968" cy="420624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ctr">
              <a:buNone/>
            </a:pPr>
            <a:r>
              <a:rPr sz="940">
                <a:solidFill>
                  <a:srgbClr val="163B36"/>
                </a:solidFill>
                <a:latin typeface="Noto Sans CJK SC"/>
                <a:ea typeface="Noto Sans CJK SC"/>
                <a:cs typeface="Noto Sans CJK SC"/>
              </a:rPr>
              <a:t>AI 查 / 写建议</a:t>
            </a:r>
            <a:endParaRPr sz="940"/>
          </a:p>
          <a:p>
            <a:pPr marL="0" indent="0" algn="ctr">
              <a:buNone/>
            </a:pPr>
            <a:r>
              <a:rPr sz="940">
                <a:solidFill>
                  <a:srgbClr val="163B36"/>
                </a:solidFill>
                <a:latin typeface="Noto Sans CJK SC"/>
                <a:ea typeface="Noto Sans CJK SC"/>
                <a:cs typeface="Noto Sans CJK SC"/>
              </a:rPr>
              <a:t>人判断与执行</a:t>
            </a:r>
            <a:endParaRPr sz="940"/>
          </a:p>
        </p:txBody>
      </p:sp>
      <p:sp>
        <p:nvSpPr>
          <p:cNvPr id="24" name="Shape 22"/>
          <p:cNvSpPr>
            <a:spLocks noGrp="1"/>
          </p:cNvSpPr>
          <p:nvPr/>
        </p:nvSpPr>
        <p:spPr>
          <a:xfrm>
            <a:off x="822960" y="5358384"/>
            <a:ext cx="2066544" cy="347472"/>
          </a:xfrm>
          <a:prstGeom prst="roundRect">
            <a:avLst/>
          </a:prstGeom>
          <a:solidFill>
            <a:srgbClr val="EEF3F1"/>
          </a:solidFill>
          <a:ln w="8890">
            <a:solidFill>
              <a:srgbClr val="91A19D"/>
            </a:solidFill>
            <a:prstDash val="solid"/>
          </a:ln>
        </p:spPr>
        <p:txBody>
          <a:bodyPr/>
          <a:lstStyle/>
          <a:p/>
        </p:txBody>
      </p:sp>
      <p:sp>
        <p:nvSpPr>
          <p:cNvPr id="25" name="Text 23"/>
          <p:cNvSpPr>
            <a:spLocks noGrp="1"/>
          </p:cNvSpPr>
          <p:nvPr/>
        </p:nvSpPr>
        <p:spPr>
          <a:xfrm>
            <a:off x="896112" y="5367528"/>
            <a:ext cx="1920240" cy="3200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ctr">
              <a:buNone/>
            </a:pPr>
            <a:r>
              <a:rPr sz="810" b="1">
                <a:solidFill>
                  <a:srgbClr val="91A19D"/>
                </a:solidFill>
                <a:latin typeface="Noto Sans CJK SC"/>
                <a:ea typeface="Noto Sans CJK SC"/>
                <a:cs typeface="Noto Sans CJK SC"/>
              </a:rPr>
              <a:t>建立 Trace</a:t>
            </a:r>
            <a:endParaRPr sz="810"/>
          </a:p>
          <a:p>
            <a:pPr marL="0" indent="0" algn="ctr">
              <a:buNone/>
            </a:pPr>
            <a:r>
              <a:rPr sz="810" b="1">
                <a:solidFill>
                  <a:srgbClr val="91A19D"/>
                </a:solidFill>
                <a:latin typeface="Noto Sans CJK SC"/>
                <a:ea typeface="Noto Sans CJK SC"/>
                <a:cs typeface="Noto Sans CJK SC"/>
              </a:rPr>
              <a:t>沉淀真实样本</a:t>
            </a:r>
            <a:endParaRPr sz="810"/>
          </a:p>
        </p:txBody>
      </p:sp>
      <p:sp>
        <p:nvSpPr>
          <p:cNvPr id="26" name="Shape 24"/>
          <p:cNvSpPr>
            <a:spLocks noGrp="1"/>
          </p:cNvSpPr>
          <p:nvPr/>
        </p:nvSpPr>
        <p:spPr>
          <a:xfrm>
            <a:off x="3154680" y="4965192"/>
            <a:ext cx="329184" cy="329184"/>
          </a:xfrm>
          <a:prstGeom prst="ellipse">
            <a:avLst/>
          </a:prstGeom>
          <a:solidFill>
            <a:srgbClr val="E1EBE8"/>
          </a:solidFill>
          <a:ln w="6350">
            <a:solidFill>
              <a:srgbClr val="E1EBE8"/>
            </a:solidFill>
            <a:prstDash val="solid"/>
          </a:ln>
          <a:effectLst>
            <a:outerShdw blurRad="2147483647" dist="2147483647" algn="bl" rotWithShape="0">
              <a:srgbClr val="74857F">
                <a:alpha val="0"/>
              </a:srgbClr>
            </a:outerShdw>
          </a:effectLst>
        </p:spPr>
        <p:txBody>
          <a:bodyPr/>
          <a:lstStyle/>
          <a:p/>
        </p:txBody>
      </p:sp>
      <p:sp>
        <p:nvSpPr>
          <p:cNvPr id="27" name="Text 25"/>
          <p:cNvSpPr>
            <a:spLocks noGrp="1"/>
          </p:cNvSpPr>
          <p:nvPr/>
        </p:nvSpPr>
        <p:spPr>
          <a:xfrm>
            <a:off x="3154680" y="4965192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1200" b="1">
                <a:solidFill>
                  <a:srgbClr val="0D5E50"/>
                </a:solidFill>
                <a:latin typeface="Noto Sans CJK SC"/>
                <a:ea typeface="Noto Sans CJK SC"/>
                <a:cs typeface="Noto Sans CJK SC"/>
              </a:rPr>
              <a:t>›</a:t>
            </a:r>
            <a:endParaRPr sz="1200"/>
          </a:p>
        </p:txBody>
      </p:sp>
      <p:sp>
        <p:nvSpPr>
          <p:cNvPr id="28" name="Shape 26"/>
          <p:cNvSpPr>
            <a:spLocks noGrp="1"/>
          </p:cNvSpPr>
          <p:nvPr/>
        </p:nvSpPr>
        <p:spPr>
          <a:xfrm>
            <a:off x="3456432" y="3593592"/>
            <a:ext cx="2395728" cy="16093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F7DEB"/>
            </a:solidFill>
            <a:prstDash val="solid"/>
          </a:ln>
          <a:effectLst>
            <a:outerShdw blurRad="2147483647" dist="2147483647" algn="bl" rotWithShape="0">
              <a:srgbClr val="74857F">
                <a:alpha val="0"/>
              </a:srgbClr>
            </a:outerShdw>
          </a:effectLst>
        </p:spPr>
        <p:txBody>
          <a:bodyPr/>
          <a:lstStyle/>
          <a:p/>
        </p:txBody>
      </p:sp>
      <p:sp>
        <p:nvSpPr>
          <p:cNvPr id="30" name="Shape 28"/>
          <p:cNvSpPr>
            <a:spLocks noGrp="1"/>
          </p:cNvSpPr>
          <p:nvPr/>
        </p:nvSpPr>
        <p:spPr>
          <a:xfrm>
            <a:off x="3621024" y="3758184"/>
            <a:ext cx="457200" cy="457200"/>
          </a:xfrm>
          <a:prstGeom prst="ellipse">
            <a:avLst/>
          </a:prstGeom>
          <a:solidFill>
            <a:srgbClr val="1F63C4"/>
          </a:solidFill>
          <a:ln w="6350">
            <a:solidFill>
              <a:srgbClr val="1F63C4"/>
            </a:solidFill>
            <a:prstDash val="solid"/>
          </a:ln>
          <a:effectLst>
            <a:outerShdw blurRad="2147483647" dist="2147483647" algn="bl" rotWithShape="0">
              <a:srgbClr val="74857F">
                <a:alpha val="0"/>
              </a:srgbClr>
            </a:outerShdw>
          </a:effectLst>
        </p:spPr>
        <p:txBody>
          <a:bodyPr/>
          <a:lstStyle/>
          <a:p/>
        </p:txBody>
      </p:sp>
      <p:sp>
        <p:nvSpPr>
          <p:cNvPr id="31" name="Text 29"/>
          <p:cNvSpPr>
            <a:spLocks noGrp="1"/>
          </p:cNvSpPr>
          <p:nvPr/>
        </p:nvSpPr>
        <p:spPr>
          <a:xfrm>
            <a:off x="3621024" y="3758184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92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L2</a:t>
            </a:r>
            <a:endParaRPr sz="920"/>
          </a:p>
        </p:txBody>
      </p:sp>
      <p:sp>
        <p:nvSpPr>
          <p:cNvPr id="32" name="Text 30"/>
          <p:cNvSpPr>
            <a:spLocks noGrp="1"/>
          </p:cNvSpPr>
          <p:nvPr/>
        </p:nvSpPr>
        <p:spPr>
          <a:xfrm>
            <a:off x="4206240" y="3739896"/>
            <a:ext cx="1389888" cy="27432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buNone/>
            </a:pPr>
            <a:r>
              <a:rPr sz="1340" b="1">
                <a:solidFill>
                  <a:srgbClr val="163B36"/>
                </a:solidFill>
                <a:latin typeface="Noto Sans CJK SC"/>
                <a:ea typeface="Noto Sans CJK SC"/>
                <a:cs typeface="Noto Sans CJK SC"/>
              </a:rPr>
              <a:t>判断权先行</a:t>
            </a:r>
            <a:endParaRPr sz="1340"/>
          </a:p>
        </p:txBody>
      </p:sp>
      <p:sp>
        <p:nvSpPr>
          <p:cNvPr id="33" name="Text 31"/>
          <p:cNvSpPr>
            <a:spLocks noGrp="1"/>
          </p:cNvSpPr>
          <p:nvPr/>
        </p:nvSpPr>
        <p:spPr>
          <a:xfrm>
            <a:off x="3639312" y="4224528"/>
            <a:ext cx="2029968" cy="420624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ctr">
              <a:buNone/>
            </a:pPr>
            <a:r>
              <a:rPr sz="940">
                <a:solidFill>
                  <a:srgbClr val="163B36"/>
                </a:solidFill>
                <a:latin typeface="Noto Sans CJK SC"/>
                <a:ea typeface="Noto Sans CJK SC"/>
                <a:cs typeface="Noto Sans CJK SC"/>
              </a:rPr>
              <a:t>AI 判断</a:t>
            </a:r>
            <a:endParaRPr sz="940"/>
          </a:p>
          <a:p>
            <a:pPr marL="0" indent="0" algn="ctr">
              <a:buNone/>
            </a:pPr>
            <a:r>
              <a:rPr sz="940">
                <a:solidFill>
                  <a:srgbClr val="163B36"/>
                </a:solidFill>
                <a:latin typeface="Noto Sans CJK SC"/>
                <a:ea typeface="Noto Sans CJK SC"/>
                <a:cs typeface="Noto Sans CJK SC"/>
              </a:rPr>
              <a:t>人工确认后执行</a:t>
            </a:r>
            <a:endParaRPr sz="940"/>
          </a:p>
        </p:txBody>
      </p:sp>
      <p:sp>
        <p:nvSpPr>
          <p:cNvPr id="34" name="Shape 32"/>
          <p:cNvSpPr>
            <a:spLocks noGrp="1"/>
          </p:cNvSpPr>
          <p:nvPr/>
        </p:nvSpPr>
        <p:spPr>
          <a:xfrm>
            <a:off x="3621024" y="4700016"/>
            <a:ext cx="2066544" cy="347472"/>
          </a:xfrm>
          <a:prstGeom prst="roundRect">
            <a:avLst/>
          </a:prstGeom>
          <a:solidFill>
            <a:srgbClr val="EAF2FF"/>
          </a:solidFill>
          <a:ln w="8890">
            <a:solidFill>
              <a:srgbClr val="2F7DEB"/>
            </a:solidFill>
            <a:prstDash val="solid"/>
          </a:ln>
        </p:spPr>
        <p:txBody>
          <a:bodyPr/>
          <a:lstStyle/>
          <a:p/>
        </p:txBody>
      </p:sp>
      <p:sp>
        <p:nvSpPr>
          <p:cNvPr id="35" name="Text 33"/>
          <p:cNvSpPr>
            <a:spLocks noGrp="1"/>
          </p:cNvSpPr>
          <p:nvPr/>
        </p:nvSpPr>
        <p:spPr>
          <a:xfrm>
            <a:off x="3694176" y="4709160"/>
            <a:ext cx="1920240" cy="3200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ctr">
              <a:buNone/>
            </a:pPr>
            <a:r>
              <a:rPr sz="810" b="1">
                <a:solidFill>
                  <a:srgbClr val="1B5FC4"/>
                </a:solidFill>
                <a:latin typeface="Noto Sans CJK SC"/>
                <a:ea typeface="Noto Sans CJK SC"/>
                <a:cs typeface="Noto Sans CJK SC"/>
              </a:rPr>
              <a:t>路由与规则稳定</a:t>
            </a:r>
            <a:endParaRPr sz="810"/>
          </a:p>
          <a:p>
            <a:pPr marL="0" indent="0" algn="ctr">
              <a:buNone/>
            </a:pPr>
            <a:r>
              <a:rPr sz="810" b="1">
                <a:solidFill>
                  <a:srgbClr val="1B5FC4"/>
                </a:solidFill>
                <a:latin typeface="Noto Sans CJK SC"/>
                <a:ea typeface="Noto Sans CJK SC"/>
                <a:cs typeface="Noto Sans CJK SC"/>
              </a:rPr>
              <a:t>人工审核可解释</a:t>
            </a:r>
            <a:endParaRPr sz="810"/>
          </a:p>
        </p:txBody>
      </p:sp>
      <p:sp>
        <p:nvSpPr>
          <p:cNvPr id="36" name="Shape 34"/>
          <p:cNvSpPr>
            <a:spLocks noGrp="1"/>
          </p:cNvSpPr>
          <p:nvPr/>
        </p:nvSpPr>
        <p:spPr>
          <a:xfrm>
            <a:off x="5952744" y="4306824"/>
            <a:ext cx="329184" cy="329184"/>
          </a:xfrm>
          <a:prstGeom prst="ellipse">
            <a:avLst/>
          </a:prstGeom>
          <a:solidFill>
            <a:srgbClr val="E1EBE8"/>
          </a:solidFill>
          <a:ln w="6350">
            <a:solidFill>
              <a:srgbClr val="E1EBE8"/>
            </a:solidFill>
            <a:prstDash val="solid"/>
          </a:ln>
          <a:effectLst>
            <a:outerShdw blurRad="2147483647" dist="2147483647" algn="bl" rotWithShape="0">
              <a:srgbClr val="74857F">
                <a:alpha val="0"/>
              </a:srgbClr>
            </a:outerShdw>
          </a:effectLst>
        </p:spPr>
        <p:txBody>
          <a:bodyPr/>
          <a:lstStyle/>
          <a:p/>
        </p:txBody>
      </p:sp>
      <p:sp>
        <p:nvSpPr>
          <p:cNvPr id="37" name="Text 35"/>
          <p:cNvSpPr>
            <a:spLocks noGrp="1"/>
          </p:cNvSpPr>
          <p:nvPr/>
        </p:nvSpPr>
        <p:spPr>
          <a:xfrm>
            <a:off x="5952744" y="4306824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1200" b="1">
                <a:solidFill>
                  <a:srgbClr val="0D5E50"/>
                </a:solidFill>
                <a:latin typeface="Noto Sans CJK SC"/>
                <a:ea typeface="Noto Sans CJK SC"/>
                <a:cs typeface="Noto Sans CJK SC"/>
              </a:rPr>
              <a:t>›</a:t>
            </a:r>
            <a:endParaRPr sz="1200"/>
          </a:p>
        </p:txBody>
      </p:sp>
      <p:sp>
        <p:nvSpPr>
          <p:cNvPr id="38" name="Shape 36"/>
          <p:cNvSpPr>
            <a:spLocks noGrp="1"/>
          </p:cNvSpPr>
          <p:nvPr/>
        </p:nvSpPr>
        <p:spPr>
          <a:xfrm>
            <a:off x="6254496" y="2935224"/>
            <a:ext cx="2395728" cy="16093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7966F"/>
            </a:solidFill>
            <a:prstDash val="solid"/>
          </a:ln>
          <a:effectLst>
            <a:outerShdw blurRad="2147483647" dist="2147483647" algn="bl" rotWithShape="0">
              <a:srgbClr val="74857F">
                <a:alpha val="0"/>
              </a:srgbClr>
            </a:outerShdw>
          </a:effectLst>
        </p:spPr>
        <p:txBody>
          <a:bodyPr/>
          <a:lstStyle/>
          <a:p/>
        </p:txBody>
      </p:sp>
      <p:sp>
        <p:nvSpPr>
          <p:cNvPr id="40" name="Shape 38"/>
          <p:cNvSpPr>
            <a:spLocks noGrp="1"/>
          </p:cNvSpPr>
          <p:nvPr/>
        </p:nvSpPr>
        <p:spPr>
          <a:xfrm>
            <a:off x="6419088" y="3099816"/>
            <a:ext cx="457200" cy="457200"/>
          </a:xfrm>
          <a:prstGeom prst="ellipse">
            <a:avLst/>
          </a:prstGeom>
          <a:solidFill>
            <a:srgbClr val="07714F"/>
          </a:solidFill>
          <a:ln w="6350">
            <a:solidFill>
              <a:srgbClr val="07714F"/>
            </a:solidFill>
            <a:prstDash val="solid"/>
          </a:ln>
          <a:effectLst>
            <a:outerShdw blurRad="2147483647" dist="2147483647" algn="bl" rotWithShape="0">
              <a:srgbClr val="74857F">
                <a:alpha val="0"/>
              </a:srgbClr>
            </a:outerShdw>
          </a:effectLst>
        </p:spPr>
        <p:txBody>
          <a:bodyPr/>
          <a:lstStyle/>
          <a:p/>
        </p:txBody>
      </p:sp>
      <p:sp>
        <p:nvSpPr>
          <p:cNvPr id="41" name="Text 39"/>
          <p:cNvSpPr>
            <a:spLocks noGrp="1"/>
          </p:cNvSpPr>
          <p:nvPr/>
        </p:nvSpPr>
        <p:spPr>
          <a:xfrm>
            <a:off x="6419088" y="3099816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92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L3</a:t>
            </a:r>
            <a:endParaRPr sz="920"/>
          </a:p>
        </p:txBody>
      </p:sp>
      <p:sp>
        <p:nvSpPr>
          <p:cNvPr id="42" name="Text 40"/>
          <p:cNvSpPr>
            <a:spLocks noGrp="1"/>
          </p:cNvSpPr>
          <p:nvPr/>
        </p:nvSpPr>
        <p:spPr>
          <a:xfrm>
            <a:off x="7004304" y="3081528"/>
            <a:ext cx="1389888" cy="27432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buNone/>
            </a:pPr>
            <a:r>
              <a:rPr sz="1340" b="1">
                <a:solidFill>
                  <a:srgbClr val="163B36"/>
                </a:solidFill>
                <a:latin typeface="Noto Sans CJK SC"/>
                <a:ea typeface="Noto Sans CJK SC"/>
                <a:cs typeface="Noto Sans CJK SC"/>
              </a:rPr>
              <a:t>低风险闭环</a:t>
            </a:r>
            <a:endParaRPr sz="1340"/>
          </a:p>
        </p:txBody>
      </p:sp>
      <p:sp>
        <p:nvSpPr>
          <p:cNvPr id="43" name="Text 41"/>
          <p:cNvSpPr>
            <a:spLocks noGrp="1"/>
          </p:cNvSpPr>
          <p:nvPr/>
        </p:nvSpPr>
        <p:spPr>
          <a:xfrm>
            <a:off x="6437376" y="3566160"/>
            <a:ext cx="2029968" cy="420624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ctr">
              <a:buNone/>
            </a:pPr>
            <a:r>
              <a:rPr sz="940">
                <a:solidFill>
                  <a:srgbClr val="163B36"/>
                </a:solidFill>
                <a:latin typeface="Noto Sans CJK SC"/>
                <a:ea typeface="Noto Sans CJK SC"/>
                <a:cs typeface="Noto Sans CJK SC"/>
              </a:rPr>
              <a:t>AI 判断</a:t>
            </a:r>
            <a:endParaRPr sz="940"/>
          </a:p>
          <a:p>
            <a:pPr marL="0" indent="0" algn="ctr">
              <a:buNone/>
            </a:pPr>
            <a:r>
              <a:rPr sz="940">
                <a:solidFill>
                  <a:srgbClr val="163B36"/>
                </a:solidFill>
                <a:latin typeface="Noto Sans CJK SC"/>
                <a:ea typeface="Noto Sans CJK SC"/>
                <a:cs typeface="Noto Sans CJK SC"/>
              </a:rPr>
              <a:t>Workflow 自动执行</a:t>
            </a:r>
            <a:endParaRPr sz="940"/>
          </a:p>
        </p:txBody>
      </p:sp>
      <p:sp>
        <p:nvSpPr>
          <p:cNvPr id="44" name="Shape 42"/>
          <p:cNvSpPr>
            <a:spLocks noGrp="1"/>
          </p:cNvSpPr>
          <p:nvPr/>
        </p:nvSpPr>
        <p:spPr>
          <a:xfrm>
            <a:off x="6419088" y="4041648"/>
            <a:ext cx="2066544" cy="347472"/>
          </a:xfrm>
          <a:prstGeom prst="roundRect">
            <a:avLst/>
          </a:prstGeom>
          <a:solidFill>
            <a:srgbClr val="E8F7F1"/>
          </a:solidFill>
          <a:ln w="8890">
            <a:solidFill>
              <a:srgbClr val="07966F"/>
            </a:solidFill>
            <a:prstDash val="solid"/>
          </a:ln>
        </p:spPr>
        <p:txBody>
          <a:bodyPr/>
          <a:lstStyle/>
          <a:p/>
        </p:txBody>
      </p:sp>
      <p:sp>
        <p:nvSpPr>
          <p:cNvPr id="45" name="Text 43"/>
          <p:cNvSpPr>
            <a:spLocks noGrp="1"/>
          </p:cNvSpPr>
          <p:nvPr/>
        </p:nvSpPr>
        <p:spPr>
          <a:xfrm>
            <a:off x="6492240" y="4050792"/>
            <a:ext cx="1920240" cy="3200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ctr">
              <a:buNone/>
            </a:pPr>
            <a:r>
              <a:rPr sz="810" b="1">
                <a:solidFill>
                  <a:srgbClr val="076B50"/>
                </a:solidFill>
                <a:latin typeface="Noto Sans CJK SC"/>
                <a:ea typeface="Noto Sans CJK SC"/>
                <a:cs typeface="Noto Sans CJK SC"/>
              </a:rPr>
              <a:t>幂等、审计、回退</a:t>
            </a:r>
            <a:endParaRPr sz="810"/>
          </a:p>
          <a:p>
            <a:pPr marL="0" indent="0" algn="ctr">
              <a:buNone/>
            </a:pPr>
            <a:r>
              <a:rPr sz="810" b="1">
                <a:solidFill>
                  <a:srgbClr val="076B50"/>
                </a:solidFill>
                <a:latin typeface="Noto Sans CJK SC"/>
                <a:ea typeface="Noto Sans CJK SC"/>
                <a:cs typeface="Noto Sans CJK SC"/>
              </a:rPr>
              <a:t>在线指标稳定</a:t>
            </a:r>
            <a:endParaRPr sz="810"/>
          </a:p>
        </p:txBody>
      </p:sp>
      <p:sp>
        <p:nvSpPr>
          <p:cNvPr id="46" name="Shape 44"/>
          <p:cNvSpPr>
            <a:spLocks noGrp="1"/>
          </p:cNvSpPr>
          <p:nvPr/>
        </p:nvSpPr>
        <p:spPr>
          <a:xfrm>
            <a:off x="8750808" y="3648456"/>
            <a:ext cx="329184" cy="329184"/>
          </a:xfrm>
          <a:prstGeom prst="ellipse">
            <a:avLst/>
          </a:prstGeom>
          <a:solidFill>
            <a:srgbClr val="E1EBE8"/>
          </a:solidFill>
          <a:ln w="6350">
            <a:solidFill>
              <a:srgbClr val="E1EBE8"/>
            </a:solidFill>
            <a:prstDash val="solid"/>
          </a:ln>
          <a:effectLst>
            <a:outerShdw blurRad="2147483647" dist="2147483647" algn="bl" rotWithShape="0">
              <a:srgbClr val="74857F">
                <a:alpha val="0"/>
              </a:srgbClr>
            </a:outerShdw>
          </a:effectLst>
        </p:spPr>
        <p:txBody>
          <a:bodyPr/>
          <a:lstStyle/>
          <a:p/>
        </p:txBody>
      </p:sp>
      <p:sp>
        <p:nvSpPr>
          <p:cNvPr id="47" name="Text 45"/>
          <p:cNvSpPr>
            <a:spLocks noGrp="1"/>
          </p:cNvSpPr>
          <p:nvPr/>
        </p:nvSpPr>
        <p:spPr>
          <a:xfrm>
            <a:off x="8750808" y="3648456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1200" b="1">
                <a:solidFill>
                  <a:srgbClr val="0D5E50"/>
                </a:solidFill>
                <a:latin typeface="Noto Sans CJK SC"/>
                <a:ea typeface="Noto Sans CJK SC"/>
                <a:cs typeface="Noto Sans CJK SC"/>
              </a:rPr>
              <a:t>›</a:t>
            </a:r>
            <a:endParaRPr sz="1200"/>
          </a:p>
        </p:txBody>
      </p:sp>
      <p:sp>
        <p:nvSpPr>
          <p:cNvPr id="48" name="Shape 46"/>
          <p:cNvSpPr>
            <a:spLocks noGrp="1"/>
          </p:cNvSpPr>
          <p:nvPr/>
        </p:nvSpPr>
        <p:spPr>
          <a:xfrm>
            <a:off x="9052560" y="2276856"/>
            <a:ext cx="2395728" cy="16093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C63DF"/>
            </a:solidFill>
            <a:prstDash val="solid"/>
          </a:ln>
          <a:effectLst>
            <a:outerShdw blurRad="2147483647" dist="2147483647" algn="bl" rotWithShape="0">
              <a:srgbClr val="74857F">
                <a:alpha val="0"/>
              </a:srgbClr>
            </a:outerShdw>
          </a:effectLst>
        </p:spPr>
        <p:txBody>
          <a:bodyPr/>
          <a:lstStyle/>
          <a:p/>
        </p:txBody>
      </p:sp>
      <p:sp>
        <p:nvSpPr>
          <p:cNvPr id="50" name="Shape 48"/>
          <p:cNvSpPr>
            <a:spLocks noGrp="1"/>
          </p:cNvSpPr>
          <p:nvPr/>
        </p:nvSpPr>
        <p:spPr>
          <a:xfrm>
            <a:off x="9217152" y="2441448"/>
            <a:ext cx="457200" cy="457200"/>
          </a:xfrm>
          <a:prstGeom prst="ellipse">
            <a:avLst/>
          </a:prstGeom>
          <a:solidFill>
            <a:srgbClr val="6C63DF"/>
          </a:solidFill>
          <a:ln w="6350">
            <a:solidFill>
              <a:srgbClr val="6C63DF"/>
            </a:solidFill>
            <a:prstDash val="solid"/>
          </a:ln>
          <a:effectLst>
            <a:outerShdw blurRad="2147483647" dist="2147483647" algn="bl" rotWithShape="0">
              <a:srgbClr val="74857F">
                <a:alpha val="0"/>
              </a:srgbClr>
            </a:outerShdw>
          </a:effectLst>
        </p:spPr>
        <p:txBody>
          <a:bodyPr/>
          <a:lstStyle/>
          <a:p/>
        </p:txBody>
      </p:sp>
      <p:sp>
        <p:nvSpPr>
          <p:cNvPr id="51" name="Text 49"/>
          <p:cNvSpPr>
            <a:spLocks noGrp="1"/>
          </p:cNvSpPr>
          <p:nvPr/>
        </p:nvSpPr>
        <p:spPr>
          <a:xfrm>
            <a:off x="9217152" y="2441448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92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L4</a:t>
            </a:r>
            <a:endParaRPr sz="920"/>
          </a:p>
        </p:txBody>
      </p:sp>
      <p:sp>
        <p:nvSpPr>
          <p:cNvPr id="52" name="Text 50"/>
          <p:cNvSpPr>
            <a:spLocks noGrp="1"/>
          </p:cNvSpPr>
          <p:nvPr/>
        </p:nvSpPr>
        <p:spPr>
          <a:xfrm>
            <a:off x="9802368" y="2423160"/>
            <a:ext cx="1389888" cy="27432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buNone/>
            </a:pPr>
            <a:r>
              <a:rPr sz="1340" b="1">
                <a:solidFill>
                  <a:srgbClr val="163B36"/>
                </a:solidFill>
                <a:latin typeface="Noto Sans CJK SC"/>
                <a:ea typeface="Noto Sans CJK SC"/>
                <a:cs typeface="Noto Sans CJK SC"/>
              </a:rPr>
              <a:t>场景运营平台</a:t>
            </a:r>
            <a:endParaRPr sz="1340"/>
          </a:p>
        </p:txBody>
      </p:sp>
      <p:sp>
        <p:nvSpPr>
          <p:cNvPr id="53" name="Text 51"/>
          <p:cNvSpPr>
            <a:spLocks noGrp="1"/>
          </p:cNvSpPr>
          <p:nvPr/>
        </p:nvSpPr>
        <p:spPr>
          <a:xfrm>
            <a:off x="9235440" y="2907792"/>
            <a:ext cx="2029968" cy="420624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ctr">
              <a:buNone/>
            </a:pPr>
            <a:r>
              <a:rPr sz="940">
                <a:solidFill>
                  <a:srgbClr val="163B36"/>
                </a:solidFill>
                <a:latin typeface="Noto Sans CJK SC"/>
                <a:ea typeface="Noto Sans CJK SC"/>
                <a:cs typeface="Noto Sans CJK SC"/>
              </a:rPr>
              <a:t>持续发现、评估</a:t>
            </a:r>
            <a:endParaRPr sz="940"/>
          </a:p>
          <a:p>
            <a:pPr marL="0" indent="0" algn="ctr">
              <a:buNone/>
            </a:pPr>
            <a:r>
              <a:rPr sz="940">
                <a:solidFill>
                  <a:srgbClr val="163B36"/>
                </a:solidFill>
                <a:latin typeface="Noto Sans CJK SC"/>
                <a:ea typeface="Noto Sans CJK SC"/>
                <a:cs typeface="Noto Sans CJK SC"/>
              </a:rPr>
              <a:t>上线新场景</a:t>
            </a:r>
            <a:endParaRPr sz="940"/>
          </a:p>
        </p:txBody>
      </p:sp>
      <p:sp>
        <p:nvSpPr>
          <p:cNvPr id="54" name="Shape 52"/>
          <p:cNvSpPr>
            <a:spLocks noGrp="1"/>
          </p:cNvSpPr>
          <p:nvPr/>
        </p:nvSpPr>
        <p:spPr>
          <a:xfrm>
            <a:off x="9217152" y="3383280"/>
            <a:ext cx="2066544" cy="347472"/>
          </a:xfrm>
          <a:prstGeom prst="roundRect">
            <a:avLst/>
          </a:prstGeom>
          <a:solidFill>
            <a:srgbClr val="EFEEFF"/>
          </a:solidFill>
          <a:ln w="8890">
            <a:solidFill>
              <a:srgbClr val="6C63DF"/>
            </a:solidFill>
            <a:prstDash val="solid"/>
          </a:ln>
        </p:spPr>
        <p:txBody>
          <a:bodyPr/>
          <a:lstStyle/>
          <a:p/>
        </p:txBody>
      </p:sp>
      <p:sp>
        <p:nvSpPr>
          <p:cNvPr id="55" name="Text 53"/>
          <p:cNvSpPr>
            <a:spLocks noGrp="1"/>
          </p:cNvSpPr>
          <p:nvPr/>
        </p:nvSpPr>
        <p:spPr>
          <a:xfrm>
            <a:off x="9290304" y="3392424"/>
            <a:ext cx="1920240" cy="3200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ctr">
              <a:buNone/>
            </a:pPr>
            <a:r>
              <a:rPr sz="810" b="1">
                <a:solidFill>
                  <a:srgbClr val="6C63DF"/>
                </a:solidFill>
                <a:latin typeface="Noto Sans CJK SC"/>
                <a:ea typeface="Noto Sans CJK SC"/>
                <a:cs typeface="Noto Sans CJK SC"/>
              </a:rPr>
              <a:t>评测、灰度、观测</a:t>
            </a:r>
            <a:endParaRPr sz="810"/>
          </a:p>
          <a:p>
            <a:pPr marL="0" indent="0" algn="ctr">
              <a:buNone/>
            </a:pPr>
            <a:r>
              <a:rPr sz="810" b="1">
                <a:solidFill>
                  <a:srgbClr val="6C63DF"/>
                </a:solidFill>
                <a:latin typeface="Noto Sans CJK SC"/>
                <a:ea typeface="Noto Sans CJK SC"/>
                <a:cs typeface="Noto Sans CJK SC"/>
              </a:rPr>
              <a:t>形成持续运营机制</a:t>
            </a:r>
            <a:endParaRPr sz="810"/>
          </a:p>
        </p:txBody>
      </p:sp>
      <p:sp>
        <p:nvSpPr>
          <p:cNvPr id="56" name="Shape 54"/>
          <p:cNvSpPr>
            <a:spLocks noGrp="1"/>
          </p:cNvSpPr>
          <p:nvPr/>
        </p:nvSpPr>
        <p:spPr>
          <a:xfrm>
            <a:off x="868680" y="1947672"/>
            <a:ext cx="1965960" cy="310896"/>
          </a:xfrm>
          <a:prstGeom prst="roundRect">
            <a:avLst/>
          </a:prstGeom>
          <a:solidFill>
            <a:srgbClr val="EEF3F1"/>
          </a:solidFill>
          <a:ln w="10160">
            <a:solidFill>
              <a:srgbClr val="91A19D"/>
            </a:solidFill>
            <a:prstDash val="solid"/>
          </a:ln>
        </p:spPr>
        <p:txBody>
          <a:bodyPr/>
          <a:lstStyle/>
          <a:p/>
        </p:txBody>
      </p:sp>
      <p:sp>
        <p:nvSpPr>
          <p:cNvPr id="57" name="Text 55"/>
          <p:cNvSpPr>
            <a:spLocks noGrp="1"/>
          </p:cNvSpPr>
          <p:nvPr/>
        </p:nvSpPr>
        <p:spPr>
          <a:xfrm>
            <a:off x="868680" y="1947672"/>
            <a:ext cx="1965960" cy="31089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900" b="1">
                <a:solidFill>
                  <a:srgbClr val="91A19D"/>
                </a:solidFill>
                <a:latin typeface="Noto Sans CJK SC"/>
                <a:ea typeface="Noto Sans CJK SC"/>
                <a:cs typeface="Noto Sans CJK SC"/>
              </a:rPr>
              <a:t>处理权由人工主导</a:t>
            </a:r>
            <a:endParaRPr sz="900"/>
          </a:p>
        </p:txBody>
      </p:sp>
      <p:sp>
        <p:nvSpPr>
          <p:cNvPr id="58" name="Shape 56"/>
          <p:cNvSpPr>
            <a:spLocks noGrp="1"/>
          </p:cNvSpPr>
          <p:nvPr/>
        </p:nvSpPr>
        <p:spPr>
          <a:xfrm>
            <a:off x="3749040" y="1947672"/>
            <a:ext cx="1965960" cy="310896"/>
          </a:xfrm>
          <a:prstGeom prst="roundRect">
            <a:avLst/>
          </a:prstGeom>
          <a:solidFill>
            <a:srgbClr val="EAF2FF"/>
          </a:solidFill>
          <a:ln w="10160">
            <a:solidFill>
              <a:srgbClr val="2F7DEB"/>
            </a:solidFill>
            <a:prstDash val="solid"/>
          </a:ln>
        </p:spPr>
        <p:txBody>
          <a:bodyPr/>
          <a:lstStyle/>
          <a:p/>
        </p:txBody>
      </p:sp>
      <p:sp>
        <p:nvSpPr>
          <p:cNvPr id="59" name="Text 57"/>
          <p:cNvSpPr>
            <a:spLocks noGrp="1"/>
          </p:cNvSpPr>
          <p:nvPr/>
        </p:nvSpPr>
        <p:spPr>
          <a:xfrm>
            <a:off x="3749040" y="1947672"/>
            <a:ext cx="1965960" cy="31089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900" b="1">
                <a:solidFill>
                  <a:srgbClr val="1B5FC4"/>
                </a:solidFill>
                <a:latin typeface="Noto Sans CJK SC"/>
                <a:ea typeface="Noto Sans CJK SC"/>
                <a:cs typeface="Noto Sans CJK SC"/>
              </a:rPr>
              <a:t>判断权逐步开放</a:t>
            </a:r>
            <a:endParaRPr sz="900"/>
          </a:p>
        </p:txBody>
      </p:sp>
      <p:sp>
        <p:nvSpPr>
          <p:cNvPr id="60" name="Shape 58"/>
          <p:cNvSpPr>
            <a:spLocks noGrp="1"/>
          </p:cNvSpPr>
          <p:nvPr/>
        </p:nvSpPr>
        <p:spPr>
          <a:xfrm>
            <a:off x="6629400" y="1947672"/>
            <a:ext cx="2743200" cy="310896"/>
          </a:xfrm>
          <a:prstGeom prst="roundRect">
            <a:avLst/>
          </a:prstGeom>
          <a:solidFill>
            <a:srgbClr val="E8F7F1"/>
          </a:solidFill>
          <a:ln w="10160">
            <a:solidFill>
              <a:srgbClr val="07966F"/>
            </a:solidFill>
            <a:prstDash val="solid"/>
          </a:ln>
        </p:spPr>
        <p:txBody>
          <a:bodyPr/>
          <a:lstStyle/>
          <a:p/>
        </p:txBody>
      </p:sp>
      <p:sp>
        <p:nvSpPr>
          <p:cNvPr id="61" name="Text 59"/>
          <p:cNvSpPr>
            <a:spLocks noGrp="1"/>
          </p:cNvSpPr>
          <p:nvPr/>
        </p:nvSpPr>
        <p:spPr>
          <a:xfrm>
            <a:off x="6629400" y="1947672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900" b="1">
                <a:solidFill>
                  <a:srgbClr val="076B50"/>
                </a:solidFill>
                <a:latin typeface="Noto Sans CJK SC"/>
                <a:ea typeface="Noto Sans CJK SC"/>
                <a:cs typeface="Noto Sans CJK SC"/>
              </a:rPr>
              <a:t>执行权在证明过的边界内开放</a:t>
            </a:r>
            <a:endParaRPr sz="900"/>
          </a:p>
        </p:txBody>
      </p:sp>
      <p:sp>
        <p:nvSpPr>
          <p:cNvPr id="62" name="Shape 60"/>
          <p:cNvSpPr>
            <a:spLocks noGrp="1"/>
          </p:cNvSpPr>
          <p:nvPr/>
        </p:nvSpPr>
        <p:spPr>
          <a:xfrm>
            <a:off x="1143000" y="6108192"/>
            <a:ext cx="9829800" cy="274320"/>
          </a:xfrm>
          <a:prstGeom prst="roundRect">
            <a:avLst/>
          </a:prstGeom>
          <a:solidFill>
            <a:srgbClr val="E8F7F1"/>
          </a:solidFill>
          <a:ln w="8890">
            <a:solidFill>
              <a:srgbClr val="07966F"/>
            </a:solidFill>
            <a:prstDash val="solid"/>
          </a:ln>
        </p:spPr>
        <p:txBody>
          <a:bodyPr/>
          <a:lstStyle/>
          <a:p/>
        </p:txBody>
      </p:sp>
      <p:sp>
        <p:nvSpPr>
          <p:cNvPr id="63" name="Text 61"/>
          <p:cNvSpPr>
            <a:spLocks noGrp="1"/>
          </p:cNvSpPr>
          <p:nvPr/>
        </p:nvSpPr>
        <p:spPr>
          <a:xfrm>
            <a:off x="1143000" y="6108192"/>
            <a:ext cx="9829800" cy="27432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900" b="1">
                <a:solidFill>
                  <a:srgbClr val="0D5E50"/>
                </a:solidFill>
                <a:latin typeface="Noto Sans CJK SC"/>
                <a:ea typeface="Noto Sans CJK SC"/>
                <a:cs typeface="Noto Sans CJK SC"/>
              </a:rPr>
              <a:t>成熟度按场景评定：投诉协商可长期留在 L1，状态查询可以先到 L3。</a:t>
            </a:r>
            <a:endParaRPr sz="900"/>
          </a:p>
        </p:txBody>
      </p:sp>
      <p:sp>
        <p:nvSpPr>
          <p:cNvPr id="64" name="Rectangle 63"/>
          <p:cNvSpPr>
            <a:spLocks noGrp="1"/>
          </p:cNvSpPr>
          <p:nvPr/>
        </p:nvSpPr>
        <p:spPr>
          <a:xfrm>
            <a:off x="0" y="0"/>
            <a:ext cx="41148" cy="6858000"/>
          </a:xfrm>
          <a:prstGeom prst="rect">
            <a:avLst/>
          </a:prstGeom>
          <a:solidFill>
            <a:srgbClr val="0A8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65" name="圆角矩形 64"/>
          <p:cNvSpPr>
            <a:spLocks noGrp="1"/>
          </p:cNvSpPr>
          <p:nvPr/>
        </p:nvSpPr>
        <p:spPr>
          <a:xfrm>
            <a:off x="6565583" y="127635"/>
            <a:ext cx="4937760" cy="365760"/>
          </a:xfrm>
          <a:prstGeom prst="roundRect">
            <a:avLst>
              <a:gd name="adj" fmla="val 20833"/>
            </a:avLst>
          </a:prstGeom>
          <a:solidFill>
            <a:srgbClr val="F7FBF9"/>
          </a:solidFill>
          <a:ln w="12668">
            <a:solidFill>
              <a:srgbClr val="F7FBF9"/>
            </a:solidFill>
            <a:prstDash val="solid"/>
          </a:ln>
        </p:spPr>
        <p:txBody>
          <a:bodyPr/>
          <a:p/>
        </p:txBody>
      </p:sp>
      <p:sp>
        <p:nvSpPr>
          <p:cNvPr id="66" name="圆角矩形 65"/>
          <p:cNvSpPr>
            <a:spLocks noGrp="1"/>
          </p:cNvSpPr>
          <p:nvPr/>
        </p:nvSpPr>
        <p:spPr>
          <a:xfrm>
            <a:off x="6657023" y="164783"/>
            <a:ext cx="1154430" cy="264795"/>
          </a:xfrm>
          <a:prstGeom prst="roundRect">
            <a:avLst>
              <a:gd name="adj" fmla="val 28777"/>
            </a:avLst>
          </a:prstGeom>
          <a:solidFill>
            <a:srgbClr val="007574"/>
          </a:solidFill>
          <a:ln w="12668">
            <a:solidFill>
              <a:srgbClr val="007574"/>
            </a:solidFill>
            <a:prstDash val="solid"/>
          </a:ln>
        </p:spPr>
        <p:txBody>
          <a:bodyPr/>
          <a:p/>
        </p:txBody>
      </p:sp>
      <p:sp>
        <p:nvSpPr>
          <p:cNvPr id="67" name="矩形 66"/>
          <p:cNvSpPr>
            <a:spLocks noGrp="1"/>
          </p:cNvSpPr>
          <p:nvPr/>
        </p:nvSpPr>
        <p:spPr>
          <a:xfrm>
            <a:off x="6657023" y="187643"/>
            <a:ext cx="1154430" cy="182880"/>
          </a:xfrm>
          <a:prstGeom prst="rect">
            <a:avLst/>
          </a:prstGeom>
        </p:spPr>
        <p:txBody>
          <a:bodyPr anchor="ctr"/>
          <a:lstStyle/>
          <a:p>
            <a:pPr algn="ctr">
              <a:defRPr sz="660" b="1">
                <a:solidFill>
                  <a:srgbClr val="FFFFFF"/>
                </a:solidFill>
              </a:defRPr>
            </a:pPr>
            <a:r>
              <a:t>理解</a:t>
            </a:r>
          </a:p>
        </p:txBody>
      </p:sp>
      <p:sp>
        <p:nvSpPr>
          <p:cNvPr id="68" name="圆角矩形 67"/>
          <p:cNvSpPr>
            <a:spLocks noGrp="1"/>
          </p:cNvSpPr>
          <p:nvPr/>
        </p:nvSpPr>
        <p:spPr>
          <a:xfrm>
            <a:off x="7857173" y="164783"/>
            <a:ext cx="1154430" cy="264795"/>
          </a:xfrm>
          <a:prstGeom prst="roundRect">
            <a:avLst>
              <a:gd name="adj" fmla="val 28777"/>
            </a:avLst>
          </a:prstGeom>
          <a:solidFill>
            <a:srgbClr val="FFFFFF"/>
          </a:solidFill>
          <a:ln w="12668">
            <a:solidFill>
              <a:srgbClr val="C9DCD7"/>
            </a:solidFill>
            <a:prstDash val="solid"/>
          </a:ln>
        </p:spPr>
        <p:txBody>
          <a:bodyPr/>
          <a:p/>
        </p:txBody>
      </p:sp>
      <p:sp>
        <p:nvSpPr>
          <p:cNvPr id="69" name="矩形 68"/>
          <p:cNvSpPr>
            <a:spLocks noGrp="1"/>
          </p:cNvSpPr>
          <p:nvPr/>
        </p:nvSpPr>
        <p:spPr>
          <a:xfrm>
            <a:off x="7857173" y="187643"/>
            <a:ext cx="1154430" cy="182880"/>
          </a:xfrm>
          <a:prstGeom prst="rect">
            <a:avLst/>
          </a:prstGeom>
        </p:spPr>
        <p:txBody>
          <a:bodyPr anchor="ctr"/>
          <a:lstStyle/>
          <a:p>
            <a:pPr algn="ctr">
              <a:defRPr sz="650" b="0">
                <a:solidFill>
                  <a:srgbClr val="44585C"/>
                </a:solidFill>
              </a:defRPr>
            </a:pPr>
            <a:r>
              <a:t>查询</a:t>
            </a:r>
          </a:p>
        </p:txBody>
      </p:sp>
      <p:sp>
        <p:nvSpPr>
          <p:cNvPr id="70" name="圆角矩形 69"/>
          <p:cNvSpPr>
            <a:spLocks noGrp="1"/>
          </p:cNvSpPr>
          <p:nvPr/>
        </p:nvSpPr>
        <p:spPr>
          <a:xfrm>
            <a:off x="9057323" y="164783"/>
            <a:ext cx="1154430" cy="264795"/>
          </a:xfrm>
          <a:prstGeom prst="roundRect">
            <a:avLst>
              <a:gd name="adj" fmla="val 28777"/>
            </a:avLst>
          </a:prstGeom>
          <a:solidFill>
            <a:srgbClr val="007574"/>
          </a:solidFill>
          <a:ln w="12668">
            <a:solidFill>
              <a:srgbClr val="007574"/>
            </a:solidFill>
            <a:prstDash val="solid"/>
          </a:ln>
        </p:spPr>
        <p:txBody>
          <a:bodyPr/>
          <a:p/>
        </p:txBody>
      </p:sp>
      <p:sp>
        <p:nvSpPr>
          <p:cNvPr id="71" name="矩形 70"/>
          <p:cNvSpPr>
            <a:spLocks noGrp="1"/>
          </p:cNvSpPr>
          <p:nvPr/>
        </p:nvSpPr>
        <p:spPr>
          <a:xfrm>
            <a:off x="9057323" y="187643"/>
            <a:ext cx="1154430" cy="182880"/>
          </a:xfrm>
          <a:prstGeom prst="rect">
            <a:avLst/>
          </a:prstGeom>
        </p:spPr>
        <p:txBody>
          <a:bodyPr anchor="ctr"/>
          <a:lstStyle/>
          <a:p>
            <a:pPr algn="ctr">
              <a:defRPr sz="660" b="1">
                <a:solidFill>
                  <a:srgbClr val="FFFFFF"/>
                </a:solidFill>
              </a:defRPr>
            </a:pPr>
            <a:r>
              <a:t>决策</a:t>
            </a:r>
          </a:p>
        </p:txBody>
      </p:sp>
      <p:sp>
        <p:nvSpPr>
          <p:cNvPr id="72" name="圆角矩形 71"/>
          <p:cNvSpPr>
            <a:spLocks noGrp="1"/>
          </p:cNvSpPr>
          <p:nvPr/>
        </p:nvSpPr>
        <p:spPr>
          <a:xfrm>
            <a:off x="10257473" y="164783"/>
            <a:ext cx="1154430" cy="264795"/>
          </a:xfrm>
          <a:prstGeom prst="roundRect">
            <a:avLst>
              <a:gd name="adj" fmla="val 28777"/>
            </a:avLst>
          </a:prstGeom>
          <a:solidFill>
            <a:srgbClr val="FFFFFF"/>
          </a:solidFill>
          <a:ln w="12668">
            <a:solidFill>
              <a:srgbClr val="C9DCD7"/>
            </a:solidFill>
            <a:prstDash val="solid"/>
          </a:ln>
        </p:spPr>
        <p:txBody>
          <a:bodyPr/>
          <a:p/>
        </p:txBody>
      </p:sp>
      <p:sp>
        <p:nvSpPr>
          <p:cNvPr id="73" name="矩形 72"/>
          <p:cNvSpPr>
            <a:spLocks noGrp="1"/>
          </p:cNvSpPr>
          <p:nvPr/>
        </p:nvSpPr>
        <p:spPr>
          <a:xfrm>
            <a:off x="10257473" y="187643"/>
            <a:ext cx="1154430" cy="182880"/>
          </a:xfrm>
          <a:prstGeom prst="rect">
            <a:avLst/>
          </a:prstGeom>
        </p:spPr>
        <p:txBody>
          <a:bodyPr anchor="ctr"/>
          <a:lstStyle/>
          <a:p>
            <a:pPr algn="ctr">
              <a:defRPr sz="650" b="0">
                <a:solidFill>
                  <a:srgbClr val="44585C"/>
                </a:solidFill>
              </a:defRPr>
            </a:pPr>
            <a:r>
              <a:t>执行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>
            <a:spLocks noGrp="1"/>
          </p:cNvSpPr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" name="Rectangle 2"/>
          <p:cNvSpPr>
            <a:spLocks noGrp="1"/>
          </p:cNvSpPr>
          <p:nvPr/>
        </p:nvSpPr>
        <p:spPr>
          <a:xfrm>
            <a:off x="0" y="0"/>
            <a:ext cx="41148" cy="6858000"/>
          </a:xfrm>
          <a:prstGeom prst="rect">
            <a:avLst/>
          </a:prstGeom>
          <a:solidFill>
            <a:srgbClr val="0A8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4" name="Oval 3"/>
          <p:cNvSpPr>
            <a:spLocks noGrp="1"/>
          </p:cNvSpPr>
          <p:nvPr/>
        </p:nvSpPr>
        <p:spPr>
          <a:xfrm>
            <a:off x="658368" y="384048"/>
            <a:ext cx="73152" cy="73152"/>
          </a:xfrm>
          <a:prstGeom prst="ellipse">
            <a:avLst/>
          </a:prstGeom>
          <a:solidFill>
            <a:srgbClr val="0A8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5" name="Rectangle 4"/>
          <p:cNvSpPr>
            <a:spLocks noGrp="1"/>
          </p:cNvSpPr>
          <p:nvPr/>
        </p:nvSpPr>
        <p:spPr>
          <a:xfrm>
            <a:off x="768096" y="420624"/>
            <a:ext cx="411480" cy="16459"/>
          </a:xfrm>
          <a:prstGeom prst="rect">
            <a:avLst/>
          </a:prstGeom>
          <a:solidFill>
            <a:srgbClr val="0A8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6" name="TextBox 5"/>
          <p:cNvSpPr>
            <a:spLocks noGrp="1"/>
          </p:cNvSpPr>
          <p:nvPr/>
        </p:nvSpPr>
        <p:spPr>
          <a:xfrm>
            <a:off x="1225296" y="256032"/>
            <a:ext cx="41148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050" b="1">
                <a:solidFill>
                  <a:srgbClr val="076B50"/>
                </a:solidFill>
                <a:latin typeface="Noto Sans CJK SC"/>
                <a:ea typeface="Noto Sans CJK SC"/>
                <a:cs typeface="Noto Sans CJK SC"/>
              </a:rPr>
              <a:t>FINALE · 总结</a:t>
            </a:r>
            <a:endParaRPr sz="1050" b="1">
              <a:solidFill>
                <a:srgbClr val="0A8F6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" name="TextBox 6"/>
          <p:cNvSpPr>
            <a:spLocks noGrp="1"/>
          </p:cNvSpPr>
          <p:nvPr/>
        </p:nvSpPr>
        <p:spPr>
          <a:xfrm>
            <a:off x="658368" y="694944"/>
            <a:ext cx="10652760" cy="47548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</a:pPr>
            <a:r>
              <a:rPr sz="2720" b="1" i="0">
                <a:solidFill>
                  <a:srgbClr val="14383E"/>
                </a:solidFill>
                <a:latin typeface="Noto Sans CJK SC"/>
                <a:ea typeface="Noto Sans CJK SC"/>
                <a:cs typeface="Noto Sans CJK SC"/>
              </a:rPr>
              <a:t>建设路径总结：四步落在六个环节</a:t>
            </a:r>
            <a:endParaRPr sz="2720" b="1" i="0">
              <a:solidFill>
                <a:srgbClr val="14383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8" name="TextBox 7"/>
          <p:cNvSpPr>
            <a:spLocks noGrp="1"/>
          </p:cNvSpPr>
          <p:nvPr/>
        </p:nvSpPr>
        <p:spPr>
          <a:xfrm>
            <a:off x="658368" y="1170432"/>
            <a:ext cx="10561320" cy="31089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</a:pPr>
            <a:r>
              <a:rPr sz="1170" b="0" i="0">
                <a:solidFill>
                  <a:srgbClr val="44585C"/>
                </a:solidFill>
                <a:latin typeface="Noto Sans CJK SC"/>
                <a:ea typeface="Noto Sans CJK SC"/>
                <a:cs typeface="Noto Sans CJK SC"/>
              </a:rPr>
              <a:t>场景、上下文、Agent 决策、业务执行、安全控制和运营证据要同时到位。</a:t>
            </a:r>
            <a:endParaRPr sz="1170" b="0" i="0">
              <a:solidFill>
                <a:srgbClr val="6B8185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9" name="Rectangle 8"/>
          <p:cNvSpPr>
            <a:spLocks noGrp="1"/>
          </p:cNvSpPr>
          <p:nvPr/>
        </p:nvSpPr>
        <p:spPr>
          <a:xfrm>
            <a:off x="658368" y="6501384"/>
            <a:ext cx="10835640" cy="10972"/>
          </a:xfrm>
          <a:prstGeom prst="rect">
            <a:avLst/>
          </a:prstGeom>
          <a:solidFill>
            <a:srgbClr val="C9DC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0" name="TextBox 9"/>
          <p:cNvSpPr>
            <a:spLocks noGrp="1"/>
          </p:cNvSpPr>
          <p:nvPr/>
        </p:nvSpPr>
        <p:spPr>
          <a:xfrm>
            <a:off x="658368" y="6547104"/>
            <a:ext cx="237744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780" b="1" i="0">
                <a:solidFill>
                  <a:srgbClr val="5C7276"/>
                </a:solidFill>
                <a:latin typeface="Noto Sans CJK SC"/>
                <a:ea typeface="Noto Sans CJK SC"/>
                <a:cs typeface="Noto Sans CJK SC"/>
              </a:rPr>
              <a:t>CUSTOMER SERVICE AI AGENT</a:t>
            </a:r>
            <a:endParaRPr sz="780" b="1" i="0">
              <a:solidFill>
                <a:srgbClr val="98ACA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1" name="TextBox 10"/>
          <p:cNvSpPr>
            <a:spLocks noGrp="1"/>
          </p:cNvSpPr>
          <p:nvPr/>
        </p:nvSpPr>
        <p:spPr>
          <a:xfrm>
            <a:off x="10680192" y="6519672"/>
            <a:ext cx="82296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buNone/>
            </a:pPr>
            <a:r>
              <a:rPr sz="880" b="1" i="0">
                <a:solidFill>
                  <a:srgbClr val="076B50"/>
                </a:solidFill>
                <a:latin typeface="Noto Sans CJK SC"/>
                <a:ea typeface="Noto Sans CJK SC"/>
                <a:cs typeface="Noto Sans CJK SC"/>
              </a:rPr>
              <a:t>66</a:t>
            </a:r>
            <a:endParaRPr sz="880" b="1" i="0">
              <a:solidFill>
                <a:srgbClr val="0A8F6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2" name="Rounded Rectangle 11"/>
          <p:cNvSpPr>
            <a:spLocks noGrp="1"/>
          </p:cNvSpPr>
          <p:nvPr/>
        </p:nvSpPr>
        <p:spPr>
          <a:xfrm>
            <a:off x="726948" y="1760219"/>
            <a:ext cx="1664208" cy="1993392"/>
          </a:xfrm>
          <a:prstGeom prst="roundRect">
            <a:avLst/>
          </a:prstGeom>
          <a:solidFill>
            <a:srgbClr val="E3E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3" name="Rounded Rectangle 12"/>
          <p:cNvSpPr>
            <a:spLocks noGrp="1"/>
          </p:cNvSpPr>
          <p:nvPr/>
        </p:nvSpPr>
        <p:spPr>
          <a:xfrm>
            <a:off x="694944" y="1719072"/>
            <a:ext cx="1664208" cy="1993392"/>
          </a:xfrm>
          <a:prstGeom prst="roundRect">
            <a:avLst/>
          </a:prstGeom>
          <a:solidFill>
            <a:srgbClr val="E8F6F0"/>
          </a:solidFill>
          <a:ln w="12700">
            <a:solidFill>
              <a:srgbClr val="0A8F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5" name="Oval 14"/>
          <p:cNvSpPr>
            <a:spLocks noGrp="1"/>
          </p:cNvSpPr>
          <p:nvPr/>
        </p:nvSpPr>
        <p:spPr>
          <a:xfrm>
            <a:off x="1325880" y="1975104"/>
            <a:ext cx="365760" cy="365760"/>
          </a:xfrm>
          <a:prstGeom prst="ellipse">
            <a:avLst/>
          </a:prstGeom>
          <a:solidFill>
            <a:srgbClr val="07714F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6" name="TextBox 15"/>
          <p:cNvSpPr>
            <a:spLocks noGrp="1"/>
          </p:cNvSpPr>
          <p:nvPr/>
        </p:nvSpPr>
        <p:spPr>
          <a:xfrm>
            <a:off x="1325880" y="1979676"/>
            <a:ext cx="365760" cy="3566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840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1</a:t>
            </a:r>
            <a:endParaRPr sz="840" b="1" i="0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7" name="TextBox 16"/>
          <p:cNvSpPr>
            <a:spLocks noGrp="1"/>
          </p:cNvSpPr>
          <p:nvPr/>
        </p:nvSpPr>
        <p:spPr>
          <a:xfrm>
            <a:off x="786384" y="2542032"/>
            <a:ext cx="1481328" cy="27432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</a:pPr>
            <a:r>
              <a:rPr sz="1020" b="1" i="0">
                <a:solidFill>
                  <a:srgbClr val="14383E"/>
                </a:solidFill>
                <a:latin typeface="Noto Sans CJK SC"/>
                <a:ea typeface="Noto Sans CJK SC"/>
                <a:cs typeface="Noto Sans CJK SC"/>
              </a:rPr>
              <a:t>场景与移交边界</a:t>
            </a:r>
            <a:endParaRPr sz="1020" b="1" i="0">
              <a:solidFill>
                <a:srgbClr val="14383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8" name="TextBox 17"/>
          <p:cNvSpPr>
            <a:spLocks noGrp="1"/>
          </p:cNvSpPr>
          <p:nvPr/>
        </p:nvSpPr>
        <p:spPr>
          <a:xfrm>
            <a:off x="822960" y="2971800"/>
            <a:ext cx="1408176" cy="49377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</a:pPr>
            <a:r>
              <a:rPr sz="720" b="0" i="0">
                <a:solidFill>
                  <a:srgbClr val="44585C"/>
                </a:solidFill>
                <a:latin typeface="Noto Sans CJK SC"/>
                <a:ea typeface="Noto Sans CJK SC"/>
                <a:cs typeface="Noto Sans CJK SC"/>
              </a:rPr>
              <a:t>确定任务边界与处理方式</a:t>
            </a:r>
            <a:endParaRPr sz="720" b="0" i="0">
              <a:solidFill>
                <a:srgbClr val="6B8185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9" name="Right Arrow 18"/>
          <p:cNvSpPr>
            <a:spLocks noGrp="1"/>
          </p:cNvSpPr>
          <p:nvPr/>
        </p:nvSpPr>
        <p:spPr>
          <a:xfrm>
            <a:off x="2377440" y="2542032"/>
            <a:ext cx="146304" cy="292608"/>
          </a:xfrm>
          <a:prstGeom prst="rightArrow">
            <a:avLst/>
          </a:prstGeom>
          <a:solidFill>
            <a:srgbClr val="0A8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0" name="Rounded Rectangle 19"/>
          <p:cNvSpPr>
            <a:spLocks noGrp="1"/>
          </p:cNvSpPr>
          <p:nvPr/>
        </p:nvSpPr>
        <p:spPr>
          <a:xfrm>
            <a:off x="2592324" y="1760219"/>
            <a:ext cx="1664208" cy="1993392"/>
          </a:xfrm>
          <a:prstGeom prst="roundRect">
            <a:avLst/>
          </a:prstGeom>
          <a:solidFill>
            <a:srgbClr val="E3E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1" name="Rounded Rectangle 20"/>
          <p:cNvSpPr>
            <a:spLocks noGrp="1"/>
          </p:cNvSpPr>
          <p:nvPr/>
        </p:nvSpPr>
        <p:spPr>
          <a:xfrm>
            <a:off x="2560320" y="1719072"/>
            <a:ext cx="1664208" cy="1993392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3" name="Oval 22"/>
          <p:cNvSpPr>
            <a:spLocks noGrp="1"/>
          </p:cNvSpPr>
          <p:nvPr/>
        </p:nvSpPr>
        <p:spPr>
          <a:xfrm>
            <a:off x="3191256" y="1975104"/>
            <a:ext cx="365760" cy="365760"/>
          </a:xfrm>
          <a:prstGeom prst="ellipse">
            <a:avLst/>
          </a:prstGeom>
          <a:solidFill>
            <a:srgbClr val="1F63C4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4" name="TextBox 23"/>
          <p:cNvSpPr>
            <a:spLocks noGrp="1"/>
          </p:cNvSpPr>
          <p:nvPr/>
        </p:nvSpPr>
        <p:spPr>
          <a:xfrm>
            <a:off x="3191256" y="1979676"/>
            <a:ext cx="365760" cy="3566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840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2</a:t>
            </a:r>
            <a:endParaRPr sz="840" b="1" i="0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5" name="TextBox 24"/>
          <p:cNvSpPr>
            <a:spLocks noGrp="1"/>
          </p:cNvSpPr>
          <p:nvPr/>
        </p:nvSpPr>
        <p:spPr>
          <a:xfrm>
            <a:off x="2651760" y="2542032"/>
            <a:ext cx="1481328" cy="27432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</a:pPr>
            <a:r>
              <a:rPr sz="1020" b="1" i="0">
                <a:solidFill>
                  <a:srgbClr val="14383E"/>
                </a:solidFill>
                <a:latin typeface="Noto Sans CJK SC"/>
                <a:ea typeface="Noto Sans CJK SC"/>
                <a:cs typeface="Noto Sans CJK SC"/>
              </a:rPr>
              <a:t>上下文准备</a:t>
            </a:r>
            <a:endParaRPr sz="1020" b="1" i="0">
              <a:solidFill>
                <a:srgbClr val="14383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6" name="TextBox 25"/>
          <p:cNvSpPr>
            <a:spLocks noGrp="1"/>
          </p:cNvSpPr>
          <p:nvPr/>
        </p:nvSpPr>
        <p:spPr>
          <a:xfrm>
            <a:off x="2688336" y="2971800"/>
            <a:ext cx="1408176" cy="49377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</a:pPr>
            <a:r>
              <a:rPr sz="720" b="0" i="0">
                <a:solidFill>
                  <a:srgbClr val="44585C"/>
                </a:solidFill>
                <a:latin typeface="Noto Sans CJK SC"/>
                <a:ea typeface="Noto Sans CJK SC"/>
                <a:cs typeface="Noto Sans CJK SC"/>
              </a:rPr>
              <a:t>提供当前工单所需事实与证据</a:t>
            </a:r>
            <a:endParaRPr sz="720" b="0" i="0">
              <a:solidFill>
                <a:srgbClr val="6B8185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7" name="Right Arrow 26"/>
          <p:cNvSpPr>
            <a:spLocks noGrp="1"/>
          </p:cNvSpPr>
          <p:nvPr/>
        </p:nvSpPr>
        <p:spPr>
          <a:xfrm>
            <a:off x="4242816" y="2542032"/>
            <a:ext cx="146304" cy="292608"/>
          </a:xfrm>
          <a:prstGeom prst="rightArrow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8" name="Rounded Rectangle 27"/>
          <p:cNvSpPr>
            <a:spLocks noGrp="1"/>
          </p:cNvSpPr>
          <p:nvPr/>
        </p:nvSpPr>
        <p:spPr>
          <a:xfrm>
            <a:off x="4457700" y="1760219"/>
            <a:ext cx="1664208" cy="1993392"/>
          </a:xfrm>
          <a:prstGeom prst="roundRect">
            <a:avLst/>
          </a:prstGeom>
          <a:solidFill>
            <a:srgbClr val="E3E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9" name="Rounded Rectangle 28"/>
          <p:cNvSpPr>
            <a:spLocks noGrp="1"/>
          </p:cNvSpPr>
          <p:nvPr/>
        </p:nvSpPr>
        <p:spPr>
          <a:xfrm>
            <a:off x="4425696" y="1719072"/>
            <a:ext cx="1664208" cy="1993392"/>
          </a:xfrm>
          <a:prstGeom prst="roundRect">
            <a:avLst/>
          </a:prstGeom>
          <a:solidFill>
            <a:srgbClr val="EFEEFF"/>
          </a:solidFill>
          <a:ln w="12700">
            <a:solidFill>
              <a:srgbClr val="6B6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1" name="Oval 30"/>
          <p:cNvSpPr>
            <a:spLocks noGrp="1"/>
          </p:cNvSpPr>
          <p:nvPr/>
        </p:nvSpPr>
        <p:spPr>
          <a:xfrm>
            <a:off x="5056631" y="1975104"/>
            <a:ext cx="365760" cy="365760"/>
          </a:xfrm>
          <a:prstGeom prst="ellipse">
            <a:avLst/>
          </a:prstGeom>
          <a:solidFill>
            <a:srgbClr val="5356BE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2" name="TextBox 31"/>
          <p:cNvSpPr>
            <a:spLocks noGrp="1"/>
          </p:cNvSpPr>
          <p:nvPr/>
        </p:nvSpPr>
        <p:spPr>
          <a:xfrm>
            <a:off x="5056631" y="1979676"/>
            <a:ext cx="365760" cy="3566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840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3</a:t>
            </a:r>
            <a:endParaRPr sz="840" b="1" i="0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3" name="TextBox 32"/>
          <p:cNvSpPr>
            <a:spLocks noGrp="1"/>
          </p:cNvSpPr>
          <p:nvPr/>
        </p:nvSpPr>
        <p:spPr>
          <a:xfrm>
            <a:off x="4517136" y="2542032"/>
            <a:ext cx="1481328" cy="27432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</a:pPr>
            <a:r>
              <a:rPr sz="1020" b="1" i="0">
                <a:solidFill>
                  <a:srgbClr val="14383E"/>
                </a:solidFill>
                <a:latin typeface="Noto Sans CJK SC"/>
                <a:ea typeface="Noto Sans CJK SC"/>
                <a:cs typeface="Noto Sans CJK SC"/>
              </a:rPr>
              <a:t>Agent 决策</a:t>
            </a:r>
            <a:endParaRPr sz="1020" b="1" i="0">
              <a:solidFill>
                <a:srgbClr val="14383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4" name="TextBox 33"/>
          <p:cNvSpPr>
            <a:spLocks noGrp="1"/>
          </p:cNvSpPr>
          <p:nvPr/>
        </p:nvSpPr>
        <p:spPr>
          <a:xfrm>
            <a:off x="4553712" y="2971800"/>
            <a:ext cx="1408176" cy="49377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</a:pPr>
            <a:r>
              <a:rPr sz="720" b="0" i="0">
                <a:solidFill>
                  <a:srgbClr val="44585C"/>
                </a:solidFill>
                <a:latin typeface="Noto Sans CJK SC"/>
                <a:ea typeface="Noto Sans CJK SC"/>
                <a:cs typeface="Noto Sans CJK SC"/>
              </a:rPr>
              <a:t>选择能力与人工介入方式</a:t>
            </a:r>
            <a:endParaRPr sz="720" b="0" i="0">
              <a:solidFill>
                <a:srgbClr val="6B8185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5" name="Right Arrow 34"/>
          <p:cNvSpPr>
            <a:spLocks noGrp="1"/>
          </p:cNvSpPr>
          <p:nvPr/>
        </p:nvSpPr>
        <p:spPr>
          <a:xfrm>
            <a:off x="6108192" y="2542032"/>
            <a:ext cx="146304" cy="292608"/>
          </a:xfrm>
          <a:prstGeom prst="rightArrow">
            <a:avLst/>
          </a:prstGeom>
          <a:solidFill>
            <a:srgbClr val="6B6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6" name="Rounded Rectangle 35"/>
          <p:cNvSpPr>
            <a:spLocks noGrp="1"/>
          </p:cNvSpPr>
          <p:nvPr/>
        </p:nvSpPr>
        <p:spPr>
          <a:xfrm>
            <a:off x="6323076" y="1760219"/>
            <a:ext cx="1664208" cy="1993392"/>
          </a:xfrm>
          <a:prstGeom prst="roundRect">
            <a:avLst/>
          </a:prstGeom>
          <a:solidFill>
            <a:srgbClr val="E3E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7" name="Rounded Rectangle 36"/>
          <p:cNvSpPr>
            <a:spLocks noGrp="1"/>
          </p:cNvSpPr>
          <p:nvPr/>
        </p:nvSpPr>
        <p:spPr>
          <a:xfrm>
            <a:off x="6291072" y="1719072"/>
            <a:ext cx="1664208" cy="1993392"/>
          </a:xfrm>
          <a:prstGeom prst="roundRect">
            <a:avLst/>
          </a:prstGeom>
          <a:solidFill>
            <a:srgbClr val="E6F7F6"/>
          </a:solidFill>
          <a:ln w="12700">
            <a:solidFill>
              <a:srgbClr val="00A7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9" name="Oval 38"/>
          <p:cNvSpPr>
            <a:spLocks noGrp="1"/>
          </p:cNvSpPr>
          <p:nvPr/>
        </p:nvSpPr>
        <p:spPr>
          <a:xfrm>
            <a:off x="6922008" y="1975104"/>
            <a:ext cx="365760" cy="365760"/>
          </a:xfrm>
          <a:prstGeom prst="ellipse">
            <a:avLst/>
          </a:prstGeom>
          <a:solidFill>
            <a:srgbClr val="007574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40" name="TextBox 39"/>
          <p:cNvSpPr>
            <a:spLocks noGrp="1"/>
          </p:cNvSpPr>
          <p:nvPr/>
        </p:nvSpPr>
        <p:spPr>
          <a:xfrm>
            <a:off x="6922008" y="1979676"/>
            <a:ext cx="365760" cy="3566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840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4</a:t>
            </a:r>
            <a:endParaRPr sz="840" b="1" i="0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1" name="TextBox 40"/>
          <p:cNvSpPr>
            <a:spLocks noGrp="1"/>
          </p:cNvSpPr>
          <p:nvPr/>
        </p:nvSpPr>
        <p:spPr>
          <a:xfrm>
            <a:off x="6382512" y="2542032"/>
            <a:ext cx="1481328" cy="27432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</a:pPr>
            <a:r>
              <a:rPr sz="1020" b="1" i="0">
                <a:solidFill>
                  <a:srgbClr val="14383E"/>
                </a:solidFill>
                <a:latin typeface="Noto Sans CJK SC"/>
                <a:ea typeface="Noto Sans CJK SC"/>
                <a:cs typeface="Noto Sans CJK SC"/>
              </a:rPr>
              <a:t>Skill / Workflow</a:t>
            </a:r>
            <a:endParaRPr sz="1020" b="1" i="0">
              <a:solidFill>
                <a:srgbClr val="14383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2" name="TextBox 41"/>
          <p:cNvSpPr>
            <a:spLocks noGrp="1"/>
          </p:cNvSpPr>
          <p:nvPr/>
        </p:nvSpPr>
        <p:spPr>
          <a:xfrm>
            <a:off x="6419088" y="2971800"/>
            <a:ext cx="1408176" cy="49377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</a:pPr>
            <a:r>
              <a:rPr sz="720" b="0" i="0">
                <a:solidFill>
                  <a:srgbClr val="44585C"/>
                </a:solidFill>
                <a:latin typeface="Noto Sans CJK SC"/>
                <a:ea typeface="Noto Sans CJK SC"/>
                <a:cs typeface="Noto Sans CJK SC"/>
              </a:rPr>
              <a:t>定义任务并管理状态化执行</a:t>
            </a:r>
            <a:endParaRPr sz="720" b="0" i="0">
              <a:solidFill>
                <a:srgbClr val="6B8185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3" name="Right Arrow 42"/>
          <p:cNvSpPr>
            <a:spLocks noGrp="1"/>
          </p:cNvSpPr>
          <p:nvPr/>
        </p:nvSpPr>
        <p:spPr>
          <a:xfrm>
            <a:off x="7973568" y="2542032"/>
            <a:ext cx="146304" cy="292608"/>
          </a:xfrm>
          <a:prstGeom prst="rightArrow">
            <a:avLst/>
          </a:prstGeom>
          <a:solidFill>
            <a:srgbClr val="00A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44" name="Rounded Rectangle 43"/>
          <p:cNvSpPr>
            <a:spLocks noGrp="1"/>
          </p:cNvSpPr>
          <p:nvPr/>
        </p:nvSpPr>
        <p:spPr>
          <a:xfrm>
            <a:off x="8188452" y="1760219"/>
            <a:ext cx="1664208" cy="1993392"/>
          </a:xfrm>
          <a:prstGeom prst="roundRect">
            <a:avLst/>
          </a:prstGeom>
          <a:solidFill>
            <a:srgbClr val="E3E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45" name="Rounded Rectangle 44"/>
          <p:cNvSpPr>
            <a:spLocks noGrp="1"/>
          </p:cNvSpPr>
          <p:nvPr/>
        </p:nvSpPr>
        <p:spPr>
          <a:xfrm>
            <a:off x="8156448" y="1719072"/>
            <a:ext cx="1664208" cy="1993392"/>
          </a:xfrm>
          <a:prstGeom prst="roundRect">
            <a:avLst/>
          </a:prstGeom>
          <a:solidFill>
            <a:srgbClr val="FFF0E4"/>
          </a:solidFill>
          <a:ln w="12700">
            <a:solidFill>
              <a:srgbClr val="F28B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47" name="Oval 46"/>
          <p:cNvSpPr>
            <a:spLocks noGrp="1"/>
          </p:cNvSpPr>
          <p:nvPr/>
        </p:nvSpPr>
        <p:spPr>
          <a:xfrm>
            <a:off x="8787384" y="1975104"/>
            <a:ext cx="365760" cy="365760"/>
          </a:xfrm>
          <a:prstGeom prst="ellipse">
            <a:avLst/>
          </a:prstGeom>
          <a:solidFill>
            <a:srgbClr val="BC6414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48" name="TextBox 47"/>
          <p:cNvSpPr>
            <a:spLocks noGrp="1"/>
          </p:cNvSpPr>
          <p:nvPr/>
        </p:nvSpPr>
        <p:spPr>
          <a:xfrm>
            <a:off x="8787384" y="1979676"/>
            <a:ext cx="365760" cy="3566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840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5</a:t>
            </a:r>
            <a:endParaRPr sz="840" b="1" i="0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9" name="TextBox 48"/>
          <p:cNvSpPr>
            <a:spLocks noGrp="1"/>
          </p:cNvSpPr>
          <p:nvPr/>
        </p:nvSpPr>
        <p:spPr>
          <a:xfrm>
            <a:off x="8247888" y="2542032"/>
            <a:ext cx="1481328" cy="27432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</a:pPr>
            <a:r>
              <a:rPr sz="1020" b="1" i="0">
                <a:solidFill>
                  <a:srgbClr val="14383E"/>
                </a:solidFill>
                <a:latin typeface="Noto Sans CJK SC"/>
                <a:ea typeface="Noto Sans CJK SC"/>
                <a:cs typeface="Noto Sans CJK SC"/>
              </a:rPr>
              <a:t>受控执行</a:t>
            </a:r>
            <a:endParaRPr sz="1020" b="1" i="0">
              <a:solidFill>
                <a:srgbClr val="14383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0" name="TextBox 49"/>
          <p:cNvSpPr>
            <a:spLocks noGrp="1"/>
          </p:cNvSpPr>
          <p:nvPr/>
        </p:nvSpPr>
        <p:spPr>
          <a:xfrm>
            <a:off x="8284464" y="2971800"/>
            <a:ext cx="1408176" cy="49377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</a:pPr>
            <a:r>
              <a:rPr sz="720" b="0" i="0">
                <a:solidFill>
                  <a:srgbClr val="44585C"/>
                </a:solidFill>
                <a:latin typeface="Noto Sans CJK SC"/>
                <a:ea typeface="Noto Sans CJK SC"/>
                <a:cs typeface="Noto Sans CJK SC"/>
              </a:rPr>
              <a:t>网关、权限、确认、幂等与审计</a:t>
            </a:r>
            <a:endParaRPr sz="720" b="0" i="0">
              <a:solidFill>
                <a:srgbClr val="6B8185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1" name="Right Arrow 50"/>
          <p:cNvSpPr>
            <a:spLocks noGrp="1"/>
          </p:cNvSpPr>
          <p:nvPr/>
        </p:nvSpPr>
        <p:spPr>
          <a:xfrm>
            <a:off x="9838944" y="2542032"/>
            <a:ext cx="146304" cy="292608"/>
          </a:xfrm>
          <a:prstGeom prst="rightArrow">
            <a:avLst/>
          </a:prstGeom>
          <a:solidFill>
            <a:srgbClr val="F28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52" name="Rounded Rectangle 51"/>
          <p:cNvSpPr>
            <a:spLocks noGrp="1"/>
          </p:cNvSpPr>
          <p:nvPr/>
        </p:nvSpPr>
        <p:spPr>
          <a:xfrm>
            <a:off x="10053828" y="1760219"/>
            <a:ext cx="1664208" cy="1993392"/>
          </a:xfrm>
          <a:prstGeom prst="roundRect">
            <a:avLst/>
          </a:prstGeom>
          <a:solidFill>
            <a:srgbClr val="E3E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53" name="Rounded Rectangle 52"/>
          <p:cNvSpPr>
            <a:spLocks noGrp="1"/>
          </p:cNvSpPr>
          <p:nvPr/>
        </p:nvSpPr>
        <p:spPr>
          <a:xfrm>
            <a:off x="10021824" y="1719072"/>
            <a:ext cx="1664208" cy="1993392"/>
          </a:xfrm>
          <a:prstGeom prst="roundRect">
            <a:avLst/>
          </a:prstGeom>
          <a:solidFill>
            <a:srgbClr val="EFEEFF"/>
          </a:solidFill>
          <a:ln w="12700">
            <a:solidFill>
              <a:srgbClr val="6B6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55" name="Oval 54"/>
          <p:cNvSpPr>
            <a:spLocks noGrp="1"/>
          </p:cNvSpPr>
          <p:nvPr/>
        </p:nvSpPr>
        <p:spPr>
          <a:xfrm>
            <a:off x="10652759" y="1975104"/>
            <a:ext cx="365760" cy="365760"/>
          </a:xfrm>
          <a:prstGeom prst="ellipse">
            <a:avLst/>
          </a:prstGeom>
          <a:solidFill>
            <a:srgbClr val="5356BE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56" name="TextBox 55"/>
          <p:cNvSpPr>
            <a:spLocks noGrp="1"/>
          </p:cNvSpPr>
          <p:nvPr/>
        </p:nvSpPr>
        <p:spPr>
          <a:xfrm>
            <a:off x="10652759" y="1979676"/>
            <a:ext cx="365760" cy="3566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840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6</a:t>
            </a:r>
            <a:endParaRPr sz="840" b="1" i="0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7" name="TextBox 56"/>
          <p:cNvSpPr>
            <a:spLocks noGrp="1"/>
          </p:cNvSpPr>
          <p:nvPr/>
        </p:nvSpPr>
        <p:spPr>
          <a:xfrm>
            <a:off x="10113263" y="2542032"/>
            <a:ext cx="1481328" cy="27432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</a:pPr>
            <a:r>
              <a:rPr sz="1020" b="1" i="0">
                <a:solidFill>
                  <a:srgbClr val="14383E"/>
                </a:solidFill>
                <a:latin typeface="Noto Sans CJK SC"/>
                <a:ea typeface="Noto Sans CJK SC"/>
                <a:cs typeface="Noto Sans CJK SC"/>
              </a:rPr>
              <a:t>证据、评测与价值</a:t>
            </a:r>
            <a:endParaRPr sz="1020" b="1" i="0">
              <a:solidFill>
                <a:srgbClr val="14383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8" name="TextBox 57"/>
          <p:cNvSpPr>
            <a:spLocks noGrp="1"/>
          </p:cNvSpPr>
          <p:nvPr/>
        </p:nvSpPr>
        <p:spPr>
          <a:xfrm>
            <a:off x="10149840" y="2971800"/>
            <a:ext cx="1408176" cy="49377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</a:pPr>
            <a:r>
              <a:rPr sz="720" b="0" i="0">
                <a:solidFill>
                  <a:srgbClr val="44585C"/>
                </a:solidFill>
                <a:latin typeface="Noto Sans CJK SC"/>
                <a:ea typeface="Noto Sans CJK SC"/>
                <a:cs typeface="Noto Sans CJK SC"/>
              </a:rPr>
              <a:t>Trace、评测、漏斗与持续迭代</a:t>
            </a:r>
            <a:endParaRPr sz="720" b="0" i="0">
              <a:solidFill>
                <a:srgbClr val="6B8185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9" name="Rounded Rectangle 58"/>
          <p:cNvSpPr>
            <a:spLocks noGrp="1"/>
          </p:cNvSpPr>
          <p:nvPr/>
        </p:nvSpPr>
        <p:spPr>
          <a:xfrm>
            <a:off x="786384" y="4443984"/>
            <a:ext cx="3401568" cy="1143000"/>
          </a:xfrm>
          <a:prstGeom prst="roundRect">
            <a:avLst/>
          </a:prstGeom>
          <a:solidFill>
            <a:srgbClr val="E8F6F0"/>
          </a:solidFill>
          <a:ln w="11430">
            <a:solidFill>
              <a:srgbClr val="0A8F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60" name="TextBox 59"/>
          <p:cNvSpPr>
            <a:spLocks noGrp="1"/>
          </p:cNvSpPr>
          <p:nvPr/>
        </p:nvSpPr>
        <p:spPr>
          <a:xfrm>
            <a:off x="987552" y="4645152"/>
            <a:ext cx="804672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920" b="1" i="0">
                <a:solidFill>
                  <a:srgbClr val="076B50"/>
                </a:solidFill>
                <a:latin typeface="Noto Sans CJK SC"/>
                <a:ea typeface="Noto Sans CJK SC"/>
                <a:cs typeface="Noto Sans CJK SC"/>
              </a:rPr>
              <a:t>建设单位</a:t>
            </a:r>
            <a:endParaRPr sz="920" b="1" i="0">
              <a:solidFill>
                <a:srgbClr val="0A8F6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1" name="TextBox 60"/>
          <p:cNvSpPr>
            <a:spLocks noGrp="1"/>
          </p:cNvSpPr>
          <p:nvPr/>
        </p:nvSpPr>
        <p:spPr>
          <a:xfrm>
            <a:off x="1792224" y="4590288"/>
            <a:ext cx="2139696" cy="51206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</a:pPr>
            <a:r>
              <a:rPr sz="760" b="0" i="0">
                <a:solidFill>
                  <a:srgbClr val="14383E"/>
                </a:solidFill>
                <a:latin typeface="Noto Sans CJK SC"/>
                <a:ea typeface="Noto Sans CJK SC"/>
                <a:cs typeface="Noto Sans CJK SC"/>
              </a:rPr>
              <a:t>按具体场景建设和运营，不以“客服整体自动化”作为授权单位。</a:t>
            </a:r>
            <a:endParaRPr sz="760" b="0" i="0">
              <a:solidFill>
                <a:srgbClr val="14383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2" name="Rounded Rectangle 61"/>
          <p:cNvSpPr>
            <a:spLocks noGrp="1"/>
          </p:cNvSpPr>
          <p:nvPr/>
        </p:nvSpPr>
        <p:spPr>
          <a:xfrm>
            <a:off x="4498848" y="4443984"/>
            <a:ext cx="3401568" cy="1143000"/>
          </a:xfrm>
          <a:prstGeom prst="roundRect">
            <a:avLst/>
          </a:prstGeom>
          <a:solidFill>
            <a:srgbClr val="E6F7F6"/>
          </a:solidFill>
          <a:ln w="11430">
            <a:solidFill>
              <a:srgbClr val="00A7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63" name="TextBox 62"/>
          <p:cNvSpPr>
            <a:spLocks noGrp="1"/>
          </p:cNvSpPr>
          <p:nvPr/>
        </p:nvSpPr>
        <p:spPr>
          <a:xfrm>
            <a:off x="4700016" y="4645152"/>
            <a:ext cx="804672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920" b="1" i="0">
                <a:solidFill>
                  <a:srgbClr val="00706F"/>
                </a:solidFill>
                <a:latin typeface="Noto Sans CJK SC"/>
                <a:ea typeface="Noto Sans CJK SC"/>
                <a:cs typeface="Noto Sans CJK SC"/>
              </a:rPr>
              <a:t>核心资产</a:t>
            </a:r>
            <a:endParaRPr sz="920" b="1" i="0">
              <a:solidFill>
                <a:srgbClr val="00A7A7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4" name="TextBox 63"/>
          <p:cNvSpPr>
            <a:spLocks noGrp="1"/>
          </p:cNvSpPr>
          <p:nvPr/>
        </p:nvSpPr>
        <p:spPr>
          <a:xfrm>
            <a:off x="5504688" y="4590288"/>
            <a:ext cx="2139696" cy="51206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</a:pPr>
            <a:r>
              <a:rPr sz="760" b="0" i="0">
                <a:solidFill>
                  <a:srgbClr val="14383E"/>
                </a:solidFill>
                <a:latin typeface="Noto Sans CJK SC"/>
                <a:ea typeface="Noto Sans CJK SC"/>
                <a:cs typeface="Noto Sans CJK SC"/>
              </a:rPr>
              <a:t>上下文资产与业务能力资产分层建设；流程由 Agent 验证后固化为代码。</a:t>
            </a:r>
            <a:endParaRPr sz="760" b="0" i="0">
              <a:solidFill>
                <a:srgbClr val="14383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5" name="Rounded Rectangle 64"/>
          <p:cNvSpPr>
            <a:spLocks noGrp="1"/>
          </p:cNvSpPr>
          <p:nvPr/>
        </p:nvSpPr>
        <p:spPr>
          <a:xfrm>
            <a:off x="8211311" y="4443984"/>
            <a:ext cx="3401568" cy="1143000"/>
          </a:xfrm>
          <a:prstGeom prst="roundRect">
            <a:avLst/>
          </a:prstGeom>
          <a:solidFill>
            <a:srgbClr val="EFEEFF"/>
          </a:solidFill>
          <a:ln w="11430">
            <a:solidFill>
              <a:srgbClr val="6B6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66" name="TextBox 65"/>
          <p:cNvSpPr>
            <a:spLocks noGrp="1"/>
          </p:cNvSpPr>
          <p:nvPr/>
        </p:nvSpPr>
        <p:spPr>
          <a:xfrm>
            <a:off x="8412480" y="4645152"/>
            <a:ext cx="804672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920" b="1" i="0">
                <a:solidFill>
                  <a:srgbClr val="4A4EB0"/>
                </a:solidFill>
                <a:latin typeface="Noto Sans CJK SC"/>
                <a:ea typeface="Noto Sans CJK SC"/>
                <a:cs typeface="Noto Sans CJK SC"/>
              </a:rPr>
              <a:t>扩展依据</a:t>
            </a:r>
            <a:endParaRPr sz="920" b="1" i="0">
              <a:solidFill>
                <a:srgbClr val="6B6FD8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7" name="TextBox 66"/>
          <p:cNvSpPr>
            <a:spLocks noGrp="1"/>
          </p:cNvSpPr>
          <p:nvPr/>
        </p:nvSpPr>
        <p:spPr>
          <a:xfrm>
            <a:off x="9217151" y="4590288"/>
            <a:ext cx="2139696" cy="51206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</a:pPr>
            <a:r>
              <a:rPr sz="760" b="0" i="0">
                <a:solidFill>
                  <a:srgbClr val="14383E"/>
                </a:solidFill>
                <a:latin typeface="Noto Sans CJK SC"/>
                <a:ea typeface="Noto Sans CJK SC"/>
                <a:cs typeface="Noto Sans CJK SC"/>
              </a:rPr>
              <a:t>扩大自动处理范围的依据：评测、运行证据和业务复核。</a:t>
            </a:r>
            <a:endParaRPr sz="760" b="0" i="0">
              <a:solidFill>
                <a:srgbClr val="14383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8" name="Rounded Rectangle 67"/>
          <p:cNvSpPr>
            <a:spLocks noGrp="1"/>
          </p:cNvSpPr>
          <p:nvPr/>
        </p:nvSpPr>
        <p:spPr>
          <a:xfrm>
            <a:off x="2212848" y="5888736"/>
            <a:ext cx="7754112" cy="4114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9D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69" name="TextBox 68"/>
          <p:cNvSpPr>
            <a:spLocks noGrp="1"/>
          </p:cNvSpPr>
          <p:nvPr/>
        </p:nvSpPr>
        <p:spPr>
          <a:xfrm>
            <a:off x="2212848" y="5989320"/>
            <a:ext cx="7754112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840" b="1" i="0">
                <a:solidFill>
                  <a:srgbClr val="14383E"/>
                </a:solidFill>
                <a:latin typeface="Noto Sans CJK SC"/>
                <a:ea typeface="Noto Sans CJK SC"/>
                <a:cs typeface="Noto Sans CJK SC"/>
              </a:rPr>
              <a:t>下一步：逐个做实能稳定识别、执行和审计的场景。</a:t>
            </a:r>
            <a:endParaRPr sz="840" b="1" i="0">
              <a:solidFill>
                <a:srgbClr val="14383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0" name="圆角矩形 69"/>
          <p:cNvSpPr>
            <a:spLocks noGrp="1"/>
          </p:cNvSpPr>
          <p:nvPr/>
        </p:nvSpPr>
        <p:spPr>
          <a:xfrm>
            <a:off x="6565583" y="127635"/>
            <a:ext cx="4937760" cy="365760"/>
          </a:xfrm>
          <a:prstGeom prst="roundRect">
            <a:avLst>
              <a:gd name="adj" fmla="val 20833"/>
            </a:avLst>
          </a:prstGeom>
          <a:solidFill>
            <a:srgbClr val="F7FBF9"/>
          </a:solidFill>
          <a:ln w="12668">
            <a:solidFill>
              <a:srgbClr val="F7FBF9"/>
            </a:solidFill>
            <a:prstDash val="solid"/>
          </a:ln>
        </p:spPr>
        <p:txBody>
          <a:bodyPr/>
          <a:p/>
        </p:txBody>
      </p:sp>
      <p:sp>
        <p:nvSpPr>
          <p:cNvPr id="71" name="圆角矩形 70"/>
          <p:cNvSpPr>
            <a:spLocks noGrp="1"/>
          </p:cNvSpPr>
          <p:nvPr/>
        </p:nvSpPr>
        <p:spPr>
          <a:xfrm>
            <a:off x="6657023" y="164783"/>
            <a:ext cx="1154430" cy="264795"/>
          </a:xfrm>
          <a:prstGeom prst="roundRect">
            <a:avLst>
              <a:gd name="adj" fmla="val 28777"/>
            </a:avLst>
          </a:prstGeom>
          <a:solidFill>
            <a:srgbClr val="007574"/>
          </a:solidFill>
          <a:ln w="12668">
            <a:solidFill>
              <a:srgbClr val="007574"/>
            </a:solidFill>
            <a:prstDash val="solid"/>
          </a:ln>
        </p:spPr>
        <p:txBody>
          <a:bodyPr/>
          <a:p/>
        </p:txBody>
      </p:sp>
      <p:sp>
        <p:nvSpPr>
          <p:cNvPr id="72" name="矩形 71"/>
          <p:cNvSpPr>
            <a:spLocks noGrp="1"/>
          </p:cNvSpPr>
          <p:nvPr/>
        </p:nvSpPr>
        <p:spPr>
          <a:xfrm>
            <a:off x="6657023" y="187643"/>
            <a:ext cx="1154430" cy="182880"/>
          </a:xfrm>
          <a:prstGeom prst="rect">
            <a:avLst/>
          </a:prstGeom>
        </p:spPr>
        <p:txBody>
          <a:bodyPr anchor="ctr"/>
          <a:lstStyle/>
          <a:p>
            <a:pPr algn="ctr">
              <a:defRPr sz="660" b="1">
                <a:solidFill>
                  <a:srgbClr val="FFFFFF"/>
                </a:solidFill>
              </a:defRPr>
            </a:pPr>
            <a:r>
              <a:t>理解</a:t>
            </a:r>
          </a:p>
        </p:txBody>
      </p:sp>
      <p:sp>
        <p:nvSpPr>
          <p:cNvPr id="73" name="圆角矩形 72"/>
          <p:cNvSpPr>
            <a:spLocks noGrp="1"/>
          </p:cNvSpPr>
          <p:nvPr/>
        </p:nvSpPr>
        <p:spPr>
          <a:xfrm>
            <a:off x="7857173" y="164783"/>
            <a:ext cx="1154430" cy="264795"/>
          </a:xfrm>
          <a:prstGeom prst="roundRect">
            <a:avLst>
              <a:gd name="adj" fmla="val 28777"/>
            </a:avLst>
          </a:prstGeom>
          <a:solidFill>
            <a:srgbClr val="007574"/>
          </a:solidFill>
          <a:ln w="12668">
            <a:solidFill>
              <a:srgbClr val="007574"/>
            </a:solidFill>
            <a:prstDash val="solid"/>
          </a:ln>
        </p:spPr>
        <p:txBody>
          <a:bodyPr/>
          <a:p/>
        </p:txBody>
      </p:sp>
      <p:sp>
        <p:nvSpPr>
          <p:cNvPr id="74" name="矩形 73"/>
          <p:cNvSpPr>
            <a:spLocks noGrp="1"/>
          </p:cNvSpPr>
          <p:nvPr/>
        </p:nvSpPr>
        <p:spPr>
          <a:xfrm>
            <a:off x="7857173" y="187643"/>
            <a:ext cx="1154430" cy="182880"/>
          </a:xfrm>
          <a:prstGeom prst="rect">
            <a:avLst/>
          </a:prstGeom>
        </p:spPr>
        <p:txBody>
          <a:bodyPr anchor="ctr"/>
          <a:lstStyle/>
          <a:p>
            <a:pPr algn="ctr">
              <a:defRPr sz="660" b="1">
                <a:solidFill>
                  <a:srgbClr val="FFFFFF"/>
                </a:solidFill>
              </a:defRPr>
            </a:pPr>
            <a:r>
              <a:t>查询</a:t>
            </a:r>
          </a:p>
        </p:txBody>
      </p:sp>
      <p:sp>
        <p:nvSpPr>
          <p:cNvPr id="75" name="圆角矩形 74"/>
          <p:cNvSpPr>
            <a:spLocks noGrp="1"/>
          </p:cNvSpPr>
          <p:nvPr/>
        </p:nvSpPr>
        <p:spPr>
          <a:xfrm>
            <a:off x="9057323" y="164783"/>
            <a:ext cx="1154430" cy="264795"/>
          </a:xfrm>
          <a:prstGeom prst="roundRect">
            <a:avLst>
              <a:gd name="adj" fmla="val 28777"/>
            </a:avLst>
          </a:prstGeom>
          <a:solidFill>
            <a:srgbClr val="007574"/>
          </a:solidFill>
          <a:ln w="12668">
            <a:solidFill>
              <a:srgbClr val="007574"/>
            </a:solidFill>
            <a:prstDash val="solid"/>
          </a:ln>
        </p:spPr>
        <p:txBody>
          <a:bodyPr/>
          <a:p/>
        </p:txBody>
      </p:sp>
      <p:sp>
        <p:nvSpPr>
          <p:cNvPr id="76" name="矩形 75"/>
          <p:cNvSpPr>
            <a:spLocks noGrp="1"/>
          </p:cNvSpPr>
          <p:nvPr/>
        </p:nvSpPr>
        <p:spPr>
          <a:xfrm>
            <a:off x="9057323" y="187643"/>
            <a:ext cx="1154430" cy="182880"/>
          </a:xfrm>
          <a:prstGeom prst="rect">
            <a:avLst/>
          </a:prstGeom>
        </p:spPr>
        <p:txBody>
          <a:bodyPr anchor="ctr"/>
          <a:lstStyle/>
          <a:p>
            <a:pPr algn="ctr">
              <a:defRPr sz="660" b="1">
                <a:solidFill>
                  <a:srgbClr val="FFFFFF"/>
                </a:solidFill>
              </a:defRPr>
            </a:pPr>
            <a:r>
              <a:t>决策</a:t>
            </a:r>
          </a:p>
        </p:txBody>
      </p:sp>
      <p:sp>
        <p:nvSpPr>
          <p:cNvPr id="77" name="圆角矩形 76"/>
          <p:cNvSpPr>
            <a:spLocks noGrp="1"/>
          </p:cNvSpPr>
          <p:nvPr/>
        </p:nvSpPr>
        <p:spPr>
          <a:xfrm>
            <a:off x="10257473" y="164783"/>
            <a:ext cx="1154430" cy="264795"/>
          </a:xfrm>
          <a:prstGeom prst="roundRect">
            <a:avLst>
              <a:gd name="adj" fmla="val 28777"/>
            </a:avLst>
          </a:prstGeom>
          <a:solidFill>
            <a:srgbClr val="007574"/>
          </a:solidFill>
          <a:ln w="12668">
            <a:solidFill>
              <a:srgbClr val="007574"/>
            </a:solidFill>
            <a:prstDash val="solid"/>
          </a:ln>
        </p:spPr>
        <p:txBody>
          <a:bodyPr/>
          <a:p/>
        </p:txBody>
      </p:sp>
      <p:sp>
        <p:nvSpPr>
          <p:cNvPr id="78" name="矩形 77"/>
          <p:cNvSpPr>
            <a:spLocks noGrp="1"/>
          </p:cNvSpPr>
          <p:nvPr/>
        </p:nvSpPr>
        <p:spPr>
          <a:xfrm>
            <a:off x="10257473" y="187643"/>
            <a:ext cx="1154430" cy="182880"/>
          </a:xfrm>
          <a:prstGeom prst="rect">
            <a:avLst/>
          </a:prstGeom>
        </p:spPr>
        <p:txBody>
          <a:bodyPr anchor="ctr"/>
          <a:lstStyle/>
          <a:p>
            <a:pPr algn="ctr">
              <a:defRPr sz="660" b="1">
                <a:solidFill>
                  <a:srgbClr val="FFFFFF"/>
                </a:solidFill>
              </a:defRPr>
            </a:pPr>
            <a:r>
              <a:t>执行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694944" y="3858768"/>
            <a:ext cx="10991088" cy="365760"/>
          </a:xfrm>
          <a:prstGeom prst="roundRect">
            <a:avLst>
              <a:gd name="adj" fmla="val 25000"/>
            </a:avLst>
          </a:prstGeom>
          <a:solidFill>
            <a:srgbClr val="EEF5F1"/>
          </a:solidFill>
          <a:ln w="9525">
            <a:solidFill>
              <a:srgbClr val="C9DC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0" rIns="182880" bIns="0" rtlCol="0" anchor="ctr"/>
          <a:lstStyle/>
          <a:p>
            <a:pPr algn="ctr"/>
            <a:r>
              <a:rPr sz="850" b="0">
                <a:solidFill>
                  <a:srgbClr val="5C7276"/>
                </a:solidFill>
                <a:latin typeface="Noto Sans CJK SC"/>
              </a:rPr>
              <a:t>服务四步　</a:t>
            </a:r>
            <a:r>
              <a:rPr sz="850" b="1">
                <a:solidFill>
                  <a:srgbClr val="076B50"/>
                </a:solidFill>
                <a:latin typeface="Noto Sans CJK SC"/>
              </a:rPr>
              <a:t>理解</a:t>
            </a:r>
            <a:r>
              <a:rPr sz="850" b="0">
                <a:solidFill>
                  <a:srgbClr val="14383E"/>
                </a:solidFill>
                <a:latin typeface="Noto Sans CJK SC"/>
              </a:rPr>
              <a:t> ← ① ②　　</a:t>
            </a:r>
            <a:r>
              <a:rPr sz="850" b="1">
                <a:solidFill>
                  <a:srgbClr val="076B50"/>
                </a:solidFill>
                <a:latin typeface="Noto Sans CJK SC"/>
              </a:rPr>
              <a:t>决策</a:t>
            </a:r>
            <a:r>
              <a:rPr sz="850" b="0">
                <a:solidFill>
                  <a:srgbClr val="14383E"/>
                </a:solidFill>
                <a:latin typeface="Noto Sans CJK SC"/>
              </a:rPr>
              <a:t> ← ③ ④　　</a:t>
            </a:r>
            <a:r>
              <a:rPr sz="850" b="1">
                <a:solidFill>
                  <a:srgbClr val="076B50"/>
                </a:solidFill>
                <a:latin typeface="Noto Sans CJK SC"/>
              </a:rPr>
              <a:t>查询 · 执行</a:t>
            </a:r>
            <a:r>
              <a:rPr sz="850" b="0">
                <a:solidFill>
                  <a:srgbClr val="14383E"/>
                </a:solidFill>
                <a:latin typeface="Noto Sans CJK SC"/>
              </a:rPr>
              <a:t> ← ⑤　　</a:t>
            </a:r>
            <a:r>
              <a:rPr sz="850" b="1">
                <a:solidFill>
                  <a:srgbClr val="076B50"/>
                </a:solidFill>
                <a:latin typeface="Noto Sans CJK SC"/>
              </a:rPr>
              <a:t>证据</a:t>
            </a:r>
            <a:r>
              <a:rPr sz="850" b="0">
                <a:solidFill>
                  <a:srgbClr val="14383E"/>
                </a:solidFill>
                <a:latin typeface="Noto Sans CJK SC"/>
              </a:rPr>
              <a:t> ← ⑥　　（理解与决策从零建；查询与执行换调用方后补护栏；证据兜住前两步的错）</a:t>
            </a:r>
            <a:endParaRPr sz="850" b="0">
              <a:solidFill>
                <a:srgbClr val="14383E"/>
              </a:solidFill>
              <a:latin typeface="Noto Sans CJK SC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hape 0"/>
          <p:cNvSpPr>
            <a:spLocks noGrp="1"/>
          </p:cNvSpPr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A"/>
          </a:solidFill>
          <a:ln w="12700">
            <a:solidFill>
              <a:srgbClr val="F7FBFA"/>
            </a:solidFill>
            <a:prstDash val="solid"/>
          </a:ln>
        </p:spPr>
        <p:txBody>
          <a:bodyPr/>
          <a:lstStyle/>
          <a:p/>
        </p:txBody>
      </p:sp>
      <p:sp>
        <p:nvSpPr>
          <p:cNvPr id="3" name="Shape 1"/>
          <p:cNvSpPr>
            <a:spLocks noGrp="1"/>
          </p:cNvSpPr>
          <p:nvPr/>
        </p:nvSpPr>
        <p:spPr>
          <a:xfrm>
            <a:off x="0" y="0"/>
            <a:ext cx="50292" cy="6858000"/>
          </a:xfrm>
          <a:prstGeom prst="rect">
            <a:avLst/>
          </a:prstGeom>
          <a:solidFill>
            <a:srgbClr val="07966F"/>
          </a:solidFill>
          <a:ln w="12700">
            <a:solidFill>
              <a:srgbClr val="07966F"/>
            </a:solidFill>
            <a:prstDash val="solid"/>
          </a:ln>
        </p:spPr>
        <p:txBody>
          <a:bodyPr/>
          <a:lstStyle/>
          <a:p/>
        </p:txBody>
      </p:sp>
      <p:sp>
        <p:nvSpPr>
          <p:cNvPr id="4" name="Shape 2"/>
          <p:cNvSpPr>
            <a:spLocks noGrp="1"/>
          </p:cNvSpPr>
          <p:nvPr/>
        </p:nvSpPr>
        <p:spPr>
          <a:xfrm>
            <a:off x="7909560" y="91440"/>
            <a:ext cx="4279392" cy="4279392"/>
          </a:xfrm>
          <a:prstGeom prst="ellipse">
            <a:avLst/>
          </a:prstGeom>
          <a:solidFill>
            <a:srgbClr val="E2F5EE"/>
          </a:solidFill>
          <a:ln w="12700">
            <a:solidFill>
              <a:srgbClr val="E2F5EE"/>
            </a:solidFill>
            <a:prstDash val="solid"/>
          </a:ln>
        </p:spPr>
        <p:txBody>
          <a:bodyPr/>
          <a:lstStyle/>
          <a:p/>
        </p:txBody>
      </p:sp>
      <p:sp>
        <p:nvSpPr>
          <p:cNvPr id="5" name="Shape 3"/>
          <p:cNvSpPr>
            <a:spLocks noGrp="1"/>
          </p:cNvSpPr>
          <p:nvPr/>
        </p:nvSpPr>
        <p:spPr>
          <a:xfrm>
            <a:off x="8732520" y="320040"/>
            <a:ext cx="3291840" cy="3291840"/>
          </a:xfrm>
          <a:prstGeom prst="ellipse">
            <a:avLst/>
          </a:prstGeom>
          <a:solidFill>
            <a:srgbClr val="EAF3FF"/>
          </a:solidFill>
          <a:ln w="12700">
            <a:solidFill>
              <a:srgbClr val="EAF3FF"/>
            </a:solidFill>
            <a:prstDash val="solid"/>
          </a:ln>
        </p:spPr>
        <p:txBody>
          <a:bodyPr/>
          <a:lstStyle/>
          <a:p/>
        </p:txBody>
      </p:sp>
      <p:sp>
        <p:nvSpPr>
          <p:cNvPr id="6" name="Shape 4"/>
          <p:cNvSpPr>
            <a:spLocks noGrp="1"/>
          </p:cNvSpPr>
          <p:nvPr/>
        </p:nvSpPr>
        <p:spPr>
          <a:xfrm>
            <a:off x="9546336" y="1143000"/>
            <a:ext cx="1700784" cy="1700784"/>
          </a:xfrm>
          <a:prstGeom prst="ellipse">
            <a:avLst/>
          </a:prstGeom>
          <a:solidFill>
            <a:srgbClr val="EEF0FF"/>
          </a:solidFill>
          <a:ln w="12700">
            <a:solidFill>
              <a:srgbClr val="EEF0FF"/>
            </a:solidFill>
            <a:prstDash val="solid"/>
          </a:ln>
        </p:spPr>
        <p:txBody>
          <a:bodyPr/>
          <a:lstStyle/>
          <a:p/>
        </p:txBody>
      </p:sp>
      <p:sp>
        <p:nvSpPr>
          <p:cNvPr id="7" name="Shape 5"/>
          <p:cNvSpPr>
            <a:spLocks noGrp="1"/>
          </p:cNvSpPr>
          <p:nvPr/>
        </p:nvSpPr>
        <p:spPr>
          <a:xfrm>
            <a:off x="768096" y="685800"/>
            <a:ext cx="310896" cy="0"/>
          </a:xfrm>
          <a:prstGeom prst="line">
            <a:avLst/>
          </a:prstGeom>
          <a:noFill/>
          <a:ln w="25400">
            <a:solidFill>
              <a:srgbClr val="07966F"/>
            </a:solidFill>
            <a:prstDash val="solid"/>
          </a:ln>
        </p:spPr>
        <p:txBody>
          <a:bodyPr/>
          <a:lstStyle/>
          <a:p/>
        </p:txBody>
      </p:sp>
      <p:sp>
        <p:nvSpPr>
          <p:cNvPr id="8" name="Text 6"/>
          <p:cNvSpPr>
            <a:spLocks noGrp="1"/>
          </p:cNvSpPr>
          <p:nvPr/>
        </p:nvSpPr>
        <p:spPr>
          <a:xfrm>
            <a:off x="1188720" y="557784"/>
            <a:ext cx="2926080" cy="25603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buNone/>
            </a:pPr>
            <a:r>
              <a:rPr sz="1120" b="1">
                <a:solidFill>
                  <a:srgbClr val="076B50"/>
                </a:solidFill>
                <a:latin typeface="Noto Sans CJK SC"/>
                <a:ea typeface="Noto Sans CJK SC"/>
                <a:cs typeface="Noto Sans CJK SC"/>
              </a:rPr>
              <a:t>CUSTOMER SERVICE AI AGENT</a:t>
            </a:r>
            <a:endParaRPr sz="1120"/>
          </a:p>
        </p:txBody>
      </p:sp>
      <p:sp>
        <p:nvSpPr>
          <p:cNvPr id="9" name="Text 7"/>
          <p:cNvSpPr>
            <a:spLocks noGrp="1"/>
          </p:cNvSpPr>
          <p:nvPr/>
        </p:nvSpPr>
        <p:spPr>
          <a:xfrm>
            <a:off x="768096" y="1389888"/>
            <a:ext cx="4005072" cy="96012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buNone/>
            </a:pPr>
            <a:r>
              <a:rPr sz="4800" b="1">
                <a:solidFill>
                  <a:srgbClr val="153D39"/>
                </a:solidFill>
                <a:latin typeface="Noto Sans CJK SC"/>
                <a:ea typeface="Noto Sans CJK SC"/>
                <a:cs typeface="Noto Sans CJK SC"/>
              </a:rPr>
              <a:t>Q&amp;A</a:t>
            </a:r>
            <a:endParaRPr sz="4800"/>
          </a:p>
        </p:txBody>
      </p:sp>
      <p:sp>
        <p:nvSpPr>
          <p:cNvPr id="10" name="Text 8"/>
          <p:cNvSpPr>
            <a:spLocks noGrp="1"/>
          </p:cNvSpPr>
          <p:nvPr/>
        </p:nvSpPr>
        <p:spPr>
          <a:xfrm>
            <a:off x="768096" y="2423160"/>
            <a:ext cx="5157216" cy="41148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buNone/>
            </a:pPr>
            <a:r>
              <a:rPr sz="1700">
                <a:solidFill>
                  <a:srgbClr val="44585C"/>
                </a:solidFill>
                <a:latin typeface="Noto Sans CJK SC"/>
                <a:ea typeface="Noto Sans CJK SC"/>
                <a:cs typeface="Noto Sans CJK SC"/>
              </a:rPr>
              <a:t>欢迎围绕场景设计、上下文工程、业务能力和治理运营交流。</a:t>
            </a:r>
            <a:endParaRPr sz="1700"/>
          </a:p>
        </p:txBody>
      </p:sp>
      <p:sp>
        <p:nvSpPr>
          <p:cNvPr id="11" name="Shape 9"/>
          <p:cNvSpPr>
            <a:spLocks noGrp="1"/>
          </p:cNvSpPr>
          <p:nvPr/>
        </p:nvSpPr>
        <p:spPr>
          <a:xfrm>
            <a:off x="768096" y="3054096"/>
            <a:ext cx="3127248" cy="384048"/>
          </a:xfrm>
          <a:prstGeom prst="roundRect">
            <a:avLst/>
          </a:prstGeom>
          <a:solidFill>
            <a:srgbClr val="07714F"/>
          </a:solidFill>
          <a:ln w="10160">
            <a:solidFill>
              <a:srgbClr val="07714F"/>
            </a:solidFill>
            <a:prstDash val="solid"/>
          </a:ln>
        </p:spPr>
        <p:txBody>
          <a:bodyPr/>
          <a:lstStyle/>
          <a:p/>
        </p:txBody>
      </p:sp>
      <p:sp>
        <p:nvSpPr>
          <p:cNvPr id="12" name="Text 10"/>
          <p:cNvSpPr>
            <a:spLocks noGrp="1"/>
          </p:cNvSpPr>
          <p:nvPr/>
        </p:nvSpPr>
        <p:spPr>
          <a:xfrm>
            <a:off x="768096" y="3054096"/>
            <a:ext cx="3127248" cy="38404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106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跨境电商客服 AI Agent 建设实践</a:t>
            </a:r>
            <a:endParaRPr sz="1060"/>
          </a:p>
        </p:txBody>
      </p:sp>
      <p:sp>
        <p:nvSpPr>
          <p:cNvPr id="13" name="Text 11"/>
          <p:cNvSpPr>
            <a:spLocks noGrp="1"/>
          </p:cNvSpPr>
          <p:nvPr/>
        </p:nvSpPr>
        <p:spPr>
          <a:xfrm>
            <a:off x="768096" y="6016752"/>
            <a:ext cx="1444752" cy="29260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buNone/>
            </a:pPr>
            <a:r>
              <a:rPr sz="1400" b="1">
                <a:solidFill>
                  <a:srgbClr val="076B50"/>
                </a:solidFill>
                <a:latin typeface="Noto Sans CJK SC"/>
                <a:ea typeface="Noto Sans CJK SC"/>
                <a:cs typeface="Noto Sans CJK SC"/>
              </a:rPr>
              <a:t>谢谢聆听</a:t>
            </a:r>
            <a:endParaRPr sz="1400"/>
          </a:p>
        </p:txBody>
      </p:sp>
      <p:sp>
        <p:nvSpPr>
          <p:cNvPr id="14" name="Shape 12"/>
          <p:cNvSpPr>
            <a:spLocks noGrp="1"/>
          </p:cNvSpPr>
          <p:nvPr/>
        </p:nvSpPr>
        <p:spPr>
          <a:xfrm>
            <a:off x="6748272" y="2907792"/>
            <a:ext cx="2084832" cy="94183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2F80ED"/>
            </a:solidFill>
            <a:prstDash val="solid"/>
          </a:ln>
          <a:effectLst>
            <a:outerShdw blurRad="12700" dist="50800" dir="2700000" algn="bl" rotWithShape="0">
              <a:srgbClr val="C6D7D2">
                <a:alpha val="12000"/>
              </a:srgbClr>
            </a:outerShdw>
          </a:effectLst>
        </p:spPr>
        <p:txBody>
          <a:bodyPr/>
          <a:lstStyle/>
          <a:p/>
        </p:txBody>
      </p:sp>
      <p:sp>
        <p:nvSpPr>
          <p:cNvPr id="15" name="Shape 13"/>
          <p:cNvSpPr>
            <a:spLocks noGrp="1"/>
          </p:cNvSpPr>
          <p:nvPr/>
        </p:nvSpPr>
        <p:spPr>
          <a:xfrm>
            <a:off x="6894576" y="3090672"/>
            <a:ext cx="356616" cy="356616"/>
          </a:xfrm>
          <a:prstGeom prst="ellipse">
            <a:avLst/>
          </a:prstGeom>
          <a:solidFill>
            <a:srgbClr val="1F63C4"/>
          </a:solidFill>
          <a:ln w="12700">
            <a:solidFill>
              <a:srgbClr val="1F63C4"/>
            </a:solidFill>
            <a:prstDash val="solid"/>
          </a:ln>
        </p:spPr>
        <p:txBody>
          <a:bodyPr/>
          <a:lstStyle/>
          <a:p/>
        </p:txBody>
      </p:sp>
      <p:sp>
        <p:nvSpPr>
          <p:cNvPr id="16" name="Text 14"/>
          <p:cNvSpPr>
            <a:spLocks noGrp="1"/>
          </p:cNvSpPr>
          <p:nvPr/>
        </p:nvSpPr>
        <p:spPr>
          <a:xfrm>
            <a:off x="6894576" y="3090672"/>
            <a:ext cx="356616" cy="35661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9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01</a:t>
            </a:r>
            <a:endParaRPr sz="900"/>
          </a:p>
        </p:txBody>
      </p:sp>
      <p:sp>
        <p:nvSpPr>
          <p:cNvPr id="17" name="Text 15"/>
          <p:cNvSpPr>
            <a:spLocks noGrp="1"/>
          </p:cNvSpPr>
          <p:nvPr/>
        </p:nvSpPr>
        <p:spPr>
          <a:xfrm>
            <a:off x="7342632" y="2999232"/>
            <a:ext cx="1298448" cy="23774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buNone/>
            </a:pPr>
            <a:r>
              <a:rPr sz="1140" b="1">
                <a:solidFill>
                  <a:srgbClr val="153D39"/>
                </a:solidFill>
                <a:latin typeface="Noto Sans CJK SC"/>
                <a:ea typeface="Noto Sans CJK SC"/>
                <a:cs typeface="Noto Sans CJK SC"/>
              </a:rPr>
              <a:t>场景与风险</a:t>
            </a:r>
            <a:endParaRPr sz="1140"/>
          </a:p>
        </p:txBody>
      </p:sp>
      <p:sp>
        <p:nvSpPr>
          <p:cNvPr id="18" name="Text 16"/>
          <p:cNvSpPr>
            <a:spLocks noGrp="1"/>
          </p:cNvSpPr>
          <p:nvPr/>
        </p:nvSpPr>
        <p:spPr>
          <a:xfrm>
            <a:off x="7342632" y="3319272"/>
            <a:ext cx="1316736" cy="32918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buNone/>
            </a:pPr>
            <a:r>
              <a:rPr sz="830">
                <a:solidFill>
                  <a:srgbClr val="44585C"/>
                </a:solidFill>
                <a:latin typeface="Noto Sans CJK SC"/>
                <a:ea typeface="Noto Sans CJK SC"/>
                <a:cs typeface="Noto Sans CJK SC"/>
              </a:rPr>
              <a:t>场景分层、授权方式、人工边界</a:t>
            </a:r>
            <a:endParaRPr sz="830"/>
          </a:p>
        </p:txBody>
      </p:sp>
      <p:sp>
        <p:nvSpPr>
          <p:cNvPr id="19" name="Shape 17"/>
          <p:cNvSpPr>
            <a:spLocks noGrp="1"/>
          </p:cNvSpPr>
          <p:nvPr/>
        </p:nvSpPr>
        <p:spPr>
          <a:xfrm>
            <a:off x="9079992" y="2907792"/>
            <a:ext cx="2084832" cy="94183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0A7A7"/>
            </a:solidFill>
            <a:prstDash val="solid"/>
          </a:ln>
          <a:effectLst>
            <a:outerShdw blurRad="12700" dist="50800" dir="2700000" algn="bl" rotWithShape="0">
              <a:srgbClr val="C6D7D2">
                <a:alpha val="12000"/>
              </a:srgbClr>
            </a:outerShdw>
          </a:effectLst>
        </p:spPr>
        <p:txBody>
          <a:bodyPr/>
          <a:lstStyle/>
          <a:p/>
        </p:txBody>
      </p:sp>
      <p:sp>
        <p:nvSpPr>
          <p:cNvPr id="20" name="Shape 18"/>
          <p:cNvSpPr>
            <a:spLocks noGrp="1"/>
          </p:cNvSpPr>
          <p:nvPr/>
        </p:nvSpPr>
        <p:spPr>
          <a:xfrm>
            <a:off x="9226296" y="3090672"/>
            <a:ext cx="356616" cy="356616"/>
          </a:xfrm>
          <a:prstGeom prst="ellipse">
            <a:avLst/>
          </a:prstGeom>
          <a:solidFill>
            <a:srgbClr val="007574"/>
          </a:solidFill>
          <a:ln w="12700">
            <a:solidFill>
              <a:srgbClr val="007574"/>
            </a:solidFill>
            <a:prstDash val="solid"/>
          </a:ln>
        </p:spPr>
        <p:txBody>
          <a:bodyPr/>
          <a:lstStyle/>
          <a:p/>
        </p:txBody>
      </p:sp>
      <p:sp>
        <p:nvSpPr>
          <p:cNvPr id="21" name="Text 19"/>
          <p:cNvSpPr>
            <a:spLocks noGrp="1"/>
          </p:cNvSpPr>
          <p:nvPr/>
        </p:nvSpPr>
        <p:spPr>
          <a:xfrm>
            <a:off x="9226296" y="3090672"/>
            <a:ext cx="356616" cy="35661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9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02</a:t>
            </a:r>
            <a:endParaRPr sz="900"/>
          </a:p>
        </p:txBody>
      </p:sp>
      <p:sp>
        <p:nvSpPr>
          <p:cNvPr id="22" name="Text 20"/>
          <p:cNvSpPr>
            <a:spLocks noGrp="1"/>
          </p:cNvSpPr>
          <p:nvPr/>
        </p:nvSpPr>
        <p:spPr>
          <a:xfrm>
            <a:off x="9674352" y="2999232"/>
            <a:ext cx="1298448" cy="23774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buNone/>
            </a:pPr>
            <a:r>
              <a:rPr sz="1140" b="1">
                <a:solidFill>
                  <a:srgbClr val="153D39"/>
                </a:solidFill>
                <a:latin typeface="Noto Sans CJK SC"/>
                <a:ea typeface="Noto Sans CJK SC"/>
                <a:cs typeface="Noto Sans CJK SC"/>
              </a:rPr>
              <a:t>上下文设计</a:t>
            </a:r>
            <a:endParaRPr sz="1140"/>
          </a:p>
        </p:txBody>
      </p:sp>
      <p:sp>
        <p:nvSpPr>
          <p:cNvPr id="23" name="Text 21"/>
          <p:cNvSpPr>
            <a:spLocks noGrp="1"/>
          </p:cNvSpPr>
          <p:nvPr/>
        </p:nvSpPr>
        <p:spPr>
          <a:xfrm>
            <a:off x="9674352" y="3319272"/>
            <a:ext cx="1316736" cy="32918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buNone/>
            </a:pPr>
            <a:r>
              <a:rPr sz="830">
                <a:solidFill>
                  <a:srgbClr val="44585C"/>
                </a:solidFill>
                <a:latin typeface="Noto Sans CJK SC"/>
                <a:ea typeface="Noto Sans CJK SC"/>
                <a:cs typeface="Noto Sans CJK SC"/>
              </a:rPr>
              <a:t>知识供给、RAG、Context、Prompt</a:t>
            </a:r>
            <a:endParaRPr sz="830"/>
          </a:p>
        </p:txBody>
      </p:sp>
      <p:sp>
        <p:nvSpPr>
          <p:cNvPr id="24" name="Shape 22"/>
          <p:cNvSpPr>
            <a:spLocks noGrp="1"/>
          </p:cNvSpPr>
          <p:nvPr/>
        </p:nvSpPr>
        <p:spPr>
          <a:xfrm>
            <a:off x="6748272" y="4078224"/>
            <a:ext cx="2084832" cy="94183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7966F"/>
            </a:solidFill>
            <a:prstDash val="solid"/>
          </a:ln>
          <a:effectLst>
            <a:outerShdw blurRad="12700" dist="50800" dir="2700000" algn="bl" rotWithShape="0">
              <a:srgbClr val="C6D7D2">
                <a:alpha val="12000"/>
              </a:srgbClr>
            </a:outerShdw>
          </a:effectLst>
        </p:spPr>
        <p:txBody>
          <a:bodyPr/>
          <a:lstStyle/>
          <a:p/>
        </p:txBody>
      </p:sp>
      <p:sp>
        <p:nvSpPr>
          <p:cNvPr id="25" name="Shape 23"/>
          <p:cNvSpPr>
            <a:spLocks noGrp="1"/>
          </p:cNvSpPr>
          <p:nvPr/>
        </p:nvSpPr>
        <p:spPr>
          <a:xfrm>
            <a:off x="6894576" y="4261104"/>
            <a:ext cx="356616" cy="356616"/>
          </a:xfrm>
          <a:prstGeom prst="ellipse">
            <a:avLst/>
          </a:prstGeom>
          <a:solidFill>
            <a:srgbClr val="07714F"/>
          </a:solidFill>
          <a:ln w="12700">
            <a:solidFill>
              <a:srgbClr val="07714F"/>
            </a:solidFill>
            <a:prstDash val="solid"/>
          </a:ln>
        </p:spPr>
        <p:txBody>
          <a:bodyPr/>
          <a:lstStyle/>
          <a:p/>
        </p:txBody>
      </p:sp>
      <p:sp>
        <p:nvSpPr>
          <p:cNvPr id="26" name="Text 24"/>
          <p:cNvSpPr>
            <a:spLocks noGrp="1"/>
          </p:cNvSpPr>
          <p:nvPr/>
        </p:nvSpPr>
        <p:spPr>
          <a:xfrm>
            <a:off x="6894576" y="4261104"/>
            <a:ext cx="356616" cy="35661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9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03</a:t>
            </a:r>
            <a:endParaRPr sz="900"/>
          </a:p>
        </p:txBody>
      </p:sp>
      <p:sp>
        <p:nvSpPr>
          <p:cNvPr id="27" name="Text 25"/>
          <p:cNvSpPr>
            <a:spLocks noGrp="1"/>
          </p:cNvSpPr>
          <p:nvPr/>
        </p:nvSpPr>
        <p:spPr>
          <a:xfrm>
            <a:off x="7342632" y="4169664"/>
            <a:ext cx="1298448" cy="23774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buNone/>
            </a:pPr>
            <a:r>
              <a:rPr sz="1140" b="1">
                <a:solidFill>
                  <a:srgbClr val="153D39"/>
                </a:solidFill>
                <a:latin typeface="Noto Sans CJK SC"/>
                <a:ea typeface="Noto Sans CJK SC"/>
                <a:cs typeface="Noto Sans CJK SC"/>
              </a:rPr>
              <a:t>业务能力与架构</a:t>
            </a:r>
            <a:endParaRPr sz="1140"/>
          </a:p>
        </p:txBody>
      </p:sp>
      <p:sp>
        <p:nvSpPr>
          <p:cNvPr id="28" name="Text 26"/>
          <p:cNvSpPr>
            <a:spLocks noGrp="1"/>
          </p:cNvSpPr>
          <p:nvPr/>
        </p:nvSpPr>
        <p:spPr>
          <a:xfrm>
            <a:off x="7342632" y="4489704"/>
            <a:ext cx="1316736" cy="32918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buNone/>
            </a:pPr>
            <a:r>
              <a:rPr sz="830">
                <a:solidFill>
                  <a:srgbClr val="44585C"/>
                </a:solidFill>
                <a:latin typeface="Noto Sans CJK SC"/>
                <a:ea typeface="Noto Sans CJK SC"/>
                <a:cs typeface="Noto Sans CJK SC"/>
              </a:rPr>
              <a:t>Skill、Workflow、能力网关、业务系统</a:t>
            </a:r>
            <a:endParaRPr sz="830"/>
          </a:p>
        </p:txBody>
      </p:sp>
      <p:sp>
        <p:nvSpPr>
          <p:cNvPr id="29" name="Shape 27"/>
          <p:cNvSpPr>
            <a:spLocks noGrp="1"/>
          </p:cNvSpPr>
          <p:nvPr/>
        </p:nvSpPr>
        <p:spPr>
          <a:xfrm>
            <a:off x="9079992" y="4078224"/>
            <a:ext cx="2084832" cy="94183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F28B36"/>
            </a:solidFill>
            <a:prstDash val="solid"/>
          </a:ln>
          <a:effectLst>
            <a:outerShdw blurRad="12700" dist="50800" dir="2700000" algn="bl" rotWithShape="0">
              <a:srgbClr val="C6D7D2">
                <a:alpha val="12000"/>
              </a:srgbClr>
            </a:outerShdw>
          </a:effectLst>
        </p:spPr>
        <p:txBody>
          <a:bodyPr/>
          <a:lstStyle/>
          <a:p/>
        </p:txBody>
      </p:sp>
      <p:sp>
        <p:nvSpPr>
          <p:cNvPr id="30" name="Shape 28"/>
          <p:cNvSpPr>
            <a:spLocks noGrp="1"/>
          </p:cNvSpPr>
          <p:nvPr/>
        </p:nvSpPr>
        <p:spPr>
          <a:xfrm>
            <a:off x="9226296" y="4261104"/>
            <a:ext cx="356616" cy="356616"/>
          </a:xfrm>
          <a:prstGeom prst="ellipse">
            <a:avLst/>
          </a:prstGeom>
          <a:solidFill>
            <a:srgbClr val="BC6414"/>
          </a:solidFill>
          <a:ln w="12700">
            <a:solidFill>
              <a:srgbClr val="BC6414"/>
            </a:solidFill>
            <a:prstDash val="solid"/>
          </a:ln>
        </p:spPr>
        <p:txBody>
          <a:bodyPr/>
          <a:lstStyle/>
          <a:p/>
        </p:txBody>
      </p:sp>
      <p:sp>
        <p:nvSpPr>
          <p:cNvPr id="31" name="Text 29"/>
          <p:cNvSpPr>
            <a:spLocks noGrp="1"/>
          </p:cNvSpPr>
          <p:nvPr/>
        </p:nvSpPr>
        <p:spPr>
          <a:xfrm>
            <a:off x="9226296" y="4261104"/>
            <a:ext cx="356616" cy="35661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9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04</a:t>
            </a:r>
            <a:endParaRPr sz="900"/>
          </a:p>
        </p:txBody>
      </p:sp>
      <p:sp>
        <p:nvSpPr>
          <p:cNvPr id="32" name="Text 30"/>
          <p:cNvSpPr>
            <a:spLocks noGrp="1"/>
          </p:cNvSpPr>
          <p:nvPr/>
        </p:nvSpPr>
        <p:spPr>
          <a:xfrm>
            <a:off x="9674352" y="4169664"/>
            <a:ext cx="1298448" cy="23774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buNone/>
            </a:pPr>
            <a:r>
              <a:rPr sz="1140" b="1">
                <a:solidFill>
                  <a:srgbClr val="153D39"/>
                </a:solidFill>
                <a:latin typeface="Noto Sans CJK SC"/>
                <a:ea typeface="Noto Sans CJK SC"/>
                <a:cs typeface="Noto Sans CJK SC"/>
              </a:rPr>
              <a:t>治理与运营</a:t>
            </a:r>
            <a:endParaRPr sz="1140"/>
          </a:p>
        </p:txBody>
      </p:sp>
      <p:sp>
        <p:nvSpPr>
          <p:cNvPr id="33" name="Text 31"/>
          <p:cNvSpPr>
            <a:spLocks noGrp="1"/>
          </p:cNvSpPr>
          <p:nvPr/>
        </p:nvSpPr>
        <p:spPr>
          <a:xfrm>
            <a:off x="9674352" y="4489704"/>
            <a:ext cx="1316736" cy="32918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buNone/>
            </a:pPr>
            <a:r>
              <a:rPr sz="830">
                <a:solidFill>
                  <a:srgbClr val="44585C"/>
                </a:solidFill>
                <a:latin typeface="Noto Sans CJK SC"/>
                <a:ea typeface="Noto Sans CJK SC"/>
                <a:cs typeface="Noto Sans CJK SC"/>
              </a:rPr>
              <a:t>风控、人工介入、Trace、评测与成本</a:t>
            </a:r>
            <a:endParaRPr sz="830"/>
          </a:p>
        </p:txBody>
      </p:sp>
      <p:sp>
        <p:nvSpPr>
          <p:cNvPr id="34" name="Shape 32"/>
          <p:cNvSpPr>
            <a:spLocks noGrp="1"/>
          </p:cNvSpPr>
          <p:nvPr/>
        </p:nvSpPr>
        <p:spPr>
          <a:xfrm>
            <a:off x="8878824" y="1188720"/>
            <a:ext cx="1042416" cy="1042416"/>
          </a:xfrm>
          <a:prstGeom prst="ellipse">
            <a:avLst/>
          </a:prstGeom>
          <a:solidFill>
            <a:srgbClr val="07966F"/>
          </a:solidFill>
          <a:ln w="12700">
            <a:solidFill>
              <a:srgbClr val="07966F"/>
            </a:solidFill>
            <a:prstDash val="solid"/>
          </a:ln>
        </p:spPr>
        <p:txBody>
          <a:bodyPr/>
          <a:lstStyle/>
          <a:p/>
        </p:txBody>
      </p:sp>
      <p:sp>
        <p:nvSpPr>
          <p:cNvPr id="35" name="Text 33"/>
          <p:cNvSpPr>
            <a:spLocks noGrp="1"/>
          </p:cNvSpPr>
          <p:nvPr/>
        </p:nvSpPr>
        <p:spPr>
          <a:xfrm>
            <a:off x="8878824" y="1188720"/>
            <a:ext cx="1042416" cy="104241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34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?</a:t>
            </a:r>
            <a:endParaRPr sz="3400"/>
          </a:p>
        </p:txBody>
      </p:sp>
      <p:sp>
        <p:nvSpPr>
          <p:cNvPr id="36" name="Text 34"/>
          <p:cNvSpPr>
            <a:spLocks noGrp="1"/>
          </p:cNvSpPr>
          <p:nvPr/>
        </p:nvSpPr>
        <p:spPr>
          <a:xfrm>
            <a:off x="8028432" y="2340864"/>
            <a:ext cx="2743200" cy="29260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1400" b="1">
                <a:solidFill>
                  <a:srgbClr val="315A55"/>
                </a:solidFill>
                <a:latin typeface="Noto Sans CJK SC"/>
                <a:ea typeface="Noto Sans CJK SC"/>
                <a:cs typeface="Noto Sans CJK SC"/>
              </a:rPr>
              <a:t>交流主题</a:t>
            </a:r>
            <a:endParaRPr sz="1400"/>
          </a:p>
        </p:txBody>
      </p:sp>
      <p:sp>
        <p:nvSpPr>
          <p:cNvPr id="37" name="Shape 35"/>
          <p:cNvSpPr>
            <a:spLocks noGrp="1"/>
          </p:cNvSpPr>
          <p:nvPr/>
        </p:nvSpPr>
        <p:spPr>
          <a:xfrm>
            <a:off x="768096" y="6519672"/>
            <a:ext cx="10863072" cy="0"/>
          </a:xfrm>
          <a:prstGeom prst="line">
            <a:avLst/>
          </a:prstGeom>
          <a:noFill/>
          <a:ln w="12700">
            <a:solidFill>
              <a:srgbClr val="D7E7E3"/>
            </a:solidFill>
            <a:prstDash val="solid"/>
          </a:ln>
        </p:spPr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Noto Sans CJK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Noto Sans CJK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20517</Words>
  <Application>WPS 文字</Application>
  <PresentationFormat>Converted Presentation</PresentationFormat>
  <Paragraphs>4285</Paragraphs>
  <Slides>54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54</vt:i4>
      </vt:variant>
    </vt:vector>
  </HeadingPairs>
  <TitlesOfParts>
    <vt:vector size="76" baseType="lpstr">
      <vt:lpstr>Arial</vt:lpstr>
      <vt:lpstr>宋体</vt:lpstr>
      <vt:lpstr>Wingdings</vt:lpstr>
      <vt:lpstr>Arial</vt:lpstr>
      <vt:lpstr>Noto Sans CJK SC</vt:lpstr>
      <vt:lpstr>Thonburi</vt:lpstr>
      <vt:lpstr>微软雅黑</vt:lpstr>
      <vt:lpstr>汉仪旗黑</vt:lpstr>
      <vt:lpstr>宋体</vt:lpstr>
      <vt:lpstr>Arial Unicode MS</vt:lpstr>
      <vt:lpstr>汉仪书宋二KW</vt:lpstr>
      <vt:lpstr>等线</vt:lpstr>
      <vt:lpstr>汉仪中等线KW</vt:lpstr>
      <vt:lpstr>Courier New</vt:lpstr>
      <vt:lpstr>Calibri</vt:lpstr>
      <vt:lpstr>Helvetica Neue</vt:lpstr>
      <vt:lpstr>Courier New</vt:lpstr>
      <vt:lpstr>Noto Sans CJK SC</vt:lpstr>
      <vt:lpstr>苹方-简</vt:lpstr>
      <vt:lpstr>Apple Color Emoji</vt:lpstr>
      <vt:lpstr>宋体-简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Godric</cp:lastModifiedBy>
  <cp:revision>5</cp:revision>
  <dcterms:created xsi:type="dcterms:W3CDTF">2026-09-05T06:43:15Z</dcterms:created>
  <dcterms:modified xsi:type="dcterms:W3CDTF">2026-09-05T06:43:15Z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9409C0495E0A6D49CEA48D6A6549B409_42</vt:lpwstr>
  </property>
  <property fmtid="{D5CDD505-2E9C-101B-9397-08002B2CF9AE}" pid="3" name="KSOProductBuildVer">
    <vt:lpwstr>2052-12.1.24031.24031</vt:lpwstr>
  </property>
</Properties>
</file>